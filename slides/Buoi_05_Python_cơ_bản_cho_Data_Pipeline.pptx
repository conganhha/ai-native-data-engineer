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phần Python</a:t>
            </a:r>
            <a:endParaRPr lang="vi-VN"/>
          </a:p>
          <a:p>
            <a:pPr marL="0" lvl="0" indent="0" algn="l">
              <a:buNone/>
            </a:pPr>
            <a:r>
              <a:rPr lang="vi-VN" dirty="0"/>
              <a:t>Lời giảng: Bốn buổi đầu chúng ta ở phía database và analytics. Từ hôm nay chuyển sang data pipeline. Mục tiêu không phải học lại Python cơ bản từ đầu mà là dùng Python đúng vai trò của Data Engineer: đọc file/API, orchestration, normalize, logging và chuẩn bị dữ liệu để load. Cuối buổi phải có một mini file pipeline tạo staging artifact và log.</a:t>
            </a:r>
            <a:endParaRPr lang="vi-VN"/>
          </a:p>
          <a:p>
            <a:pPr marL="0" lvl="0" indent="0" algn="l">
              <a:buNone/>
            </a:pPr>
            <a:r>
              <a:rPr lang="vi-VN" dirty="0"/>
              <a:t>Tương tác / demo: Hỏi lớp: 'Việc gì nên để SQL làm, việc gì nên để Python làm?'</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phần Python</a:t>
            </a:r>
            <a:endParaRPr lang="vi-VN"/>
          </a:p>
          <a:p>
            <a:pPr marL="0" lvl="0" indent="0" algn="l">
              <a:buNone/>
            </a:pPr>
            <a:r>
              <a:rPr lang="vi-VN" dirty="0"/>
              <a:t>Lời giảng: Bốn buổi đầu chúng ta ở phía database và analytics. Từ hôm nay chuyển sang data pipeline. Mục tiêu không phải học lại Python cơ bản từ đầu mà là dùng Python đúng vai trò của Data Engineer: đọc file/API, orchestration, normalize, logging và chuẩn bị dữ liệu để load. Cuối buổi phải có một mini file pipeline tạo staging artifact và log.</a:t>
            </a:r>
            <a:endParaRPr lang="vi-VN"/>
          </a:p>
          <a:p>
            <a:pPr marL="0" lvl="0" indent="0" algn="l">
              <a:buNone/>
            </a:pPr>
            <a:r>
              <a:rPr lang="vi-VN" dirty="0"/>
              <a:t>Tương tác / demo: Hỏi lớp: 'Việc gì nên để SQL làm, việc gì nên để Python làm?'</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phần Python</a:t>
            </a:r>
            <a:endParaRPr lang="vi-VN"/>
          </a:p>
          <a:p>
            <a:pPr marL="0" lvl="0" indent="0" algn="l">
              <a:buNone/>
            </a:pPr>
            <a:r>
              <a:rPr lang="vi-VN" dirty="0"/>
              <a:t>Lời giảng: Bốn buổi đầu chúng ta ở phía database và analytics. Từ hôm nay chuyển sang data pipeline. Mục tiêu không phải học lại Python cơ bản từ đầu mà là dùng Python đúng vai trò của Data Engineer: đọc file/API, orchestration, normalize, logging và chuẩn bị dữ liệu để load. Cuối buổi phải có một mini file pipeline tạo staging artifact và log.</a:t>
            </a:r>
            <a:endParaRPr lang="vi-VN"/>
          </a:p>
          <a:p>
            <a:pPr marL="0" lvl="0" indent="0" algn="l">
              <a:buNone/>
            </a:pPr>
            <a:r>
              <a:rPr lang="vi-VN" dirty="0"/>
              <a:t>Tương tác / demo: Hỏi lớp: 'Việc gì nên để SQL làm, việc gì nên để Python làm?'</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Python trong kiến trúc và project structure</a:t>
            </a:r>
            <a:endParaRPr lang="vi-VN"/>
          </a:p>
          <a:p>
            <a:pPr marL="0" lvl="0" indent="0" algn="l">
              <a:buNone/>
            </a:pPr>
            <a:r>
              <a:rPr lang="vi-VN" dirty="0"/>
              <a:t>Lời giảng: Python không thay SQL. Python xử lý file, API và orchestration; SQL xử lý relational analytics. Ta phân biệt script thử nghiệm với pipeline có cấu trúc: không hard-code path, có config, module/function, logging và exception strategy. Virtual environment và requirements giúp môi trường lặp lại. Cấu trúc src/data/logs/reports/metadata chuẩn bị cho các buổi sau.</a:t>
            </a:r>
            <a:endParaRPr lang="vi-VN"/>
          </a:p>
          <a:p>
            <a:pPr marL="0" lvl="0" indent="0" algn="l">
              <a:buNone/>
            </a:pPr>
            <a:r>
              <a:rPr lang="vi-VN" dirty="0"/>
              <a:t>Tương tác / demo: Mở cây starter/src và giải thích nhanh vai trò config.py, logger.py, extract_files.py, transform.py, pipeline.py.</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Python trong kiến trúc và project structure</a:t>
            </a:r>
            <a:endParaRPr lang="vi-VN"/>
          </a:p>
          <a:p>
            <a:pPr marL="0" lvl="0" indent="0" algn="l">
              <a:buNone/>
            </a:pPr>
            <a:r>
              <a:rPr lang="vi-VN" dirty="0"/>
              <a:t>Lời giảng: Python không thay SQL. Python xử lý file, API và orchestration; SQL xử lý relational analytics. Ta phân biệt script thử nghiệm với pipeline có cấu trúc: không hard-code path, có config, module/function, logging và exception strategy. Virtual environment và requirements giúp môi trường lặp lại. Cấu trúc src/data/logs/reports/metadata chuẩn bị cho các buổi sau.</a:t>
            </a:r>
            <a:endParaRPr lang="vi-VN"/>
          </a:p>
          <a:p>
            <a:pPr marL="0" lvl="0" indent="0" algn="l">
              <a:buNone/>
            </a:pPr>
            <a:r>
              <a:rPr lang="vi-VN" dirty="0"/>
              <a:t>Tương tác / demo: Mở cây starter/src và giải thích nhanh vai trò config.py, logger.py, extract_files.py, transform.py, pipeline.py.</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Python trong kiến trúc và project structure</a:t>
            </a:r>
            <a:endParaRPr lang="vi-VN"/>
          </a:p>
          <a:p>
            <a:pPr marL="0" lvl="0" indent="0" algn="l">
              <a:buNone/>
            </a:pPr>
            <a:r>
              <a:rPr lang="vi-VN" dirty="0"/>
              <a:t>Lời giảng: Python không thay SQL. Python xử lý file, API và orchestration; SQL xử lý relational analytics. Ta phân biệt script thử nghiệm với pipeline có cấu trúc: không hard-code path, có config, module/function, logging và exception strategy. Virtual environment và requirements giúp môi trường lặp lại. Cấu trúc src/data/logs/reports/metadata chuẩn bị cho các buổi sau.</a:t>
            </a:r>
            <a:endParaRPr lang="vi-VN"/>
          </a:p>
          <a:p>
            <a:pPr marL="0" lvl="0" indent="0" algn="l">
              <a:buNone/>
            </a:pPr>
            <a:r>
              <a:rPr lang="vi-VN" dirty="0"/>
              <a:t>Tương tác / demo: Mở cây starter/src và giải thích nhanh vai trò config.py, logger.py, extract_files.py, transform.py, pipeline.py.</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Python trong kiến trúc và project structure</a:t>
            </a:r>
            <a:endParaRPr lang="vi-VN"/>
          </a:p>
          <a:p>
            <a:pPr marL="0" lvl="0" indent="0" algn="l">
              <a:buNone/>
            </a:pPr>
            <a:r>
              <a:rPr lang="vi-VN" dirty="0"/>
              <a:t>Lời giảng: Python không thay SQL. Python xử lý file, API và orchestration; SQL xử lý relational analytics. Ta phân biệt script thử nghiệm với pipeline có cấu trúc: không hard-code path, có config, module/function, logging và exception strategy. Virtual environment và requirements giúp môi trường lặp lại. Cấu trúc src/data/logs/reports/metadata chuẩn bị cho các buổi sau.</a:t>
            </a:r>
            <a:endParaRPr lang="vi-VN"/>
          </a:p>
          <a:p>
            <a:pPr marL="0" lvl="0" indent="0" algn="l">
              <a:buNone/>
            </a:pPr>
            <a:r>
              <a:rPr lang="vi-VN" dirty="0"/>
              <a:t>Tương tác / demo: Mở cây starter/src và giải thích nhanh vai trò config.py, logger.py, extract_files.py, transform.py, pipeline.py.</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CSV, JSON, pathlib, Pandas</a:t>
            </a:r>
            <a:endParaRPr lang="vi-VN"/>
          </a:p>
          <a:p>
            <a:pPr marL="0" lvl="0" indent="0" algn="l">
              <a:buNone/>
            </a:pPr>
            <a:r>
              <a:rPr lang="vi-VN" dirty="0"/>
              <a:t>Lời giảng: CSV phù hợp bảng phẳng; JSON có thể nested và phổ biến với API. `pathlib` giúp quản lý đường dẫn thay vì hard-code chuỗi theo máy cá nhân. Pandas DataFrame là bảng làm việc trong memory: read, inspect, profile, transform, write. Mỗi bước nên tạo artifact hoặc log để ta biết dữ liệu đã thay đổi như thế nào.</a:t>
            </a:r>
            <a:endParaRPr lang="vi-VN"/>
          </a:p>
          <a:p>
            <a:pPr marL="0" lvl="0" indent="0" algn="l">
              <a:buNone/>
            </a:pPr>
            <a:r>
              <a:rPr lang="vi-VN" dirty="0"/>
              <a:t>Tương tác / demo: Demo đọc một CSV và một JSON, in shape/dtypes; không viết toàn pipeline trên slide.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CSV, JSON, pathlib, Pandas</a:t>
            </a:r>
            <a:endParaRPr lang="vi-VN"/>
          </a:p>
          <a:p>
            <a:pPr marL="0" lvl="0" indent="0" algn="l">
              <a:buNone/>
            </a:pPr>
            <a:r>
              <a:rPr lang="vi-VN" dirty="0"/>
              <a:t>Lời giảng: CSV phù hợp bảng phẳng; JSON có thể nested và phổ biến với API. `pathlib` giúp quản lý đường dẫn thay vì hard-code chuỗi theo máy cá nhân. Pandas DataFrame là bảng làm việc trong memory: read, inspect, profile, transform, write. Mỗi bước nên tạo artifact hoặc log để ta biết dữ liệu đã thay đổi như thế nào.</a:t>
            </a:r>
            <a:endParaRPr lang="vi-VN"/>
          </a:p>
          <a:p>
            <a:pPr marL="0" lvl="0" indent="0" algn="l">
              <a:buNone/>
            </a:pPr>
            <a:r>
              <a:rPr lang="vi-VN" dirty="0"/>
              <a:t>Tương tác / demo: Demo đọc một CSV và một JSON, in shape/dtypes; không viết toàn pipeline trên slide.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CSV, JSON, pathlib, Pandas</a:t>
            </a:r>
            <a:endParaRPr lang="vi-VN"/>
          </a:p>
          <a:p>
            <a:pPr marL="0" lvl="0" indent="0" algn="l">
              <a:buNone/>
            </a:pPr>
            <a:r>
              <a:rPr lang="vi-VN" dirty="0"/>
              <a:t>Lời giảng: CSV phù hợp bảng phẳng; JSON có thể nested và phổ biến với API. `pathlib` giúp quản lý đường dẫn thay vì hard-code chuỗi theo máy cá nhân. Pandas DataFrame là bảng làm việc trong memory: read, inspect, profile, transform, write. Mỗi bước nên tạo artifact hoặc log để ta biết dữ liệu đã thay đổi như thế nào.</a:t>
            </a:r>
            <a:endParaRPr lang="vi-VN"/>
          </a:p>
          <a:p>
            <a:pPr marL="0" lvl="0" indent="0" algn="l">
              <a:buNone/>
            </a:pPr>
            <a:r>
              <a:rPr lang="vi-VN" dirty="0"/>
              <a:t>Tương tác / demo: Demo đọc một CSV và một JSON, in shape/dtypes; không viết toàn pipeline trên slide.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CSV, JSON, pathlib, Pandas</a:t>
            </a:r>
            <a:endParaRPr lang="vi-VN"/>
          </a:p>
          <a:p>
            <a:pPr marL="0" lvl="0" indent="0" algn="l">
              <a:buNone/>
            </a:pPr>
            <a:r>
              <a:rPr lang="vi-VN" dirty="0"/>
              <a:t>Lời giảng: CSV phù hợp bảng phẳng; JSON có thể nested và phổ biến với API. `pathlib` giúp quản lý đường dẫn thay vì hard-code chuỗi theo máy cá nhân. Pandas DataFrame là bảng làm việc trong memory: read, inspect, profile, transform, write. Mỗi bước nên tạo artifact hoặc log để ta biết dữ liệu đã thay đổi như thế nào.</a:t>
            </a:r>
            <a:endParaRPr lang="vi-VN"/>
          </a:p>
          <a:p>
            <a:pPr marL="0" lvl="0" indent="0" algn="l">
              <a:buNone/>
            </a:pPr>
            <a:r>
              <a:rPr lang="vi-VN" dirty="0"/>
              <a:t>Tương tác / demo: Demo đọc một CSV và một JSON, in shape/dtypes; không viết toàn pipeline trên slide.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24–35 phút | Profiling và transform có kiểm soát</a:t>
            </a:r>
            <a:endParaRPr lang="vi-VN"/>
          </a:p>
          <a:p>
            <a:pPr marL="0" lvl="0" indent="0" algn="l">
              <a:buNone/>
            </a:pPr>
            <a:r>
              <a:rPr lang="vi-VN" dirty="0"/>
              <a:t>Lời giảng: Trước khi transform phải profile row count, columns, missing, duplicate, dtypes và domain. Sau đó mới normalize tên cột/text, parse datetime/numeric. `errors='coerce'` biến parse failure thành NaT/NaN để ta phát hiện; nó không có nghĩa là lỗi đã được xử lý. Transform nên là function thuần: input DataFrame, output DataFrame, ít side effect, dễ test.</a:t>
            </a:r>
            <a:endParaRPr lang="vi-VN"/>
          </a:p>
          <a:p>
            <a:pPr marL="0" lvl="0" indent="0" algn="l">
              <a:buNone/>
            </a:pPr>
            <a:r>
              <a:rPr lang="vi-VN" dirty="0"/>
              <a:t>Tương tác / demo: Hỏi: 'Nếu parse sai ngày thành NaT rồi im lặng ghi file, pipeline có thành công không?'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24–35 phút | Profiling và transform có kiểm soát</a:t>
            </a:r>
            <a:endParaRPr lang="vi-VN"/>
          </a:p>
          <a:p>
            <a:pPr marL="0" lvl="0" indent="0" algn="l">
              <a:buNone/>
            </a:pPr>
            <a:r>
              <a:rPr lang="vi-VN" dirty="0"/>
              <a:t>Lời giảng: Trước khi transform phải profile row count, columns, missing, duplicate, dtypes và domain. Sau đó mới normalize tên cột/text, parse datetime/numeric. `errors='coerce'` biến parse failure thành NaT/NaN để ta phát hiện; nó không có nghĩa là lỗi đã được xử lý. Transform nên là function thuần: input DataFrame, output DataFrame, ít side effect, dễ test.</a:t>
            </a:r>
            <a:endParaRPr lang="vi-VN"/>
          </a:p>
          <a:p>
            <a:pPr marL="0" lvl="0" indent="0" algn="l">
              <a:buNone/>
            </a:pPr>
            <a:r>
              <a:rPr lang="vi-VN" dirty="0"/>
              <a:t>Tương tác / demo: Hỏi: 'Nếu parse sai ngày thành NaT rồi im lặng ghi file, pipeline có thành công không?'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24–35 phút | Profiling và transform có kiểm soát</a:t>
            </a:r>
            <a:endParaRPr lang="vi-VN"/>
          </a:p>
          <a:p>
            <a:pPr marL="0" lvl="0" indent="0" algn="l">
              <a:buNone/>
            </a:pPr>
            <a:r>
              <a:rPr lang="vi-VN" dirty="0"/>
              <a:t>Lời giảng: Trước khi transform phải profile row count, columns, missing, duplicate, dtypes và domain. Sau đó mới normalize tên cột/text, parse datetime/numeric. `errors='coerce'` biến parse failure thành NaT/NaN để ta phát hiện; nó không có nghĩa là lỗi đã được xử lý. Transform nên là function thuần: input DataFrame, output DataFrame, ít side effect, dễ test.</a:t>
            </a:r>
            <a:endParaRPr lang="vi-VN"/>
          </a:p>
          <a:p>
            <a:pPr marL="0" lvl="0" indent="0" algn="l">
              <a:buNone/>
            </a:pPr>
            <a:r>
              <a:rPr lang="vi-VN" dirty="0"/>
              <a:t>Tương tác / demo: Hỏi: 'Nếu parse sai ngày thành NaT rồi im lặng ghi file, pipeline có thành công không?'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24–35 phút | Profiling và transform có kiểm soát</a:t>
            </a:r>
            <a:endParaRPr lang="vi-VN"/>
          </a:p>
          <a:p>
            <a:pPr marL="0" lvl="0" indent="0" algn="l">
              <a:buNone/>
            </a:pPr>
            <a:r>
              <a:rPr lang="vi-VN" dirty="0"/>
              <a:t>Lời giảng: Trước khi transform phải profile row count, columns, missing, duplicate, dtypes và domain. Sau đó mới normalize tên cột/text, parse datetime/numeric. `errors='coerce'` biến parse failure thành NaT/NaN để ta phát hiện; nó không có nghĩa là lỗi đã được xử lý. Transform nên là function thuần: input DataFrame, output DataFrame, ít side effect, dễ test.</a:t>
            </a:r>
            <a:endParaRPr lang="vi-VN"/>
          </a:p>
          <a:p>
            <a:pPr marL="0" lvl="0" indent="0" algn="l">
              <a:buNone/>
            </a:pPr>
            <a:r>
              <a:rPr lang="vi-VN" dirty="0"/>
              <a:t>Tương tác / demo: Hỏi: 'Nếu parse sai ngày thành NaT rồi im lặng ghi file, pipeline có thành công không?'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35–45 phút | RAW/STAGING, logging, exception</a:t>
            </a:r>
            <a:endParaRPr lang="vi-VN"/>
          </a:p>
          <a:p>
            <a:pPr marL="0" lvl="0" indent="0" algn="l">
              <a:buNone/>
            </a:pPr>
            <a:r>
              <a:rPr lang="vi-VN" dirty="0"/>
              <a:t>Lời giảng: RAW phải giữ nguyên source để replay/audit; STAGING là dữ liệu đã chuẩn hóa kỹ thuật. Logging phải đủ để debug một lần chạy: timestamp, component, dataset, rows in/out/reject, duration, status và error context; không log secret. Exception handling không phải nuốt lỗi mà là fail có chủ đích, log đủ context rồi raise khi cần.</a:t>
            </a:r>
            <a:endParaRPr lang="vi-VN"/>
          </a:p>
          <a:p>
            <a:pPr marL="0" lvl="0" indent="0" algn="l">
              <a:buNone/>
            </a:pPr>
            <a:r>
              <a:rPr lang="vi-VN" dirty="0"/>
              <a:t>Tương tác / demo: Chiếu một log line mẫu và yêu cầu lớp nói còn thiếu thông tin gì để điều tra sự cố.</a:t>
            </a:r>
            <a:endParaRPr lang="vi-VN"/>
          </a:p>
          <a:p>
            <a:pPr marL="0" lvl="0" indent="0" algn="l">
              <a:buNone/>
            </a:pPr>
            <a:r>
              <a:rPr lang="vi-VN" dirty="0"/>
              <a:t>—</a:t>
            </a:r>
            <a:endParaRPr lang="vi-VN"/>
          </a:p>
          <a:p>
            <a:pPr marL="0" lvl="0" indent="0" algn="l">
              <a:buNone/>
            </a:pPr>
            <a:r>
              <a:rPr lang="vi-VN" dirty="0"/>
              <a:t>90–103 phút | Lab 5C – RAW → STAGING + logging</a:t>
            </a:r>
            <a:endParaRPr lang="vi-VN"/>
          </a:p>
          <a:p>
            <a:pPr marL="0" lvl="0" indent="0" algn="l">
              <a:buNone/>
            </a:pPr>
            <a:r>
              <a:rPr lang="vi-VN" dirty="0"/>
              <a:t>Lời giảng: Pipeline phải đọc từ input/RAW và ghi clean artifact sang staging, không overwrite RAW. Mỗi dataset ghi log rows in/out và đường dẫn output. Đây là điểm chuyển từ 'code chạy' sang 'pipeline có bằng chứng'.</a:t>
            </a:r>
            <a:endParaRPr lang="vi-VN"/>
          </a:p>
          <a:p>
            <a:pPr marL="0" lvl="0" indent="0" algn="l">
              <a:buNone/>
            </a:pPr>
            <a:r>
              <a:rPr lang="vi-VN" dirty="0"/>
              <a:t>Tương tác / demo: GV kiểm tra thư mục staging và pipeline.log ở từng nhóm.</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35–45 phút | RAW/STAGING, logging, exception</a:t>
            </a:r>
            <a:endParaRPr lang="vi-VN"/>
          </a:p>
          <a:p>
            <a:pPr marL="0" lvl="0" indent="0" algn="l">
              <a:buNone/>
            </a:pPr>
            <a:r>
              <a:rPr lang="vi-VN" dirty="0"/>
              <a:t>Lời giảng: RAW phải giữ nguyên source để replay/audit; STAGING là dữ liệu đã chuẩn hóa kỹ thuật. Logging phải đủ để debug một lần chạy: timestamp, component, dataset, rows in/out/reject, duration, status và error context; không log secret. Exception handling không phải nuốt lỗi mà là fail có chủ đích, log đủ context rồi raise khi cần.</a:t>
            </a:r>
            <a:endParaRPr lang="vi-VN"/>
          </a:p>
          <a:p>
            <a:pPr marL="0" lvl="0" indent="0" algn="l">
              <a:buNone/>
            </a:pPr>
            <a:r>
              <a:rPr lang="vi-VN" dirty="0"/>
              <a:t>Tương tác / demo: Chiếu một log line mẫu và yêu cầu lớp nói còn thiếu thông tin gì để điều tra sự cố.</a:t>
            </a:r>
            <a:endParaRPr lang="vi-VN"/>
          </a:p>
          <a:p>
            <a:pPr marL="0" lvl="0" indent="0" algn="l">
              <a:buNone/>
            </a:pPr>
            <a:r>
              <a:rPr lang="vi-VN" dirty="0"/>
              <a:t>—</a:t>
            </a:r>
            <a:endParaRPr lang="vi-VN"/>
          </a:p>
          <a:p>
            <a:pPr marL="0" lvl="0" indent="0" algn="l">
              <a:buNone/>
            </a:pPr>
            <a:r>
              <a:rPr lang="vi-VN" dirty="0"/>
              <a:t>90–103 phút | Lab 5C – RAW → STAGING + logging</a:t>
            </a:r>
            <a:endParaRPr lang="vi-VN"/>
          </a:p>
          <a:p>
            <a:pPr marL="0" lvl="0" indent="0" algn="l">
              <a:buNone/>
            </a:pPr>
            <a:r>
              <a:rPr lang="vi-VN" dirty="0"/>
              <a:t>Lời giảng: Pipeline phải đọc từ input/RAW và ghi clean artifact sang staging, không overwrite RAW. Mỗi dataset ghi log rows in/out và đường dẫn output. Đây là điểm chuyển từ 'code chạy' sang 'pipeline có bằng chứng'.</a:t>
            </a:r>
            <a:endParaRPr lang="vi-VN"/>
          </a:p>
          <a:p>
            <a:pPr marL="0" lvl="0" indent="0" algn="l">
              <a:buNone/>
            </a:pPr>
            <a:r>
              <a:rPr lang="vi-VN" dirty="0"/>
              <a:t>Tương tác / demo: GV kiểm tra thư mục staging và pipeline.log ở từng nhóm.</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35–45 phút | RAW/STAGING, logging, exception</a:t>
            </a:r>
            <a:endParaRPr lang="vi-VN"/>
          </a:p>
          <a:p>
            <a:pPr marL="0" lvl="0" indent="0" algn="l">
              <a:buNone/>
            </a:pPr>
            <a:r>
              <a:rPr lang="vi-VN" dirty="0"/>
              <a:t>Lời giảng: RAW phải giữ nguyên source để replay/audit; STAGING là dữ liệu đã chuẩn hóa kỹ thuật. Logging phải đủ để debug một lần chạy: timestamp, component, dataset, rows in/out/reject, duration, status và error context; không log secret. Exception handling không phải nuốt lỗi mà là fail có chủ đích, log đủ context rồi raise khi cần.</a:t>
            </a:r>
            <a:endParaRPr lang="vi-VN"/>
          </a:p>
          <a:p>
            <a:pPr marL="0" lvl="0" indent="0" algn="l">
              <a:buNone/>
            </a:pPr>
            <a:r>
              <a:rPr lang="vi-VN" dirty="0"/>
              <a:t>Tương tác / demo: Chiếu một log line mẫu và yêu cầu lớp nói còn thiếu thông tin gì để điều tra sự cố.</a:t>
            </a:r>
            <a:endParaRPr lang="vi-VN"/>
          </a:p>
          <a:p>
            <a:pPr marL="0" lvl="0" indent="0" algn="l">
              <a:buNone/>
            </a:pPr>
            <a:r>
              <a:rPr lang="vi-VN" dirty="0"/>
              <a:t>—</a:t>
            </a:r>
            <a:endParaRPr lang="vi-VN"/>
          </a:p>
          <a:p>
            <a:pPr marL="0" lvl="0" indent="0" algn="l">
              <a:buNone/>
            </a:pPr>
            <a:r>
              <a:rPr lang="vi-VN" dirty="0"/>
              <a:t>90–103 phút | Lab 5C – RAW → STAGING + logging</a:t>
            </a:r>
            <a:endParaRPr lang="vi-VN"/>
          </a:p>
          <a:p>
            <a:pPr marL="0" lvl="0" indent="0" algn="l">
              <a:buNone/>
            </a:pPr>
            <a:r>
              <a:rPr lang="vi-VN" dirty="0"/>
              <a:t>Lời giảng: Pipeline phải đọc từ input/RAW và ghi clean artifact sang staging, không overwrite RAW. Mỗi dataset ghi log rows in/out và đường dẫn output. Đây là điểm chuyển từ 'code chạy' sang 'pipeline có bằng chứng'.</a:t>
            </a:r>
            <a:endParaRPr lang="vi-VN"/>
          </a:p>
          <a:p>
            <a:pPr marL="0" lvl="0" indent="0" algn="l">
              <a:buNone/>
            </a:pPr>
            <a:r>
              <a:rPr lang="vi-VN" dirty="0"/>
              <a:t>Tương tác / demo: GV kiểm tra thư mục staging và pipeline.log ở từng nhóm.</a:t>
            </a:r>
            <a:endParaRPr lang="vi-VN"/>
          </a:p>
          <a:p>
            <a:pPr marL="0" lvl="0" indent="0" algn="l">
              <a:buNone/>
            </a:pPr>
            <a:r>
              <a:rPr lang="vi-VN" dirty="0"/>
              <a:t>—</a:t>
            </a:r>
            <a:endParaRPr lang="vi-VN"/>
          </a:p>
          <a:p>
            <a:pPr marL="0" lvl="0" indent="0" algn="l">
              <a:buNone/>
            </a:pPr>
            <a:r>
              <a:rPr lang="vi-VN" dirty="0"/>
              <a:t>103–112 phút | Lab 5D – Exception handling</a:t>
            </a:r>
            <a:endParaRPr lang="vi-VN"/>
          </a:p>
          <a:p>
            <a:pPr marL="0" lvl="0" indent="0" algn="l">
              <a:buNone/>
            </a:pPr>
            <a:r>
              <a:rPr lang="vi-VN" dirty="0"/>
              <a:t>Lời giảng: Thử một tình huống file không tồn tại hoặc bad input. Pipeline phải log được lỗi và fail rõ, không tạo artifact nửa chừng mà báo success. Sau đó trả file về đúng trạng thái và chạy lại.</a:t>
            </a:r>
            <a:endParaRPr lang="vi-VN"/>
          </a:p>
          <a:p>
            <a:pPr marL="0" lvl="0" indent="0" algn="l">
              <a:buNone/>
            </a:pPr>
            <a:r>
              <a:rPr lang="vi-VN" dirty="0"/>
              <a:t>Tương tác / demo: Yêu cầu sinh viên giải thích đâu là lỗi recoverable ở buổi này và đâu nên fail.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45–53 phút | Giao File Processing Lab</a:t>
            </a:r>
            <a:endParaRPr lang="vi-VN"/>
          </a:p>
          <a:p>
            <a:pPr marL="0" lvl="0" indent="0" algn="l">
              <a:buNone/>
            </a:pPr>
            <a:r>
              <a:rPr lang="vi-VN" dirty="0"/>
              <a:t>Lời giảng: Lab có sáu bước: setup venv, read files, profile, normalize, write staging và log. Hôm nay chưa cần business validation sâu; tập trung cấu trúc pipeline và technical cleaning. Expected artifacts gồm các module trong src, clean CSV ở staging và pipeline.log.</a:t>
            </a:r>
            <a:endParaRPr lang="vi-VN"/>
          </a:p>
          <a:p>
            <a:pPr marL="0" lvl="0" indent="0" algn="l">
              <a:buNone/>
            </a:pPr>
            <a:r>
              <a:rPr lang="vi-VN" dirty="0"/>
              <a:t>Tương tác / demo: Nhắc sinh viên copy starter sang src để làm, không mở reference src của giảng viên.</a:t>
            </a:r>
            <a:endParaRPr lang="vi-VN"/>
          </a:p>
          <a:p>
            <a:pPr marL="0" lvl="0" indent="0" algn="l">
              <a:buNone/>
            </a:pPr>
            <a:r>
              <a:rPr lang="vi-VN" dirty="0"/>
              <a:t>—</a:t>
            </a:r>
            <a:endParaRPr lang="vi-VN"/>
          </a:p>
          <a:p>
            <a:pPr marL="0" lvl="0" indent="0" algn="l">
              <a:buNone/>
            </a:pPr>
            <a:r>
              <a:rPr lang="vi-VN" dirty="0"/>
              <a:t>60–75 phút | Lab 5A – Read + profile</a:t>
            </a:r>
            <a:endParaRPr lang="vi-VN"/>
          </a:p>
          <a:p>
            <a:pPr marL="0" lvl="0" indent="0" algn="l">
              <a:buNone/>
            </a:pPr>
            <a:r>
              <a:rPr lang="vi-VN" dirty="0"/>
              <a:t>Lời giảng: Hoàn thiện extract_files để đọc batch incremental. Với mỗi dataset, log path, row count và dtypes chính. Tạo profile tối thiểu: missing, duplicate, categories. Đừng transform ngay khi chưa biết dữ liệu ban đầu có gì.</a:t>
            </a:r>
            <a:endParaRPr lang="vi-VN"/>
          </a:p>
          <a:p>
            <a:pPr marL="0" lvl="0" indent="0" algn="l">
              <a:buNone/>
            </a:pPr>
            <a:r>
              <a:rPr lang="vi-VN" dirty="0"/>
              <a:t>Tương tác / demo: GV yêu cầu một nhóm đọc profile aloud và dự đoán transform cần làm.</a:t>
            </a:r>
            <a:endParaRPr lang="vi-VN"/>
          </a:p>
          <a:p>
            <a:pPr marL="0" lvl="0" indent="0" algn="l">
              <a:buNone/>
            </a:pPr>
            <a:r>
              <a:rPr lang="vi-VN" dirty="0"/>
              <a:t>—</a:t>
            </a:r>
            <a:endParaRPr lang="vi-VN"/>
          </a:p>
          <a:p>
            <a:pPr marL="0" lvl="0" indent="0" algn="l">
              <a:buNone/>
            </a:pPr>
            <a:r>
              <a:rPr lang="vi-VN" dirty="0"/>
              <a:t>75–90 phút | Lab 5B – Normalize</a:t>
            </a:r>
            <a:endParaRPr lang="vi-VN"/>
          </a:p>
          <a:p>
            <a:pPr marL="0" lvl="0" indent="0" algn="l">
              <a:buNone/>
            </a:pPr>
            <a:r>
              <a:rPr lang="vi-VN" dirty="0"/>
              <a:t>Lời giảng: Hoàn thiện transform.py: chuẩn hóa tên cột, strip/lower email/status, parse datetime/numeric. Giữ function nhỏ và có return rõ. Nếu parse failure xuất hiện, log count thay vì bỏ qua.</a:t>
            </a:r>
            <a:endParaRPr lang="vi-VN"/>
          </a:p>
          <a:p>
            <a:pPr marL="0" lvl="0" indent="0" algn="l">
              <a:buNone/>
            </a:pPr>
            <a:r>
              <a:rPr lang="vi-VN" dirty="0"/>
              <a:t>Tương tác / demo: Cho sinh viên viết một assert nhỏ hoặc print kiểm tra trước/sau cho một cột.</a:t>
            </a:r>
            <a:endParaRPr lang="vi-VN"/>
          </a:p>
          <a:p>
            <a:pPr marL="0" lvl="0" indent="0" algn="l">
              <a:buNone/>
            </a:pPr>
            <a:r>
              <a:rPr lang="vi-VN" dirty="0"/>
              <a:t>—</a:t>
            </a:r>
            <a:endParaRPr lang="vi-VN"/>
          </a:p>
          <a:p>
            <a:pPr marL="0" lvl="0" indent="0" algn="l">
              <a:buNone/>
            </a:pPr>
            <a:r>
              <a:rPr lang="vi-VN" dirty="0"/>
              <a:t>90–103 phút | Lab 5C – RAW → STAGING + logging</a:t>
            </a:r>
            <a:endParaRPr lang="vi-VN"/>
          </a:p>
          <a:p>
            <a:pPr marL="0" lvl="0" indent="0" algn="l">
              <a:buNone/>
            </a:pPr>
            <a:r>
              <a:rPr lang="vi-VN" dirty="0"/>
              <a:t>Lời giảng: Pipeline phải đọc từ input/RAW và ghi clean artifact sang staging, không overwrite RAW. Mỗi dataset ghi log rows in/out và đường dẫn output. Đây là điểm chuyển từ 'code chạy' sang 'pipeline có bằng chứng'.</a:t>
            </a:r>
            <a:endParaRPr lang="vi-VN"/>
          </a:p>
          <a:p>
            <a:pPr marL="0" lvl="0" indent="0" algn="l">
              <a:buNone/>
            </a:pPr>
            <a:r>
              <a:rPr lang="vi-VN" dirty="0"/>
              <a:t>Tương tác / demo: GV kiểm tra thư mục staging và pipeline.log ở từng nhóm.</a:t>
            </a:r>
            <a:endParaRPr lang="vi-VN"/>
          </a:p>
          <a:p>
            <a:pPr marL="0" lvl="0" indent="0" algn="l">
              <a:buNone/>
            </a:pPr>
            <a:r>
              <a:rPr lang="vi-VN" dirty="0"/>
              <a:t>—</a:t>
            </a:r>
            <a:endParaRPr lang="vi-VN"/>
          </a:p>
          <a:p>
            <a:pPr marL="0" lvl="0" indent="0" algn="l">
              <a:buNone/>
            </a:pPr>
            <a:r>
              <a:rPr lang="vi-VN" dirty="0"/>
              <a:t>103–112 phút | Lab 5D – Exception handling</a:t>
            </a:r>
            <a:endParaRPr lang="vi-VN"/>
          </a:p>
          <a:p>
            <a:pPr marL="0" lvl="0" indent="0" algn="l">
              <a:buNone/>
            </a:pPr>
            <a:r>
              <a:rPr lang="vi-VN" dirty="0"/>
              <a:t>Lời giảng: Thử một tình huống file không tồn tại hoặc bad input. Pipeline phải log được lỗi và fail rõ, không tạo artifact nửa chừng mà báo success. Sau đó trả file về đúng trạng thái và chạy lại.</a:t>
            </a:r>
            <a:endParaRPr lang="vi-VN"/>
          </a:p>
          <a:p>
            <a:pPr marL="0" lvl="0" indent="0" algn="l">
              <a:buNone/>
            </a:pPr>
            <a:r>
              <a:rPr lang="vi-VN" dirty="0"/>
              <a:t>Tương tác / demo: Yêu cầu sinh viên giải thích đâu là lỗi recoverable ở buổi này và đâu nên fail.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45–53 phút | Giao File Processing Lab</a:t>
            </a:r>
            <a:endParaRPr lang="vi-VN"/>
          </a:p>
          <a:p>
            <a:pPr marL="0" lvl="0" indent="0" algn="l">
              <a:buNone/>
            </a:pPr>
            <a:r>
              <a:rPr lang="vi-VN" dirty="0"/>
              <a:t>Lời giảng: Lab có sáu bước: setup venv, read files, profile, normalize, write staging và log. Hôm nay chưa cần business validation sâu; tập trung cấu trúc pipeline và technical cleaning. Expected artifacts gồm các module trong src, clean CSV ở staging và pipeline.log.</a:t>
            </a:r>
            <a:endParaRPr lang="vi-VN"/>
          </a:p>
          <a:p>
            <a:pPr marL="0" lvl="0" indent="0" algn="l">
              <a:buNone/>
            </a:pPr>
            <a:r>
              <a:rPr lang="vi-VN" dirty="0"/>
              <a:t>Tương tác / demo: Nhắc sinh viên copy starter sang src để làm, không mở reference src của giảng viên.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112–118 phút | Checkpoint</a:t>
            </a:r>
            <a:endParaRPr lang="vi-VN"/>
          </a:p>
          <a:p>
            <a:pPr marL="0" lvl="0" indent="0" algn="l">
              <a:buNone/>
            </a:pPr>
            <a:r>
              <a:rPr lang="vi-VN" dirty="0"/>
              <a:t>Lời giảng: Kiểm tra command xử lý toàn bộ input, log row counts, normalize email/status/date, RAW không bị overwrite và code đã chia module. Nếu mọi thứ nằm trong một notebook duy nhất thì chưa đạt mục tiêu structure.</a:t>
            </a:r>
            <a:endParaRPr lang="vi-VN"/>
          </a:p>
          <a:p>
            <a:pPr marL="0" lvl="0" indent="0" algn="l">
              <a:buNone/>
            </a:pPr>
            <a:r>
              <a:rPr lang="vi-VN" dirty="0"/>
              <a:t>Tương tác / demo: Cho 1–2 nhóm mở cây src và log để review nhanh.</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bốn ý: Python xử lý file/orchestration; RAW giữ nguyên, STAGING được normalize; project structure + logging giúp vận hành; transform nên module hóa và test được. Buổi sau ta thay file source bằng REST API và load vào PostgreSQL.</a:t>
            </a:r>
            <a:endParaRPr lang="vi-VN"/>
          </a:p>
          <a:p>
            <a:pPr marL="0" lvl="0" indent="0" algn="l">
              <a:buNone/>
            </a:pPr>
            <a:r>
              <a:rPr lang="vi-VN" dirty="0"/>
              <a:t>Tương tác / demo: Giao assignment.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bốn ý: Python xử lý file/orchestration; RAW giữ nguyên, STAGING được normalize; project structure + logging giúp vận hành; transform nên module hóa và test được. Buổi sau ta thay file source bằng REST API và load vào PostgreSQL.</a:t>
            </a:r>
            <a:endParaRPr lang="vi-VN"/>
          </a:p>
          <a:p>
            <a:pPr marL="0" lvl="0" indent="0" algn="l">
              <a:buNone/>
            </a:pPr>
            <a:r>
              <a:rPr lang="vi-VN" dirty="0"/>
              <a:t>Tương tác / demo: Giao assignment.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400" b="0">
                <a:solidFill>
                  <a:srgbClr val="000000"/>
                </a:solidFill>
                <a:latin typeface="Arial"/>
              </a:defRPr>
            </a:pPr>
            <a:r>
              <a:t>Python cơ bản cho Data Pipeline</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5:</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Python project</a:t>
            </a:r>
          </a:p>
          <a:p>
            <a:pPr>
              <a:spcAft>
                <a:spcPts val="1200"/>
              </a:spcAft>
              <a:defRPr sz="2200">
                <a:solidFill>
                  <a:srgbClr val="262626"/>
                </a:solidFill>
                <a:latin typeface="Arial"/>
              </a:defRPr>
            </a:pPr>
            <a:r>
              <a:t>2. CSV/JSON/Pandas</a:t>
            </a:r>
          </a:p>
          <a:p>
            <a:pPr>
              <a:spcAft>
                <a:spcPts val="1200"/>
              </a:spcAft>
              <a:defRPr sz="2200">
                <a:solidFill>
                  <a:srgbClr val="262626"/>
                </a:solidFill>
                <a:latin typeface="Arial"/>
              </a:defRPr>
            </a:pPr>
            <a:r>
              <a:t>3. Transform/logging</a:t>
            </a:r>
          </a:p>
          <a:p>
            <a:pPr>
              <a:spcAft>
                <a:spcPts val="1200"/>
              </a:spcAft>
              <a:defRPr sz="2200">
                <a:solidFill>
                  <a:srgbClr val="262626"/>
                </a:solidFill>
                <a:latin typeface="Arial"/>
              </a:defRPr>
            </a:pPr>
            <a:r>
              <a:t>4. File Pipeline Lab</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Buổi 5</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Python DE</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Operational</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Project + virtual environment</a:t>
            </a:r>
          </a:p>
          <a:p>
            <a:pPr>
              <a:lnSpc>
                <a:spcPct val="108000"/>
              </a:lnSpc>
              <a:spcAft>
                <a:spcPts val="800"/>
              </a:spcAft>
              <a:defRPr sz="1600">
                <a:solidFill>
                  <a:srgbClr val="262626"/>
                </a:solidFill>
                <a:latin typeface="Arial"/>
              </a:defRPr>
            </a:pPr>
            <a:r>
              <a:t>• CSV/JSON + Pandas</a:t>
            </a:r>
          </a:p>
          <a:p>
            <a:pPr>
              <a:lnSpc>
                <a:spcPct val="108000"/>
              </a:lnSpc>
              <a:spcAft>
                <a:spcPts val="800"/>
              </a:spcAft>
              <a:defRPr sz="1600">
                <a:solidFill>
                  <a:srgbClr val="262626"/>
                </a:solidFill>
                <a:latin typeface="Arial"/>
              </a:defRPr>
            </a:pPr>
            <a:r>
              <a:t>• Profiling + transformation</a:t>
            </a:r>
          </a:p>
          <a:p>
            <a:pPr>
              <a:lnSpc>
                <a:spcPct val="108000"/>
              </a:lnSpc>
              <a:spcAft>
                <a:spcPts val="800"/>
              </a:spcAft>
              <a:defRPr sz="1600">
                <a:solidFill>
                  <a:srgbClr val="262626"/>
                </a:solidFill>
                <a:latin typeface="Arial"/>
              </a:defRPr>
            </a:pPr>
            <a:r>
              <a:t>• Function/module organization</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RAW → STAGING</a:t>
            </a:r>
          </a:p>
          <a:p>
            <a:pPr>
              <a:lnSpc>
                <a:spcPct val="108000"/>
              </a:lnSpc>
              <a:spcAft>
                <a:spcPts val="800"/>
              </a:spcAft>
              <a:defRPr sz="1600">
                <a:solidFill>
                  <a:srgbClr val="262626"/>
                </a:solidFill>
                <a:latin typeface="Arial"/>
              </a:defRPr>
            </a:pPr>
            <a:r>
              <a:t>• Logging</a:t>
            </a:r>
          </a:p>
          <a:p>
            <a:pPr>
              <a:lnSpc>
                <a:spcPct val="108000"/>
              </a:lnSpc>
              <a:spcAft>
                <a:spcPts val="800"/>
              </a:spcAft>
              <a:defRPr sz="1600">
                <a:solidFill>
                  <a:srgbClr val="262626"/>
                </a:solidFill>
                <a:latin typeface="Arial"/>
              </a:defRPr>
            </a:pPr>
            <a:r>
              <a:t>• Exception handling</a:t>
            </a:r>
          </a:p>
          <a:p>
            <a:pPr>
              <a:lnSpc>
                <a:spcPct val="108000"/>
              </a:lnSpc>
              <a:spcAft>
                <a:spcPts val="800"/>
              </a:spcAft>
              <a:defRPr sz="1600">
                <a:solidFill>
                  <a:srgbClr val="262626"/>
                </a:solidFill>
                <a:latin typeface="Arial"/>
              </a:defRPr>
            </a:pPr>
            <a:r>
              <a:t>• Artifact sạch để Buổi 6 load DB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Python xử lý file/orchestration</a:t>
            </a:r>
          </a:p>
          <a:p>
            <a:pPr>
              <a:spcAft>
                <a:spcPts val="1200"/>
              </a:spcAft>
              <a:defRPr sz="2100">
                <a:solidFill>
                  <a:srgbClr val="262626"/>
                </a:solidFill>
                <a:latin typeface="Arial"/>
              </a:defRPr>
            </a:pPr>
            <a:r>
              <a:t>2. RAW không bị sửa; STAGING được normalize</a:t>
            </a:r>
          </a:p>
          <a:p>
            <a:pPr>
              <a:spcAft>
                <a:spcPts val="1200"/>
              </a:spcAft>
              <a:defRPr sz="2100">
                <a:solidFill>
                  <a:srgbClr val="262626"/>
                </a:solidFill>
                <a:latin typeface="Arial"/>
              </a:defRPr>
            </a:pPr>
            <a:r>
              <a:t>3. Project structure + logging giúp vận hành</a:t>
            </a:r>
          </a:p>
          <a:p>
            <a:pPr>
              <a:spcAft>
                <a:spcPts val="1200"/>
              </a:spcAft>
              <a:defRPr sz="2100">
                <a:solidFill>
                  <a:srgbClr val="262626"/>
                </a:solidFill>
                <a:latin typeface="Arial"/>
              </a:defRPr>
            </a:pPr>
            <a:r>
              <a:t>4. Transform nên module hóa và test được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Python nằm ở đâu trong kiến trúc dữ liệu?</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SOURCE</a:t>
            </a:r>
          </a:p>
          <a:p>
            <a:pPr algn="ctr">
              <a:defRPr sz="1150">
                <a:solidFill>
                  <a:srgbClr val="5F6368"/>
                </a:solidFill>
                <a:latin typeface="Arial"/>
              </a:defRPr>
            </a:pPr>
            <a:r>
              <a:t>CSV / JSON</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PYTHON</a:t>
            </a:r>
          </a:p>
          <a:p>
            <a:pPr algn="ctr">
              <a:defRPr sz="1150">
                <a:solidFill>
                  <a:srgbClr val="5F6368"/>
                </a:solidFill>
                <a:latin typeface="Arial"/>
              </a:defRPr>
            </a:pPr>
            <a:r>
              <a:t>Extract + Validate + Transform</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STAGING</a:t>
            </a:r>
          </a:p>
          <a:p>
            <a:pPr algn="ctr">
              <a:defRPr sz="1150">
                <a:solidFill>
                  <a:srgbClr val="5F6368"/>
                </a:solidFill>
                <a:latin typeface="Arial"/>
              </a:defRPr>
            </a:pPr>
            <a:r>
              <a:t>Clean files</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POSTGRES</a:t>
            </a:r>
          </a:p>
          <a:p>
            <a:pPr algn="ctr">
              <a:defRPr sz="1150">
                <a:solidFill>
                  <a:srgbClr val="5F6368"/>
                </a:solidFill>
                <a:latin typeface="Arial"/>
              </a:defRPr>
            </a:pPr>
            <a:r>
              <a:t>Load later</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Python không thay SQL; Python xử lý orchestration/file/API, SQL xử lý relational analytics.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Script thử nghiệm vs Pipeline có cấu trúc</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SCRIPT NHANH</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1 file lớn</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Hard-code path</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print()</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Crash bất kỳ</a:t>
            </a:r>
          </a:p>
        </p:txBody>
      </p:sp>
      <p:sp>
        <p:nvSpPr>
          <p:cNvPr id="10" name="Rounded Rectangle 9"/>
          <p:cNvSpPr/>
          <p:nvPr/>
        </p:nvSpPr>
        <p:spPr>
          <a:xfrm>
            <a:off x="822960" y="4828032"/>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Không test</a:t>
            </a:r>
          </a:p>
        </p:txBody>
      </p:sp>
      <p:sp>
        <p:nvSpPr>
          <p:cNvPr id="11" name="Rounded Rectangle 10"/>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PIPELINE</a:t>
            </a:r>
          </a:p>
        </p:txBody>
      </p:sp>
      <p:sp>
        <p:nvSpPr>
          <p:cNvPr id="12" name="Rounded Rectangle 11"/>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Modules/functions</a:t>
            </a:r>
          </a:p>
        </p:txBody>
      </p:sp>
      <p:sp>
        <p:nvSpPr>
          <p:cNvPr id="13" name="Rounded Rectangle 12"/>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Config</a:t>
            </a:r>
          </a:p>
        </p:txBody>
      </p:sp>
      <p:sp>
        <p:nvSpPr>
          <p:cNvPr id="14" name="Rounded Rectangle 13"/>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logging</a:t>
            </a:r>
          </a:p>
        </p:txBody>
      </p:sp>
      <p:sp>
        <p:nvSpPr>
          <p:cNvPr id="15" name="Rounded Rectangle 14"/>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Exception strategy</a:t>
            </a:r>
          </a:p>
        </p:txBody>
      </p:sp>
      <p:sp>
        <p:nvSpPr>
          <p:cNvPr id="16" name="Rounded Rectangle 15"/>
          <p:cNvSpPr/>
          <p:nvPr/>
        </p:nvSpPr>
        <p:spPr>
          <a:xfrm>
            <a:off x="6135624" y="4828032"/>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test/checkpoint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Virtual environment &amp; requirements</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python3.11 -m venv .venv</a:t>
            </a:r>
            <a:br/>
            <a:r>
              <a:t>source .venv/bin/activate</a:t>
            </a:r>
            <a:br/>
            <a:r>
              <a:t>python -m pip install --upgrade pip</a:t>
            </a:r>
            <a:br/>
            <a:r>
              <a:t>pip install -r requirements.txt</a:t>
            </a:r>
            <a:br/>
            <a:br/>
            <a:r>
              <a:t>python --version</a:t>
            </a:r>
            <a:br/>
            <a:r>
              <a:t>pip freeze | head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Project structure cho Module 2</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src/</a:t>
            </a:r>
            <a:br/>
            <a:r>
              <a:t>├── config.py</a:t>
            </a:r>
            <a:br/>
            <a:r>
              <a:t>├── logger.py</a:t>
            </a:r>
            <a:br/>
            <a:r>
              <a:t>├── extract_files.py</a:t>
            </a:r>
            <a:br/>
            <a:r>
              <a:t>├── transform.py</a:t>
            </a:r>
            <a:br/>
            <a:r>
              <a:t>├── validators/</a:t>
            </a:r>
            <a:br/>
            <a:r>
              <a:t>├── load_postgres.py</a:t>
            </a:r>
            <a:br/>
            <a:r>
              <a:t>└── pipeline.py</a:t>
            </a:r>
            <a:br/>
            <a:r>
              <a:t>data/{raw,staging,reject}/</a:t>
            </a:r>
            <a:br/>
            <a:r>
              <a:t>logs/</a:t>
            </a:r>
            <a:br/>
            <a:r>
              <a:t>reports/</a:t>
            </a:r>
            <a:br/>
            <a:r>
              <a:t>metadata/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CSV và JSON: cùng là dữ liệu nhưng khác cấu trúc</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CSV</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Bảng phẳng</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Header + rows</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Đơn giản cho batch</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pandas.read_csv</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JSON</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Nested được</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Key/value</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Phổ biến với API</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json / pandas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pathlib: quản lý đường dẫn không hard-code</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from pathlib import Path</a:t>
            </a:r>
            <a:br/>
            <a:r>
              <a:t>ROOT = Path(__file__).resolve().parents[1]</a:t>
            </a:r>
            <a:br/>
            <a:r>
              <a:t>RAW = ROOT / "data" / "raw"</a:t>
            </a:r>
            <a:br/>
            <a:r>
              <a:t>STAGING = ROOT / "data" / "staging"</a:t>
            </a:r>
            <a:br/>
            <a:r>
              <a:t>STAGING.mkdir(parents=True, exist_ok=True)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Pandas DataFrame: bảng làm việc trong memory</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READ</a:t>
            </a:r>
          </a:p>
          <a:p>
            <a:pPr>
              <a:defRPr sz="1150">
                <a:solidFill>
                  <a:srgbClr val="262626"/>
                </a:solidFill>
                <a:latin typeface="Arial"/>
              </a:defRPr>
            </a:pPr>
            <a:r>
              <a:t>read_csv / DataFrame(json)</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INSPECT</a:t>
            </a:r>
          </a:p>
          <a:p>
            <a:pPr>
              <a:defRPr sz="1150">
                <a:solidFill>
                  <a:srgbClr val="262626"/>
                </a:solidFill>
                <a:latin typeface="Arial"/>
              </a:defRPr>
            </a:pPr>
            <a:r>
              <a:t>head / info / dtypes</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PROFILE</a:t>
            </a:r>
          </a:p>
          <a:p>
            <a:pPr>
              <a:defRPr sz="1150">
                <a:solidFill>
                  <a:srgbClr val="262626"/>
                </a:solidFill>
                <a:latin typeface="Arial"/>
              </a:defRPr>
            </a:pPr>
            <a:r>
              <a:t>missing / duplicate</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TRANSFORM</a:t>
            </a:r>
          </a:p>
          <a:p>
            <a:pPr>
              <a:defRPr sz="1150">
                <a:solidFill>
                  <a:srgbClr val="262626"/>
                </a:solidFill>
                <a:latin typeface="Arial"/>
              </a:defRPr>
            </a:pPr>
            <a:r>
              <a:t>rename / trim / parse</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WRITE</a:t>
            </a:r>
          </a:p>
          <a:p>
            <a:pPr>
              <a:defRPr sz="1150">
                <a:solidFill>
                  <a:srgbClr val="262626"/>
                </a:solidFill>
                <a:latin typeface="Arial"/>
              </a:defRPr>
            </a:pPr>
            <a:r>
              <a:t>to_csv staging</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LOG</a:t>
            </a:r>
          </a:p>
          <a:p>
            <a:pPr>
              <a:defRPr sz="1150">
                <a:solidFill>
                  <a:srgbClr val="262626"/>
                </a:solidFill>
                <a:latin typeface="Arial"/>
              </a:defRPr>
            </a:pPr>
            <a:r>
              <a:t>rows in/out/errors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Đọc CSV và JSON</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customers = pd.read_csv("data/raw/customers.csv")</a:t>
            </a:r>
            <a:br/>
            <a:r>
              <a:t>payments = pd.DataFrame(</a:t>
            </a:r>
            <a:br/>
            <a:r>
              <a:t>    json.loads(Path("data/raw/payments.json").read_text())</a:t>
            </a:r>
            <a:br/>
            <a:r>
              <a:t>)</a:t>
            </a:r>
            <a:br/>
            <a:r>
              <a:t>print(customers.shape)</a:t>
            </a:r>
            <a:br/>
            <a:r>
              <a:t>print(customers.dtypes)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Profiling tối thiểu trước khi transform</a:t>
            </a:r>
          </a:p>
        </p:txBody>
      </p:sp>
      <p:sp>
        <p:nvSpPr>
          <p:cNvPr id="5" name="Rounded Rectangle 4"/>
          <p:cNvSpPr/>
          <p:nvPr/>
        </p:nvSpPr>
        <p:spPr>
          <a:xfrm>
            <a:off x="86868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ROWS</a:t>
            </a:r>
          </a:p>
          <a:p>
            <a:pPr>
              <a:defRPr sz="2000" b="1">
                <a:solidFill>
                  <a:srgbClr val="C5272A"/>
                </a:solidFill>
                <a:latin typeface="Arial"/>
              </a:defRPr>
            </a:pPr>
            <a:r>
              <a:t>len(df)</a:t>
            </a:r>
          </a:p>
          <a:p>
            <a:pPr>
              <a:defRPr sz="1050">
                <a:solidFill>
                  <a:srgbClr val="5F6368"/>
                </a:solidFill>
                <a:latin typeface="Arial"/>
              </a:defRPr>
            </a:pPr>
            <a:r>
              <a:t>volume</a:t>
            </a:r>
          </a:p>
        </p:txBody>
      </p:sp>
      <p:sp>
        <p:nvSpPr>
          <p:cNvPr id="6" name="Rounded Rectangle 5"/>
          <p:cNvSpPr/>
          <p:nvPr/>
        </p:nvSpPr>
        <p:spPr>
          <a:xfrm>
            <a:off x="443484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COLUMNS</a:t>
            </a:r>
          </a:p>
          <a:p>
            <a:pPr>
              <a:defRPr sz="2000" b="1">
                <a:solidFill>
                  <a:srgbClr val="C5272A"/>
                </a:solidFill>
                <a:latin typeface="Arial"/>
              </a:defRPr>
            </a:pPr>
            <a:r>
              <a:t>df.columns</a:t>
            </a:r>
          </a:p>
          <a:p>
            <a:pPr>
              <a:defRPr sz="1050">
                <a:solidFill>
                  <a:srgbClr val="5F6368"/>
                </a:solidFill>
                <a:latin typeface="Arial"/>
              </a:defRPr>
            </a:pPr>
            <a:r>
              <a:t>schema</a:t>
            </a:r>
          </a:p>
        </p:txBody>
      </p:sp>
      <p:sp>
        <p:nvSpPr>
          <p:cNvPr id="7" name="Rounded Rectangle 6"/>
          <p:cNvSpPr/>
          <p:nvPr/>
        </p:nvSpPr>
        <p:spPr>
          <a:xfrm>
            <a:off x="800100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MISSING</a:t>
            </a:r>
          </a:p>
          <a:p>
            <a:pPr>
              <a:defRPr sz="2000" b="1">
                <a:solidFill>
                  <a:srgbClr val="C5272A"/>
                </a:solidFill>
                <a:latin typeface="Arial"/>
              </a:defRPr>
            </a:pPr>
            <a:r>
              <a:t>isna().sum()</a:t>
            </a:r>
          </a:p>
          <a:p>
            <a:pPr>
              <a:defRPr sz="1050">
                <a:solidFill>
                  <a:srgbClr val="5F6368"/>
                </a:solidFill>
                <a:latin typeface="Arial"/>
              </a:defRPr>
            </a:pPr>
            <a:r>
              <a:t>completeness</a:t>
            </a:r>
          </a:p>
        </p:txBody>
      </p:sp>
      <p:sp>
        <p:nvSpPr>
          <p:cNvPr id="8" name="Rounded Rectangle 7"/>
          <p:cNvSpPr/>
          <p:nvPr/>
        </p:nvSpPr>
        <p:spPr>
          <a:xfrm>
            <a:off x="86868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DUPLICATE</a:t>
            </a:r>
          </a:p>
          <a:p>
            <a:pPr>
              <a:defRPr sz="2000" b="1">
                <a:solidFill>
                  <a:srgbClr val="C5272A"/>
                </a:solidFill>
                <a:latin typeface="Arial"/>
              </a:defRPr>
            </a:pPr>
            <a:r>
              <a:t>duplicated().sum()</a:t>
            </a:r>
          </a:p>
          <a:p>
            <a:pPr>
              <a:defRPr sz="1050">
                <a:solidFill>
                  <a:srgbClr val="5F6368"/>
                </a:solidFill>
                <a:latin typeface="Arial"/>
              </a:defRPr>
            </a:pPr>
            <a:r>
              <a:t>uniqueness</a:t>
            </a:r>
          </a:p>
        </p:txBody>
      </p:sp>
      <p:sp>
        <p:nvSpPr>
          <p:cNvPr id="9" name="Rounded Rectangle 8"/>
          <p:cNvSpPr/>
          <p:nvPr/>
        </p:nvSpPr>
        <p:spPr>
          <a:xfrm>
            <a:off x="443484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DTYPES</a:t>
            </a:r>
          </a:p>
          <a:p>
            <a:pPr>
              <a:defRPr sz="2000" b="1">
                <a:solidFill>
                  <a:srgbClr val="C5272A"/>
                </a:solidFill>
                <a:latin typeface="Arial"/>
              </a:defRPr>
            </a:pPr>
            <a:r>
              <a:t>df.dtypes</a:t>
            </a:r>
          </a:p>
          <a:p>
            <a:pPr>
              <a:defRPr sz="1050">
                <a:solidFill>
                  <a:srgbClr val="5F6368"/>
                </a:solidFill>
                <a:latin typeface="Arial"/>
              </a:defRPr>
            </a:pPr>
            <a:r>
              <a:t>type</a:t>
            </a:r>
          </a:p>
        </p:txBody>
      </p:sp>
      <p:sp>
        <p:nvSpPr>
          <p:cNvPr id="10" name="Rounded Rectangle 9"/>
          <p:cNvSpPr/>
          <p:nvPr/>
        </p:nvSpPr>
        <p:spPr>
          <a:xfrm>
            <a:off x="800100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CATEGORIES</a:t>
            </a:r>
          </a:p>
          <a:p>
            <a:pPr>
              <a:defRPr sz="2000" b="1">
                <a:solidFill>
                  <a:srgbClr val="C5272A"/>
                </a:solidFill>
                <a:latin typeface="Arial"/>
              </a:defRPr>
            </a:pPr>
            <a:r>
              <a:t>value_counts</a:t>
            </a:r>
          </a:p>
          <a:p>
            <a:pPr>
              <a:defRPr sz="1050">
                <a:solidFill>
                  <a:srgbClr val="5F6368"/>
                </a:solidFill>
                <a:latin typeface="Arial"/>
              </a:defRPr>
            </a:pPr>
            <a:r>
              <a:t>domain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Normalize tên cột và chuỗi</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out = df.copy()</a:t>
            </a:r>
            <a:br/>
            <a:r>
              <a:t>out.columns = [c.strip().lower() for c in out.columns]</a:t>
            </a:r>
            <a:br/>
            <a:r>
              <a:t>out["email"] = out["email"].str.strip().str.lower()</a:t>
            </a:r>
            <a:br/>
            <a:r>
              <a:t>out["status"] = out["status"].str.strip().str.lower()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Parse datetime và numeric có kiểm soát</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Datetime</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Numeric</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pd.to_datetime(..., errors="coerce", utc=True)</a:t>
            </a:r>
          </a:p>
          <a:p>
            <a:pPr>
              <a:lnSpc>
                <a:spcPct val="108000"/>
              </a:lnSpc>
              <a:spcAft>
                <a:spcPts val="800"/>
              </a:spcAft>
              <a:defRPr sz="1600">
                <a:solidFill>
                  <a:srgbClr val="262626"/>
                </a:solidFill>
                <a:latin typeface="Arial"/>
              </a:defRPr>
            </a:pPr>
            <a:r>
              <a:t>• NaT = parse failure</a:t>
            </a:r>
          </a:p>
          <a:p>
            <a:pPr>
              <a:lnSpc>
                <a:spcPct val="108000"/>
              </a:lnSpc>
              <a:spcAft>
                <a:spcPts val="800"/>
              </a:spcAft>
              <a:defRPr sz="1600">
                <a:solidFill>
                  <a:srgbClr val="262626"/>
                </a:solidFill>
                <a:latin typeface="Arial"/>
              </a:defRPr>
            </a:pPr>
            <a:r>
              <a:t>• Giữ timezone logic rõ</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pd.to_numeric(..., errors="coerce")</a:t>
            </a:r>
          </a:p>
          <a:p>
            <a:pPr>
              <a:lnSpc>
                <a:spcPct val="108000"/>
              </a:lnSpc>
              <a:spcAft>
                <a:spcPts val="800"/>
              </a:spcAft>
              <a:defRPr sz="1600">
                <a:solidFill>
                  <a:srgbClr val="262626"/>
                </a:solidFill>
                <a:latin typeface="Arial"/>
              </a:defRPr>
            </a:pPr>
            <a:r>
              <a:t>• NaN = parse failure</a:t>
            </a:r>
          </a:p>
          <a:p>
            <a:pPr>
              <a:lnSpc>
                <a:spcPct val="108000"/>
              </a:lnSpc>
              <a:spcAft>
                <a:spcPts val="800"/>
              </a:spcAft>
              <a:defRPr sz="1600">
                <a:solidFill>
                  <a:srgbClr val="262626"/>
                </a:solidFill>
                <a:latin typeface="Arial"/>
              </a:defRPr>
            </a:pPr>
            <a:r>
              <a:t>• Không silent convert string lỗi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Transform nên là function thuần càng nhiều càng tốt</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def normalize(df: pd.DataFrame) -&gt; pd.DataFrame:</a:t>
            </a:r>
            <a:br/>
            <a:r>
              <a:t>    out = df.copy()</a:t>
            </a:r>
            <a:br/>
            <a:r>
              <a:t>    out.columns = [c.strip().lower() for c in out.columns]</a:t>
            </a:r>
            <a:br/>
            <a:r>
              <a:t>    # normalize text / datetime / numeric</a:t>
            </a:r>
            <a:br/>
            <a:r>
              <a:t>    return out</a:t>
            </a:r>
            <a:br/>
            <a:br/>
            <a:r>
              <a:t>clean = normalize(raw)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RAW và STAGING phải khác vai trò</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RAW</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Giữ nguyên nguồn</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Không sửa</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audit/replay</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timestamp/source</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STAGING</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Đã chuẩn hóa format</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transform kỹ thuật</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validation/load</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schema nhất quán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Logging: ghi đủ để debug một pipeline run</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Timestamp + level + component</a:t>
            </a:r>
          </a:p>
          <a:p>
            <a:pPr>
              <a:lnSpc>
                <a:spcPct val="108000"/>
              </a:lnSpc>
              <a:spcAft>
                <a:spcPts val="800"/>
              </a:spcAft>
              <a:defRPr sz="1800">
                <a:solidFill>
                  <a:srgbClr val="262626"/>
                </a:solidFill>
                <a:latin typeface="Arial"/>
              </a:defRPr>
            </a:pPr>
            <a:r>
              <a:t>• Tên dataset / file / endpoint</a:t>
            </a:r>
          </a:p>
          <a:p>
            <a:pPr>
              <a:lnSpc>
                <a:spcPct val="108000"/>
              </a:lnSpc>
              <a:spcAft>
                <a:spcPts val="800"/>
              </a:spcAft>
              <a:defRPr sz="1800">
                <a:solidFill>
                  <a:srgbClr val="262626"/>
                </a:solidFill>
                <a:latin typeface="Arial"/>
              </a:defRPr>
            </a:pPr>
            <a:r>
              <a:t>• Rows input/output/reject</a:t>
            </a:r>
          </a:p>
          <a:p>
            <a:pPr>
              <a:lnSpc>
                <a:spcPct val="108000"/>
              </a:lnSpc>
              <a:spcAft>
                <a:spcPts val="800"/>
              </a:spcAft>
              <a:defRPr sz="1800">
                <a:solidFill>
                  <a:srgbClr val="262626"/>
                </a:solidFill>
                <a:latin typeface="Arial"/>
              </a:defRPr>
            </a:pPr>
            <a:r>
              <a:t>• Thời gian chạy và status</a:t>
            </a:r>
          </a:p>
          <a:p>
            <a:pPr>
              <a:lnSpc>
                <a:spcPct val="108000"/>
              </a:lnSpc>
              <a:spcAft>
                <a:spcPts val="800"/>
              </a:spcAft>
              <a:defRPr sz="1800">
                <a:solidFill>
                  <a:srgbClr val="262626"/>
                </a:solidFill>
                <a:latin typeface="Arial"/>
              </a:defRPr>
            </a:pPr>
            <a:r>
              <a:t>• Exception message + context</a:t>
            </a:r>
          </a:p>
          <a:p>
            <a:pPr>
              <a:lnSpc>
                <a:spcPct val="108000"/>
              </a:lnSpc>
              <a:spcAft>
                <a:spcPts val="800"/>
              </a:spcAft>
              <a:defRPr sz="1800">
                <a:solidFill>
                  <a:srgbClr val="262626"/>
                </a:solidFill>
                <a:latin typeface="Arial"/>
              </a:defRPr>
            </a:pPr>
            <a:r>
              <a:t>• Không log secret/password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Exception handling: fail có chủ đích</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try:</a:t>
            </a:r>
            <a:br/>
            <a:r>
              <a:t>    df = read_dataset(path)</a:t>
            </a:r>
            <a:br/>
            <a:r>
              <a:t>    clean = normalize(df)</a:t>
            </a:r>
            <a:br/>
            <a:r>
              <a:t>except FileNotFoundError:</a:t>
            </a:r>
            <a:br/>
            <a:r>
              <a:t>    log.error("missing file: %s", path)</a:t>
            </a:r>
            <a:br/>
            <a:r>
              <a:t>    raise</a:t>
            </a:r>
            <a:br/>
            <a:r>
              <a:t>except ValueError as exc:</a:t>
            </a:r>
            <a:br/>
            <a:r>
              <a:t>    log.error("bad input: %s", exc)</a:t>
            </a:r>
            <a:br/>
            <a:r>
              <a:t>    raise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Lab 5 – File Processing Pipeline</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a:t>
            </a:r>
          </a:p>
          <a:p>
            <a:pPr algn="ctr">
              <a:defRPr sz="1150">
                <a:solidFill>
                  <a:srgbClr val="5F6368"/>
                </a:solidFill>
                <a:latin typeface="Arial"/>
              </a:defRPr>
            </a:pPr>
            <a:r>
              <a:t>Setup venv</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2</a:t>
            </a:r>
          </a:p>
          <a:p>
            <a:pPr algn="ctr">
              <a:defRPr sz="1150">
                <a:solidFill>
                  <a:srgbClr val="5F6368"/>
                </a:solidFill>
                <a:latin typeface="Arial"/>
              </a:defRPr>
            </a:pPr>
            <a:r>
              <a:t>Read files</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3</a:t>
            </a:r>
          </a:p>
          <a:p>
            <a:pPr algn="ctr">
              <a:defRPr sz="1150">
                <a:solidFill>
                  <a:srgbClr val="5F6368"/>
                </a:solidFill>
                <a:latin typeface="Arial"/>
              </a:defRPr>
            </a:pPr>
            <a:r>
              <a:t>Profile</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a:t>
            </a:r>
          </a:p>
          <a:p>
            <a:pPr algn="ctr">
              <a:defRPr sz="1150">
                <a:solidFill>
                  <a:srgbClr val="5F6368"/>
                </a:solidFill>
                <a:latin typeface="Arial"/>
              </a:defRPr>
            </a:pPr>
            <a:r>
              <a:t>Normalize</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5</a:t>
            </a:r>
          </a:p>
          <a:p>
            <a:pPr algn="ctr">
              <a:defRPr sz="1150">
                <a:solidFill>
                  <a:srgbClr val="5F6368"/>
                </a:solidFill>
                <a:latin typeface="Arial"/>
              </a:defRPr>
            </a:pPr>
            <a:r>
              <a:t>Write staging</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6</a:t>
            </a:r>
          </a:p>
          <a:p>
            <a:pPr algn="ctr">
              <a:defRPr sz="1150">
                <a:solidFill>
                  <a:srgbClr val="5F6368"/>
                </a:solidFill>
                <a:latin typeface="Arial"/>
              </a:defRPr>
            </a:pPr>
            <a:r>
              <a:t>Log</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Chưa cần business validation sâu; tập trung pipeline structure và technical cleaning.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Expected artifacts</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src/extract_files.py</a:t>
            </a:r>
          </a:p>
          <a:p>
            <a:pPr>
              <a:lnSpc>
                <a:spcPct val="108000"/>
              </a:lnSpc>
              <a:spcAft>
                <a:spcPts val="800"/>
              </a:spcAft>
              <a:defRPr sz="1800">
                <a:solidFill>
                  <a:srgbClr val="262626"/>
                </a:solidFill>
                <a:latin typeface="Arial"/>
              </a:defRPr>
            </a:pPr>
            <a:r>
              <a:t>• src/transform.py</a:t>
            </a:r>
          </a:p>
          <a:p>
            <a:pPr>
              <a:lnSpc>
                <a:spcPct val="108000"/>
              </a:lnSpc>
              <a:spcAft>
                <a:spcPts val="800"/>
              </a:spcAft>
              <a:defRPr sz="1800">
                <a:solidFill>
                  <a:srgbClr val="262626"/>
                </a:solidFill>
                <a:latin typeface="Arial"/>
              </a:defRPr>
            </a:pPr>
            <a:r>
              <a:t>• src/config.py</a:t>
            </a:r>
          </a:p>
          <a:p>
            <a:pPr>
              <a:lnSpc>
                <a:spcPct val="108000"/>
              </a:lnSpc>
              <a:spcAft>
                <a:spcPts val="800"/>
              </a:spcAft>
              <a:defRPr sz="1800">
                <a:solidFill>
                  <a:srgbClr val="262626"/>
                </a:solidFill>
                <a:latin typeface="Arial"/>
              </a:defRPr>
            </a:pPr>
            <a:r>
              <a:t>• src/logger.py</a:t>
            </a:r>
          </a:p>
          <a:p>
            <a:pPr>
              <a:lnSpc>
                <a:spcPct val="108000"/>
              </a:lnSpc>
              <a:spcAft>
                <a:spcPts val="800"/>
              </a:spcAft>
              <a:defRPr sz="1800">
                <a:solidFill>
                  <a:srgbClr val="262626"/>
                </a:solidFill>
                <a:latin typeface="Arial"/>
              </a:defRPr>
            </a:pPr>
            <a:r>
              <a:t>• data/staging/*_clean.csv</a:t>
            </a:r>
          </a:p>
          <a:p>
            <a:pPr>
              <a:lnSpc>
                <a:spcPct val="108000"/>
              </a:lnSpc>
              <a:spcAft>
                <a:spcPts val="800"/>
              </a:spcAft>
              <a:defRPr sz="1800">
                <a:solidFill>
                  <a:srgbClr val="262626"/>
                </a:solidFill>
                <a:latin typeface="Arial"/>
              </a:defRPr>
            </a:pPr>
            <a:r>
              <a:t>• logs/pipeline.log</a:t>
            </a:r>
          </a:p>
          <a:p>
            <a:pPr>
              <a:lnSpc>
                <a:spcPct val="108000"/>
              </a:lnSpc>
              <a:spcAft>
                <a:spcPts val="800"/>
              </a:spcAft>
              <a:defRPr sz="1800">
                <a:solidFill>
                  <a:srgbClr val="262626"/>
                </a:solidFill>
                <a:latin typeface="Arial"/>
              </a:defRPr>
            </a:pPr>
            <a:r>
              <a:t>• requirements.txt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cuối Buổi 5</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Có command xử lý toàn bộ file input</a:t>
            </a:r>
          </a:p>
          <a:p>
            <a:pPr>
              <a:lnSpc>
                <a:spcPct val="108000"/>
              </a:lnSpc>
              <a:spcAft>
                <a:spcPts val="800"/>
              </a:spcAft>
              <a:defRPr sz="1800">
                <a:solidFill>
                  <a:srgbClr val="262626"/>
                </a:solidFill>
                <a:latin typeface="Arial"/>
              </a:defRPr>
            </a:pPr>
            <a:r>
              <a:t>• Log được row counts và lỗi</a:t>
            </a:r>
          </a:p>
          <a:p>
            <a:pPr>
              <a:lnSpc>
                <a:spcPct val="108000"/>
              </a:lnSpc>
              <a:spcAft>
                <a:spcPts val="800"/>
              </a:spcAft>
              <a:defRPr sz="1800">
                <a:solidFill>
                  <a:srgbClr val="262626"/>
                </a:solidFill>
                <a:latin typeface="Arial"/>
              </a:defRPr>
            </a:pPr>
            <a:r>
              <a:t>• Email/status/date được normalize</a:t>
            </a:r>
          </a:p>
          <a:p>
            <a:pPr>
              <a:lnSpc>
                <a:spcPct val="108000"/>
              </a:lnSpc>
              <a:spcAft>
                <a:spcPts val="800"/>
              </a:spcAft>
              <a:defRPr sz="1800">
                <a:solidFill>
                  <a:srgbClr val="262626"/>
                </a:solidFill>
                <a:latin typeface="Arial"/>
              </a:defRPr>
            </a:pPr>
            <a:r>
              <a:t>• RAW không bị overwrite</a:t>
            </a:r>
          </a:p>
          <a:p>
            <a:pPr>
              <a:lnSpc>
                <a:spcPct val="108000"/>
              </a:lnSpc>
              <a:spcAft>
                <a:spcPts val="800"/>
              </a:spcAft>
              <a:defRPr sz="1800">
                <a:solidFill>
                  <a:srgbClr val="262626"/>
                </a:solidFill>
                <a:latin typeface="Arial"/>
              </a:defRPr>
            </a:pPr>
            <a:r>
              <a:t>• Code chia function/module, không phải notebook duy nhất</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