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
  </p:notesMasterIdLst>
  <p:sldIdLst>
    <p:sldId id="256" r:id="rId2"/>
    <p:sldId id="257" r:id="rId3"/>
    <p:sldId id="258" r:id="rId4"/>
    <p:sldId id="261" r:id="rId33"/>
    <p:sldId id="262" r:id="rId34"/>
    <p:sldId id="263" r:id="rId35"/>
    <p:sldId id="264" r:id="rId36"/>
    <p:sldId id="265" r:id="rId37"/>
    <p:sldId id="266" r:id="rId38"/>
    <p:sldId id="267" r:id="rId39"/>
    <p:sldId id="268" r:id="rId40"/>
    <p:sldId id="269" r:id="rId41"/>
    <p:sldId id="270" r:id="rId42"/>
    <p:sldId id="271" r:id="rId43"/>
    <p:sldId id="272" r:id="rId44"/>
    <p:sldId id="273" r:id="rId45"/>
    <p:sldId id="274" r:id="rId46"/>
    <p:sldId id="275" r:id="rId47"/>
    <p:sldId id="276" r:id="rId48"/>
    <p:sldId id="277" r:id="rId49"/>
    <p:sldId id="278" r:id="rId50"/>
    <p:sldId id="279" r:id="rId51"/>
    <p:sldId id="259" r:id="rId5"/>
    <p:sldId id="260" r:id="rId6"/>
  </p:sldIdLst>
  <p:sldSz cx="12192000" cy="6858000"/>
  <p:notesSz cx="6858000" cy="9144000"/>
  <p:embeddedFontLst>
    <p:embeddedFont>
      <p:font typeface="Calibri" panose="020F0502020204030204" pitchFamily="34" charset="0"/>
      <p:regular r:id="rId8"/>
      <p:bold r:id="rId9"/>
      <p:italic r:id="rId10"/>
      <p:boldItalic r:id="rId11"/>
    </p:embeddedFont>
    <p:embeddedFont>
      <p:font typeface="Montserrat" panose="00000500000000000000" pitchFamily="2" charset="0"/>
      <p:regular r:id="rId12"/>
      <p:bold r:id="rId13"/>
      <p:italic r:id="rId14"/>
      <p:boldItalic r:id="rId15"/>
    </p:embeddedFont>
    <p:embeddedFont>
      <p:font typeface="Montserrat Black" panose="00000A00000000000000" pitchFamily="2" charset="0"/>
      <p:bold r:id="rId16"/>
      <p:boldItalic r:id="rId17"/>
    </p:embeddedFont>
    <p:embeddedFont>
      <p:font typeface="Montserrat ExtraBold" panose="00000900000000000000" pitchFamily="2" charset="0"/>
      <p:bold r:id="rId18"/>
      <p:boldItalic r:id="rId19"/>
    </p:embeddedFont>
    <p:embeddedFont>
      <p:font typeface="Montserrat Medium" panose="00000600000000000000" pitchFamily="2" charset="0"/>
      <p:regular r:id="rId20"/>
      <p:bold r:id="rId21"/>
      <p:italic r:id="rId22"/>
      <p:boldItalic r:id="rId23"/>
    </p:embeddedFont>
    <p:embeddedFont>
      <p:font typeface="Trebuchet MS" panose="020B060302020202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irXkCGjZF/d1qb7RGT2S1sXUuH6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5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font" Target="fonts/font1.fntdata"/><Relationship Id="rId9" Type="http://schemas.openxmlformats.org/officeDocument/2006/relationships/font" Target="fonts/font2.fntdata"/><Relationship Id="rId10" Type="http://schemas.openxmlformats.org/officeDocument/2006/relationships/font" Target="fonts/font3.fntdata"/><Relationship Id="rId11" Type="http://schemas.openxmlformats.org/officeDocument/2006/relationships/font" Target="fonts/font4.fntdata"/><Relationship Id="rId12" Type="http://schemas.openxmlformats.org/officeDocument/2006/relationships/font" Target="fonts/font5.fntdata"/><Relationship Id="rId13" Type="http://schemas.openxmlformats.org/officeDocument/2006/relationships/font" Target="fonts/font6.fntdata"/><Relationship Id="rId14" Type="http://schemas.openxmlformats.org/officeDocument/2006/relationships/font" Target="fonts/font7.fntdata"/><Relationship Id="rId15" Type="http://schemas.openxmlformats.org/officeDocument/2006/relationships/font" Target="fonts/font8.fntdata"/><Relationship Id="rId16" Type="http://schemas.openxmlformats.org/officeDocument/2006/relationships/font" Target="fonts/font9.fntdata"/><Relationship Id="rId17" Type="http://schemas.openxmlformats.org/officeDocument/2006/relationships/font" Target="fonts/font10.fntdata"/><Relationship Id="rId18" Type="http://schemas.openxmlformats.org/officeDocument/2006/relationships/font" Target="fonts/font11.fntdata"/><Relationship Id="rId19" Type="http://schemas.openxmlformats.org/officeDocument/2006/relationships/font" Target="fonts/font12.fntdata"/><Relationship Id="rId20" Type="http://schemas.openxmlformats.org/officeDocument/2006/relationships/font" Target="fonts/font13.fntdata"/><Relationship Id="rId21" Type="http://schemas.openxmlformats.org/officeDocument/2006/relationships/font" Target="fonts/font14.fntdata"/><Relationship Id="rId22" Type="http://schemas.openxmlformats.org/officeDocument/2006/relationships/font" Target="fonts/font15.fntdata"/><Relationship Id="rId23" Type="http://schemas.openxmlformats.org/officeDocument/2006/relationships/font" Target="fonts/font16.fntdata"/><Relationship Id="rId24" Type="http://schemas.openxmlformats.org/officeDocument/2006/relationships/font" Target="fonts/font17.fntdata"/><Relationship Id="rId25" Type="http://schemas.openxmlformats.org/officeDocument/2006/relationships/font" Target="fonts/font18.fntdata"/><Relationship Id="rId26" Type="http://schemas.openxmlformats.org/officeDocument/2006/relationships/font" Target="fonts/font19.fntdata"/><Relationship Id="rId27" Type="http://schemas.openxmlformats.org/officeDocument/2006/relationships/font" Target="fonts/font20.fntdata"/><Relationship Id="rId28" Type="http://customschemas.google.com/relationships/presentationmetadata" Target="meta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6.xml"/><Relationship Id="rId34" Type="http://schemas.openxmlformats.org/officeDocument/2006/relationships/slide" Target="slides/slide7.xml"/><Relationship Id="rId35" Type="http://schemas.openxmlformats.org/officeDocument/2006/relationships/slide" Target="slides/slide8.xml"/><Relationship Id="rId36" Type="http://schemas.openxmlformats.org/officeDocument/2006/relationships/slide" Target="slides/slide9.xml"/><Relationship Id="rId37" Type="http://schemas.openxmlformats.org/officeDocument/2006/relationships/slide" Target="slides/slide10.xml"/><Relationship Id="rId38" Type="http://schemas.openxmlformats.org/officeDocument/2006/relationships/slide" Target="slides/slide11.xml"/><Relationship Id="rId39" Type="http://schemas.openxmlformats.org/officeDocument/2006/relationships/slide" Target="slides/slide12.xml"/><Relationship Id="rId40" Type="http://schemas.openxmlformats.org/officeDocument/2006/relationships/slide" Target="slides/slide13.xml"/><Relationship Id="rId41" Type="http://schemas.openxmlformats.org/officeDocument/2006/relationships/slide" Target="slides/slide14.xml"/><Relationship Id="rId42" Type="http://schemas.openxmlformats.org/officeDocument/2006/relationships/slide" Target="slides/slide15.xml"/><Relationship Id="rId43" Type="http://schemas.openxmlformats.org/officeDocument/2006/relationships/slide" Target="slides/slide16.xml"/><Relationship Id="rId44" Type="http://schemas.openxmlformats.org/officeDocument/2006/relationships/slide" Target="slides/slide17.xml"/><Relationship Id="rId45" Type="http://schemas.openxmlformats.org/officeDocument/2006/relationships/slide" Target="slides/slide18.xml"/><Relationship Id="rId46" Type="http://schemas.openxmlformats.org/officeDocument/2006/relationships/slide" Target="slides/slide19.xml"/><Relationship Id="rId47"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 và đặt kỳ vọng</a:t>
            </a:r>
            <a:endParaRPr lang="vi-VN"/>
          </a:p>
          <a:p>
            <a:pPr marL="0" lvl="0" indent="0" algn="l">
              <a:buNone/>
            </a:pPr>
            <a:r>
              <a:rPr lang="vi-VN" dirty="0"/>
              <a:t>Lời giảng: Chào các em. Hôm nay chúng ta chưa vội viết nhiều code. Mục tiêu của buổi đầu là hiểu một hệ thống dữ liệu được hình thành từ đâu và vì sao phải thiết kế đúng nền móng trước khi làm pipeline. Sau buổi này các em phải có ba thứ rất cụ thể: một ERD có thể giải thích được, một schema OLTP có key/constraint hợp lý, và một PostgreSQL chạy được để dùng tiếp ở các buổi sau. Khi học, đừng chỉ hỏi 'lệnh gì', hãy hỏi 'dữ liệu này đại diện cho cái gì và được kiểm soát bằng quy tắc nào'.</a:t>
            </a:r>
            <a:endParaRPr lang="vi-VN"/>
          </a:p>
          <a:p>
            <a:pPr marL="0" lvl="0" indent="0" algn="l">
              <a:buNone/>
            </a:pPr>
            <a:r>
              <a:rPr lang="vi-VN" dirty="0"/>
              <a:t>Tương tác / demo: Hỏi nhanh: 'Theo các em, Data Engineer khác Data Analyst ở điểm nào?' Chỉ lấy 2–3 câu trả lời, chưa cần chỉnh ngay.</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1bac9ab7f9_1_6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 và đặt kỳ vọng</a:t>
            </a:r>
            <a:endParaRPr lang="vi-VN"/>
          </a:p>
          <a:p>
            <a:pPr marL="0" lvl="0" indent="0" algn="l">
              <a:buNone/>
            </a:pPr>
            <a:r>
              <a:rPr lang="vi-VN" dirty="0"/>
              <a:t>Lời giảng: Chào các em. Hôm nay chúng ta chưa vội viết nhiều code. Mục tiêu của buổi đầu là hiểu một hệ thống dữ liệu được hình thành từ đâu và vì sao phải thiết kế đúng nền móng trước khi làm pipeline. Sau buổi này các em phải có ba thứ rất cụ thể: một ERD có thể giải thích được, một schema OLTP có key/constraint hợp lý, và một PostgreSQL chạy được để dùng tiếp ở các buổi sau. Khi học, đừng chỉ hỏi 'lệnh gì', hãy hỏi 'dữ liệu này đại diện cho cái gì và được kiểm soát bằng quy tắc nào'.</a:t>
            </a:r>
            <a:endParaRPr lang="vi-VN"/>
          </a:p>
          <a:p>
            <a:pPr marL="0" lvl="0" indent="0" algn="l">
              <a:buNone/>
            </a:pPr>
            <a:r>
              <a:rPr lang="vi-VN" dirty="0"/>
              <a:t>Tương tác / demo: Hỏi nhanh: 'Theo các em, Data Engineer khác Data Analyst ở điểm nào?' Chỉ lấy 2–3 câu trả lời, chưa cần chỉnh ngay.</a:t>
            </a:r>
            <a:endParaRPr lang="vi-VN"/>
          </a:p>
        </p:txBody>
      </p:sp>
      <p:sp>
        <p:nvSpPr>
          <p:cNvPr id="182" name="Google Shape;182;g11bac9ab7f9_1_6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1bac9ab7f9_1_8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 và đặt kỳ vọng</a:t>
            </a:r>
            <a:endParaRPr lang="vi-VN"/>
          </a:p>
          <a:p>
            <a:pPr marL="0" lvl="0" indent="0" algn="l">
              <a:buNone/>
            </a:pPr>
            <a:r>
              <a:rPr lang="vi-VN" dirty="0"/>
              <a:t>Lời giảng: Chào các em. Hôm nay chúng ta chưa vội viết nhiều code. Mục tiêu của buổi đầu là hiểu một hệ thống dữ liệu được hình thành từ đâu và vì sao phải thiết kế đúng nền móng trước khi làm pipeline. Sau buổi này các em phải có ba thứ rất cụ thể: một ERD có thể giải thích được, một schema OLTP có key/constraint hợp lý, và một PostgreSQL chạy được để dùng tiếp ở các buổi sau. Khi học, đừng chỉ hỏi 'lệnh gì', hãy hỏi 'dữ liệu này đại diện cho cái gì và được kiểm soát bằng quy tắc nào'.</a:t>
            </a:r>
            <a:endParaRPr lang="vi-VN"/>
          </a:p>
          <a:p>
            <a:pPr marL="0" lvl="0" indent="0" algn="l">
              <a:buNone/>
            </a:pPr>
            <a:r>
              <a:rPr lang="vi-VN" dirty="0"/>
              <a:t>Tương tác / demo: Hỏi nhanh: 'Theo các em, Data Engineer khác Data Analyst ở điểm nào?' Chỉ lấy 2–3 câu trả lời, chưa cần chỉnh ngay.</a:t>
            </a:r>
            <a:endParaRPr lang="vi-VN"/>
          </a:p>
        </p:txBody>
      </p:sp>
      <p:sp>
        <p:nvSpPr>
          <p:cNvPr id="189" name="Google Shape;189;g11bac9ab7f9_1_8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1bac9ab7f9_1_10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05–12 phút | Data Engineer đứng ở đâu</a:t>
            </a:r>
            <a:endParaRPr lang="vi-VN"/>
          </a:p>
          <a:p>
            <a:pPr marL="0" lvl="0" indent="0" algn="l">
              <a:buNone/>
            </a:pPr>
            <a:r>
              <a:rPr lang="vi-VN" dirty="0"/>
              <a:t>Lời giảng: Nhìn sơ đồ này, các em thấy Data Engineer đứng giữa hệ thống phát sinh dữ liệu và nơi tiêu thụ dữ liệu. Ứng dụng tạo ra order, payment, CRM; phía analytics cần BI, KPI, Data Science. Công việc của DE là đưa dữ liệu từ nguồn đến nơi dùng được theo cách có kiểm soát và lặp lại. Từ 'lặp lại' rất quan trọng: nếu hôm nay chạy được nhưng ngày mai phải làm tay lại từ đầu thì chưa phải pipeline tốt.</a:t>
            </a:r>
            <a:endParaRPr lang="vi-VN"/>
          </a:p>
          <a:p>
            <a:pPr marL="0" lvl="0" indent="0" algn="l">
              <a:buNone/>
            </a:pPr>
            <a:r>
              <a:rPr lang="vi-VN" dirty="0"/>
              <a:t>Tương tác / demo: Yêu cầu một học viên nêu ví dụ một nguồn dữ liệu thật trong doanh nghiệp; lớp xác định nguồn đó sẽ phục vụ ai ở phía analytics.</a:t>
            </a:r>
            <a:endParaRPr lang="vi-VN"/>
          </a:p>
        </p:txBody>
      </p:sp>
      <p:sp>
        <p:nvSpPr>
          <p:cNvPr id="196" name="Google Shape;196;g11bac9ab7f9_1_10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1bb26f517d_0_1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12–20 phút | Luồng dữ liệu và OLTP/OLAP</a:t>
            </a:r>
            <a:endParaRPr lang="vi-VN"/>
          </a:p>
          <a:p>
            <a:pPr marL="0" lvl="0" indent="0" algn="l">
              <a:buNone/>
            </a:pPr>
            <a:r>
              <a:rPr lang="vi-VN" dirty="0"/>
              <a:t>Lời giảng: Toàn khóa dùng cùng một business case E-commerce. Dữ liệu đi từ CSV/JSON/API vào RAW, qua STAGING để chuẩn hóa và validate, vào CORE để phục vụ vận hành, rồi sang MART cho analytics. Đây là xương sống của 8 buổi. Từ đó chúng ta phân biệt OLTP và OLAP: OLTP ưu tiên giao dịch và update thường xuyên, còn OLAP ưu tiên đọc, join, group và aggregate. Không có thiết kế nào 'tốt hơn tuyệt đối'; chỉ có thiết kế phù hợp mục tiêu hơn.</a:t>
            </a:r>
            <a:endParaRPr lang="vi-VN"/>
          </a:p>
          <a:p>
            <a:pPr marL="0" lvl="0" indent="0" algn="l">
              <a:buNone/>
            </a:pPr>
            <a:r>
              <a:rPr lang="vi-VN" dirty="0"/>
              <a:t>Tương tác / demo: Hỏi: 'Nếu muốn tra trạng thái một order theo order_id thì OLTP hay OLAP? Nếu muốn doanh thu 12 tháng theo category thì sao?'</a:t>
            </a:r>
            <a:endParaRPr lang="vi-VN"/>
          </a:p>
        </p:txBody>
      </p:sp>
      <p:sp>
        <p:nvSpPr>
          <p:cNvPr id="203" name="Google Shape;203;g11bb26f517d_0_1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12–20 phút | Luồng dữ liệu và OLTP/OLAP</a:t>
            </a:r>
            <a:endParaRPr lang="vi-VN"/>
          </a:p>
          <a:p>
            <a:pPr marL="0" lvl="0" indent="0" algn="l">
              <a:buNone/>
            </a:pPr>
            <a:r>
              <a:rPr lang="vi-VN" dirty="0"/>
              <a:t>Lời giảng: Toàn khóa dùng cùng một business case E-commerce. Dữ liệu đi từ CSV/JSON/API vào RAW, qua STAGING để chuẩn hóa và validate, vào CORE để phục vụ vận hành, rồi sang MART cho analytics. Đây là xương sống của 8 buổi. Từ đó chúng ta phân biệt OLTP và OLAP: OLTP ưu tiên giao dịch và update thường xuyên, còn OLAP ưu tiên đọc, join, group và aggregate. Không có thiết kế nào 'tốt hơn tuyệt đối'; chỉ có thiết kế phù hợp mục tiêu hơn.</a:t>
            </a:r>
            <a:endParaRPr lang="vi-VN"/>
          </a:p>
          <a:p>
            <a:pPr marL="0" lvl="0" indent="0" algn="l">
              <a:buNone/>
            </a:pPr>
            <a:r>
              <a:rPr lang="vi-VN" dirty="0"/>
              <a:t>Tương tác / demo: Hỏi: 'Nếu muốn tra trạng thái một order theo order_id thì OLTP hay OLAP? Nếu muốn doanh thu 12 tháng theo category thì sao?'</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20–30 phút | Relational model, key và relationship</a:t>
            </a:r>
            <a:endParaRPr lang="vi-VN"/>
          </a:p>
          <a:p>
            <a:pPr marL="0" lvl="0" indent="0" algn="l">
              <a:buNone/>
            </a:pPr>
            <a:r>
              <a:rPr lang="vi-VN" dirty="0"/>
              <a:t>Lời giảng: Các em cần nắm table, row, column, key, constraint và relationship. Primary key định danh một entity; foreign key nối entity; constraint biến quy tắc nghiệp vụ thành lớp bảo vệ dữ liệu. Với quan hệ N:M giữa order và product, ta không nối trực tiếp mà dùng order_items. Đây không phải mẹo SQL; đây là cách mô hình hóa một sự kiện: một order chứa nhiều sản phẩm và một sản phẩm có thể xuất hiện trong nhiều order.</a:t>
            </a:r>
            <a:endParaRPr lang="vi-VN"/>
          </a:p>
          <a:p>
            <a:pPr marL="0" lvl="0" indent="0" algn="l">
              <a:buNone/>
            </a:pPr>
            <a:r>
              <a:rPr lang="vi-VN" dirty="0"/>
              <a:t>Tương tác / demo: Vẽ nhanh lên bảng CUSTOMER 1–N ORDER và ORDER N–M PRODUCT. Hỏi lớp bảng trung gian cần chứa những thuộc tính gì ngoài hai FK.</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20–30 phút | Relational model, key và relationship</a:t>
            </a:r>
            <a:endParaRPr lang="vi-VN"/>
          </a:p>
          <a:p>
            <a:pPr marL="0" lvl="0" indent="0" algn="l">
              <a:buNone/>
            </a:pPr>
            <a:r>
              <a:rPr lang="vi-VN" dirty="0"/>
              <a:t>Lời giảng: Các em cần nắm table, row, column, key, constraint và relationship. Primary key định danh một entity; foreign key nối entity; constraint biến quy tắc nghiệp vụ thành lớp bảo vệ dữ liệu. Với quan hệ N:M giữa order và product, ta không nối trực tiếp mà dùng order_items. Đây không phải mẹo SQL; đây là cách mô hình hóa một sự kiện: một order chứa nhiều sản phẩm và một sản phẩm có thể xuất hiện trong nhiều order.</a:t>
            </a:r>
            <a:endParaRPr lang="vi-VN"/>
          </a:p>
          <a:p>
            <a:pPr marL="0" lvl="0" indent="0" algn="l">
              <a:buNone/>
            </a:pPr>
            <a:r>
              <a:rPr lang="vi-VN" dirty="0"/>
              <a:t>Tương tác / demo: Vẽ nhanh lên bảng CUSTOMER 1–N ORDER và ORDER N–M PRODUCT. Hỏi lớp bảng trung gian cần chứa những thuộc tính gì ngoài hai FK.</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20–30 phút | Relational model, key và relationship</a:t>
            </a:r>
            <a:endParaRPr lang="vi-VN"/>
          </a:p>
          <a:p>
            <a:pPr marL="0" lvl="0" indent="0" algn="l">
              <a:buNone/>
            </a:pPr>
            <a:r>
              <a:rPr lang="vi-VN" dirty="0"/>
              <a:t>Lời giảng: Các em cần nắm table, row, column, key, constraint và relationship. Primary key định danh một entity; foreign key nối entity; constraint biến quy tắc nghiệp vụ thành lớp bảo vệ dữ liệu. Với quan hệ N:M giữa order và product, ta không nối trực tiếp mà dùng order_items. Đây không phải mẹo SQL; đây là cách mô hình hóa một sự kiện: một order chứa nhiều sản phẩm và một sản phẩm có thể xuất hiện trong nhiều order.</a:t>
            </a:r>
            <a:endParaRPr lang="vi-VN"/>
          </a:p>
          <a:p>
            <a:pPr marL="0" lvl="0" indent="0" algn="l">
              <a:buNone/>
            </a:pPr>
            <a:r>
              <a:rPr lang="vi-VN" dirty="0"/>
              <a:t>Tương tác / demo: Vẽ nhanh lên bảng CUSTOMER 1–N ORDER và ORDER N–M PRODUCT. Hỏi lớp bảng trung gian cần chứa những thuộc tính gì ngoài hai FK.</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30–40 phút | Từ business entities đến ERD</a:t>
            </a:r>
            <a:endParaRPr lang="vi-VN"/>
          </a:p>
          <a:p>
            <a:pPr marL="0" lvl="0" indent="0" algn="l">
              <a:buNone/>
            </a:pPr>
            <a:r>
              <a:rPr lang="vi-VN" dirty="0"/>
              <a:t>Lời giảng: Bây giờ ta chuyển từ khái niệm sang business case. Có customers, categories, products, orders, order_items và payments. Các em chú ý: entity không phải cứ danh từ nào cũng thành bảng; ta tạo entity vì cần định danh, lưu thuộc tính và liên kết ổn định. Ở orders/order_items/payments, hãy nhìn các business rule: quantity phải dương, discount không vượt gross, payment tham chiếu order và payment_date không được trước order_date. Một số rule có thể để DB kiểm soát, một số rule sẽ kiểm tra ở pipeline sau này.</a:t>
            </a:r>
            <a:endParaRPr lang="vi-VN"/>
          </a:p>
          <a:p>
            <a:pPr marL="0" lvl="0" indent="0" algn="l">
              <a:buNone/>
            </a:pPr>
            <a:r>
              <a:rPr lang="vi-VN" dirty="0"/>
              <a:t>Tương tác / demo: Không reveal ERD chuẩn ngay. Cho lớp 2 phút tự phác quan hệ; sau đó mới chiếu slide 11 và yêu cầu họ so sánh.</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30–40 phút | Từ business entities đến ERD</a:t>
            </a:r>
            <a:endParaRPr lang="vi-VN"/>
          </a:p>
          <a:p>
            <a:pPr marL="0" lvl="0" indent="0" algn="l">
              <a:buNone/>
            </a:pPr>
            <a:r>
              <a:rPr lang="vi-VN" dirty="0"/>
              <a:t>Lời giảng: Bây giờ ta chuyển từ khái niệm sang business case. Có customers, categories, products, orders, order_items và payments. Các em chú ý: entity không phải cứ danh từ nào cũng thành bảng; ta tạo entity vì cần định danh, lưu thuộc tính và liên kết ổn định. Ở orders/order_items/payments, hãy nhìn các business rule: quantity phải dương, discount không vượt gross, payment tham chiếu order và payment_date không được trước order_date. Một số rule có thể để DB kiểm soát, một số rule sẽ kiểm tra ở pipeline sau này.</a:t>
            </a:r>
            <a:endParaRPr lang="vi-VN"/>
          </a:p>
          <a:p>
            <a:pPr marL="0" lvl="0" indent="0" algn="l">
              <a:buNone/>
            </a:pPr>
            <a:r>
              <a:rPr lang="vi-VN" dirty="0"/>
              <a:t>Tương tác / demo: Không reveal ERD chuẩn ngay. Cho lớp 2 phút tự phác quan hệ; sau đó mới chiếu slide 11 và yêu cầu họ so sánh.</a:t>
            </a:r>
            <a:endParaRPr lang="vi-VN"/>
          </a:p>
          <a:p>
            <a:pPr marL="0" lvl="0" indent="0" algn="l">
              <a:buNone/>
            </a:pPr>
            <a:r>
              <a:rPr lang="vi-VN" dirty="0"/>
              <a:t>—</a:t>
            </a:r>
            <a:endParaRPr lang="vi-VN"/>
          </a:p>
          <a:p>
            <a:pPr marL="0" lvl="0" indent="0" algn="l">
              <a:buNone/>
            </a:pPr>
            <a:r>
              <a:rPr lang="vi-VN" dirty="0"/>
              <a:t>75–88 phút | Review ERD chuẩn</a:t>
            </a:r>
            <a:endParaRPr lang="vi-VN"/>
          </a:p>
          <a:p>
            <a:pPr marL="0" lvl="0" indent="0" algn="l">
              <a:buNone/>
            </a:pPr>
            <a:r>
              <a:rPr lang="vi-VN" dirty="0"/>
              <a:t>Lời giảng: Bây giờ chúng ta đối chiếu với ERD chuẩn. Không cần giống 100% về hình thức; điều cần giống là logic định danh và quan hệ. Nếu nhóm nào gộp order_items vào orders, hãy chỉ ra ngay vấn đề khi một order có nhiều sản phẩm. Nếu nhóm nào đặt payment bắt buộc 1:1, nhắc lại rằng một order có thể chưa có payment hoặc có lịch sử thanh toán tùy business rule.</a:t>
            </a:r>
            <a:endParaRPr lang="vi-VN"/>
          </a:p>
          <a:p>
            <a:pPr marL="0" lvl="0" indent="0" algn="l">
              <a:buNone/>
            </a:pPr>
            <a:r>
              <a:rPr lang="vi-VN" dirty="0"/>
              <a:t>Tương tác / demo: Reveal database/ecommerce_oltp.dbml. Cho 2 nhóm trình bày khác biệt giữa thiết kế của họ và bản chuẩn.</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30–40 phút | Từ business entities đến ERD</a:t>
            </a:r>
            <a:endParaRPr lang="vi-VN"/>
          </a:p>
          <a:p>
            <a:pPr marL="0" lvl="0" indent="0" algn="l">
              <a:buNone/>
            </a:pPr>
            <a:r>
              <a:rPr lang="vi-VN" dirty="0"/>
              <a:t>Lời giảng: Bây giờ ta chuyển từ khái niệm sang business case. Có customers, categories, products, orders, order_items và payments. Các em chú ý: entity không phải cứ danh từ nào cũng thành bảng; ta tạo entity vì cần định danh, lưu thuộc tính và liên kết ổn định. Ở orders/order_items/payments, hãy nhìn các business rule: quantity phải dương, discount không vượt gross, payment tham chiếu order và payment_date không được trước order_date. Một số rule có thể để DB kiểm soát, một số rule sẽ kiểm tra ở pipeline sau này.</a:t>
            </a:r>
            <a:endParaRPr lang="vi-VN"/>
          </a:p>
          <a:p>
            <a:pPr marL="0" lvl="0" indent="0" algn="l">
              <a:buNone/>
            </a:pPr>
            <a:r>
              <a:rPr lang="vi-VN" dirty="0"/>
              <a:t>Tương tác / demo: Không reveal ERD chuẩn ngay. Cho lớp 2 phút tự phác quan hệ; sau đó mới chiếu slide 11 và yêu cầu họ so sánh.</a:t>
            </a:r>
            <a:endParaRPr lang="vi-VN"/>
          </a:p>
          <a:p>
            <a:pPr marL="0" lvl="0" indent="0" algn="l">
              <a:buNone/>
            </a:pPr>
            <a:r>
              <a:rPr lang="vi-VN" dirty="0"/>
              <a:t>—</a:t>
            </a:r>
            <a:endParaRPr lang="vi-VN"/>
          </a:p>
          <a:p>
            <a:pPr marL="0" lvl="0" indent="0" algn="l">
              <a:buNone/>
            </a:pPr>
            <a:r>
              <a:rPr lang="vi-VN" dirty="0"/>
              <a:t>75–88 phút | Review ERD chuẩn</a:t>
            </a:r>
            <a:endParaRPr lang="vi-VN"/>
          </a:p>
          <a:p>
            <a:pPr marL="0" lvl="0" indent="0" algn="l">
              <a:buNone/>
            </a:pPr>
            <a:r>
              <a:rPr lang="vi-VN" dirty="0"/>
              <a:t>Lời giảng: Bây giờ chúng ta đối chiếu với ERD chuẩn. Không cần giống 100% về hình thức; điều cần giống là logic định danh và quan hệ. Nếu nhóm nào gộp order_items vào orders, hãy chỉ ra ngay vấn đề khi một order có nhiều sản phẩm. Nếu nhóm nào đặt payment bắt buộc 1:1, nhắc lại rằng một order có thể chưa có payment hoặc có lịch sử thanh toán tùy business rule.</a:t>
            </a:r>
            <a:endParaRPr lang="vi-VN"/>
          </a:p>
          <a:p>
            <a:pPr marL="0" lvl="0" indent="0" algn="l">
              <a:buNone/>
            </a:pPr>
            <a:r>
              <a:rPr lang="vi-VN" dirty="0"/>
              <a:t>Tương tác / demo: Reveal database/ecommerce_oltp.dbml. Cho 2 nhóm trình bày khác biệt giữa thiết kế của họ và bản chuẩn.</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30–40 phút | Từ business entities đến ERD</a:t>
            </a:r>
            <a:endParaRPr lang="vi-VN"/>
          </a:p>
          <a:p>
            <a:pPr marL="0" lvl="0" indent="0" algn="l">
              <a:buNone/>
            </a:pPr>
            <a:r>
              <a:rPr lang="vi-VN" dirty="0"/>
              <a:t>Lời giảng: Bây giờ ta chuyển từ khái niệm sang business case. Có customers, categories, products, orders, order_items và payments. Các em chú ý: entity không phải cứ danh từ nào cũng thành bảng; ta tạo entity vì cần định danh, lưu thuộc tính và liên kết ổn định. Ở orders/order_items/payments, hãy nhìn các business rule: quantity phải dương, discount không vượt gross, payment tham chiếu order và payment_date không được trước order_date. Một số rule có thể để DB kiểm soát, một số rule sẽ kiểm tra ở pipeline sau này.</a:t>
            </a:r>
            <a:endParaRPr lang="vi-VN"/>
          </a:p>
          <a:p>
            <a:pPr marL="0" lvl="0" indent="0" algn="l">
              <a:buNone/>
            </a:pPr>
            <a:r>
              <a:rPr lang="vi-VN" dirty="0"/>
              <a:t>Tương tác / demo: Không reveal ERD chuẩn ngay. Cho lớp 2 phút tự phác quan hệ; sau đó mới chiếu slide 11 và yêu cầu họ so sánh.</a:t>
            </a:r>
            <a:endParaRPr lang="vi-VN"/>
          </a:p>
          <a:p>
            <a:pPr marL="0" lvl="0" indent="0" algn="l">
              <a:buNone/>
            </a:pPr>
            <a:r>
              <a:rPr lang="vi-VN" dirty="0"/>
              <a:t>—</a:t>
            </a:r>
            <a:endParaRPr lang="vi-VN"/>
          </a:p>
          <a:p>
            <a:pPr marL="0" lvl="0" indent="0" algn="l">
              <a:buNone/>
            </a:pPr>
            <a:r>
              <a:rPr lang="vi-VN" dirty="0"/>
              <a:t>75–88 phút | Review ERD chuẩn</a:t>
            </a:r>
            <a:endParaRPr lang="vi-VN"/>
          </a:p>
          <a:p>
            <a:pPr marL="0" lvl="0" indent="0" algn="l">
              <a:buNone/>
            </a:pPr>
            <a:r>
              <a:rPr lang="vi-VN" dirty="0"/>
              <a:t>Lời giảng: Bây giờ chúng ta đối chiếu với ERD chuẩn. Không cần giống 100% về hình thức; điều cần giống là logic định danh và quan hệ. Nếu nhóm nào gộp order_items vào orders, hãy chỉ ra ngay vấn đề khi một order có nhiều sản phẩm. Nếu nhóm nào đặt payment bắt buộc 1:1, nhắc lại rằng một order có thể chưa có payment hoặc có lịch sử thanh toán tùy business rule.</a:t>
            </a:r>
            <a:endParaRPr lang="vi-VN"/>
          </a:p>
          <a:p>
            <a:pPr marL="0" lvl="0" indent="0" algn="l">
              <a:buNone/>
            </a:pPr>
            <a:r>
              <a:rPr lang="vi-VN" dirty="0"/>
              <a:t>Tương tác / demo: Reveal database/ecommerce_oltp.dbml. Cho 2 nhóm trình bày khác biệt giữa thiết kế của họ và bản chuẩn.</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40–48 phút | Data Contract và data type</a:t>
            </a:r>
            <a:endParaRPr lang="vi-VN"/>
          </a:p>
          <a:p>
            <a:pPr marL="0" lvl="0" indent="0" algn="l">
              <a:buNone/>
            </a:pPr>
            <a:r>
              <a:rPr lang="vi-VN" dirty="0"/>
              <a:t>Lời giảng: Data Contract là thỏa thuận kỹ thuật để nhiều bước của pipeline dùng cùng cách hiểu dữ liệu: ID format, timezone, tiền tệ, status và audit fields. Nếu mỗi nhóm tự đặt tên cột hoặc đổi status theo ý mình, pipeline sẽ vỡ ở chỗ giao nhau. Về kiểu dữ liệu, tiền nên dùng NUMERIC thay vì FLOAT; thời gian dùng TIMESTAMPTZ; status có thể dùng VARCHAR kèm CHECK. Chọn type là một phần của chất lượng dữ liệu, không chỉ là cú pháp tạo bảng.</a:t>
            </a:r>
            <a:endParaRPr lang="vi-VN"/>
          </a:p>
          <a:p>
            <a:pPr marL="0" lvl="0" indent="0" algn="l">
              <a:buNone/>
            </a:pPr>
            <a:r>
              <a:rPr lang="vi-VN" dirty="0"/>
              <a:t>Tương tác / demo: Hỏi: 'Vì sao dùng FLOAT cho tiền có thể gây rắc rối?' và 'updated_at nên dùng để làm gì ở các buổi API/incremental?'</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40–48 phút | Data Contract và data type</a:t>
            </a:r>
            <a:endParaRPr lang="vi-VN"/>
          </a:p>
          <a:p>
            <a:pPr marL="0" lvl="0" indent="0" algn="l">
              <a:buNone/>
            </a:pPr>
            <a:r>
              <a:rPr lang="vi-VN" dirty="0"/>
              <a:t>Lời giảng: Data Contract là thỏa thuận kỹ thuật để nhiều bước của pipeline dùng cùng cách hiểu dữ liệu: ID format, timezone, tiền tệ, status và audit fields. Nếu mỗi nhóm tự đặt tên cột hoặc đổi status theo ý mình, pipeline sẽ vỡ ở chỗ giao nhau. Về kiểu dữ liệu, tiền nên dùng NUMERIC thay vì FLOAT; thời gian dùng TIMESTAMPTZ; status có thể dùng VARCHAR kèm CHECK. Chọn type là một phần của chất lượng dữ liệu, không chỉ là cú pháp tạo bảng.</a:t>
            </a:r>
            <a:endParaRPr lang="vi-VN"/>
          </a:p>
          <a:p>
            <a:pPr marL="0" lvl="0" indent="0" algn="l">
              <a:buNone/>
            </a:pPr>
            <a:r>
              <a:rPr lang="vi-VN" dirty="0"/>
              <a:t>Tương tác / demo: Hỏi: 'Vì sao dùng FLOAT cho tiền có thể gây rắc rối?' và 'updated_at nên dùng để làm gì ở các buổi API/incremental?'</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48–55 phút | Repository, Docker, công cụ và giao lab</a:t>
            </a:r>
            <a:endParaRPr lang="vi-VN"/>
          </a:p>
          <a:p>
            <a:pPr marL="0" lvl="0" indent="0" algn="l">
              <a:buNone/>
            </a:pPr>
            <a:r>
              <a:rPr lang="vi-VN" dirty="0"/>
              <a:t>Lời giảng: Chúng ta thống nhất repository để mọi buổi dùng chung một cấu trúc. Docker giúp cả lớp chạy cùng PostgreSQL mà không phụ thuộc máy cá nhân. VS Code là nơi viết code, Docker chạy service, DBeaver là client để quan sát và query. Phần lab hôm nay có bốn việc: đọc requirement, vẽ ERD, khởi động PostgreSQL, rồi tạo schema skeleton. Mục tiêu không phải vẽ đẹp mà là giải thích được vì sao mỗi bảng, mỗi key tồn tại.</a:t>
            </a:r>
            <a:endParaRPr lang="vi-VN"/>
          </a:p>
          <a:p>
            <a:pPr marL="0" lvl="0" indent="0" algn="l">
              <a:buNone/>
            </a:pPr>
            <a:r>
              <a:rPr lang="vi-VN" dirty="0"/>
              <a:t>Tương tác / demo: Mở nhanh cây thư mục và docker-compose.yml. Chỉ cho sinh viên file nào cần mở; chưa mở ERD solution.</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48–55 phút | Repository, Docker, công cụ và giao lab</a:t>
            </a:r>
            <a:endParaRPr lang="vi-VN"/>
          </a:p>
          <a:p>
            <a:pPr marL="0" lvl="0" indent="0" algn="l">
              <a:buNone/>
            </a:pPr>
            <a:r>
              <a:rPr lang="vi-VN" dirty="0"/>
              <a:t>Lời giảng: Chúng ta thống nhất repository để mọi buổi dùng chung một cấu trúc. Docker giúp cả lớp chạy cùng PostgreSQL mà không phụ thuộc máy cá nhân. VS Code là nơi viết code, Docker chạy service, DBeaver là client để quan sát và query. Phần lab hôm nay có bốn việc: đọc requirement, vẽ ERD, khởi động PostgreSQL, rồi tạo schema skeleton. Mục tiêu không phải vẽ đẹp mà là giải thích được vì sao mỗi bảng, mỗi key tồn tại.</a:t>
            </a:r>
            <a:endParaRPr lang="vi-VN"/>
          </a:p>
          <a:p>
            <a:pPr marL="0" lvl="0" indent="0" algn="l">
              <a:buNone/>
            </a:pPr>
            <a:r>
              <a:rPr lang="vi-VN" dirty="0"/>
              <a:t>Tương tác / demo: Mở nhanh cây thư mục và docker-compose.yml. Chỉ cho sinh viên file nào cần mở; chưa mở ERD solution.</a:t>
            </a:r>
            <a:endParaRPr lang="vi-VN"/>
          </a:p>
          <a:p>
            <a:pPr marL="0" lvl="0" indent="0" algn="l">
              <a:buNone/>
            </a:pPr>
            <a:r>
              <a:rPr lang="vi-VN" dirty="0"/>
              <a:t>—</a:t>
            </a:r>
            <a:endParaRPr lang="vi-VN"/>
          </a:p>
          <a:p>
            <a:pPr marL="0" lvl="0" indent="0" algn="l">
              <a:buNone/>
            </a:pPr>
            <a:r>
              <a:rPr lang="vi-VN" dirty="0"/>
              <a:t>88–103 phút | Lab 1B – Docker/PostgreSQL/DBeaver</a:t>
            </a:r>
            <a:endParaRPr lang="vi-VN"/>
          </a:p>
          <a:p>
            <a:pPr marL="0" lvl="0" indent="0" algn="l">
              <a:buNone/>
            </a:pPr>
            <a:r>
              <a:rPr lang="vi-VN" dirty="0"/>
              <a:t>Lời giảng: Giờ chuyển sang môi trường. Chạy docker compose up -d postgres, kiểm tra docker compose ps, rồi kết nối DBeaver. Mục tiêu là mọi máy đều nhìn thấy PostgreSQL và chạy được SELECT 1. Khi có lỗi, đừng đoán; đọc trạng thái container và log. Đây là thói quen vận hành chúng ta sẽ lặp lại suốt khóa.</a:t>
            </a:r>
            <a:endParaRPr lang="vi-VN"/>
          </a:p>
          <a:p>
            <a:pPr marL="0" lvl="0" indent="0" algn="l">
              <a:buNone/>
            </a:pPr>
            <a:r>
              <a:rPr lang="vi-VN" dirty="0"/>
              <a:t>Tương tác / demo: GV demo đúng một lần các lệnh; sau đó để học viên tự làm. Các máy xong sớm hỗ trợ máy bên cạnh.</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48–55 phút | Repository, Docker, công cụ và giao lab</a:t>
            </a:r>
            <a:endParaRPr lang="vi-VN"/>
          </a:p>
          <a:p>
            <a:pPr marL="0" lvl="0" indent="0" algn="l">
              <a:buNone/>
            </a:pPr>
            <a:r>
              <a:rPr lang="vi-VN" dirty="0"/>
              <a:t>Lời giảng: Chúng ta thống nhất repository để mọi buổi dùng chung một cấu trúc. Docker giúp cả lớp chạy cùng PostgreSQL mà không phụ thuộc máy cá nhân. VS Code là nơi viết code, Docker chạy service, DBeaver là client để quan sát và query. Phần lab hôm nay có bốn việc: đọc requirement, vẽ ERD, khởi động PostgreSQL, rồi tạo schema skeleton. Mục tiêu không phải vẽ đẹp mà là giải thích được vì sao mỗi bảng, mỗi key tồn tại.</a:t>
            </a:r>
            <a:endParaRPr lang="vi-VN"/>
          </a:p>
          <a:p>
            <a:pPr marL="0" lvl="0" indent="0" algn="l">
              <a:buNone/>
            </a:pPr>
            <a:r>
              <a:rPr lang="vi-VN" dirty="0"/>
              <a:t>Tương tác / demo: Mở nhanh cây thư mục và docker-compose.yml. Chỉ cho sinh viên file nào cần mở; chưa mở ERD solution.</a:t>
            </a:r>
            <a:endParaRPr lang="vi-VN"/>
          </a:p>
          <a:p>
            <a:pPr marL="0" lvl="0" indent="0" algn="l">
              <a:buNone/>
            </a:pPr>
            <a:r>
              <a:rPr lang="vi-VN" dirty="0"/>
              <a:t>—</a:t>
            </a:r>
            <a:endParaRPr lang="vi-VN"/>
          </a:p>
          <a:p>
            <a:pPr marL="0" lvl="0" indent="0" algn="l">
              <a:buNone/>
            </a:pPr>
            <a:r>
              <a:rPr lang="vi-VN" dirty="0"/>
              <a:t>88–103 phút | Lab 1B – Docker/PostgreSQL/DBeaver</a:t>
            </a:r>
            <a:endParaRPr lang="vi-VN"/>
          </a:p>
          <a:p>
            <a:pPr marL="0" lvl="0" indent="0" algn="l">
              <a:buNone/>
            </a:pPr>
            <a:r>
              <a:rPr lang="vi-VN" dirty="0"/>
              <a:t>Lời giảng: Giờ chuyển sang môi trường. Chạy docker compose up -d postgres, kiểm tra docker compose ps, rồi kết nối DBeaver. Mục tiêu là mọi máy đều nhìn thấy PostgreSQL và chạy được SELECT 1. Khi có lỗi, đừng đoán; đọc trạng thái container và log. Đây là thói quen vận hành chúng ta sẽ lặp lại suốt khóa.</a:t>
            </a:r>
            <a:endParaRPr lang="vi-VN"/>
          </a:p>
          <a:p>
            <a:pPr marL="0" lvl="0" indent="0" algn="l">
              <a:buNone/>
            </a:pPr>
            <a:r>
              <a:rPr lang="vi-VN" dirty="0"/>
              <a:t>Tương tác / demo: GV demo đúng một lần các lệnh; sau đó để học viên tự làm. Các máy xong sớm hỗ trợ máy bên cạnh.</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48–55 phút | Repository, Docker, công cụ và giao lab</a:t>
            </a:r>
            <a:endParaRPr lang="vi-VN"/>
          </a:p>
          <a:p>
            <a:pPr marL="0" lvl="0" indent="0" algn="l">
              <a:buNone/>
            </a:pPr>
            <a:r>
              <a:rPr lang="vi-VN" dirty="0"/>
              <a:t>Lời giảng: Chúng ta thống nhất repository để mọi buổi dùng chung một cấu trúc. Docker giúp cả lớp chạy cùng PostgreSQL mà không phụ thuộc máy cá nhân. VS Code là nơi viết code, Docker chạy service, DBeaver là client để quan sát và query. Phần lab hôm nay có bốn việc: đọc requirement, vẽ ERD, khởi động PostgreSQL, rồi tạo schema skeleton. Mục tiêu không phải vẽ đẹp mà là giải thích được vì sao mỗi bảng, mỗi key tồn tại.</a:t>
            </a:r>
            <a:endParaRPr lang="vi-VN"/>
          </a:p>
          <a:p>
            <a:pPr marL="0" lvl="0" indent="0" algn="l">
              <a:buNone/>
            </a:pPr>
            <a:r>
              <a:rPr lang="vi-VN" dirty="0"/>
              <a:t>Tương tác / demo: Mở nhanh cây thư mục và docker-compose.yml. Chỉ cho sinh viên file nào cần mở; chưa mở ERD solution.</a:t>
            </a:r>
            <a:endParaRPr lang="vi-VN"/>
          </a:p>
          <a:p>
            <a:pPr marL="0" lvl="0" indent="0" algn="l">
              <a:buNone/>
            </a:pPr>
            <a:r>
              <a:rPr lang="vi-VN" dirty="0"/>
              <a:t>—</a:t>
            </a:r>
            <a:endParaRPr lang="vi-VN"/>
          </a:p>
          <a:p>
            <a:pPr marL="0" lvl="0" indent="0" algn="l">
              <a:buNone/>
            </a:pPr>
            <a:r>
              <a:rPr lang="vi-VN" dirty="0"/>
              <a:t>60–75 phút | Lab 1A – Requirement → ERD</a:t>
            </a:r>
            <a:endParaRPr lang="vi-VN"/>
          </a:p>
          <a:p>
            <a:pPr marL="0" lvl="0" indent="0" algn="l">
              <a:buNone/>
            </a:pPr>
            <a:r>
              <a:rPr lang="vi-VN" dirty="0"/>
              <a:t>Lời giảng: Bây giờ các em không nhìn ERD chuẩn. Hãy đọc business requirement và trả lời bốn câu: entity nào cần định danh? quan hệ giữa chúng là gì? quy tắc nào có thể thành constraint? và grain của order_items là gì? Sau 10 phút, mỗi nhóm phải có bản phác ERD và giải thích được ít nhất một lựa chọn thiết kế.</a:t>
            </a:r>
            <a:endParaRPr lang="vi-VN"/>
          </a:p>
          <a:p>
            <a:pPr marL="0" lvl="0" indent="0" algn="l">
              <a:buNone/>
            </a:pPr>
            <a:r>
              <a:rPr lang="vi-VN" dirty="0"/>
              <a:t>Tương tác / demo: GV đi quanh lớp, hỏi 'Nếu xóa customer thì order cũ xử lý thế nào?' và 'Một order có thể chưa có payment không?' để kích hoạt tư duy.</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103–114 phút | Lab 1C – Tạo schema skeleton</a:t>
            </a:r>
            <a:endParaRPr lang="vi-VN"/>
          </a:p>
          <a:p>
            <a:pPr marL="0" lvl="0" indent="0" algn="l">
              <a:buNone/>
            </a:pPr>
            <a:r>
              <a:rPr lang="vi-VN" dirty="0"/>
              <a:t>Lời giảng: Mở file SQL skeleton. Các em hoàn thiện customers trước, rồi lần lượt tạo bảng cha trước bảng con để tránh lỗi FK. Khi tạo xong, kiểm tra bằng DBeaver thay vì chỉ nhìn thông báo 'success'. Một schema tốt phải thể hiện key, NOT NULL, UNIQUE, CHECK và FK quan trọng; không chỉ có tên cột.</a:t>
            </a:r>
            <a:endParaRPr lang="vi-VN"/>
          </a:p>
          <a:p>
            <a:pPr marL="0" lvl="0" indent="0" algn="l">
              <a:buNone/>
            </a:pPr>
            <a:r>
              <a:rPr lang="vi-VN" dirty="0"/>
              <a:t>Tương tác / demo: Checkpoint giữa lab: yêu cầu mỗi nhóm chạy một query kiểm tra danh sách bảng và một query kiểm tra constraint.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114–120 phút | Checkpoint, lỗi thường gặp và chốt buổi</a:t>
            </a:r>
            <a:endParaRPr lang="vi-VN"/>
          </a:p>
          <a:p>
            <a:pPr marL="0" lvl="0" indent="0" algn="l">
              <a:buNone/>
            </a:pPr>
            <a:r>
              <a:rPr lang="vi-VN" dirty="0"/>
              <a:t>Lời giảng: Trước khi kết thúc, chúng ta kiểm tra năm điều: đủ 6 bảng, FK đúng, DBeaver query được, ERD khớp SQL và repository có commit. Nếu chưa đạt một mục, đó là việc cần hoàn thành trước Buổi 2. Nhớ bốn ý hôm nay: DE nối source với analytics; ERD và Data Contract là nền móng; OLTP và OLAP phục vụ mục tiêu khác nhau; Docker giúp môi trường nhất quán.</a:t>
            </a:r>
            <a:endParaRPr lang="vi-VN"/>
          </a:p>
          <a:p>
            <a:pPr marL="0" lvl="0" indent="0" algn="l">
              <a:buNone/>
            </a:pPr>
            <a:r>
              <a:rPr lang="vi-VN" dirty="0"/>
              <a:t>Tương tác / demo: Giao assignment. Nhắc sinh viên không sửa tên bảng/cột tùy ý ở nhà vì các buổi sau dùng cùng Data Contract.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114–120 phút | Checkpoint, lỗi thường gặp và chốt buổi</a:t>
            </a:r>
            <a:endParaRPr lang="vi-VN"/>
          </a:p>
          <a:p>
            <a:pPr marL="0" lvl="0" indent="0" algn="l">
              <a:buNone/>
            </a:pPr>
            <a:r>
              <a:rPr lang="vi-VN" dirty="0"/>
              <a:t>Lời giảng: Trước khi kết thúc, chúng ta kiểm tra năm điều: đủ 6 bảng, FK đúng, DBeaver query được, ERD khớp SQL và repository có commit. Nếu chưa đạt một mục, đó là việc cần hoàn thành trước Buổi 2. Nhớ bốn ý hôm nay: DE nối source với analytics; ERD và Data Contract là nền móng; OLTP và OLAP phục vụ mục tiêu khác nhau; Docker giúp môi trường nhất quán.</a:t>
            </a:r>
            <a:endParaRPr lang="vi-VN"/>
          </a:p>
          <a:p>
            <a:pPr marL="0" lvl="0" indent="0" algn="l">
              <a:buNone/>
            </a:pPr>
            <a:r>
              <a:rPr lang="vi-VN" dirty="0"/>
              <a:t>Tương tác / demo: Giao assignment. Nhắc sinh viên không sửa tên bảng/cột tùy ý ở nhà vì các buổi sau dùng cùng Data Contract.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114–120 phút | Checkpoint, lỗi thường gặp và chốt buổi</a:t>
            </a:r>
            <a:endParaRPr lang="vi-VN"/>
          </a:p>
          <a:p>
            <a:pPr marL="0" lvl="0" indent="0" algn="l">
              <a:buNone/>
            </a:pPr>
            <a:r>
              <a:rPr lang="vi-VN" dirty="0"/>
              <a:t>Lời giảng: Trước khi kết thúc, chúng ta kiểm tra năm điều: đủ 6 bảng, FK đúng, DBeaver query được, ERD khớp SQL và repository có commit. Nếu chưa đạt một mục, đó là việc cần hoàn thành trước Buổi 2. Nhớ bốn ý hôm nay: DE nối source với analytics; ERD và Data Contract là nền móng; OLTP và OLAP phục vụ mục tiêu khác nhau; Docker giúp môi trường nhất quán.</a:t>
            </a:r>
            <a:endParaRPr lang="vi-VN"/>
          </a:p>
          <a:p>
            <a:pPr marL="0" lvl="0" indent="0" algn="l">
              <a:buNone/>
            </a:pPr>
            <a:r>
              <a:rPr lang="vi-VN" dirty="0"/>
              <a:t>Tương tác / demo: Giao assignment. Nhắc sinh viên không sửa tên bảng/cột tùy ý ở nhà vì các buổi sau dùng cùng Data Contract.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Chuyển tiếp / kết thúc</a:t>
            </a:r>
            <a:endParaRPr lang="vi-VN"/>
          </a:p>
          <a:p>
            <a:pPr marL="0" lvl="0" indent="0" algn="l">
              <a:buNone/>
            </a:pPr>
            <a:r>
              <a:rPr lang="vi-VN" dirty="0"/>
              <a:t>Lời giảng: Dùng slide này để chuyển ý hoặc kết thúc phần trình bày. Nhắc lại thông điệp chính của buổi và chỉ rõ đầu ra/bài tập học viên cần hoàn thành trước buổi tiếp theo.</a:t>
            </a:r>
            <a:endParaRPr lang="vi-VN"/>
          </a:p>
          <a:p>
            <a:pPr marL="0" lvl="0" indent="0" algn="l">
              <a:buNone/>
            </a:pPr>
            <a:r>
              <a:rPr lang="vi-VN" dirty="0"/>
              <a:t>Tương tác / demo: Dành 1–2 phút nhận câu hỏi ngắn; nhắc học viên lưu/commit artifact của buổi học.</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16"/>
        <p:cNvGrpSpPr/>
        <p:nvPr/>
      </p:nvGrpSpPr>
      <p:grpSpPr>
        <a:xfrm>
          <a:off x="0" y="0"/>
          <a:ext cx="0" cy="0"/>
          <a:chOff x="0" y="0"/>
          <a:chExt cx="0" cy="0"/>
        </a:xfrm>
      </p:grpSpPr>
      <p:sp>
        <p:nvSpPr>
          <p:cNvPr id="17" name="Google Shape;17;p32"/>
          <p:cNvSpPr txBox="1">
            <a:spLocks noGrp="1"/>
          </p:cNvSpPr>
          <p:nvPr>
            <p:ph type="title"/>
          </p:nvPr>
        </p:nvSpPr>
        <p:spPr>
          <a:xfrm rot="5400000">
            <a:off x="-1225840" y="1040275"/>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32"/>
          <p:cNvSpPr txBox="1">
            <a:spLocks noGrp="1"/>
          </p:cNvSpPr>
          <p:nvPr>
            <p:ph type="body" idx="1" hasCustomPrompt="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1</a:t>
            </a:r>
            <a:endParaRPr dirty="0"/>
          </a:p>
        </p:txBody>
      </p:sp>
      <p:sp>
        <p:nvSpPr>
          <p:cNvPr id="20" name="Google Shape;20;p32"/>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2"/>
          <p:cNvSpPr txBox="1">
            <a:spLocks noGrp="1"/>
          </p:cNvSpPr>
          <p:nvPr>
            <p:ph type="body" idx="3" hasCustomPrompt="1"/>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2</a:t>
            </a:r>
            <a:endParaRPr dirty="0"/>
          </a:p>
        </p:txBody>
      </p:sp>
      <p:sp>
        <p:nvSpPr>
          <p:cNvPr id="22" name="Google Shape;22;p32"/>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32"/>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2"/>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32"/>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32"/>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32"/>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32"/>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32"/>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32"/>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BEB9D187-055C-A20F-D630-69C136C329CF}"/>
              </a:ext>
            </a:extLst>
          </p:cNvPr>
          <p:cNvPicPr>
            <a:picLocks noChangeAspect="1"/>
          </p:cNvPicPr>
          <p:nvPr userDrawn="1"/>
        </p:nvPicPr>
        <p:blipFill>
          <a:blip r:embed="rId2"/>
          <a:stretch>
            <a:fillRect/>
          </a:stretch>
        </p:blipFill>
        <p:spPr>
          <a:xfrm>
            <a:off x="9584574" y="474131"/>
            <a:ext cx="2441171" cy="41765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2"/>
        <p:cNvGrpSpPr/>
        <p:nvPr/>
      </p:nvGrpSpPr>
      <p:grpSpPr>
        <a:xfrm>
          <a:off x="0" y="0"/>
          <a:ext cx="0" cy="0"/>
          <a:chOff x="0" y="0"/>
          <a:chExt cx="0" cy="0"/>
        </a:xfrm>
      </p:grpSpPr>
      <p:sp>
        <p:nvSpPr>
          <p:cNvPr id="33" name="Google Shape;33;p38"/>
          <p:cNvSpPr txBox="1">
            <a:spLocks noGrp="1"/>
          </p:cNvSpPr>
          <p:nvPr>
            <p:ph type="body" idx="1"/>
          </p:nvPr>
        </p:nvSpPr>
        <p:spPr>
          <a:xfrm>
            <a:off x="742507" y="1978428"/>
            <a:ext cx="5181600" cy="4019651"/>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4" name="Google Shape;34;p38"/>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35" name="Google Shape;35;p38"/>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36" name="Google Shape;36;p38"/>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37" name="Google Shape;37;p38"/>
          <p:cNvSpPr txBox="1">
            <a:spLocks noGrp="1"/>
          </p:cNvSpPr>
          <p:nvPr>
            <p:ph type="body" idx="2"/>
          </p:nvPr>
        </p:nvSpPr>
        <p:spPr>
          <a:xfrm>
            <a:off x="6267893" y="1978428"/>
            <a:ext cx="5181600" cy="4019652"/>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38"/>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40"/>
        <p:cNvGrpSpPr/>
        <p:nvPr/>
      </p:nvGrpSpPr>
      <p:grpSpPr>
        <a:xfrm>
          <a:off x="0" y="0"/>
          <a:ext cx="0" cy="0"/>
          <a:chOff x="0" y="0"/>
          <a:chExt cx="0" cy="0"/>
        </a:xfrm>
      </p:grpSpPr>
      <p:pic>
        <p:nvPicPr>
          <p:cNvPr id="41" name="Google Shape;41;p34"/>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42" name="Google Shape;42;p34"/>
          <p:cNvSpPr txBox="1">
            <a:spLocks noGrp="1"/>
          </p:cNvSpPr>
          <p:nvPr>
            <p:ph type="ctrTitle"/>
          </p:nvPr>
        </p:nvSpPr>
        <p:spPr>
          <a:xfrm>
            <a:off x="1697669" y="3351966"/>
            <a:ext cx="7200000" cy="108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000000"/>
              </a:buClr>
              <a:buSzPts val="4000"/>
              <a:buFont typeface="Montserrat ExtraBold"/>
              <a:buNone/>
              <a:defRPr sz="4000">
                <a:solidFill>
                  <a:srgbClr val="000000"/>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Clr>
                <a:srgbClr val="000000"/>
              </a:buClr>
              <a:buSzPts val="5200"/>
              <a:buNone/>
              <a:defRPr sz="5200">
                <a:solidFill>
                  <a:srgbClr val="000000"/>
                </a:solidFill>
              </a:defRPr>
            </a:lvl2pPr>
            <a:lvl3pPr lvl="2" algn="ctr">
              <a:lnSpc>
                <a:spcPct val="100000"/>
              </a:lnSpc>
              <a:spcBef>
                <a:spcPts val="0"/>
              </a:spcBef>
              <a:spcAft>
                <a:spcPts val="0"/>
              </a:spcAft>
              <a:buClr>
                <a:srgbClr val="000000"/>
              </a:buClr>
              <a:buSzPts val="5200"/>
              <a:buNone/>
              <a:defRPr sz="5200">
                <a:solidFill>
                  <a:srgbClr val="000000"/>
                </a:solidFill>
              </a:defRPr>
            </a:lvl3pPr>
            <a:lvl4pPr lvl="3" algn="ctr">
              <a:lnSpc>
                <a:spcPct val="100000"/>
              </a:lnSpc>
              <a:spcBef>
                <a:spcPts val="0"/>
              </a:spcBef>
              <a:spcAft>
                <a:spcPts val="0"/>
              </a:spcAft>
              <a:buClr>
                <a:srgbClr val="000000"/>
              </a:buClr>
              <a:buSzPts val="5200"/>
              <a:buNone/>
              <a:defRPr sz="5200">
                <a:solidFill>
                  <a:srgbClr val="000000"/>
                </a:solidFill>
              </a:defRPr>
            </a:lvl4pPr>
            <a:lvl5pPr lvl="4" algn="ctr">
              <a:lnSpc>
                <a:spcPct val="100000"/>
              </a:lnSpc>
              <a:spcBef>
                <a:spcPts val="0"/>
              </a:spcBef>
              <a:spcAft>
                <a:spcPts val="0"/>
              </a:spcAft>
              <a:buClr>
                <a:srgbClr val="000000"/>
              </a:buClr>
              <a:buSzPts val="5200"/>
              <a:buNone/>
              <a:defRPr sz="5200">
                <a:solidFill>
                  <a:srgbClr val="000000"/>
                </a:solidFill>
              </a:defRPr>
            </a:lvl5pPr>
            <a:lvl6pPr lvl="5" algn="ctr">
              <a:lnSpc>
                <a:spcPct val="100000"/>
              </a:lnSpc>
              <a:spcBef>
                <a:spcPts val="0"/>
              </a:spcBef>
              <a:spcAft>
                <a:spcPts val="0"/>
              </a:spcAft>
              <a:buClr>
                <a:srgbClr val="000000"/>
              </a:buClr>
              <a:buSzPts val="5200"/>
              <a:buNone/>
              <a:defRPr sz="5200">
                <a:solidFill>
                  <a:srgbClr val="000000"/>
                </a:solidFill>
              </a:defRPr>
            </a:lvl6pPr>
            <a:lvl7pPr lvl="6" algn="ctr">
              <a:lnSpc>
                <a:spcPct val="100000"/>
              </a:lnSpc>
              <a:spcBef>
                <a:spcPts val="0"/>
              </a:spcBef>
              <a:spcAft>
                <a:spcPts val="0"/>
              </a:spcAft>
              <a:buClr>
                <a:srgbClr val="000000"/>
              </a:buClr>
              <a:buSzPts val="5200"/>
              <a:buNone/>
              <a:defRPr sz="5200">
                <a:solidFill>
                  <a:srgbClr val="000000"/>
                </a:solidFill>
              </a:defRPr>
            </a:lvl7pPr>
            <a:lvl8pPr lvl="7" algn="ctr">
              <a:lnSpc>
                <a:spcPct val="100000"/>
              </a:lnSpc>
              <a:spcBef>
                <a:spcPts val="0"/>
              </a:spcBef>
              <a:spcAft>
                <a:spcPts val="0"/>
              </a:spcAft>
              <a:buClr>
                <a:srgbClr val="000000"/>
              </a:buClr>
              <a:buSzPts val="5200"/>
              <a:buNone/>
              <a:defRPr sz="5200">
                <a:solidFill>
                  <a:srgbClr val="000000"/>
                </a:solidFill>
              </a:defRPr>
            </a:lvl8pPr>
            <a:lvl9pPr lvl="8" algn="ctr">
              <a:lnSpc>
                <a:spcPct val="100000"/>
              </a:lnSpc>
              <a:spcBef>
                <a:spcPts val="0"/>
              </a:spcBef>
              <a:spcAft>
                <a:spcPts val="0"/>
              </a:spcAft>
              <a:buClr>
                <a:srgbClr val="000000"/>
              </a:buClr>
              <a:buSzPts val="5200"/>
              <a:buNone/>
              <a:defRPr sz="5200">
                <a:solidFill>
                  <a:srgbClr val="000000"/>
                </a:solidFill>
              </a:defRPr>
            </a:lvl9pPr>
          </a:lstStyle>
          <a:p>
            <a:endParaRPr dirty="0"/>
          </a:p>
        </p:txBody>
      </p:sp>
      <p:sp>
        <p:nvSpPr>
          <p:cNvPr id="43" name="Google Shape;43;p34"/>
          <p:cNvSpPr txBox="1">
            <a:spLocks noGrp="1"/>
          </p:cNvSpPr>
          <p:nvPr>
            <p:ph type="subTitle" idx="1"/>
          </p:nvPr>
        </p:nvSpPr>
        <p:spPr>
          <a:xfrm>
            <a:off x="1697669" y="4071966"/>
            <a:ext cx="5041797" cy="36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AEABAB"/>
              </a:buClr>
              <a:buSzPts val="2800"/>
              <a:buNone/>
              <a:defRPr>
                <a:solidFill>
                  <a:srgbClr val="AEABAB"/>
                </a:solidFill>
                <a:latin typeface="Montserrat Medium"/>
                <a:ea typeface="Montserrat Medium"/>
                <a:cs typeface="Montserrat Medium"/>
                <a:sym typeface="Montserrat Medium"/>
              </a:defRPr>
            </a:lvl1pPr>
            <a:lvl2pPr lvl="1" algn="l">
              <a:lnSpc>
                <a:spcPct val="90000"/>
              </a:lnSpc>
              <a:spcBef>
                <a:spcPts val="1600"/>
              </a:spcBef>
              <a:spcAft>
                <a:spcPts val="0"/>
              </a:spcAft>
              <a:buClr>
                <a:schemeClr val="dk1"/>
              </a:buClr>
              <a:buSzPts val="2400"/>
              <a:buNone/>
              <a:defRPr/>
            </a:lvl2pPr>
            <a:lvl3pPr lvl="2" algn="l">
              <a:lnSpc>
                <a:spcPct val="90000"/>
              </a:lnSpc>
              <a:spcBef>
                <a:spcPts val="1600"/>
              </a:spcBef>
              <a:spcAft>
                <a:spcPts val="0"/>
              </a:spcAft>
              <a:buClr>
                <a:schemeClr val="dk1"/>
              </a:buClr>
              <a:buSzPts val="2000"/>
              <a:buNone/>
              <a:defRPr/>
            </a:lvl3pPr>
            <a:lvl4pPr lvl="3" algn="l">
              <a:lnSpc>
                <a:spcPct val="90000"/>
              </a:lnSpc>
              <a:spcBef>
                <a:spcPts val="1600"/>
              </a:spcBef>
              <a:spcAft>
                <a:spcPts val="0"/>
              </a:spcAft>
              <a:buClr>
                <a:schemeClr val="dk1"/>
              </a:buClr>
              <a:buSzPts val="1800"/>
              <a:buNone/>
              <a:defRPr/>
            </a:lvl4pPr>
            <a:lvl5pPr lvl="4" algn="l">
              <a:lnSpc>
                <a:spcPct val="90000"/>
              </a:lnSpc>
              <a:spcBef>
                <a:spcPts val="1600"/>
              </a:spcBef>
              <a:spcAft>
                <a:spcPts val="0"/>
              </a:spcAft>
              <a:buClr>
                <a:schemeClr val="dk1"/>
              </a:buClr>
              <a:buSzPts val="1800"/>
              <a:buNone/>
              <a:defRPr/>
            </a:lvl5pPr>
            <a:lvl6pPr lvl="5" algn="l">
              <a:lnSpc>
                <a:spcPct val="90000"/>
              </a:lnSpc>
              <a:spcBef>
                <a:spcPts val="1600"/>
              </a:spcBef>
              <a:spcAft>
                <a:spcPts val="0"/>
              </a:spcAft>
              <a:buClr>
                <a:schemeClr val="dk1"/>
              </a:buClr>
              <a:buSzPts val="1800"/>
              <a:buNone/>
              <a:defRPr/>
            </a:lvl6pPr>
            <a:lvl7pPr lvl="6" algn="l">
              <a:lnSpc>
                <a:spcPct val="90000"/>
              </a:lnSpc>
              <a:spcBef>
                <a:spcPts val="1600"/>
              </a:spcBef>
              <a:spcAft>
                <a:spcPts val="0"/>
              </a:spcAft>
              <a:buClr>
                <a:schemeClr val="dk1"/>
              </a:buClr>
              <a:buSzPts val="1800"/>
              <a:buNone/>
              <a:defRPr/>
            </a:lvl7pPr>
            <a:lvl8pPr lvl="7" algn="l">
              <a:lnSpc>
                <a:spcPct val="90000"/>
              </a:lnSpc>
              <a:spcBef>
                <a:spcPts val="1600"/>
              </a:spcBef>
              <a:spcAft>
                <a:spcPts val="0"/>
              </a:spcAft>
              <a:buClr>
                <a:schemeClr val="dk1"/>
              </a:buClr>
              <a:buSzPts val="1800"/>
              <a:buNone/>
              <a:defRPr/>
            </a:lvl8pPr>
            <a:lvl9pPr lvl="8" algn="l">
              <a:lnSpc>
                <a:spcPct val="90000"/>
              </a:lnSpc>
              <a:spcBef>
                <a:spcPts val="1600"/>
              </a:spcBef>
              <a:spcAft>
                <a:spcPts val="1600"/>
              </a:spcAft>
              <a:buClr>
                <a:schemeClr val="dk1"/>
              </a:buClr>
              <a:buSzPts val="1800"/>
              <a:buNone/>
              <a:defRPr/>
            </a:lvl9pPr>
          </a:lstStyle>
          <a:p>
            <a:endParaRPr/>
          </a:p>
        </p:txBody>
      </p:sp>
      <p:pic>
        <p:nvPicPr>
          <p:cNvPr id="44" name="Google Shape;44;p34"/>
          <p:cNvPicPr preferRelativeResize="0"/>
          <p:nvPr/>
        </p:nvPicPr>
        <p:blipFill rotWithShape="1">
          <a:blip r:embed="rId3">
            <a:alphaModFix/>
          </a:blip>
          <a:srcRect/>
          <a:stretch/>
        </p:blipFill>
        <p:spPr>
          <a:xfrm>
            <a:off x="9349810" y="1223962"/>
            <a:ext cx="4438650" cy="4410075"/>
          </a:xfrm>
          <a:prstGeom prst="rect">
            <a:avLst/>
          </a:prstGeom>
          <a:noFill/>
          <a:ln>
            <a:noFill/>
          </a:ln>
        </p:spPr>
      </p:pic>
      <p:sp>
        <p:nvSpPr>
          <p:cNvPr id="45" name="Google Shape;45;p34"/>
          <p:cNvSpPr/>
          <p:nvPr/>
        </p:nvSpPr>
        <p:spPr>
          <a:xfrm rot="5400000">
            <a:off x="-307571" y="2821864"/>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46" name="Google Shape;46;p34"/>
          <p:cNvSpPr txBox="1">
            <a:spLocks noGrp="1"/>
          </p:cNvSpPr>
          <p:nvPr>
            <p:ph type="body" idx="2"/>
          </p:nvPr>
        </p:nvSpPr>
        <p:spPr>
          <a:xfrm>
            <a:off x="1562203" y="1974293"/>
            <a:ext cx="8966216" cy="10800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9600"/>
              <a:buNone/>
              <a:defRPr sz="96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pic>
        <p:nvPicPr>
          <p:cNvPr id="3" name="Picture 2" descr="A black and red logo&#10;&#10;Description automatically generated">
            <a:extLst>
              <a:ext uri="{FF2B5EF4-FFF2-40B4-BE49-F238E27FC236}">
                <a16:creationId xmlns:a16="http://schemas.microsoft.com/office/drawing/2014/main" id="{BB66C473-4843-563E-A229-3E43A4883405}"/>
              </a:ext>
            </a:extLst>
          </p:cNvPr>
          <p:cNvPicPr>
            <a:picLocks noChangeAspect="1"/>
          </p:cNvPicPr>
          <p:nvPr userDrawn="1"/>
        </p:nvPicPr>
        <p:blipFill>
          <a:blip r:embed="rId4"/>
          <a:stretch>
            <a:fillRect/>
          </a:stretch>
        </p:blipFill>
        <p:spPr>
          <a:xfrm>
            <a:off x="4218567" y="5362823"/>
            <a:ext cx="3170490" cy="542427"/>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8"/>
        <p:cNvGrpSpPr/>
        <p:nvPr/>
      </p:nvGrpSpPr>
      <p:grpSpPr>
        <a:xfrm>
          <a:off x="0" y="0"/>
          <a:ext cx="0" cy="0"/>
          <a:chOff x="0" y="0"/>
          <a:chExt cx="0" cy="0"/>
        </a:xfrm>
      </p:grpSpPr>
      <p:sp>
        <p:nvSpPr>
          <p:cNvPr id="49" name="Google Shape;49;p35"/>
          <p:cNvSpPr txBox="1">
            <a:spLocks noGrp="1"/>
          </p:cNvSpPr>
          <p:nvPr>
            <p:ph type="title"/>
          </p:nvPr>
        </p:nvSpPr>
        <p:spPr>
          <a:xfrm>
            <a:off x="1974966" y="2521987"/>
            <a:ext cx="8076353"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0" name="Google Shape;50;p35"/>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51" name="Google Shape;51;p35"/>
          <p:cNvSpPr txBox="1">
            <a:spLocks noGrp="1"/>
          </p:cNvSpPr>
          <p:nvPr>
            <p:ph type="body" idx="1"/>
          </p:nvPr>
        </p:nvSpPr>
        <p:spPr>
          <a:xfrm>
            <a:off x="1989667" y="3847550"/>
            <a:ext cx="8076353" cy="1450503"/>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3F3F3F"/>
              </a:buClr>
              <a:buSzPts val="3200"/>
              <a:buNone/>
              <a:defRPr sz="3200">
                <a:solidFill>
                  <a:srgbClr val="3F3F3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sp>
        <p:nvSpPr>
          <p:cNvPr id="52" name="Google Shape;52;p35"/>
          <p:cNvSpPr/>
          <p:nvPr/>
        </p:nvSpPr>
        <p:spPr>
          <a:xfrm rot="10800000">
            <a:off x="5289935" y="1559948"/>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pic>
        <p:nvPicPr>
          <p:cNvPr id="3" name="Picture 2" descr="A black and red logo&#10;&#10;Description automatically generated">
            <a:extLst>
              <a:ext uri="{FF2B5EF4-FFF2-40B4-BE49-F238E27FC236}">
                <a16:creationId xmlns:a16="http://schemas.microsoft.com/office/drawing/2014/main" id="{F381582B-BF58-488D-444A-9B514DD58CEE}"/>
              </a:ext>
            </a:extLst>
          </p:cNvPr>
          <p:cNvPicPr>
            <a:picLocks noChangeAspect="1"/>
          </p:cNvPicPr>
          <p:nvPr userDrawn="1"/>
        </p:nvPicPr>
        <p:blipFill>
          <a:blip r:embed="rId3"/>
          <a:stretch>
            <a:fillRect/>
          </a:stretch>
        </p:blipFill>
        <p:spPr>
          <a:xfrm>
            <a:off x="4246556" y="5489273"/>
            <a:ext cx="3698887" cy="632829"/>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4"/>
        <p:cNvGrpSpPr/>
        <p:nvPr/>
      </p:nvGrpSpPr>
      <p:grpSpPr>
        <a:xfrm>
          <a:off x="0" y="0"/>
          <a:ext cx="0" cy="0"/>
          <a:chOff x="0" y="0"/>
          <a:chExt cx="0" cy="0"/>
        </a:xfrm>
      </p:grpSpPr>
      <p:pic>
        <p:nvPicPr>
          <p:cNvPr id="55" name="Google Shape;55;p3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56" name="Google Shape;56;p3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57" name="Google Shape;57;p3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58" name="Google Shape;58;p3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5EAD5742-1C6B-F857-A9B1-EEA8C00EED8B}"/>
              </a:ext>
            </a:extLst>
          </p:cNvPr>
          <p:cNvPicPr>
            <a:picLocks noChangeAspect="1"/>
          </p:cNvPicPr>
          <p:nvPr userDrawn="1"/>
        </p:nvPicPr>
        <p:blipFill>
          <a:blip r:embed="rId4"/>
          <a:stretch>
            <a:fillRect/>
          </a:stretch>
        </p:blipFill>
        <p:spPr>
          <a:xfrm>
            <a:off x="9729129" y="509145"/>
            <a:ext cx="2154931" cy="36867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Content with Caption">
  <p:cSld name="2_Content with Caption">
    <p:spTree>
      <p:nvGrpSpPr>
        <p:cNvPr id="1" name="Shape 60"/>
        <p:cNvGrpSpPr/>
        <p:nvPr/>
      </p:nvGrpSpPr>
      <p:grpSpPr>
        <a:xfrm>
          <a:off x="0" y="0"/>
          <a:ext cx="0" cy="0"/>
          <a:chOff x="0" y="0"/>
          <a:chExt cx="0" cy="0"/>
        </a:xfrm>
      </p:grpSpPr>
      <p:sp>
        <p:nvSpPr>
          <p:cNvPr id="61" name="Google Shape;61;p37"/>
          <p:cNvSpPr txBox="1">
            <a:spLocks noGrp="1"/>
          </p:cNvSpPr>
          <p:nvPr>
            <p:ph type="body" idx="1"/>
          </p:nvPr>
        </p:nvSpPr>
        <p:spPr>
          <a:xfrm>
            <a:off x="3818313" y="3901864"/>
            <a:ext cx="4555374"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2" name="Google Shape;62;p3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63" name="Google Shape;63;p3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64" name="Google Shape;64;p3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65" name="Google Shape;65;p3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3200"/>
              <a:buNone/>
              <a:defRPr sz="32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6" name="Google Shape;66;p37"/>
          <p:cNvPicPr preferRelativeResize="0"/>
          <p:nvPr/>
        </p:nvPicPr>
        <p:blipFill rotWithShape="1">
          <a:blip r:embed="rId2">
            <a:alphaModFix/>
          </a:blip>
          <a:srcRect/>
          <a:stretch/>
        </p:blipFill>
        <p:spPr>
          <a:xfrm rot="10800000" flipH="1">
            <a:off x="838200" y="3858704"/>
            <a:ext cx="2860964" cy="45719"/>
          </a:xfrm>
          <a:prstGeom prst="rect">
            <a:avLst/>
          </a:prstGeom>
          <a:noFill/>
          <a:ln>
            <a:noFill/>
          </a:ln>
        </p:spPr>
      </p:pic>
      <p:pic>
        <p:nvPicPr>
          <p:cNvPr id="3" name="Picture 2" descr="A black and red logo&#10;&#10;Description automatically generated">
            <a:extLst>
              <a:ext uri="{FF2B5EF4-FFF2-40B4-BE49-F238E27FC236}">
                <a16:creationId xmlns:a16="http://schemas.microsoft.com/office/drawing/2014/main" id="{55AA4231-604B-BA65-0355-28FA72F30CD0}"/>
              </a:ext>
            </a:extLst>
          </p:cNvPr>
          <p:cNvPicPr>
            <a:picLocks noChangeAspect="1"/>
          </p:cNvPicPr>
          <p:nvPr userDrawn="1"/>
        </p:nvPicPr>
        <p:blipFill>
          <a:blip r:embed="rId4"/>
          <a:stretch>
            <a:fillRect/>
          </a:stretch>
        </p:blipFill>
        <p:spPr>
          <a:xfrm>
            <a:off x="9716655" y="315885"/>
            <a:ext cx="2152072" cy="36819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spTree>
      <p:nvGrpSpPr>
        <p:cNvPr id="1" name="Shape 68"/>
        <p:cNvGrpSpPr/>
        <p:nvPr/>
      </p:nvGrpSpPr>
      <p:grpSpPr>
        <a:xfrm>
          <a:off x="0" y="0"/>
          <a:ext cx="0" cy="0"/>
          <a:chOff x="0" y="0"/>
          <a:chExt cx="0" cy="0"/>
        </a:xfrm>
      </p:grpSpPr>
      <p:sp>
        <p:nvSpPr>
          <p:cNvPr id="69" name="Google Shape;69;p39"/>
          <p:cNvSpPr txBox="1">
            <a:spLocks noGrp="1"/>
          </p:cNvSpPr>
          <p:nvPr>
            <p:ph type="body" idx="1"/>
          </p:nvPr>
        </p:nvSpPr>
        <p:spPr>
          <a:xfrm>
            <a:off x="746918" y="3882043"/>
            <a:ext cx="3816769"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70" name="Google Shape;70;p39"/>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71" name="Google Shape;71;p39"/>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72" name="Google Shape;72;p39"/>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dirty="0">
              <a:solidFill>
                <a:schemeClr val="lt1"/>
              </a:solidFill>
              <a:latin typeface="Montserrat"/>
              <a:ea typeface="Montserrat"/>
              <a:cs typeface="Montserrat"/>
              <a:sym typeface="Montserrat"/>
            </a:endParaRPr>
          </a:p>
        </p:txBody>
      </p:sp>
      <p:sp>
        <p:nvSpPr>
          <p:cNvPr id="73" name="Google Shape;73;p39"/>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 name="Picture 2" descr="A black and red logo&#10;&#10;Description automatically generated">
            <a:extLst>
              <a:ext uri="{FF2B5EF4-FFF2-40B4-BE49-F238E27FC236}">
                <a16:creationId xmlns:a16="http://schemas.microsoft.com/office/drawing/2014/main" id="{43495D7B-6889-5FC5-B3E3-6995FEE87B6F}"/>
              </a:ext>
            </a:extLst>
          </p:cNvPr>
          <p:cNvPicPr>
            <a:picLocks noChangeAspect="1"/>
          </p:cNvPicPr>
          <p:nvPr userDrawn="1"/>
        </p:nvPicPr>
        <p:blipFill>
          <a:blip r:embed="rId4"/>
          <a:stretch>
            <a:fillRect/>
          </a:stretch>
        </p:blipFill>
        <p:spPr>
          <a:xfrm>
            <a:off x="9608344" y="315884"/>
            <a:ext cx="2301284" cy="39371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5"/>
        <p:cNvGrpSpPr/>
        <p:nvPr/>
      </p:nvGrpSpPr>
      <p:grpSpPr>
        <a:xfrm>
          <a:off x="0" y="0"/>
          <a:ext cx="0" cy="0"/>
          <a:chOff x="0" y="0"/>
          <a:chExt cx="0" cy="0"/>
        </a:xfrm>
      </p:grpSpPr>
      <p:pic>
        <p:nvPicPr>
          <p:cNvPr id="76" name="Google Shape;76;p40"/>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77" name="Google Shape;77;p40"/>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40"/>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79" name="Google Shape;79;p40"/>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80" name="Google Shape;80;p40"/>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81" name="Google Shape;81;p40"/>
          <p:cNvPicPr preferRelativeResize="0"/>
          <p:nvPr/>
        </p:nvPicPr>
        <p:blipFill rotWithShape="1">
          <a:blip r:embed="rId4">
            <a:alphaModFix/>
          </a:blip>
          <a:srcRect/>
          <a:stretch/>
        </p:blipFill>
        <p:spPr>
          <a:xfrm>
            <a:off x="5261198" y="4951700"/>
            <a:ext cx="2012426" cy="9816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2"/>
        <p:cNvGrpSpPr/>
        <p:nvPr/>
      </p:nvGrpSpPr>
      <p:grpSpPr>
        <a:xfrm>
          <a:off x="0" y="0"/>
          <a:ext cx="0" cy="0"/>
          <a:chOff x="0" y="0"/>
          <a:chExt cx="0" cy="0"/>
        </a:xfrm>
      </p:grpSpPr>
      <p:pic>
        <p:nvPicPr>
          <p:cNvPr id="83" name="Google Shape;83;p30"/>
          <p:cNvPicPr preferRelativeResize="0"/>
          <p:nvPr/>
        </p:nvPicPr>
        <p:blipFill rotWithShape="1">
          <a:blip r:embed="rId2">
            <a:alphaModFix/>
          </a:blip>
          <a:srcRect/>
          <a:stretch/>
        </p:blipFill>
        <p:spPr>
          <a:xfrm>
            <a:off x="-211667" y="-83672"/>
            <a:ext cx="12640676" cy="7017872"/>
          </a:xfrm>
          <a:prstGeom prst="rect">
            <a:avLst/>
          </a:prstGeom>
          <a:noFill/>
          <a:ln>
            <a:noFill/>
          </a:ln>
        </p:spPr>
      </p:pic>
      <p:sp>
        <p:nvSpPr>
          <p:cNvPr id="84" name="Google Shape;84;p30"/>
          <p:cNvSpPr txBox="1">
            <a:spLocks noGrp="1"/>
          </p:cNvSpPr>
          <p:nvPr>
            <p:ph type="ctrTitle"/>
          </p:nvPr>
        </p:nvSpPr>
        <p:spPr>
          <a:xfrm>
            <a:off x="279991" y="3969209"/>
            <a:ext cx="9144000" cy="146441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0"/>
          <p:cNvSpPr txBox="1">
            <a:spLocks noGrp="1"/>
          </p:cNvSpPr>
          <p:nvPr>
            <p:ph type="subTitle" idx="1"/>
          </p:nvPr>
        </p:nvSpPr>
        <p:spPr>
          <a:xfrm>
            <a:off x="279991" y="5433627"/>
            <a:ext cx="9144000" cy="16557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86" name="Google Shape;86;p30"/>
          <p:cNvPicPr preferRelativeResize="0"/>
          <p:nvPr/>
        </p:nvPicPr>
        <p:blipFill rotWithShape="1">
          <a:blip r:embed="rId3">
            <a:alphaModFix/>
          </a:blip>
          <a:srcRect/>
          <a:stretch/>
        </p:blipFill>
        <p:spPr>
          <a:xfrm>
            <a:off x="9242381" y="-123349"/>
            <a:ext cx="7133810" cy="7097226"/>
          </a:xfrm>
          <a:prstGeom prst="rect">
            <a:avLst/>
          </a:prstGeom>
          <a:noFill/>
          <a:ln>
            <a:noFill/>
          </a:ln>
        </p:spPr>
      </p:pic>
      <p:pic>
        <p:nvPicPr>
          <p:cNvPr id="5" name="Picture 4" descr="A black and white logo with red letters&#10;&#10;Description automatically generated">
            <a:extLst>
              <a:ext uri="{FF2B5EF4-FFF2-40B4-BE49-F238E27FC236}">
                <a16:creationId xmlns:a16="http://schemas.microsoft.com/office/drawing/2014/main" id="{944B7BC4-09AD-B151-E7C8-E7171E587CD9}"/>
              </a:ext>
            </a:extLst>
          </p:cNvPr>
          <p:cNvPicPr>
            <a:picLocks noChangeAspect="1"/>
          </p:cNvPicPr>
          <p:nvPr userDrawn="1"/>
        </p:nvPicPr>
        <p:blipFill>
          <a:blip r:embed="rId4"/>
          <a:stretch>
            <a:fillRect/>
          </a:stretch>
        </p:blipFill>
        <p:spPr>
          <a:xfrm>
            <a:off x="279991" y="620658"/>
            <a:ext cx="4697722" cy="803716"/>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8"/>
        <p:cNvGrpSpPr/>
        <p:nvPr/>
      </p:nvGrpSpPr>
      <p:grpSpPr>
        <a:xfrm>
          <a:off x="0" y="0"/>
          <a:ext cx="0" cy="0"/>
          <a:chOff x="0" y="0"/>
          <a:chExt cx="0" cy="0"/>
        </a:xfrm>
      </p:grpSpPr>
      <p:pic>
        <p:nvPicPr>
          <p:cNvPr id="89" name="Google Shape;89;p41"/>
          <p:cNvPicPr preferRelativeResize="0"/>
          <p:nvPr/>
        </p:nvPicPr>
        <p:blipFill rotWithShape="1">
          <a:blip r:embed="rId2">
            <a:alphaModFix/>
          </a:blip>
          <a:srcRect/>
          <a:stretch/>
        </p:blipFill>
        <p:spPr>
          <a:xfrm>
            <a:off x="11087100" y="5837237"/>
            <a:ext cx="1104900" cy="1038225"/>
          </a:xfrm>
          <a:prstGeom prst="rect">
            <a:avLst/>
          </a:prstGeom>
          <a:noFill/>
          <a:ln>
            <a:noFill/>
          </a:ln>
        </p:spPr>
      </p:pic>
      <p:sp>
        <p:nvSpPr>
          <p:cNvPr id="90" name="Google Shape;90;p41"/>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pic>
        <p:nvPicPr>
          <p:cNvPr id="3" name="Picture 2" descr="A black and red logo&#10;&#10;Description automatically generated">
            <a:extLst>
              <a:ext uri="{FF2B5EF4-FFF2-40B4-BE49-F238E27FC236}">
                <a16:creationId xmlns:a16="http://schemas.microsoft.com/office/drawing/2014/main" id="{23531A56-D9C3-E1AF-F7D3-ADDFD7687D5B}"/>
              </a:ext>
            </a:extLst>
          </p:cNvPr>
          <p:cNvPicPr>
            <a:picLocks noChangeAspect="1"/>
          </p:cNvPicPr>
          <p:nvPr userDrawn="1"/>
        </p:nvPicPr>
        <p:blipFill>
          <a:blip r:embed="rId3"/>
          <a:stretch>
            <a:fillRect/>
          </a:stretch>
        </p:blipFill>
        <p:spPr>
          <a:xfrm>
            <a:off x="9453019" y="219653"/>
            <a:ext cx="2549174" cy="43612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93"/>
        <p:cNvGrpSpPr/>
        <p:nvPr/>
      </p:nvGrpSpPr>
      <p:grpSpPr>
        <a:xfrm>
          <a:off x="0" y="0"/>
          <a:ext cx="0" cy="0"/>
          <a:chOff x="0" y="0"/>
          <a:chExt cx="0" cy="0"/>
        </a:xfrm>
      </p:grpSpPr>
      <p:pic>
        <p:nvPicPr>
          <p:cNvPr id="94" name="Google Shape;94;p31"/>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95" name="Google Shape;95;p31"/>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31"/>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97" name="Google Shape;97;p31"/>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98" name="Google Shape;98;p31"/>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3" name="Picture 2" descr="A black and white logo with red letters&#10;&#10;Description automatically generated">
            <a:extLst>
              <a:ext uri="{FF2B5EF4-FFF2-40B4-BE49-F238E27FC236}">
                <a16:creationId xmlns:a16="http://schemas.microsoft.com/office/drawing/2014/main" id="{D5439C6C-C6E6-A867-5355-0680D1B6AA06}"/>
              </a:ext>
            </a:extLst>
          </p:cNvPr>
          <p:cNvPicPr>
            <a:picLocks noChangeAspect="1"/>
          </p:cNvPicPr>
          <p:nvPr userDrawn="1"/>
        </p:nvPicPr>
        <p:blipFill>
          <a:blip r:embed="rId4"/>
          <a:stretch>
            <a:fillRect/>
          </a:stretch>
        </p:blipFill>
        <p:spPr>
          <a:xfrm>
            <a:off x="3232727" y="1184685"/>
            <a:ext cx="6577019" cy="1125237"/>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00"/>
        <p:cNvGrpSpPr/>
        <p:nvPr/>
      </p:nvGrpSpPr>
      <p:grpSpPr>
        <a:xfrm>
          <a:off x="0" y="0"/>
          <a:ext cx="0" cy="0"/>
          <a:chOff x="0" y="0"/>
          <a:chExt cx="0" cy="0"/>
        </a:xfrm>
      </p:grpSpPr>
      <p:pic>
        <p:nvPicPr>
          <p:cNvPr id="101" name="Google Shape;101;p33"/>
          <p:cNvPicPr preferRelativeResize="0"/>
          <p:nvPr/>
        </p:nvPicPr>
        <p:blipFill rotWithShape="1">
          <a:blip r:embed="rId2">
            <a:alphaModFix/>
          </a:blip>
          <a:srcRect/>
          <a:stretch/>
        </p:blipFill>
        <p:spPr>
          <a:xfrm>
            <a:off x="-160713" y="0"/>
            <a:ext cx="12352713" cy="6858000"/>
          </a:xfrm>
          <a:prstGeom prst="rect">
            <a:avLst/>
          </a:prstGeom>
          <a:noFill/>
          <a:ln>
            <a:noFill/>
          </a:ln>
        </p:spPr>
      </p:pic>
      <p:sp>
        <p:nvSpPr>
          <p:cNvPr id="102" name="Google Shape;102;p33"/>
          <p:cNvSpPr txBox="1">
            <a:spLocks noGrp="1"/>
          </p:cNvSpPr>
          <p:nvPr>
            <p:ph type="title"/>
          </p:nvPr>
        </p:nvSpPr>
        <p:spPr>
          <a:xfrm rot="5400000">
            <a:off x="-1225840" y="973773"/>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Montserrat Black"/>
              <a:buNone/>
              <a:defRPr sz="6000" b="1">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04" name="Google Shape;104;p33"/>
          <p:cNvSpPr txBox="1">
            <a:spLocks noGrp="1"/>
          </p:cNvSpPr>
          <p:nvPr>
            <p:ph type="body" idx="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33"/>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33"/>
          <p:cNvSpPr txBox="1">
            <a:spLocks noGrp="1"/>
          </p:cNvSpPr>
          <p:nvPr>
            <p:ph type="body" idx="3"/>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33"/>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33"/>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33"/>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33"/>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33"/>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33"/>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33"/>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33"/>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33"/>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white logo with red letters&#10;&#10;Description automatically generated">
            <a:extLst>
              <a:ext uri="{FF2B5EF4-FFF2-40B4-BE49-F238E27FC236}">
                <a16:creationId xmlns:a16="http://schemas.microsoft.com/office/drawing/2014/main" id="{90038E1B-6286-91BE-4584-B33E73761237}"/>
              </a:ext>
            </a:extLst>
          </p:cNvPr>
          <p:cNvPicPr>
            <a:picLocks noChangeAspect="1"/>
          </p:cNvPicPr>
          <p:nvPr userDrawn="1"/>
        </p:nvPicPr>
        <p:blipFill>
          <a:blip r:embed="rId3"/>
          <a:stretch>
            <a:fillRect/>
          </a:stretch>
        </p:blipFill>
        <p:spPr>
          <a:xfrm>
            <a:off x="8517542" y="261281"/>
            <a:ext cx="3504736" cy="59961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17"/>
        <p:cNvGrpSpPr/>
        <p:nvPr/>
      </p:nvGrpSpPr>
      <p:grpSpPr>
        <a:xfrm>
          <a:off x="0" y="0"/>
          <a:ext cx="0" cy="0"/>
          <a:chOff x="0" y="0"/>
          <a:chExt cx="0" cy="0"/>
        </a:xfrm>
      </p:grpSpPr>
      <p:sp>
        <p:nvSpPr>
          <p:cNvPr id="118" name="Google Shape;118;p45"/>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19" name="Google Shape;119;p45"/>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120" name="Google Shape;120;p45"/>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121" name="Google Shape;121;p45"/>
          <p:cNvSpPr txBox="1">
            <a:spLocks noGrp="1"/>
          </p:cNvSpPr>
          <p:nvPr>
            <p:ph type="sldNum" idx="12"/>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22" name="Google Shape;122;p45"/>
          <p:cNvSpPr txBox="1">
            <a:spLocks noGrp="1"/>
          </p:cNvSpPr>
          <p:nvPr>
            <p:ph type="body" idx="1"/>
          </p:nvPr>
        </p:nvSpPr>
        <p:spPr>
          <a:xfrm>
            <a:off x="838200" y="1680599"/>
            <a:ext cx="10641676" cy="504087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Courier New"/>
              <a:buChar char="o"/>
              <a:defRPr sz="1600"/>
            </a:lvl2pPr>
            <a:lvl3pPr marL="1371600" lvl="2" indent="-330200" algn="l">
              <a:lnSpc>
                <a:spcPct val="90000"/>
              </a:lnSpc>
              <a:spcBef>
                <a:spcPts val="500"/>
              </a:spcBef>
              <a:spcAft>
                <a:spcPts val="0"/>
              </a:spcAft>
              <a:buClr>
                <a:srgbClr val="C00000"/>
              </a:buClr>
              <a:buSzPts val="1600"/>
              <a:buChar char="•"/>
              <a:defRPr sz="1600"/>
            </a:lvl3pPr>
            <a:lvl4pPr marL="1828800" lvl="3" indent="-330200" algn="l">
              <a:lnSpc>
                <a:spcPct val="90000"/>
              </a:lnSpc>
              <a:spcBef>
                <a:spcPts val="500"/>
              </a:spcBef>
              <a:spcAft>
                <a:spcPts val="0"/>
              </a:spcAft>
              <a:buClr>
                <a:srgbClr val="C00000"/>
              </a:buClr>
              <a:buSzPts val="1600"/>
              <a:buChar char="•"/>
              <a:defRPr sz="1600"/>
            </a:lvl4pPr>
            <a:lvl5pPr marL="2286000" lvl="4" indent="-330200" algn="l">
              <a:lnSpc>
                <a:spcPct val="90000"/>
              </a:lnSpc>
              <a:spcBef>
                <a:spcPts val="500"/>
              </a:spcBef>
              <a:spcAft>
                <a:spcPts val="0"/>
              </a:spcAft>
              <a:buClr>
                <a:srgbClr val="C00000"/>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551CDB11-DCEB-AD1C-988C-22C79E587A94}"/>
              </a:ext>
            </a:extLst>
          </p:cNvPr>
          <p:cNvPicPr>
            <a:picLocks noChangeAspect="1"/>
          </p:cNvPicPr>
          <p:nvPr userDrawn="1"/>
        </p:nvPicPr>
        <p:blipFill>
          <a:blip r:embed="rId4"/>
          <a:stretch>
            <a:fillRect/>
          </a:stretch>
        </p:blipFill>
        <p:spPr>
          <a:xfrm>
            <a:off x="9656157" y="308458"/>
            <a:ext cx="2346036" cy="4013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24"/>
        <p:cNvGrpSpPr/>
        <p:nvPr/>
      </p:nvGrpSpPr>
      <p:grpSpPr>
        <a:xfrm>
          <a:off x="0" y="0"/>
          <a:ext cx="0" cy="0"/>
          <a:chOff x="0" y="0"/>
          <a:chExt cx="0" cy="0"/>
        </a:xfrm>
      </p:grpSpPr>
      <p:sp>
        <p:nvSpPr>
          <p:cNvPr id="125" name="Google Shape;125;p46"/>
          <p:cNvSpPr txBox="1">
            <a:spLocks noGrp="1"/>
          </p:cNvSpPr>
          <p:nvPr>
            <p:ph type="body" idx="1"/>
          </p:nvPr>
        </p:nvSpPr>
        <p:spPr>
          <a:xfrm>
            <a:off x="1695999" y="1566639"/>
            <a:ext cx="3175259"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6" name="Google Shape;126;p46"/>
          <p:cNvSpPr txBox="1">
            <a:spLocks noGrp="1"/>
          </p:cNvSpPr>
          <p:nvPr>
            <p:ph type="body" idx="2"/>
          </p:nvPr>
        </p:nvSpPr>
        <p:spPr>
          <a:xfrm>
            <a:off x="7176164" y="1566639"/>
            <a:ext cx="3175260"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pic>
        <p:nvPicPr>
          <p:cNvPr id="127" name="Google Shape;127;p4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28" name="Google Shape;128;p4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29" name="Google Shape;129;p4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30" name="Google Shape;130;p46"/>
          <p:cNvSpPr/>
          <p:nvPr/>
        </p:nvSpPr>
        <p:spPr>
          <a:xfrm>
            <a:off x="2199884" y="2284225"/>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1" name="Google Shape;131;p46"/>
          <p:cNvSpPr/>
          <p:nvPr/>
        </p:nvSpPr>
        <p:spPr>
          <a:xfrm>
            <a:off x="7610161" y="2337388"/>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2" name="Google Shape;132;p46"/>
          <p:cNvSpPr txBox="1">
            <a:spLocks noGrp="1"/>
          </p:cNvSpPr>
          <p:nvPr>
            <p:ph type="body" idx="3"/>
          </p:nvPr>
        </p:nvSpPr>
        <p:spPr>
          <a:xfrm>
            <a:off x="838200" y="2524124"/>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3" name="Google Shape;133;p46"/>
          <p:cNvSpPr txBox="1">
            <a:spLocks noGrp="1"/>
          </p:cNvSpPr>
          <p:nvPr>
            <p:ph type="body" idx="4"/>
          </p:nvPr>
        </p:nvSpPr>
        <p:spPr>
          <a:xfrm>
            <a:off x="6137734" y="2524123"/>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4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F22D559F-F5D7-697E-052B-2498695D66EE}"/>
              </a:ext>
            </a:extLst>
          </p:cNvPr>
          <p:cNvPicPr>
            <a:picLocks noChangeAspect="1"/>
          </p:cNvPicPr>
          <p:nvPr userDrawn="1"/>
        </p:nvPicPr>
        <p:blipFill>
          <a:blip r:embed="rId4"/>
          <a:stretch>
            <a:fillRect/>
          </a:stretch>
        </p:blipFill>
        <p:spPr>
          <a:xfrm>
            <a:off x="9770915" y="291683"/>
            <a:ext cx="2274573" cy="389148"/>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36"/>
        <p:cNvGrpSpPr/>
        <p:nvPr/>
      </p:nvGrpSpPr>
      <p:grpSpPr>
        <a:xfrm>
          <a:off x="0" y="0"/>
          <a:ext cx="0" cy="0"/>
          <a:chOff x="0" y="0"/>
          <a:chExt cx="0" cy="0"/>
        </a:xfrm>
      </p:grpSpPr>
      <p:sp>
        <p:nvSpPr>
          <p:cNvPr id="137" name="Google Shape;137;p47"/>
          <p:cNvSpPr txBox="1">
            <a:spLocks noGrp="1"/>
          </p:cNvSpPr>
          <p:nvPr>
            <p:ph type="body" idx="1"/>
          </p:nvPr>
        </p:nvSpPr>
        <p:spPr>
          <a:xfrm>
            <a:off x="838199" y="3672580"/>
            <a:ext cx="3932237" cy="140505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138" name="Google Shape;138;p4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39" name="Google Shape;139;p4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40" name="Google Shape;140;p4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41" name="Google Shape;141;p4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2" name="Google Shape;142;p47"/>
          <p:cNvSpPr txBox="1">
            <a:spLocks noGrp="1"/>
          </p:cNvSpPr>
          <p:nvPr>
            <p:ph type="body" idx="3"/>
          </p:nvPr>
        </p:nvSpPr>
        <p:spPr>
          <a:xfrm>
            <a:off x="5170488" y="1346200"/>
            <a:ext cx="6375400" cy="488791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C00000"/>
              </a:buClr>
              <a:buSzPts val="2800"/>
              <a:buChar char="•"/>
              <a:defRPr/>
            </a:lvl1pPr>
            <a:lvl2pPr marL="914400" lvl="1" indent="-381000" algn="l">
              <a:lnSpc>
                <a:spcPct val="90000"/>
              </a:lnSpc>
              <a:spcBef>
                <a:spcPts val="500"/>
              </a:spcBef>
              <a:spcAft>
                <a:spcPts val="0"/>
              </a:spcAft>
              <a:buClr>
                <a:srgbClr val="C00000"/>
              </a:buClr>
              <a:buSzPts val="2400"/>
              <a:buChar char="•"/>
              <a:defRPr/>
            </a:lvl2pPr>
            <a:lvl3pPr marL="1371600" lvl="2" indent="-355600" algn="l">
              <a:lnSpc>
                <a:spcPct val="90000"/>
              </a:lnSpc>
              <a:spcBef>
                <a:spcPts val="500"/>
              </a:spcBef>
              <a:spcAft>
                <a:spcPts val="0"/>
              </a:spcAft>
              <a:buClr>
                <a:srgbClr val="C00000"/>
              </a:buClr>
              <a:buSzPts val="20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rgbClr val="C0000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E83F87B7-2ACC-D5DC-10AF-DFB19E33836A}"/>
              </a:ext>
            </a:extLst>
          </p:cNvPr>
          <p:cNvPicPr>
            <a:picLocks noChangeAspect="1"/>
          </p:cNvPicPr>
          <p:nvPr userDrawn="1"/>
        </p:nvPicPr>
        <p:blipFill>
          <a:blip r:embed="rId4"/>
          <a:stretch>
            <a:fillRect/>
          </a:stretch>
        </p:blipFill>
        <p:spPr>
          <a:xfrm>
            <a:off x="9914696" y="157942"/>
            <a:ext cx="2087497" cy="35714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44"/>
        <p:cNvGrpSpPr/>
        <p:nvPr/>
      </p:nvGrpSpPr>
      <p:grpSpPr>
        <a:xfrm>
          <a:off x="0" y="0"/>
          <a:ext cx="0" cy="0"/>
          <a:chOff x="0" y="0"/>
          <a:chExt cx="0" cy="0"/>
        </a:xfrm>
      </p:grpSpPr>
      <p:sp>
        <p:nvSpPr>
          <p:cNvPr id="145" name="Google Shape;145;p4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ontserrat"/>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8"/>
          <p:cNvSpPr>
            <a:spLocks noGrp="1"/>
          </p:cNvSpPr>
          <p:nvPr>
            <p:ph type="pic" idx="2"/>
          </p:nvPr>
        </p:nvSpPr>
        <p:spPr>
          <a:xfrm>
            <a:off x="5183188" y="987425"/>
            <a:ext cx="6172200" cy="4873625"/>
          </a:xfrm>
          <a:prstGeom prst="rect">
            <a:avLst/>
          </a:prstGeom>
          <a:noFill/>
          <a:ln>
            <a:noFill/>
          </a:ln>
        </p:spPr>
      </p:sp>
      <p:sp>
        <p:nvSpPr>
          <p:cNvPr id="147" name="Google Shape;147;p4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8" name="Google Shape;148;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50" name="Google Shape;15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1"/>
        <p:cNvGrpSpPr/>
        <p:nvPr/>
      </p:nvGrpSpPr>
      <p:grpSpPr>
        <a:xfrm>
          <a:off x="0" y="0"/>
          <a:ext cx="0" cy="0"/>
          <a:chOff x="0" y="0"/>
          <a:chExt cx="0" cy="0"/>
        </a:xfrm>
      </p:grpSpPr>
      <p:sp>
        <p:nvSpPr>
          <p:cNvPr id="152" name="Google Shape;152;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7"/>
        <p:cNvGrpSpPr/>
        <p:nvPr/>
      </p:nvGrpSpPr>
      <p:grpSpPr>
        <a:xfrm>
          <a:off x="0" y="0"/>
          <a:ext cx="0" cy="0"/>
          <a:chOff x="0" y="0"/>
          <a:chExt cx="0" cy="0"/>
        </a:xfrm>
      </p:grpSpPr>
      <p:sp>
        <p:nvSpPr>
          <p:cNvPr id="158" name="Google Shape;158;p5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5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3"/>
        <p:cNvGrpSpPr/>
        <p:nvPr/>
      </p:nvGrpSpPr>
      <p:grpSpPr>
        <a:xfrm>
          <a:off x="0" y="0"/>
          <a:ext cx="0" cy="0"/>
          <a:chOff x="0" y="0"/>
          <a:chExt cx="0" cy="0"/>
        </a:xfrm>
      </p:grpSpPr>
      <p:cxnSp>
        <p:nvCxnSpPr>
          <p:cNvPr id="164" name="Google Shape;164;g128e061f2de_0_109"/>
          <p:cNvCxnSpPr/>
          <p:nvPr/>
        </p:nvCxnSpPr>
        <p:spPr>
          <a:xfrm>
            <a:off x="575800" y="6322471"/>
            <a:ext cx="11040300" cy="0"/>
          </a:xfrm>
          <a:prstGeom prst="straightConnector1">
            <a:avLst/>
          </a:prstGeom>
          <a:noFill/>
          <a:ln w="9525" cap="flat" cmpd="sng">
            <a:solidFill>
              <a:srgbClr val="C6C5C5"/>
            </a:solidFill>
            <a:prstDash val="dot"/>
            <a:round/>
            <a:headEnd type="none" w="sm" len="sm"/>
            <a:tailEnd type="none" w="sm" len="sm"/>
          </a:ln>
        </p:spPr>
      </p:cxnSp>
      <p:sp>
        <p:nvSpPr>
          <p:cNvPr id="165" name="Google Shape;165;g128e061f2de_0_109"/>
          <p:cNvSpPr txBox="1">
            <a:spLocks noGrp="1"/>
          </p:cNvSpPr>
          <p:nvPr>
            <p:ph type="title"/>
          </p:nvPr>
        </p:nvSpPr>
        <p:spPr>
          <a:xfrm>
            <a:off x="415600" y="284933"/>
            <a:ext cx="11360700" cy="620700"/>
          </a:xfrm>
          <a:prstGeom prst="rect">
            <a:avLst/>
          </a:prstGeom>
          <a:noFill/>
          <a:ln>
            <a:noFill/>
          </a:ln>
        </p:spPr>
        <p:txBody>
          <a:bodyPr spcFirstLastPara="1" wrap="square" lIns="121900" tIns="121900" rIns="121900" bIns="121900" anchor="t" anchorCtr="0">
            <a:noAutofit/>
          </a:bodyPr>
          <a:lstStyle>
            <a:lvl1pPr lvl="0" algn="l" rtl="0">
              <a:lnSpc>
                <a:spcPct val="100000"/>
              </a:lnSpc>
              <a:spcBef>
                <a:spcPts val="0"/>
              </a:spcBef>
              <a:spcAft>
                <a:spcPts val="0"/>
              </a:spcAft>
              <a:buClr>
                <a:srgbClr val="566579"/>
              </a:buClr>
              <a:buSzPts val="3700"/>
              <a:buFont typeface="Trebuchet MS"/>
              <a:buNone/>
              <a:defRPr>
                <a:solidFill>
                  <a:srgbClr val="566579"/>
                </a:solidFill>
                <a:latin typeface="Trebuchet MS"/>
                <a:ea typeface="Trebuchet MS"/>
                <a:cs typeface="Trebuchet MS"/>
                <a:sym typeface="Trebuchet MS"/>
              </a:defRPr>
            </a:lvl1pPr>
            <a:lvl2pPr lvl="1" algn="l" rtl="0">
              <a:lnSpc>
                <a:spcPct val="100000"/>
              </a:lnSpc>
              <a:spcBef>
                <a:spcPts val="0"/>
              </a:spcBef>
              <a:spcAft>
                <a:spcPts val="0"/>
              </a:spcAft>
              <a:buSzPts val="3700"/>
              <a:buNone/>
              <a:defRPr/>
            </a:lvl2pPr>
            <a:lvl3pPr lvl="2" algn="l" rtl="0">
              <a:lnSpc>
                <a:spcPct val="100000"/>
              </a:lnSpc>
              <a:spcBef>
                <a:spcPts val="0"/>
              </a:spcBef>
              <a:spcAft>
                <a:spcPts val="0"/>
              </a:spcAft>
              <a:buSzPts val="3700"/>
              <a:buNone/>
              <a:defRPr/>
            </a:lvl3pPr>
            <a:lvl4pPr lvl="3" algn="l" rtl="0">
              <a:lnSpc>
                <a:spcPct val="100000"/>
              </a:lnSpc>
              <a:spcBef>
                <a:spcPts val="0"/>
              </a:spcBef>
              <a:spcAft>
                <a:spcPts val="0"/>
              </a:spcAft>
              <a:buSzPts val="3700"/>
              <a:buNone/>
              <a:defRPr/>
            </a:lvl4pPr>
            <a:lvl5pPr lvl="4" algn="l" rtl="0">
              <a:lnSpc>
                <a:spcPct val="100000"/>
              </a:lnSpc>
              <a:spcBef>
                <a:spcPts val="0"/>
              </a:spcBef>
              <a:spcAft>
                <a:spcPts val="0"/>
              </a:spcAft>
              <a:buSzPts val="3700"/>
              <a:buNone/>
              <a:defRPr/>
            </a:lvl5pPr>
            <a:lvl6pPr lvl="5" algn="l" rtl="0">
              <a:lnSpc>
                <a:spcPct val="100000"/>
              </a:lnSpc>
              <a:spcBef>
                <a:spcPts val="0"/>
              </a:spcBef>
              <a:spcAft>
                <a:spcPts val="0"/>
              </a:spcAft>
              <a:buSzPts val="3700"/>
              <a:buNone/>
              <a:defRPr/>
            </a:lvl6pPr>
            <a:lvl7pPr lvl="6" algn="l" rtl="0">
              <a:lnSpc>
                <a:spcPct val="100000"/>
              </a:lnSpc>
              <a:spcBef>
                <a:spcPts val="0"/>
              </a:spcBef>
              <a:spcAft>
                <a:spcPts val="0"/>
              </a:spcAft>
              <a:buSzPts val="3700"/>
              <a:buNone/>
              <a:defRPr/>
            </a:lvl7pPr>
            <a:lvl8pPr lvl="7" algn="l" rtl="0">
              <a:lnSpc>
                <a:spcPct val="100000"/>
              </a:lnSpc>
              <a:spcBef>
                <a:spcPts val="0"/>
              </a:spcBef>
              <a:spcAft>
                <a:spcPts val="0"/>
              </a:spcAft>
              <a:buSzPts val="3700"/>
              <a:buNone/>
              <a:defRPr/>
            </a:lvl8pPr>
            <a:lvl9pPr lvl="8" algn="l" rtl="0">
              <a:lnSpc>
                <a:spcPct val="100000"/>
              </a:lnSpc>
              <a:spcBef>
                <a:spcPts val="0"/>
              </a:spcBef>
              <a:spcAft>
                <a:spcPts val="0"/>
              </a:spcAft>
              <a:buSzPts val="3700"/>
              <a:buNone/>
              <a:defRPr/>
            </a:lvl9pPr>
          </a:lstStyle>
          <a:p>
            <a:endParaRPr/>
          </a:p>
        </p:txBody>
      </p:sp>
      <p:cxnSp>
        <p:nvCxnSpPr>
          <p:cNvPr id="166" name="Google Shape;166;g128e061f2de_0_109"/>
          <p:cNvCxnSpPr/>
          <p:nvPr/>
        </p:nvCxnSpPr>
        <p:spPr>
          <a:xfrm>
            <a:off x="575800" y="1002333"/>
            <a:ext cx="11040300" cy="0"/>
          </a:xfrm>
          <a:prstGeom prst="straightConnector1">
            <a:avLst/>
          </a:prstGeom>
          <a:noFill/>
          <a:ln w="9525" cap="flat" cmpd="sng">
            <a:solidFill>
              <a:srgbClr val="C6C5C5"/>
            </a:solidFill>
            <a:prstDash val="dot"/>
            <a:round/>
            <a:headEnd type="none" w="sm" len="sm"/>
            <a:tailEnd type="none" w="sm" len="sm"/>
          </a:ln>
        </p:spPr>
      </p:cxnSp>
      <p:sp>
        <p:nvSpPr>
          <p:cNvPr id="167" name="Google Shape;167;g128e061f2de_0_109">
            <a:hlinkClick r:id="" action="ppaction://hlinkshowjump?jump=previousslide"/>
          </p:cNvPr>
          <p:cNvSpPr/>
          <p:nvPr/>
        </p:nvSpPr>
        <p:spPr>
          <a:xfrm rot="2700000">
            <a:off x="11348840" y="6420393"/>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8" name="Google Shape;168;g128e061f2de_0_109"/>
          <p:cNvSpPr/>
          <p:nvPr/>
        </p:nvSpPr>
        <p:spPr>
          <a:xfrm>
            <a:off x="579075" y="6315167"/>
            <a:ext cx="506400" cy="232800"/>
          </a:xfrm>
          <a:prstGeom prst="rect">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9" name="Google Shape;169;g128e061f2de_0_109">
            <a:hlinkClick r:id="" action="ppaction://hlinkshowjump?jump=nextslide"/>
          </p:cNvPr>
          <p:cNvSpPr/>
          <p:nvPr/>
        </p:nvSpPr>
        <p:spPr>
          <a:xfrm rot="-8100000">
            <a:off x="11508840" y="6420194"/>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70" name="Google Shape;170;g128e061f2de_0_109"/>
          <p:cNvSpPr txBox="1">
            <a:spLocks noGrp="1"/>
          </p:cNvSpPr>
          <p:nvPr>
            <p:ph type="sldNum" idx="12"/>
          </p:nvPr>
        </p:nvSpPr>
        <p:spPr>
          <a:xfrm>
            <a:off x="579067" y="6315167"/>
            <a:ext cx="506400" cy="232800"/>
          </a:xfrm>
          <a:prstGeom prst="rect">
            <a:avLst/>
          </a:prstGeom>
          <a:noFill/>
          <a:ln>
            <a:noFill/>
          </a:ln>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71" name="Google Shape;171;g128e061f2de_0_109"/>
          <p:cNvSpPr txBox="1"/>
          <p:nvPr/>
        </p:nvSpPr>
        <p:spPr>
          <a:xfrm>
            <a:off x="9204248" y="6246912"/>
            <a:ext cx="2043600" cy="2328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dirty="0">
                <a:solidFill>
                  <a:srgbClr val="C6C5C5"/>
                </a:solidFill>
                <a:latin typeface="Arial"/>
                <a:ea typeface="Arial"/>
                <a:cs typeface="Arial"/>
                <a:sym typeface="Arial"/>
              </a:rPr>
              <a:t>www.companyname.com</a:t>
            </a:r>
            <a:endParaRPr sz="1200" b="0" i="0" u="none" strike="noStrike" cap="none" dirty="0">
              <a:solidFill>
                <a:srgbClr val="C6C5C5"/>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ontserrat"/>
              <a:buNone/>
              <a:defRPr sz="4400" b="0"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dirty="0"/>
          </a:p>
        </p:txBody>
      </p:sp>
      <p:sp>
        <p:nvSpPr>
          <p:cNvPr id="12" name="Google Shape;1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3" name="Google Shape;1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4" name="Google Shape;1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9"/>
          <p:cNvSpPr txBox="1"/>
          <p:nvPr/>
        </p:nvSpPr>
        <p:spPr>
          <a:xfrm>
            <a:off x="1981200" y="6338813"/>
            <a:ext cx="7122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 2024 By BK Fintech- Rikkei Education - All rights reserved.</a:t>
            </a:r>
            <a:endParaRPr sz="1400" b="0" i="0" u="none" strike="noStrike" cap="none"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11bb26f517d_0_1"/>
          <p:cNvSpPr txBox="1">
            <a:spLocks noGrp="1"/>
          </p:cNvSpPr>
          <p:nvPr>
            <p:ph type="ctrTitle"/>
          </p:nvPr>
        </p:nvSpPr>
        <p:spPr>
          <a:xfrm>
            <a:off x="1691640" y="2423160"/>
            <a:ext cx="6858000" cy="1234440"/>
          </a:xfrm>
          <a:prstGeom prst="rect">
            <a:avLst/>
          </a:prstGeom>
          <a:noFill/>
          <a:ln>
            <a:noFill/>
          </a:ln>
        </p:spPr>
        <p:txBody>
          <a:bodyPr spcFirstLastPara="1" wrap="square" lIns="0" tIns="0" rIns="0" bIns="0" anchor="t" anchorCtr="0">
            <a:noAutofit/>
          </a:bodyPr>
          <a:lstStyle/>
          <a:p>
            <a:pPr>
              <a:spcAft>
                <a:spcPts val="0"/>
              </a:spcAft>
              <a:defRPr sz="2200" b="0">
                <a:solidFill>
                  <a:srgbClr val="000000"/>
                </a:solidFill>
                <a:latin typeface="Arial"/>
              </a:defRPr>
            </a:pPr>
            <a:r>
              <a:t>Tổng quan hệ thống dữ liệu và thiết kế E-commerce Database</a:t>
            </a:r>
          </a:p>
        </p:txBody>
      </p:sp>
      <p:sp>
        <p:nvSpPr>
          <p:cNvPr id="177" name="Google Shape;177;g11bb26f517d_0_1"/>
          <p:cNvSpPr txBox="1">
            <a:spLocks noGrp="1"/>
          </p:cNvSpPr>
          <p:nvPr>
            <p:ph type="subTitle" idx="1"/>
          </p:nvPr>
        </p:nvSpPr>
        <p:spPr>
          <a:xfrm>
            <a:off x="1691640" y="4160520"/>
            <a:ext cx="4389120" cy="292608"/>
          </a:xfrm>
          <a:prstGeom prst="rect">
            <a:avLst/>
          </a:prstGeom>
          <a:noFill/>
          <a:ln>
            <a:noFill/>
          </a:ln>
        </p:spPr>
        <p:txBody>
          <a:bodyPr spcFirstLastPara="1" wrap="square" lIns="0" tIns="0" rIns="0" bIns="0" anchor="t" anchorCtr="0">
            <a:noAutofit/>
          </a:bodyPr>
          <a:lstStyle/>
          <a:p>
            <a:pPr>
              <a:defRPr sz="1350">
                <a:solidFill>
                  <a:srgbClr val="5F6368"/>
                </a:solidFill>
                <a:latin typeface="Arial"/>
              </a:defRPr>
            </a:pPr>
            <a:r>
              <a:t>Phiên bản: 1.0</a:t>
            </a:r>
          </a:p>
        </p:txBody>
      </p:sp>
      <p:sp>
        <p:nvSpPr>
          <p:cNvPr id="178" name="Google Shape;178;g11bb26f517d_0_1"/>
          <p:cNvSpPr txBox="1">
            <a:spLocks noGrp="1"/>
          </p:cNvSpPr>
          <p:nvPr>
            <p:ph type="body" idx="2"/>
          </p:nvPr>
        </p:nvSpPr>
        <p:spPr>
          <a:xfrm>
            <a:off x="1691640" y="1874519"/>
            <a:ext cx="5120640" cy="411480"/>
          </a:xfrm>
          <a:prstGeom prst="rect">
            <a:avLst/>
          </a:prstGeom>
          <a:noFill/>
          <a:ln>
            <a:noFill/>
          </a:ln>
        </p:spPr>
        <p:txBody>
          <a:bodyPr spcFirstLastPara="1" wrap="square" lIns="91425" tIns="45700" rIns="91425" bIns="45700" anchor="t" anchorCtr="0">
            <a:noAutofit/>
          </a:bodyPr>
          <a:lstStyle/>
          <a:p>
            <a:pPr>
              <a:defRPr sz="2300" b="0">
                <a:solidFill>
                  <a:srgbClr val="C5272A"/>
                </a:solidFill>
                <a:latin typeface="Arial"/>
              </a:defRPr>
            </a:pPr>
            <a:r>
              <a:t>BÀI 1:</a:t>
            </a:r>
          </a:p>
        </p:txBody>
      </p:sp>
      <p:sp>
        <p:nvSpPr>
          <p:cNvPr id="179" name="Google Shape;179;g11bb26f517d_0_1"/>
          <p:cNvSpPr txBox="1"/>
          <p:nvPr/>
        </p:nvSpPr>
        <p:spPr>
          <a:xfrm>
            <a:off x="1691640" y="3767328"/>
            <a:ext cx="6492240" cy="329184"/>
          </a:xfrm>
          <a:prstGeom prst="rect">
            <a:avLst/>
          </a:prstGeom>
          <a:noFill/>
          <a:ln>
            <a:noFill/>
          </a:ln>
        </p:spPr>
        <p:txBody>
          <a:bodyPr spcFirstLastPara="1" wrap="square" lIns="0" tIns="0" rIns="0" bIns="0" anchor="t" anchorCtr="0">
            <a:noAutofit/>
          </a:bodyPr>
          <a:lstStyle/>
          <a:p>
            <a:pPr>
              <a:defRPr sz="1350">
                <a:solidFill>
                  <a:srgbClr val="5F6368"/>
                </a:solidFill>
                <a:latin typeface="Arial"/>
              </a:defRPr>
            </a:pPr>
            <a:r>
              <a:t>Module: AI-Native Data Engineering – Data Engineering Foundation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11bac9ab7f9_1_682"/>
          <p:cNvSpPr txBox="1">
            <a:spLocks noGrp="1"/>
          </p:cNvSpPr>
          <p:nvPr>
            <p:ph type="body" idx="1"/>
          </p:nvPr>
        </p:nvSpPr>
        <p:spPr>
          <a:xfrm>
            <a:off x="1651450" y="1261300"/>
            <a:ext cx="9767400" cy="4935600"/>
          </a:xfrm>
          <a:prstGeom prst="rect">
            <a:avLst/>
          </a:prstGeom>
          <a:noFill/>
          <a:ln>
            <a:noFill/>
          </a:ln>
        </p:spPr>
        <p:txBody>
          <a:bodyPr spcFirstLastPara="1" wrap="square" lIns="91425" tIns="45700" rIns="91425" bIns="45700" anchor="t" anchorCtr="0">
            <a:normAutofit/>
          </a:bodyPr>
          <a:lstStyle/>
          <a:p>
            <a:pPr>
              <a:spcAft>
                <a:spcPts val="1200"/>
              </a:spcAft>
              <a:defRPr sz="2200">
                <a:solidFill>
                  <a:srgbClr val="262626"/>
                </a:solidFill>
                <a:latin typeface="Arial"/>
              </a:defRPr>
            </a:pPr>
            <a:r>
              <a:t>1. Data Engineer &amp; kiến trúc</a:t>
            </a:r>
          </a:p>
          <a:p>
            <a:pPr>
              <a:spcAft>
                <a:spcPts val="1200"/>
              </a:spcAft>
              <a:defRPr sz="2200">
                <a:solidFill>
                  <a:srgbClr val="262626"/>
                </a:solidFill>
                <a:latin typeface="Arial"/>
              </a:defRPr>
            </a:pPr>
            <a:r>
              <a:t>2. Relational model &amp; ERD</a:t>
            </a:r>
          </a:p>
          <a:p>
            <a:pPr>
              <a:spcAft>
                <a:spcPts val="1200"/>
              </a:spcAft>
              <a:defRPr sz="2200">
                <a:solidFill>
                  <a:srgbClr val="262626"/>
                </a:solidFill>
                <a:latin typeface="Arial"/>
              </a:defRPr>
            </a:pPr>
            <a:r>
              <a:t>3. PostgreSQL/Docker</a:t>
            </a:r>
          </a:p>
          <a:p>
            <a:pPr>
              <a:spcAft>
                <a:spcPts val="1200"/>
              </a:spcAft>
              <a:defRPr sz="2200">
                <a:solidFill>
                  <a:srgbClr val="262626"/>
                </a:solidFill>
                <a:latin typeface="Arial"/>
              </a:defRPr>
            </a:pPr>
            <a:r>
              <a:t>4. Lab thiết kế database</a:t>
            </a:r>
          </a:p>
        </p:txBody>
      </p:sp>
      <p:sp>
        <p:nvSpPr>
          <p:cNvPr id="185" name="Google Shape;185;g11bac9ab7f9_1_682"/>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a:t> NỘI DUNG</a:t>
            </a:r>
            <a:endParaRPr/>
          </a:p>
        </p:txBody>
      </p:sp>
      <p:pic>
        <p:nvPicPr>
          <p:cNvPr id="186" name="Google Shape;186;g11bac9ab7f9_1_682"/>
          <p:cNvPicPr preferRelativeResize="0"/>
          <p:nvPr/>
        </p:nvPicPr>
        <p:blipFill rotWithShape="1">
          <a:blip r:embed="rId3">
            <a:alphaModFix/>
          </a:blip>
          <a:srcRect/>
          <a:stretch/>
        </p:blipFill>
        <p:spPr>
          <a:xfrm>
            <a:off x="-1863816" y="5111676"/>
            <a:ext cx="3515280" cy="349264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11bac9ab7f9_1_876"/>
          <p:cNvSpPr txBox="1">
            <a:spLocks noGrp="1"/>
          </p:cNvSpPr>
          <p:nvPr>
            <p:ph type="title"/>
          </p:nvPr>
        </p:nvSpPr>
        <p:spPr>
          <a:xfrm>
            <a:off x="838200" y="509145"/>
            <a:ext cx="8463600" cy="945600"/>
          </a:xfrm>
          <a:prstGeom prst="rect">
            <a:avLst/>
          </a:prstGeom>
          <a:noFill/>
          <a:ln>
            <a:noFill/>
          </a:ln>
        </p:spPr>
        <p:txBody>
          <a:bodyPr spcFirstLastPara="1" wrap="square" lIns="91425" tIns="45700" rIns="91425" bIns="45700" anchor="ctr" anchorCtr="0">
            <a:normAutofit/>
          </a:bodyPr>
          <a:lstStyle/>
          <a:p>
            <a:pPr>
              <a:defRPr sz="2500" b="1">
                <a:solidFill>
                  <a:srgbClr val="C5272A"/>
                </a:solidFill>
                <a:latin typeface="Arial"/>
              </a:defRPr>
            </a:pPr>
            <a:r>
              <a:t>Mục tiêu học tập &amp; sản phẩm đầu ra</a:t>
            </a:r>
          </a:p>
        </p:txBody>
      </p:sp>
      <p:sp>
        <p:nvSpPr>
          <p:cNvPr id="192" name="Google Shape;192;g11bac9ab7f9_1_876"/>
          <p:cNvSpPr txBox="1"/>
          <p:nvPr/>
        </p:nvSpPr>
        <p:spPr>
          <a:xfrm>
            <a:off x="742492" y="1978425"/>
            <a:ext cx="10792200" cy="4019700"/>
          </a:xfrm>
          <a:prstGeom prst="rect">
            <a:avLst/>
          </a:prstGeom>
          <a:noFill/>
          <a:ln>
            <a:noFill/>
          </a:ln>
        </p:spPr>
        <p:txBody>
          <a:bodyPr spcFirstLastPara="1" wrap="square" lIns="91425" tIns="45700" rIns="91425" bIns="45700" anchor="t" anchorCtr="0">
            <a:normAutofit/>
          </a:bodyPr>
          <a:lstStyle/>
          <a:p/>
        </p:txBody>
      </p:sp>
      <p:sp>
        <p:nvSpPr>
          <p:cNvPr id="193" name="Google Shape;193;g11bac9ab7f9_1_876"/>
          <p:cNvSpPr txBox="1"/>
          <p:nvPr/>
        </p:nvSpPr>
        <p:spPr>
          <a:xfrm>
            <a:off x="742500" y="1454750"/>
            <a:ext cx="10671300" cy="461700"/>
          </a:xfrm>
          <a:prstGeom prst="rect">
            <a:avLst/>
          </a:prstGeom>
          <a:noFill/>
          <a:ln>
            <a:noFill/>
          </a:ln>
        </p:spPr>
        <p:txBody>
          <a:bodyPr spcFirstLastPara="1" wrap="square" lIns="91425" tIns="91425" rIns="91425" bIns="91425" anchor="t" anchorCtr="0">
            <a:spAutoFit/>
          </a:bodyPr>
          <a:lstStyle/>
          <a:p/>
        </p:txBody>
      </p:sp>
      <p:sp>
        <p:nvSpPr>
          <p:cNvPr id="194" name="Rounded Rectangle 193"/>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Sau buổi học</a:t>
            </a:r>
          </a:p>
        </p:txBody>
      </p:sp>
      <p:sp>
        <p:nvSpPr>
          <p:cNvPr id="195" name="Rounded Rectangle 194"/>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Artifact</a:t>
            </a:r>
          </a:p>
        </p:txBody>
      </p:sp>
      <p:sp>
        <p:nvSpPr>
          <p:cNvPr id="196" name="TextBox 195"/>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Mô tả vai trò Data Engineer trong hệ thống dữ liệu</a:t>
            </a:r>
          </a:p>
          <a:p>
            <a:pPr>
              <a:lnSpc>
                <a:spcPct val="108000"/>
              </a:lnSpc>
              <a:spcAft>
                <a:spcPts val="800"/>
              </a:spcAft>
              <a:defRPr sz="1600">
                <a:solidFill>
                  <a:srgbClr val="262626"/>
                </a:solidFill>
                <a:latin typeface="Arial"/>
              </a:defRPr>
            </a:pPr>
            <a:r>
              <a:t>• Phân biệt OLTP và OLAP</a:t>
            </a:r>
          </a:p>
          <a:p>
            <a:pPr>
              <a:lnSpc>
                <a:spcPct val="108000"/>
              </a:lnSpc>
              <a:spcAft>
                <a:spcPts val="800"/>
              </a:spcAft>
              <a:defRPr sz="1600">
                <a:solidFill>
                  <a:srgbClr val="262626"/>
                </a:solidFill>
                <a:latin typeface="Arial"/>
              </a:defRPr>
            </a:pPr>
            <a:r>
              <a:t>• Xác định entity, key và relationship</a:t>
            </a:r>
          </a:p>
          <a:p>
            <a:pPr>
              <a:lnSpc>
                <a:spcPct val="108000"/>
              </a:lnSpc>
              <a:spcAft>
                <a:spcPts val="800"/>
              </a:spcAft>
              <a:defRPr sz="1600">
                <a:solidFill>
                  <a:srgbClr val="262626"/>
                </a:solidFill>
                <a:latin typeface="Arial"/>
              </a:defRPr>
            </a:pPr>
            <a:r>
              <a:t>• Thiết kế ERD cho E-commerce</a:t>
            </a:r>
          </a:p>
        </p:txBody>
      </p:sp>
      <p:sp>
        <p:nvSpPr>
          <p:cNvPr id="197" name="TextBox 196"/>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oltp_erd_v1.png / DBML</a:t>
            </a:r>
          </a:p>
          <a:p>
            <a:pPr>
              <a:lnSpc>
                <a:spcPct val="108000"/>
              </a:lnSpc>
              <a:spcAft>
                <a:spcPts val="800"/>
              </a:spcAft>
              <a:defRPr sz="1600">
                <a:solidFill>
                  <a:srgbClr val="262626"/>
                </a:solidFill>
                <a:latin typeface="Arial"/>
              </a:defRPr>
            </a:pPr>
            <a:r>
              <a:t>• docs/business_requirements.md</a:t>
            </a:r>
          </a:p>
          <a:p>
            <a:pPr>
              <a:lnSpc>
                <a:spcPct val="108000"/>
              </a:lnSpc>
              <a:spcAft>
                <a:spcPts val="800"/>
              </a:spcAft>
              <a:defRPr sz="1600">
                <a:solidFill>
                  <a:srgbClr val="262626"/>
                </a:solidFill>
                <a:latin typeface="Arial"/>
              </a:defRPr>
            </a:pPr>
            <a:r>
              <a:t>• sql/01_create_oltp.sql</a:t>
            </a:r>
          </a:p>
          <a:p>
            <a:pPr>
              <a:lnSpc>
                <a:spcPct val="108000"/>
              </a:lnSpc>
              <a:spcAft>
                <a:spcPts val="800"/>
              </a:spcAft>
              <a:defRPr sz="1600">
                <a:solidFill>
                  <a:srgbClr val="262626"/>
                </a:solidFill>
                <a:latin typeface="Arial"/>
              </a:defRPr>
            </a:pPr>
            <a:r>
              <a:t>• PostgreSQL chạy trong Docker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11bac9ab7f9_1_1035"/>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a:t> TỔNG KẾT</a:t>
            </a:r>
            <a:endParaRPr/>
          </a:p>
        </p:txBody>
      </p:sp>
      <p:pic>
        <p:nvPicPr>
          <p:cNvPr id="199" name="Google Shape;199;g11bac9ab7f9_1_1035"/>
          <p:cNvPicPr preferRelativeResize="0"/>
          <p:nvPr/>
        </p:nvPicPr>
        <p:blipFill rotWithShape="1">
          <a:blip r:embed="rId3">
            <a:alphaModFix/>
          </a:blip>
          <a:srcRect/>
          <a:stretch/>
        </p:blipFill>
        <p:spPr>
          <a:xfrm>
            <a:off x="-1863816" y="5111676"/>
            <a:ext cx="3515280" cy="3492645"/>
          </a:xfrm>
          <a:prstGeom prst="rect">
            <a:avLst/>
          </a:prstGeom>
          <a:noFill/>
          <a:ln>
            <a:noFill/>
          </a:ln>
        </p:spPr>
      </p:pic>
      <p:sp>
        <p:nvSpPr>
          <p:cNvPr id="200" name="Google Shape;200;g11bac9ab7f9_1_1035"/>
          <p:cNvSpPr txBox="1">
            <a:spLocks noGrp="1"/>
          </p:cNvSpPr>
          <p:nvPr>
            <p:ph type="body" idx="1"/>
          </p:nvPr>
        </p:nvSpPr>
        <p:spPr>
          <a:xfrm>
            <a:off x="1651450" y="1261300"/>
            <a:ext cx="9767400" cy="4935600"/>
          </a:xfrm>
          <a:prstGeom prst="rect">
            <a:avLst/>
          </a:prstGeom>
          <a:noFill/>
          <a:ln>
            <a:noFill/>
          </a:ln>
        </p:spPr>
        <p:txBody>
          <a:bodyPr spcFirstLastPara="1" wrap="square" lIns="91425" tIns="45700" rIns="91425" bIns="45700" anchor="t" anchorCtr="0">
            <a:normAutofit/>
          </a:bodyPr>
          <a:lstStyle/>
          <a:p>
            <a:pPr>
              <a:spcAft>
                <a:spcPts val="1200"/>
              </a:spcAft>
              <a:defRPr sz="2100">
                <a:solidFill>
                  <a:srgbClr val="262626"/>
                </a:solidFill>
                <a:latin typeface="Arial"/>
              </a:defRPr>
            </a:pPr>
            <a:r>
              <a:t>1. DE kết nối source với analytics</a:t>
            </a:r>
          </a:p>
          <a:p>
            <a:pPr>
              <a:spcAft>
                <a:spcPts val="1200"/>
              </a:spcAft>
              <a:defRPr sz="2100">
                <a:solidFill>
                  <a:srgbClr val="262626"/>
                </a:solidFill>
                <a:latin typeface="Arial"/>
              </a:defRPr>
            </a:pPr>
            <a:r>
              <a:t>2. ERD + Data Contract là nền móng</a:t>
            </a:r>
          </a:p>
          <a:p>
            <a:pPr>
              <a:spcAft>
                <a:spcPts val="1200"/>
              </a:spcAft>
              <a:defRPr sz="2100">
                <a:solidFill>
                  <a:srgbClr val="262626"/>
                </a:solidFill>
                <a:latin typeface="Arial"/>
              </a:defRPr>
            </a:pPr>
            <a:r>
              <a:t>3. OLTP và OLAP có mục tiêu khác nhau</a:t>
            </a:r>
          </a:p>
          <a:p>
            <a:pPr>
              <a:spcAft>
                <a:spcPts val="1200"/>
              </a:spcAft>
              <a:defRPr sz="2100">
                <a:solidFill>
                  <a:srgbClr val="262626"/>
                </a:solidFill>
                <a:latin typeface="Arial"/>
              </a:defRPr>
            </a:pPr>
            <a:r>
              <a:t>4. Docker + PostgreSQL tạo môi trường nhất quán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11bb26f517d_0_162"/>
          <p:cNvSpPr txBox="1">
            <a:spLocks noGrp="1"/>
          </p:cNvSpPr>
          <p:nvPr>
            <p:ph type="ctrTitle"/>
          </p:nvPr>
        </p:nvSpPr>
        <p:spPr>
          <a:xfrm>
            <a:off x="279991" y="3969209"/>
            <a:ext cx="9144000" cy="1464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600"/>
              <a:buFont typeface="Montserrat Black"/>
              <a:buNone/>
            </a:pPr>
            <a:r>
              <a:rPr lang="en-US" dirty="0"/>
              <a:t>KẾT THÚC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Data Engineer đứng ở đâu trong doanh nghiệp?</a:t>
            </a:r>
          </a:p>
        </p:txBody>
      </p:sp>
      <p:sp>
        <p:nvSpPr>
          <p:cNvPr id="5" name="Rounded Rectangle 4"/>
          <p:cNvSpPr/>
          <p:nvPr/>
        </p:nvSpPr>
        <p:spPr>
          <a:xfrm>
            <a:off x="777240" y="2240280"/>
            <a:ext cx="3441192"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ỨNG DỤNG</a:t>
            </a:r>
          </a:p>
          <a:p>
            <a:pPr algn="ctr">
              <a:defRPr sz="1150">
                <a:solidFill>
                  <a:srgbClr val="5F6368"/>
                </a:solidFill>
                <a:latin typeface="Arial"/>
              </a:defRPr>
            </a:pPr>
            <a:r>
              <a:t>Order / Payment / CRM</a:t>
            </a:r>
          </a:p>
        </p:txBody>
      </p:sp>
      <p:sp>
        <p:nvSpPr>
          <p:cNvPr id="6" name="Right Arrow 5"/>
          <p:cNvSpPr/>
          <p:nvPr/>
        </p:nvSpPr>
        <p:spPr>
          <a:xfrm>
            <a:off x="424586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83024" y="2240280"/>
            <a:ext cx="3441192"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DATA ENGINEERING</a:t>
            </a:r>
          </a:p>
          <a:p>
            <a:pPr algn="ctr">
              <a:defRPr sz="1150">
                <a:solidFill>
                  <a:srgbClr val="5F6368"/>
                </a:solidFill>
                <a:latin typeface="Arial"/>
              </a:defRPr>
            </a:pPr>
            <a:r>
              <a:t>Thu thập • chuẩn hóa • lưu trữ</a:t>
            </a:r>
          </a:p>
        </p:txBody>
      </p:sp>
      <p:sp>
        <p:nvSpPr>
          <p:cNvPr id="8" name="Right Arrow 7"/>
          <p:cNvSpPr/>
          <p:nvPr/>
        </p:nvSpPr>
        <p:spPr>
          <a:xfrm>
            <a:off x="785164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88808" y="2240280"/>
            <a:ext cx="3441192"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ANALYTICS</a:t>
            </a:r>
          </a:p>
          <a:p>
            <a:pPr algn="ctr">
              <a:defRPr sz="1150">
                <a:solidFill>
                  <a:srgbClr val="5F6368"/>
                </a:solidFill>
                <a:latin typeface="Arial"/>
              </a:defRPr>
            </a:pPr>
            <a:r>
              <a:t>BI / KPI / Data Science</a:t>
            </a:r>
          </a:p>
        </p:txBody>
      </p:sp>
      <p:sp>
        <p:nvSpPr>
          <p:cNvPr id="10" name="TextBox 9"/>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DE chịu trách nhiệm đưa dữ liệu từ hệ thống nguồn đến nơi có thể dùng được, có kiểm soát và lặp lại.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Luồng dữ liệu E-commerce xuyên suốt khóa học</a:t>
            </a:r>
          </a:p>
        </p:txBody>
      </p:sp>
      <p:sp>
        <p:nvSpPr>
          <p:cNvPr id="5" name="Rounded Rectangle 4"/>
          <p:cNvSpPr/>
          <p:nvPr/>
        </p:nvSpPr>
        <p:spPr>
          <a:xfrm>
            <a:off x="777240" y="2240280"/>
            <a:ext cx="1638300"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SOURCES</a:t>
            </a:r>
          </a:p>
          <a:p>
            <a:pPr algn="ctr">
              <a:defRPr sz="1150">
                <a:solidFill>
                  <a:srgbClr val="5F6368"/>
                </a:solidFill>
                <a:latin typeface="Arial"/>
              </a:defRPr>
            </a:pPr>
            <a:r>
              <a:t>CSV / JSON / REST API</a:t>
            </a:r>
          </a:p>
        </p:txBody>
      </p:sp>
      <p:sp>
        <p:nvSpPr>
          <p:cNvPr id="6" name="Right Arrow 5"/>
          <p:cNvSpPr/>
          <p:nvPr/>
        </p:nvSpPr>
        <p:spPr>
          <a:xfrm>
            <a:off x="2442972"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580132" y="2240280"/>
            <a:ext cx="1638300"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RAW</a:t>
            </a:r>
          </a:p>
          <a:p>
            <a:pPr algn="ctr">
              <a:defRPr sz="1150">
                <a:solidFill>
                  <a:srgbClr val="5F6368"/>
                </a:solidFill>
                <a:latin typeface="Arial"/>
              </a:defRPr>
            </a:pPr>
            <a:r>
              <a:t>Giữ nguyên nguồn</a:t>
            </a:r>
          </a:p>
        </p:txBody>
      </p:sp>
      <p:sp>
        <p:nvSpPr>
          <p:cNvPr id="8" name="Right Arrow 7"/>
          <p:cNvSpPr/>
          <p:nvPr/>
        </p:nvSpPr>
        <p:spPr>
          <a:xfrm>
            <a:off x="424586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3024" y="2240280"/>
            <a:ext cx="1638300"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STAGING</a:t>
            </a:r>
          </a:p>
          <a:p>
            <a:pPr algn="ctr">
              <a:defRPr sz="1150">
                <a:solidFill>
                  <a:srgbClr val="5F6368"/>
                </a:solidFill>
                <a:latin typeface="Arial"/>
              </a:defRPr>
            </a:pPr>
            <a:r>
              <a:t>Chuẩn hóa + Validate</a:t>
            </a:r>
          </a:p>
        </p:txBody>
      </p:sp>
      <p:sp>
        <p:nvSpPr>
          <p:cNvPr id="10" name="Right Arrow 9"/>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85916" y="2240280"/>
            <a:ext cx="1638300"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CORE</a:t>
            </a:r>
          </a:p>
          <a:p>
            <a:pPr algn="ctr">
              <a:defRPr sz="1150">
                <a:solidFill>
                  <a:srgbClr val="5F6368"/>
                </a:solidFill>
                <a:latin typeface="Arial"/>
              </a:defRPr>
            </a:pPr>
            <a:r>
              <a:t>PostgreSQL OLTP</a:t>
            </a:r>
          </a:p>
        </p:txBody>
      </p:sp>
      <p:sp>
        <p:nvSpPr>
          <p:cNvPr id="12" name="Right Arrow 11"/>
          <p:cNvSpPr/>
          <p:nvPr/>
        </p:nvSpPr>
        <p:spPr>
          <a:xfrm>
            <a:off x="7851647"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88808" y="2240280"/>
            <a:ext cx="1638300"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MART</a:t>
            </a:r>
          </a:p>
          <a:p>
            <a:pPr algn="ctr">
              <a:defRPr sz="1150">
                <a:solidFill>
                  <a:srgbClr val="5F6368"/>
                </a:solidFill>
                <a:latin typeface="Arial"/>
              </a:defRPr>
            </a:pPr>
            <a:r>
              <a:t>Fact / Dimension</a:t>
            </a:r>
          </a:p>
        </p:txBody>
      </p:sp>
      <p:sp>
        <p:nvSpPr>
          <p:cNvPr id="14" name="Right Arrow 13"/>
          <p:cNvSpPr/>
          <p:nvPr/>
        </p:nvSpPr>
        <p:spPr>
          <a:xfrm>
            <a:off x="9654539"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91700" y="2240280"/>
            <a:ext cx="1638300"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ANALYTICS</a:t>
            </a:r>
          </a:p>
          <a:p>
            <a:pPr algn="ctr">
              <a:defRPr sz="1150">
                <a:solidFill>
                  <a:srgbClr val="5F6368"/>
                </a:solidFill>
                <a:latin typeface="Arial"/>
              </a:defRPr>
            </a:pPr>
            <a:r>
              <a:t>KPI / SQL</a:t>
            </a:r>
          </a:p>
        </p:txBody>
      </p:sp>
      <p:sp>
        <p:nvSpPr>
          <p:cNvPr id="16" name="TextBox 15"/>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Một business case, một bộ ID và Data Contract xuyên suốt 8 buổi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OLTP và OLAP: hai mục tiêu thiết kế khác nhau</a:t>
            </a:r>
          </a:p>
        </p:txBody>
      </p:sp>
      <p:sp>
        <p:nvSpPr>
          <p:cNvPr id="5" name="Rounded Rectangle 4"/>
          <p:cNvSpPr/>
          <p:nvPr/>
        </p:nvSpPr>
        <p:spPr>
          <a:xfrm>
            <a:off x="822960" y="1417320"/>
            <a:ext cx="5202936" cy="438912"/>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OLTP</a:t>
            </a:r>
          </a:p>
        </p:txBody>
      </p:sp>
      <p:sp>
        <p:nvSpPr>
          <p:cNvPr id="6" name="Rounded Rectangle 5"/>
          <p:cNvSpPr/>
          <p:nvPr/>
        </p:nvSpPr>
        <p:spPr>
          <a:xfrm>
            <a:off x="822960"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Giao dịch vận hành</a:t>
            </a:r>
          </a:p>
        </p:txBody>
      </p:sp>
      <p:sp>
        <p:nvSpPr>
          <p:cNvPr id="7" name="Rounded Rectangle 6"/>
          <p:cNvSpPr/>
          <p:nvPr/>
        </p:nvSpPr>
        <p:spPr>
          <a:xfrm>
            <a:off x="822960"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Insert/Update thường xuyên</a:t>
            </a:r>
          </a:p>
        </p:txBody>
      </p:sp>
      <p:sp>
        <p:nvSpPr>
          <p:cNvPr id="8" name="Rounded Rectangle 7"/>
          <p:cNvSpPr/>
          <p:nvPr/>
        </p:nvSpPr>
        <p:spPr>
          <a:xfrm>
            <a:off x="822960"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Normalized</a:t>
            </a:r>
          </a:p>
        </p:txBody>
      </p:sp>
      <p:sp>
        <p:nvSpPr>
          <p:cNvPr id="9" name="Rounded Rectangle 8"/>
          <p:cNvSpPr/>
          <p:nvPr/>
        </p:nvSpPr>
        <p:spPr>
          <a:xfrm>
            <a:off x="822960"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Truy vấn ngắn, theo key</a:t>
            </a:r>
          </a:p>
        </p:txBody>
      </p:sp>
      <p:sp>
        <p:nvSpPr>
          <p:cNvPr id="10" name="Rounded Rectangle 9"/>
          <p:cNvSpPr/>
          <p:nvPr/>
        </p:nvSpPr>
        <p:spPr>
          <a:xfrm>
            <a:off x="822960" y="4828032"/>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Ví dụ: orders</a:t>
            </a:r>
          </a:p>
        </p:txBody>
      </p:sp>
      <p:sp>
        <p:nvSpPr>
          <p:cNvPr id="11" name="Rounded Rectangle 10"/>
          <p:cNvSpPr/>
          <p:nvPr/>
        </p:nvSpPr>
        <p:spPr>
          <a:xfrm>
            <a:off x="6135624" y="1417320"/>
            <a:ext cx="5202936" cy="438912"/>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OLAP</a:t>
            </a:r>
          </a:p>
        </p:txBody>
      </p:sp>
      <p:sp>
        <p:nvSpPr>
          <p:cNvPr id="12" name="Rounded Rectangle 11"/>
          <p:cNvSpPr/>
          <p:nvPr/>
        </p:nvSpPr>
        <p:spPr>
          <a:xfrm>
            <a:off x="6135624"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Phân tích / báo cáo</a:t>
            </a:r>
          </a:p>
        </p:txBody>
      </p:sp>
      <p:sp>
        <p:nvSpPr>
          <p:cNvPr id="13" name="Rounded Rectangle 12"/>
          <p:cNvSpPr/>
          <p:nvPr/>
        </p:nvSpPr>
        <p:spPr>
          <a:xfrm>
            <a:off x="6135624"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Read/aggregate lớn</a:t>
            </a:r>
          </a:p>
        </p:txBody>
      </p:sp>
      <p:sp>
        <p:nvSpPr>
          <p:cNvPr id="14" name="Rounded Rectangle 13"/>
          <p:cNvSpPr/>
          <p:nvPr/>
        </p:nvSpPr>
        <p:spPr>
          <a:xfrm>
            <a:off x="6135624"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Thường denormalized</a:t>
            </a:r>
          </a:p>
        </p:txBody>
      </p:sp>
      <p:sp>
        <p:nvSpPr>
          <p:cNvPr id="15" name="Rounded Rectangle 14"/>
          <p:cNvSpPr/>
          <p:nvPr/>
        </p:nvSpPr>
        <p:spPr>
          <a:xfrm>
            <a:off x="6135624"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Scan, join, group</a:t>
            </a:r>
          </a:p>
        </p:txBody>
      </p:sp>
      <p:sp>
        <p:nvSpPr>
          <p:cNvPr id="16" name="Rounded Rectangle 15"/>
          <p:cNvSpPr/>
          <p:nvPr/>
        </p:nvSpPr>
        <p:spPr>
          <a:xfrm>
            <a:off x="6135624" y="4828032"/>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Ví dụ: fact_sales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Relational model: 5 khái niệm phải nắm</a:t>
            </a:r>
          </a:p>
        </p:txBody>
      </p:sp>
      <p:sp>
        <p:nvSpPr>
          <p:cNvPr id="5" name="Rounded Rectangle 4"/>
          <p:cNvSpPr/>
          <p:nvPr/>
        </p:nvSpPr>
        <p:spPr>
          <a:xfrm>
            <a:off x="868680" y="1691640"/>
            <a:ext cx="3337560" cy="1965960"/>
          </a:xfrm>
          <a:prstGeom prst="roundRect">
            <a:avLst/>
          </a:prstGeom>
          <a:solidFill>
            <a:srgbClr val="FFFFFF"/>
          </a:solidFill>
          <a:ln>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TABLE</a:t>
            </a:r>
          </a:p>
          <a:p>
            <a:pPr>
              <a:defRPr sz="1150">
                <a:solidFill>
                  <a:srgbClr val="262626"/>
                </a:solidFill>
                <a:latin typeface="Arial"/>
              </a:defRPr>
            </a:pPr>
            <a:r>
              <a:t>Tập các dòng cùng cấu trúc.</a:t>
            </a:r>
          </a:p>
        </p:txBody>
      </p:sp>
      <p:sp>
        <p:nvSpPr>
          <p:cNvPr id="6" name="Rounded Rectangle 5"/>
          <p:cNvSpPr/>
          <p:nvPr/>
        </p:nvSpPr>
        <p:spPr>
          <a:xfrm>
            <a:off x="443484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ROW</a:t>
            </a:r>
          </a:p>
          <a:p>
            <a:pPr>
              <a:defRPr sz="1150">
                <a:solidFill>
                  <a:srgbClr val="262626"/>
                </a:solidFill>
                <a:latin typeface="Arial"/>
              </a:defRPr>
            </a:pPr>
            <a:r>
              <a:t>Một bản ghi / instance.</a:t>
            </a:r>
          </a:p>
        </p:txBody>
      </p:sp>
      <p:sp>
        <p:nvSpPr>
          <p:cNvPr id="7" name="Rounded Rectangle 6"/>
          <p:cNvSpPr/>
          <p:nvPr/>
        </p:nvSpPr>
        <p:spPr>
          <a:xfrm>
            <a:off x="800100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COLUMN</a:t>
            </a:r>
          </a:p>
          <a:p>
            <a:pPr>
              <a:defRPr sz="1150">
                <a:solidFill>
                  <a:srgbClr val="262626"/>
                </a:solidFill>
                <a:latin typeface="Arial"/>
              </a:defRPr>
            </a:pPr>
            <a:r>
              <a:t>Thuộc tính và data type.</a:t>
            </a:r>
          </a:p>
        </p:txBody>
      </p:sp>
      <p:sp>
        <p:nvSpPr>
          <p:cNvPr id="8" name="Rounded Rectangle 7"/>
          <p:cNvSpPr/>
          <p:nvPr/>
        </p:nvSpPr>
        <p:spPr>
          <a:xfrm>
            <a:off x="86868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KEY</a:t>
            </a:r>
          </a:p>
          <a:p>
            <a:pPr>
              <a:defRPr sz="1150">
                <a:solidFill>
                  <a:srgbClr val="262626"/>
                </a:solidFill>
                <a:latin typeface="Arial"/>
              </a:defRPr>
            </a:pPr>
            <a:r>
              <a:t>Định danh và liên kết.</a:t>
            </a:r>
          </a:p>
        </p:txBody>
      </p:sp>
      <p:sp>
        <p:nvSpPr>
          <p:cNvPr id="9" name="Rounded Rectangle 8"/>
          <p:cNvSpPr/>
          <p:nvPr/>
        </p:nvSpPr>
        <p:spPr>
          <a:xfrm>
            <a:off x="443484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CONSTRAINT</a:t>
            </a:r>
          </a:p>
          <a:p>
            <a:pPr>
              <a:defRPr sz="1150">
                <a:solidFill>
                  <a:srgbClr val="262626"/>
                </a:solidFill>
                <a:latin typeface="Arial"/>
              </a:defRPr>
            </a:pPr>
            <a:r>
              <a:t>Bảo vệ quy tắc dữ liệu.</a:t>
            </a:r>
          </a:p>
        </p:txBody>
      </p:sp>
      <p:sp>
        <p:nvSpPr>
          <p:cNvPr id="10" name="Rounded Rectangle 9"/>
          <p:cNvSpPr/>
          <p:nvPr/>
        </p:nvSpPr>
        <p:spPr>
          <a:xfrm>
            <a:off x="800100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RELATIONSHIP</a:t>
            </a:r>
          </a:p>
          <a:p>
            <a:pPr>
              <a:defRPr sz="1150">
                <a:solidFill>
                  <a:srgbClr val="262626"/>
                </a:solidFill>
                <a:latin typeface="Arial"/>
              </a:defRPr>
            </a:pPr>
            <a:r>
              <a:t>1:1, 1:N, N:M.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Primary Key, Foreign Key và Constraint</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Key</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Constraint</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Primary Key: duy nhất + NOT NULL</a:t>
            </a:r>
          </a:p>
          <a:p>
            <a:pPr>
              <a:lnSpc>
                <a:spcPct val="108000"/>
              </a:lnSpc>
              <a:spcAft>
                <a:spcPts val="800"/>
              </a:spcAft>
              <a:defRPr sz="1600">
                <a:solidFill>
                  <a:srgbClr val="262626"/>
                </a:solidFill>
                <a:latin typeface="Arial"/>
              </a:defRPr>
            </a:pPr>
            <a:r>
              <a:t>• Foreign Key: tham chiếu entity tồn tại</a:t>
            </a:r>
          </a:p>
          <a:p>
            <a:pPr>
              <a:lnSpc>
                <a:spcPct val="108000"/>
              </a:lnSpc>
              <a:spcAft>
                <a:spcPts val="800"/>
              </a:spcAft>
              <a:defRPr sz="1600">
                <a:solidFill>
                  <a:srgbClr val="262626"/>
                </a:solidFill>
                <a:latin typeface="Arial"/>
              </a:defRPr>
            </a:pPr>
            <a:r>
              <a:t>• Natural key: có ý nghĩa nghiệp vụ</a:t>
            </a:r>
          </a:p>
          <a:p>
            <a:pPr>
              <a:lnSpc>
                <a:spcPct val="108000"/>
              </a:lnSpc>
              <a:spcAft>
                <a:spcPts val="800"/>
              </a:spcAft>
              <a:defRPr sz="1600">
                <a:solidFill>
                  <a:srgbClr val="262626"/>
                </a:solidFill>
                <a:latin typeface="Arial"/>
              </a:defRPr>
            </a:pPr>
            <a:r>
              <a:t>• Surrogate key: khóa kỹ thuật</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NOT NULL → completeness</a:t>
            </a:r>
          </a:p>
          <a:p>
            <a:pPr>
              <a:lnSpc>
                <a:spcPct val="108000"/>
              </a:lnSpc>
              <a:spcAft>
                <a:spcPts val="800"/>
              </a:spcAft>
              <a:defRPr sz="1600">
                <a:solidFill>
                  <a:srgbClr val="262626"/>
                </a:solidFill>
                <a:latin typeface="Arial"/>
              </a:defRPr>
            </a:pPr>
            <a:r>
              <a:t>• UNIQUE → uniqueness</a:t>
            </a:r>
          </a:p>
          <a:p>
            <a:pPr>
              <a:lnSpc>
                <a:spcPct val="108000"/>
              </a:lnSpc>
              <a:spcAft>
                <a:spcPts val="800"/>
              </a:spcAft>
              <a:defRPr sz="1600">
                <a:solidFill>
                  <a:srgbClr val="262626"/>
                </a:solidFill>
                <a:latin typeface="Arial"/>
              </a:defRPr>
            </a:pPr>
            <a:r>
              <a:t>• CHECK → domain/business rule</a:t>
            </a:r>
          </a:p>
          <a:p>
            <a:pPr>
              <a:lnSpc>
                <a:spcPct val="108000"/>
              </a:lnSpc>
              <a:spcAft>
                <a:spcPts val="800"/>
              </a:spcAft>
              <a:defRPr sz="1600">
                <a:solidFill>
                  <a:srgbClr val="262626"/>
                </a:solidFill>
                <a:latin typeface="Arial"/>
              </a:defRPr>
            </a:pPr>
            <a:r>
              <a:t>• FK → referential integrity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Quan hệ 1:1, 1:N và N:M</a:t>
            </a:r>
          </a:p>
        </p:txBody>
      </p:sp>
      <p:sp>
        <p:nvSpPr>
          <p:cNvPr id="5" name="Rounded Rectangle 4"/>
          <p:cNvSpPr/>
          <p:nvPr/>
        </p:nvSpPr>
        <p:spPr>
          <a:xfrm>
            <a:off x="777240" y="2240280"/>
            <a:ext cx="2539746"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CUSTOMER</a:t>
            </a:r>
          </a:p>
          <a:p>
            <a:pPr algn="ctr">
              <a:defRPr sz="1150">
                <a:solidFill>
                  <a:srgbClr val="5F6368"/>
                </a:solidFill>
                <a:latin typeface="Arial"/>
              </a:defRPr>
            </a:pPr>
            <a:r>
              <a:t>1</a:t>
            </a:r>
          </a:p>
        </p:txBody>
      </p:sp>
      <p:sp>
        <p:nvSpPr>
          <p:cNvPr id="6" name="Right Arrow 5"/>
          <p:cNvSpPr/>
          <p:nvPr/>
        </p:nvSpPr>
        <p:spPr>
          <a:xfrm>
            <a:off x="334441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81578" y="2240280"/>
            <a:ext cx="2539746"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ORDER</a:t>
            </a:r>
          </a:p>
          <a:p>
            <a:pPr algn="ctr">
              <a:defRPr sz="1150">
                <a:solidFill>
                  <a:srgbClr val="5F6368"/>
                </a:solidFill>
                <a:latin typeface="Arial"/>
              </a:defRPr>
            </a:pPr>
            <a:r>
              <a:t>N</a:t>
            </a:r>
          </a:p>
        </p:txBody>
      </p:sp>
      <p:sp>
        <p:nvSpPr>
          <p:cNvPr id="8" name="Right Arrow 7"/>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5916" y="2240280"/>
            <a:ext cx="2539746"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ORDER_ITEM</a:t>
            </a:r>
          </a:p>
          <a:p>
            <a:pPr algn="ctr">
              <a:defRPr sz="1150">
                <a:solidFill>
                  <a:srgbClr val="5F6368"/>
                </a:solidFill>
                <a:latin typeface="Arial"/>
              </a:defRPr>
            </a:pPr>
            <a:r>
              <a:t>N</a:t>
            </a:r>
          </a:p>
        </p:txBody>
      </p:sp>
      <p:sp>
        <p:nvSpPr>
          <p:cNvPr id="10" name="Right Arrow 9"/>
          <p:cNvSpPr/>
          <p:nvPr/>
        </p:nvSpPr>
        <p:spPr>
          <a:xfrm>
            <a:off x="875309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254" y="2240280"/>
            <a:ext cx="2539746"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PRODUCT</a:t>
            </a:r>
          </a:p>
          <a:p>
            <a:pPr algn="ctr">
              <a:defRPr sz="1150">
                <a:solidFill>
                  <a:srgbClr val="5F6368"/>
                </a:solidFill>
                <a:latin typeface="Arial"/>
              </a:defRPr>
            </a:pPr>
            <a:r>
              <a:t>1</a:t>
            </a:r>
          </a:p>
        </p:txBody>
      </p:sp>
      <p:sp>
        <p:nvSpPr>
          <p:cNvPr id="12" name="TextBox 11"/>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Quan hệ N:M giữa Order và Product được tách qua bảng trung gian order_items.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Business entities của bài toán E-commerce</a:t>
            </a:r>
          </a:p>
        </p:txBody>
      </p:sp>
      <p:sp>
        <p:nvSpPr>
          <p:cNvPr id="5" name="Rounded Rectangle 4"/>
          <p:cNvSpPr/>
          <p:nvPr/>
        </p:nvSpPr>
        <p:spPr>
          <a:xfrm>
            <a:off x="868680" y="1691640"/>
            <a:ext cx="3337560" cy="1965960"/>
          </a:xfrm>
          <a:prstGeom prst="roundRect">
            <a:avLst/>
          </a:prstGeom>
          <a:solidFill>
            <a:srgbClr val="FFFFFF"/>
          </a:solidFill>
          <a:ln>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CUSTOMERS</a:t>
            </a:r>
          </a:p>
          <a:p>
            <a:pPr>
              <a:defRPr sz="1150">
                <a:solidFill>
                  <a:srgbClr val="262626"/>
                </a:solidFill>
                <a:latin typeface="Arial"/>
              </a:defRPr>
            </a:pPr>
            <a:r>
              <a:t>Hồ sơ, segment, city, status</a:t>
            </a:r>
          </a:p>
        </p:txBody>
      </p:sp>
      <p:sp>
        <p:nvSpPr>
          <p:cNvPr id="6" name="Rounded Rectangle 5"/>
          <p:cNvSpPr/>
          <p:nvPr/>
        </p:nvSpPr>
        <p:spPr>
          <a:xfrm>
            <a:off x="443484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CATEGORIES</a:t>
            </a:r>
          </a:p>
          <a:p>
            <a:pPr>
              <a:defRPr sz="1150">
                <a:solidFill>
                  <a:srgbClr val="262626"/>
                </a:solidFill>
                <a:latin typeface="Arial"/>
              </a:defRPr>
            </a:pPr>
            <a:r>
              <a:t>Danh mục và parent category</a:t>
            </a:r>
          </a:p>
        </p:txBody>
      </p:sp>
      <p:sp>
        <p:nvSpPr>
          <p:cNvPr id="7" name="Rounded Rectangle 6"/>
          <p:cNvSpPr/>
          <p:nvPr/>
        </p:nvSpPr>
        <p:spPr>
          <a:xfrm>
            <a:off x="800100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PRODUCTS</a:t>
            </a:r>
          </a:p>
          <a:p>
            <a:pPr>
              <a:defRPr sz="1150">
                <a:solidFill>
                  <a:srgbClr val="262626"/>
                </a:solidFill>
                <a:latin typeface="Arial"/>
              </a:defRPr>
            </a:pPr>
            <a:r>
              <a:t>Catalog, category, giá, status</a:t>
            </a:r>
          </a:p>
        </p:txBody>
      </p:sp>
      <p:sp>
        <p:nvSpPr>
          <p:cNvPr id="8" name="Rounded Rectangle 7"/>
          <p:cNvSpPr/>
          <p:nvPr/>
        </p:nvSpPr>
        <p:spPr>
          <a:xfrm>
            <a:off x="86868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ORDERS</a:t>
            </a:r>
          </a:p>
          <a:p>
            <a:pPr>
              <a:defRPr sz="1150">
                <a:solidFill>
                  <a:srgbClr val="262626"/>
                </a:solidFill>
                <a:latin typeface="Arial"/>
              </a:defRPr>
            </a:pPr>
            <a:r>
              <a:t>Customer, thời gian, status, channel</a:t>
            </a:r>
          </a:p>
        </p:txBody>
      </p:sp>
      <p:sp>
        <p:nvSpPr>
          <p:cNvPr id="9" name="Rounded Rectangle 8"/>
          <p:cNvSpPr/>
          <p:nvPr/>
        </p:nvSpPr>
        <p:spPr>
          <a:xfrm>
            <a:off x="443484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ORDER_ITEMS</a:t>
            </a:r>
          </a:p>
          <a:p>
            <a:pPr>
              <a:defRPr sz="1150">
                <a:solidFill>
                  <a:srgbClr val="262626"/>
                </a:solidFill>
                <a:latin typeface="Arial"/>
              </a:defRPr>
            </a:pPr>
            <a:r>
              <a:t>Sản phẩm, quantity, price, discount</a:t>
            </a:r>
          </a:p>
        </p:txBody>
      </p:sp>
      <p:sp>
        <p:nvSpPr>
          <p:cNvPr id="10" name="Rounded Rectangle 9"/>
          <p:cNvSpPr/>
          <p:nvPr/>
        </p:nvSpPr>
        <p:spPr>
          <a:xfrm>
            <a:off x="800100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PAYMENTS</a:t>
            </a:r>
          </a:p>
          <a:p>
            <a:pPr>
              <a:defRPr sz="1150">
                <a:solidFill>
                  <a:srgbClr val="262626"/>
                </a:solidFill>
                <a:latin typeface="Arial"/>
              </a:defRPr>
            </a:pPr>
            <a:r>
              <a:t>Method, status, amount, time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ERD chuẩn dùng cho 8 buổi</a:t>
            </a:r>
          </a:p>
        </p:txBody>
      </p:sp>
      <p:sp>
        <p:nvSpPr>
          <p:cNvPr id="5" name="Rounded Rectangle 4"/>
          <p:cNvSpPr/>
          <p:nvPr/>
        </p:nvSpPr>
        <p:spPr>
          <a:xfrm>
            <a:off x="731520" y="2011680"/>
            <a:ext cx="1965960" cy="1234440"/>
          </a:xfrm>
          <a:prstGeom prst="roundRect">
            <a:avLst/>
          </a:prstGeom>
          <a:solidFill>
            <a:srgbClr val="FFFFFF"/>
          </a:solidFill>
          <a:ln w="17780">
            <a:solidFill>
              <a:srgbClr val="5F636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C5272A"/>
                </a:solidFill>
                <a:latin typeface="Arial"/>
              </a:defRPr>
            </a:pPr>
            <a:r>
              <a:t>CUSTOMERS</a:t>
            </a:r>
          </a:p>
          <a:p>
            <a:pPr algn="ctr">
              <a:defRPr sz="1150">
                <a:solidFill>
                  <a:srgbClr val="5F6368"/>
                </a:solidFill>
                <a:latin typeface="Arial"/>
              </a:defRPr>
            </a:pPr>
            <a:r>
              <a:t>PK customer_id</a:t>
            </a:r>
          </a:p>
        </p:txBody>
      </p:sp>
      <p:sp>
        <p:nvSpPr>
          <p:cNvPr id="6" name="Rounded Rectangle 5"/>
          <p:cNvSpPr/>
          <p:nvPr/>
        </p:nvSpPr>
        <p:spPr>
          <a:xfrm>
            <a:off x="3703320" y="1965960"/>
            <a:ext cx="2011680" cy="1325880"/>
          </a:xfrm>
          <a:prstGeom prst="roundRect">
            <a:avLst/>
          </a:prstGeom>
          <a:solidFill>
            <a:srgbClr val="FFFFFF"/>
          </a:solidFill>
          <a:ln w="1778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C5272A"/>
                </a:solidFill>
                <a:latin typeface="Arial"/>
              </a:defRPr>
            </a:pPr>
            <a:r>
              <a:t>ORDERS</a:t>
            </a:r>
          </a:p>
          <a:p>
            <a:pPr algn="ctr">
              <a:defRPr sz="1150">
                <a:solidFill>
                  <a:srgbClr val="5F6368"/>
                </a:solidFill>
                <a:latin typeface="Arial"/>
              </a:defRPr>
            </a:pPr>
            <a:r>
              <a:t>PK order_id</a:t>
            </a:r>
            <a:br/>
            <a:r>
              <a:t>FK customer_id</a:t>
            </a:r>
          </a:p>
        </p:txBody>
      </p:sp>
      <p:sp>
        <p:nvSpPr>
          <p:cNvPr id="7" name="Rounded Rectangle 6"/>
          <p:cNvSpPr/>
          <p:nvPr/>
        </p:nvSpPr>
        <p:spPr>
          <a:xfrm>
            <a:off x="6629400" y="1965960"/>
            <a:ext cx="2057400" cy="1325880"/>
          </a:xfrm>
          <a:prstGeom prst="roundRect">
            <a:avLst/>
          </a:prstGeom>
          <a:solidFill>
            <a:srgbClr val="FFFFFF"/>
          </a:solidFill>
          <a:ln w="1778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C5272A"/>
                </a:solidFill>
                <a:latin typeface="Arial"/>
              </a:defRPr>
            </a:pPr>
            <a:r>
              <a:t>ORDER_ITEMS</a:t>
            </a:r>
          </a:p>
          <a:p>
            <a:pPr algn="ctr">
              <a:defRPr sz="1150">
                <a:solidFill>
                  <a:srgbClr val="5F6368"/>
                </a:solidFill>
                <a:latin typeface="Arial"/>
              </a:defRPr>
            </a:pPr>
            <a:r>
              <a:t>PK order_item_id</a:t>
            </a:r>
            <a:br/>
            <a:r>
              <a:t>FK order_id, product_id</a:t>
            </a:r>
          </a:p>
        </p:txBody>
      </p:sp>
      <p:sp>
        <p:nvSpPr>
          <p:cNvPr id="8" name="Rounded Rectangle 7"/>
          <p:cNvSpPr/>
          <p:nvPr/>
        </p:nvSpPr>
        <p:spPr>
          <a:xfrm>
            <a:off x="9372600" y="1965960"/>
            <a:ext cx="1965960" cy="1325880"/>
          </a:xfrm>
          <a:prstGeom prst="roundRect">
            <a:avLst/>
          </a:prstGeom>
          <a:solidFill>
            <a:srgbClr val="FFFFFF"/>
          </a:solidFill>
          <a:ln w="17780">
            <a:solidFill>
              <a:srgbClr val="5F636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C5272A"/>
                </a:solidFill>
                <a:latin typeface="Arial"/>
              </a:defRPr>
            </a:pPr>
            <a:r>
              <a:t>PRODUCTS</a:t>
            </a:r>
          </a:p>
          <a:p>
            <a:pPr algn="ctr">
              <a:defRPr sz="1150">
                <a:solidFill>
                  <a:srgbClr val="5F6368"/>
                </a:solidFill>
                <a:latin typeface="Arial"/>
              </a:defRPr>
            </a:pPr>
            <a:r>
              <a:t>PK product_id</a:t>
            </a:r>
            <a:br/>
            <a:r>
              <a:t>FK category_id</a:t>
            </a:r>
          </a:p>
        </p:txBody>
      </p:sp>
      <p:sp>
        <p:nvSpPr>
          <p:cNvPr id="9" name="Rounded Rectangle 8"/>
          <p:cNvSpPr/>
          <p:nvPr/>
        </p:nvSpPr>
        <p:spPr>
          <a:xfrm>
            <a:off x="3840480" y="4114800"/>
            <a:ext cx="1920240" cy="1097280"/>
          </a:xfrm>
          <a:prstGeom prst="roundRect">
            <a:avLst/>
          </a:prstGeom>
          <a:solidFill>
            <a:srgbClr val="FFFFFF"/>
          </a:solidFill>
          <a:ln w="17780">
            <a:solidFill>
              <a:srgbClr val="5F636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C5272A"/>
                </a:solidFill>
                <a:latin typeface="Arial"/>
              </a:defRPr>
            </a:pPr>
            <a:r>
              <a:t>PAYMENTS</a:t>
            </a:r>
          </a:p>
          <a:p>
            <a:pPr algn="ctr">
              <a:defRPr sz="1150">
                <a:solidFill>
                  <a:srgbClr val="5F6368"/>
                </a:solidFill>
                <a:latin typeface="Arial"/>
              </a:defRPr>
            </a:pPr>
            <a:r>
              <a:t>PK payment_id</a:t>
            </a:r>
            <a:br/>
            <a:r>
              <a:t>FK order_id</a:t>
            </a:r>
          </a:p>
        </p:txBody>
      </p:sp>
      <p:sp>
        <p:nvSpPr>
          <p:cNvPr id="10" name="Rounded Rectangle 9"/>
          <p:cNvSpPr/>
          <p:nvPr/>
        </p:nvSpPr>
        <p:spPr>
          <a:xfrm>
            <a:off x="9372600" y="4160520"/>
            <a:ext cx="1965960" cy="1005840"/>
          </a:xfrm>
          <a:prstGeom prst="roundRect">
            <a:avLst/>
          </a:prstGeom>
          <a:solidFill>
            <a:srgbClr val="FFFFFF"/>
          </a:solidFill>
          <a:ln w="17780">
            <a:solidFill>
              <a:srgbClr val="5F636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C5272A"/>
                </a:solidFill>
                <a:latin typeface="Arial"/>
              </a:defRPr>
            </a:pPr>
            <a:r>
              <a:t>CATEGORIES</a:t>
            </a:r>
          </a:p>
          <a:p>
            <a:pPr algn="ctr">
              <a:defRPr sz="1150">
                <a:solidFill>
                  <a:srgbClr val="5F6368"/>
                </a:solidFill>
                <a:latin typeface="Arial"/>
              </a:defRPr>
            </a:pPr>
            <a:r>
              <a:t>PK category_id</a:t>
            </a:r>
          </a:p>
        </p:txBody>
      </p:sp>
      <p:cxnSp>
        <p:nvCxnSpPr>
          <p:cNvPr id="11" name="Connector 10"/>
          <p:cNvCxnSpPr/>
          <p:nvPr/>
        </p:nvCxnSpPr>
        <p:spPr>
          <a:xfrm>
            <a:off x="2697480" y="2633472"/>
            <a:ext cx="1005840" cy="0"/>
          </a:xfrm>
          <a:prstGeom prst="line">
            <a:avLst/>
          </a:prstGeom>
          <a:ln w="19050">
            <a:solidFill>
              <a:srgbClr val="5F636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800" y="2496312"/>
            <a:ext cx="502920" cy="256032"/>
          </a:xfrm>
          <a:prstGeom prst="rect">
            <a:avLst/>
          </a:prstGeom>
          <a:noFill/>
        </p:spPr>
        <p:txBody>
          <a:bodyPr wrap="square" lIns="45720" rIns="45720" anchor="t">
            <a:spAutoFit/>
          </a:bodyPr>
          <a:lstStyle/>
          <a:p>
            <a:pPr algn="ctr"/>
            <a:r>
              <a:rPr sz="1000" b="0">
                <a:solidFill>
                  <a:srgbClr val="5F6368"/>
                </a:solidFill>
                <a:latin typeface="Arial"/>
              </a:rPr>
              <a:t>1 : N</a:t>
            </a:r>
          </a:p>
        </p:txBody>
      </p:sp>
      <p:cxnSp>
        <p:nvCxnSpPr>
          <p:cNvPr id="13" name="Connector 12"/>
          <p:cNvCxnSpPr/>
          <p:nvPr/>
        </p:nvCxnSpPr>
        <p:spPr>
          <a:xfrm>
            <a:off x="5715000" y="2633472"/>
            <a:ext cx="914400" cy="0"/>
          </a:xfrm>
          <a:prstGeom prst="line">
            <a:avLst/>
          </a:prstGeom>
          <a:ln w="19050">
            <a:solidFill>
              <a:srgbClr val="5F636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0" y="2496312"/>
            <a:ext cx="502920" cy="256032"/>
          </a:xfrm>
          <a:prstGeom prst="rect">
            <a:avLst/>
          </a:prstGeom>
          <a:noFill/>
        </p:spPr>
        <p:txBody>
          <a:bodyPr wrap="square" lIns="45720" rIns="45720" anchor="t">
            <a:spAutoFit/>
          </a:bodyPr>
          <a:lstStyle/>
          <a:p>
            <a:pPr algn="ctr"/>
            <a:r>
              <a:rPr sz="1000" b="0">
                <a:solidFill>
                  <a:srgbClr val="5F6368"/>
                </a:solidFill>
                <a:latin typeface="Arial"/>
              </a:rPr>
              <a:t>1 : N</a:t>
            </a:r>
          </a:p>
        </p:txBody>
      </p:sp>
      <p:cxnSp>
        <p:nvCxnSpPr>
          <p:cNvPr id="15" name="Connector 14"/>
          <p:cNvCxnSpPr/>
          <p:nvPr/>
        </p:nvCxnSpPr>
        <p:spPr>
          <a:xfrm>
            <a:off x="8686800" y="2633472"/>
            <a:ext cx="685800" cy="0"/>
          </a:xfrm>
          <a:prstGeom prst="line">
            <a:avLst/>
          </a:prstGeom>
          <a:ln w="19050">
            <a:solidFill>
              <a:srgbClr val="5F636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801100" y="2496312"/>
            <a:ext cx="502920" cy="256032"/>
          </a:xfrm>
          <a:prstGeom prst="rect">
            <a:avLst/>
          </a:prstGeom>
          <a:noFill/>
        </p:spPr>
        <p:txBody>
          <a:bodyPr wrap="square" lIns="45720" rIns="45720" anchor="t">
            <a:spAutoFit/>
          </a:bodyPr>
          <a:lstStyle/>
          <a:p>
            <a:pPr algn="ctr"/>
            <a:r>
              <a:rPr sz="1000" b="0">
                <a:solidFill>
                  <a:srgbClr val="5F6368"/>
                </a:solidFill>
                <a:latin typeface="Arial"/>
              </a:rPr>
              <a:t>N : 1</a:t>
            </a:r>
          </a:p>
        </p:txBody>
      </p:sp>
      <p:cxnSp>
        <p:nvCxnSpPr>
          <p:cNvPr id="17" name="Connector 16"/>
          <p:cNvCxnSpPr/>
          <p:nvPr/>
        </p:nvCxnSpPr>
        <p:spPr>
          <a:xfrm>
            <a:off x="4709160" y="3291840"/>
            <a:ext cx="0" cy="822960"/>
          </a:xfrm>
          <a:prstGeom prst="line">
            <a:avLst/>
          </a:prstGeom>
          <a:ln w="19050">
            <a:solidFill>
              <a:srgbClr val="5F636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480560" y="3566160"/>
            <a:ext cx="502920" cy="256032"/>
          </a:xfrm>
          <a:prstGeom prst="rect">
            <a:avLst/>
          </a:prstGeom>
          <a:noFill/>
        </p:spPr>
        <p:txBody>
          <a:bodyPr wrap="square" lIns="45720" rIns="45720" anchor="t">
            <a:spAutoFit/>
          </a:bodyPr>
          <a:lstStyle/>
          <a:p>
            <a:pPr algn="ctr"/>
            <a:r>
              <a:rPr sz="1000" b="0">
                <a:solidFill>
                  <a:srgbClr val="5F6368"/>
                </a:solidFill>
                <a:latin typeface="Arial"/>
              </a:rPr>
              <a:t>1 : N</a:t>
            </a:r>
          </a:p>
        </p:txBody>
      </p:sp>
      <p:cxnSp>
        <p:nvCxnSpPr>
          <p:cNvPr id="19" name="Connector 18"/>
          <p:cNvCxnSpPr/>
          <p:nvPr/>
        </p:nvCxnSpPr>
        <p:spPr>
          <a:xfrm>
            <a:off x="10332720" y="3291840"/>
            <a:ext cx="0" cy="868680"/>
          </a:xfrm>
          <a:prstGeom prst="line">
            <a:avLst/>
          </a:prstGeom>
          <a:ln w="19050">
            <a:solidFill>
              <a:srgbClr val="5F636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104120" y="3589020"/>
            <a:ext cx="502920" cy="256032"/>
          </a:xfrm>
          <a:prstGeom prst="rect">
            <a:avLst/>
          </a:prstGeom>
          <a:noFill/>
        </p:spPr>
        <p:txBody>
          <a:bodyPr wrap="square" lIns="45720" rIns="45720" anchor="t">
            <a:spAutoFit/>
          </a:bodyPr>
          <a:lstStyle/>
          <a:p>
            <a:pPr algn="ctr"/>
            <a:r>
              <a:rPr sz="1000" b="0">
                <a:solidFill>
                  <a:srgbClr val="5F6368"/>
                </a:solidFill>
                <a:latin typeface="Arial"/>
              </a:rPr>
              <a:t>N : 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Thiết kế customers / products</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CUSTOMERS</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PRODUCTS</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customer_id – PK</a:t>
            </a:r>
          </a:p>
          <a:p>
            <a:pPr>
              <a:lnSpc>
                <a:spcPct val="108000"/>
              </a:lnSpc>
              <a:spcAft>
                <a:spcPts val="800"/>
              </a:spcAft>
              <a:defRPr sz="1600">
                <a:solidFill>
                  <a:srgbClr val="262626"/>
                </a:solidFill>
                <a:latin typeface="Arial"/>
              </a:defRPr>
            </a:pPr>
            <a:r>
              <a:t>• email – UNIQUE</a:t>
            </a:r>
          </a:p>
          <a:p>
            <a:pPr>
              <a:lnSpc>
                <a:spcPct val="108000"/>
              </a:lnSpc>
              <a:spcAft>
                <a:spcPts val="800"/>
              </a:spcAft>
              <a:defRPr sz="1600">
                <a:solidFill>
                  <a:srgbClr val="262626"/>
                </a:solidFill>
                <a:latin typeface="Arial"/>
              </a:defRPr>
            </a:pPr>
            <a:r>
              <a:t>• segment, city, status</a:t>
            </a:r>
          </a:p>
          <a:p>
            <a:pPr>
              <a:lnSpc>
                <a:spcPct val="108000"/>
              </a:lnSpc>
              <a:spcAft>
                <a:spcPts val="800"/>
              </a:spcAft>
              <a:defRPr sz="1600">
                <a:solidFill>
                  <a:srgbClr val="262626"/>
                </a:solidFill>
                <a:latin typeface="Arial"/>
              </a:defRPr>
            </a:pPr>
            <a:r>
              <a:t>• created_at / updated_at</a:t>
            </a:r>
          </a:p>
          <a:p>
            <a:pPr>
              <a:lnSpc>
                <a:spcPct val="108000"/>
              </a:lnSpc>
              <a:spcAft>
                <a:spcPts val="800"/>
              </a:spcAft>
              <a:defRPr sz="1600">
                <a:solidFill>
                  <a:srgbClr val="262626"/>
                </a:solidFill>
                <a:latin typeface="Arial"/>
              </a:defRPr>
            </a:pPr>
            <a:r>
              <a:t>• source_system / ingested_at</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product_id – PK</a:t>
            </a:r>
          </a:p>
          <a:p>
            <a:pPr>
              <a:lnSpc>
                <a:spcPct val="108000"/>
              </a:lnSpc>
              <a:spcAft>
                <a:spcPts val="800"/>
              </a:spcAft>
              <a:defRPr sz="1600">
                <a:solidFill>
                  <a:srgbClr val="262626"/>
                </a:solidFill>
                <a:latin typeface="Arial"/>
              </a:defRPr>
            </a:pPr>
            <a:r>
              <a:t>• category_id – FK</a:t>
            </a:r>
          </a:p>
          <a:p>
            <a:pPr>
              <a:lnSpc>
                <a:spcPct val="108000"/>
              </a:lnSpc>
              <a:spcAft>
                <a:spcPts val="800"/>
              </a:spcAft>
              <a:defRPr sz="1600">
                <a:solidFill>
                  <a:srgbClr val="262626"/>
                </a:solidFill>
                <a:latin typeface="Arial"/>
              </a:defRPr>
            </a:pPr>
            <a:r>
              <a:t>• unit_price, cost_price ≥ 0</a:t>
            </a:r>
          </a:p>
          <a:p>
            <a:pPr>
              <a:lnSpc>
                <a:spcPct val="108000"/>
              </a:lnSpc>
              <a:spcAft>
                <a:spcPts val="800"/>
              </a:spcAft>
              <a:defRPr sz="1600">
                <a:solidFill>
                  <a:srgbClr val="262626"/>
                </a:solidFill>
                <a:latin typeface="Arial"/>
              </a:defRPr>
            </a:pPr>
            <a:r>
              <a:t>• status theo danh mục</a:t>
            </a:r>
          </a:p>
          <a:p>
            <a:pPr>
              <a:lnSpc>
                <a:spcPct val="108000"/>
              </a:lnSpc>
              <a:spcAft>
                <a:spcPts val="800"/>
              </a:spcAft>
              <a:defRPr sz="1600">
                <a:solidFill>
                  <a:srgbClr val="262626"/>
                </a:solidFill>
                <a:latin typeface="Arial"/>
              </a:defRPr>
            </a:pPr>
            <a:r>
              <a:t>• created_at / updated_at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Thiết kế orders / order_items / payments</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ORDERS + ITEMS</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PAYMENTS</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orders.customer_id → customers</a:t>
            </a:r>
          </a:p>
          <a:p>
            <a:pPr>
              <a:lnSpc>
                <a:spcPct val="108000"/>
              </a:lnSpc>
              <a:spcAft>
                <a:spcPts val="800"/>
              </a:spcAft>
              <a:defRPr sz="1600">
                <a:solidFill>
                  <a:srgbClr val="262626"/>
                </a:solidFill>
                <a:latin typeface="Arial"/>
              </a:defRPr>
            </a:pPr>
            <a:r>
              <a:t>• order_items.order_id → orders</a:t>
            </a:r>
          </a:p>
          <a:p>
            <a:pPr>
              <a:lnSpc>
                <a:spcPct val="108000"/>
              </a:lnSpc>
              <a:spcAft>
                <a:spcPts val="800"/>
              </a:spcAft>
              <a:defRPr sz="1600">
                <a:solidFill>
                  <a:srgbClr val="262626"/>
                </a:solidFill>
                <a:latin typeface="Arial"/>
              </a:defRPr>
            </a:pPr>
            <a:r>
              <a:t>• order_items.product_id → products</a:t>
            </a:r>
          </a:p>
          <a:p>
            <a:pPr>
              <a:lnSpc>
                <a:spcPct val="108000"/>
              </a:lnSpc>
              <a:spcAft>
                <a:spcPts val="800"/>
              </a:spcAft>
              <a:defRPr sz="1600">
                <a:solidFill>
                  <a:srgbClr val="262626"/>
                </a:solidFill>
                <a:latin typeface="Arial"/>
              </a:defRPr>
            </a:pPr>
            <a:r>
              <a:t>• quantity &gt; 0</a:t>
            </a:r>
          </a:p>
          <a:p>
            <a:pPr>
              <a:lnSpc>
                <a:spcPct val="108000"/>
              </a:lnSpc>
              <a:spcAft>
                <a:spcPts val="800"/>
              </a:spcAft>
              <a:defRPr sz="1600">
                <a:solidFill>
                  <a:srgbClr val="262626"/>
                </a:solidFill>
                <a:latin typeface="Arial"/>
              </a:defRPr>
            </a:pPr>
            <a:r>
              <a:t>• discount ≤ unit_price × quantity</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payment.order_id → order</a:t>
            </a:r>
          </a:p>
          <a:p>
            <a:pPr>
              <a:lnSpc>
                <a:spcPct val="108000"/>
              </a:lnSpc>
              <a:spcAft>
                <a:spcPts val="800"/>
              </a:spcAft>
              <a:defRPr sz="1600">
                <a:solidFill>
                  <a:srgbClr val="262626"/>
                </a:solidFill>
                <a:latin typeface="Arial"/>
              </a:defRPr>
            </a:pPr>
            <a:r>
              <a:t>• status: pending/success/failed/refunded</a:t>
            </a:r>
          </a:p>
          <a:p>
            <a:pPr>
              <a:lnSpc>
                <a:spcPct val="108000"/>
              </a:lnSpc>
              <a:spcAft>
                <a:spcPts val="800"/>
              </a:spcAft>
              <a:defRPr sz="1600">
                <a:solidFill>
                  <a:srgbClr val="262626"/>
                </a:solidFill>
                <a:latin typeface="Arial"/>
              </a:defRPr>
            </a:pPr>
            <a:r>
              <a:t>• amount ≥ 0</a:t>
            </a:r>
          </a:p>
          <a:p>
            <a:pPr>
              <a:lnSpc>
                <a:spcPct val="108000"/>
              </a:lnSpc>
              <a:spcAft>
                <a:spcPts val="800"/>
              </a:spcAft>
              <a:defRPr sz="1600">
                <a:solidFill>
                  <a:srgbClr val="262626"/>
                </a:solidFill>
                <a:latin typeface="Arial"/>
              </a:defRPr>
            </a:pPr>
            <a:r>
              <a:t>• payment_date không trước order_date (business validation)</a:t>
            </a:r>
          </a:p>
          <a:p>
            <a:pPr>
              <a:lnSpc>
                <a:spcPct val="108000"/>
              </a:lnSpc>
              <a:spcAft>
                <a:spcPts val="800"/>
              </a:spcAft>
              <a:defRPr sz="1600">
                <a:solidFill>
                  <a:srgbClr val="262626"/>
                </a:solidFill>
                <a:latin typeface="Arial"/>
              </a:defRPr>
            </a:pPr>
            <a:r>
              <a:t>• Có thể chưa có payment cho mọi order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Data Contract: thống nhất trước khi viết pipeline</a:t>
            </a:r>
          </a:p>
        </p:txBody>
      </p:sp>
      <p:sp>
        <p:nvSpPr>
          <p:cNvPr id="5" name="Rounded Rectangle 4"/>
          <p:cNvSpPr/>
          <p:nvPr/>
        </p:nvSpPr>
        <p:spPr>
          <a:xfrm>
            <a:off x="868680" y="1691640"/>
            <a:ext cx="3337560" cy="1965960"/>
          </a:xfrm>
          <a:prstGeom prst="roundRect">
            <a:avLst/>
          </a:prstGeom>
          <a:solidFill>
            <a:srgbClr val="FFFFFF"/>
          </a:solidFill>
          <a:ln>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ID</a:t>
            </a:r>
          </a:p>
          <a:p>
            <a:pPr>
              <a:defRPr sz="1150">
                <a:solidFill>
                  <a:srgbClr val="262626"/>
                </a:solidFill>
                <a:latin typeface="Arial"/>
              </a:defRPr>
            </a:pPr>
            <a:r>
              <a:t>CUS000001, PRD000001, ORD000001</a:t>
            </a:r>
          </a:p>
        </p:txBody>
      </p:sp>
      <p:sp>
        <p:nvSpPr>
          <p:cNvPr id="6" name="Rounded Rectangle 5"/>
          <p:cNvSpPr/>
          <p:nvPr/>
        </p:nvSpPr>
        <p:spPr>
          <a:xfrm>
            <a:off x="443484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TIME</a:t>
            </a:r>
          </a:p>
          <a:p>
            <a:pPr>
              <a:defRPr sz="1150">
                <a:solidFill>
                  <a:srgbClr val="262626"/>
                </a:solidFill>
                <a:latin typeface="Arial"/>
              </a:defRPr>
            </a:pPr>
            <a:r>
              <a:t>ISO 8601; PostgreSQL TIMESTAMPTZ</a:t>
            </a:r>
          </a:p>
        </p:txBody>
      </p:sp>
      <p:sp>
        <p:nvSpPr>
          <p:cNvPr id="7" name="Rounded Rectangle 6"/>
          <p:cNvSpPr/>
          <p:nvPr/>
        </p:nvSpPr>
        <p:spPr>
          <a:xfrm>
            <a:off x="800100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MONEY</a:t>
            </a:r>
          </a:p>
          <a:p>
            <a:pPr>
              <a:defRPr sz="1150">
                <a:solidFill>
                  <a:srgbClr val="262626"/>
                </a:solidFill>
                <a:latin typeface="Arial"/>
              </a:defRPr>
            </a:pPr>
            <a:r>
              <a:t>VND; NUMERIC(14,2)</a:t>
            </a:r>
          </a:p>
        </p:txBody>
      </p:sp>
      <p:sp>
        <p:nvSpPr>
          <p:cNvPr id="8" name="Rounded Rectangle 7"/>
          <p:cNvSpPr/>
          <p:nvPr/>
        </p:nvSpPr>
        <p:spPr>
          <a:xfrm>
            <a:off x="86868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STATUS</a:t>
            </a:r>
          </a:p>
          <a:p>
            <a:pPr>
              <a:defRPr sz="1150">
                <a:solidFill>
                  <a:srgbClr val="262626"/>
                </a:solidFill>
                <a:latin typeface="Arial"/>
              </a:defRPr>
            </a:pPr>
            <a:r>
              <a:t>Danh mục hữu hạn</a:t>
            </a:r>
          </a:p>
        </p:txBody>
      </p:sp>
      <p:sp>
        <p:nvSpPr>
          <p:cNvPr id="9" name="Rounded Rectangle 8"/>
          <p:cNvSpPr/>
          <p:nvPr/>
        </p:nvSpPr>
        <p:spPr>
          <a:xfrm>
            <a:off x="443484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AUDIT</a:t>
            </a:r>
          </a:p>
          <a:p>
            <a:pPr>
              <a:defRPr sz="1150">
                <a:solidFill>
                  <a:srgbClr val="262626"/>
                </a:solidFill>
                <a:latin typeface="Arial"/>
              </a:defRPr>
            </a:pPr>
            <a:r>
              <a:t>source_system, ingested_at</a:t>
            </a:r>
          </a:p>
        </p:txBody>
      </p:sp>
      <p:sp>
        <p:nvSpPr>
          <p:cNvPr id="10" name="Rounded Rectangle 9"/>
          <p:cNvSpPr/>
          <p:nvPr/>
        </p:nvSpPr>
        <p:spPr>
          <a:xfrm>
            <a:off x="800100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RERUN</a:t>
            </a:r>
          </a:p>
          <a:p>
            <a:pPr>
              <a:defRPr sz="1150">
                <a:solidFill>
                  <a:srgbClr val="262626"/>
                </a:solidFill>
                <a:latin typeface="Arial"/>
              </a:defRPr>
            </a:pPr>
            <a:r>
              <a:t>Không sinh duplicate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Data type PostgreSQL nên chọn thế nào?</a:t>
            </a:r>
          </a:p>
        </p:txBody>
      </p:sp>
      <p:sp>
        <p:nvSpPr>
          <p:cNvPr id="5" name="Rounded Rectangle 4"/>
          <p:cNvSpPr/>
          <p:nvPr/>
        </p:nvSpPr>
        <p:spPr>
          <a:xfrm>
            <a:off x="822960" y="1417320"/>
            <a:ext cx="5202936" cy="438912"/>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Dữ liệu</a:t>
            </a:r>
          </a:p>
        </p:txBody>
      </p:sp>
      <p:sp>
        <p:nvSpPr>
          <p:cNvPr id="6" name="Rounded Rectangle 5"/>
          <p:cNvSpPr/>
          <p:nvPr/>
        </p:nvSpPr>
        <p:spPr>
          <a:xfrm>
            <a:off x="822960"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ID dạng mã</a:t>
            </a:r>
          </a:p>
        </p:txBody>
      </p:sp>
      <p:sp>
        <p:nvSpPr>
          <p:cNvPr id="7" name="Rounded Rectangle 6"/>
          <p:cNvSpPr/>
          <p:nvPr/>
        </p:nvSpPr>
        <p:spPr>
          <a:xfrm>
            <a:off x="822960"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Tiền</a:t>
            </a:r>
          </a:p>
        </p:txBody>
      </p:sp>
      <p:sp>
        <p:nvSpPr>
          <p:cNvPr id="8" name="Rounded Rectangle 7"/>
          <p:cNvSpPr/>
          <p:nvPr/>
        </p:nvSpPr>
        <p:spPr>
          <a:xfrm>
            <a:off x="822960"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Số lượng</a:t>
            </a:r>
          </a:p>
        </p:txBody>
      </p:sp>
      <p:sp>
        <p:nvSpPr>
          <p:cNvPr id="9" name="Rounded Rectangle 8"/>
          <p:cNvSpPr/>
          <p:nvPr/>
        </p:nvSpPr>
        <p:spPr>
          <a:xfrm>
            <a:off x="822960"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Ngày giờ</a:t>
            </a:r>
          </a:p>
        </p:txBody>
      </p:sp>
      <p:sp>
        <p:nvSpPr>
          <p:cNvPr id="10" name="Rounded Rectangle 9"/>
          <p:cNvSpPr/>
          <p:nvPr/>
        </p:nvSpPr>
        <p:spPr>
          <a:xfrm>
            <a:off x="822960" y="4828032"/>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Trạng thái</a:t>
            </a:r>
          </a:p>
        </p:txBody>
      </p:sp>
      <p:sp>
        <p:nvSpPr>
          <p:cNvPr id="11" name="Rounded Rectangle 10"/>
          <p:cNvSpPr/>
          <p:nvPr/>
        </p:nvSpPr>
        <p:spPr>
          <a:xfrm>
            <a:off x="6135624" y="1417320"/>
            <a:ext cx="5202936" cy="438912"/>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PostgreSQL</a:t>
            </a:r>
          </a:p>
        </p:txBody>
      </p:sp>
      <p:sp>
        <p:nvSpPr>
          <p:cNvPr id="12" name="Rounded Rectangle 11"/>
          <p:cNvSpPr/>
          <p:nvPr/>
        </p:nvSpPr>
        <p:spPr>
          <a:xfrm>
            <a:off x="6135624"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VARCHAR</a:t>
            </a:r>
          </a:p>
        </p:txBody>
      </p:sp>
      <p:sp>
        <p:nvSpPr>
          <p:cNvPr id="13" name="Rounded Rectangle 12"/>
          <p:cNvSpPr/>
          <p:nvPr/>
        </p:nvSpPr>
        <p:spPr>
          <a:xfrm>
            <a:off x="6135624"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NUMERIC(14,2)</a:t>
            </a:r>
          </a:p>
        </p:txBody>
      </p:sp>
      <p:sp>
        <p:nvSpPr>
          <p:cNvPr id="14" name="Rounded Rectangle 13"/>
          <p:cNvSpPr/>
          <p:nvPr/>
        </p:nvSpPr>
        <p:spPr>
          <a:xfrm>
            <a:off x="6135624"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INTEGER</a:t>
            </a:r>
          </a:p>
        </p:txBody>
      </p:sp>
      <p:sp>
        <p:nvSpPr>
          <p:cNvPr id="15" name="Rounded Rectangle 14"/>
          <p:cNvSpPr/>
          <p:nvPr/>
        </p:nvSpPr>
        <p:spPr>
          <a:xfrm>
            <a:off x="6135624"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TIMESTAMPTZ</a:t>
            </a:r>
          </a:p>
        </p:txBody>
      </p:sp>
      <p:sp>
        <p:nvSpPr>
          <p:cNvPr id="16" name="Rounded Rectangle 15"/>
          <p:cNvSpPr/>
          <p:nvPr/>
        </p:nvSpPr>
        <p:spPr>
          <a:xfrm>
            <a:off x="6135624" y="4828032"/>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VARCHAR + CHECK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Naming convention của repository</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ecommerce-data-platform/</a:t>
            </a:r>
            <a:br/>
            <a:r>
              <a:t>├── docs/</a:t>
            </a:r>
            <a:br/>
            <a:r>
              <a:t>├── data/{seed,raw,staging,reject}/</a:t>
            </a:r>
            <a:br/>
            <a:r>
              <a:t>├── sql/</a:t>
            </a:r>
            <a:br/>
            <a:r>
              <a:t>├── src/</a:t>
            </a:r>
            <a:br/>
            <a:r>
              <a:t>├── metadata/</a:t>
            </a:r>
            <a:br/>
            <a:r>
              <a:t>├── reports/</a:t>
            </a:r>
            <a:br/>
            <a:r>
              <a:t>├── logs/</a:t>
            </a:r>
            <a:br/>
            <a:r>
              <a:t>├── tests/</a:t>
            </a:r>
            <a:br/>
            <a:r>
              <a:t>├── docker-compose.yml</a:t>
            </a:r>
            <a:br/>
            <a:r>
              <a:t>└── requirements.txt</a:t>
            </a:r>
          </a:p>
        </p:txBody>
      </p:sp>
      <p:sp>
        <p:nvSpPr>
          <p:cNvPr id="6" name="TextBox 5"/>
          <p:cNvSpPr txBox="1"/>
          <p:nvPr/>
        </p:nvSpPr>
        <p:spPr>
          <a:xfrm>
            <a:off x="868680" y="5742432"/>
            <a:ext cx="10424160" cy="320040"/>
          </a:xfrm>
          <a:prstGeom prst="rect">
            <a:avLst/>
          </a:prstGeom>
          <a:noFill/>
        </p:spPr>
        <p:txBody>
          <a:bodyPr wrap="square" lIns="45720" rIns="45720" anchor="t">
            <a:spAutoFit/>
          </a:bodyPr>
          <a:lstStyle/>
          <a:p>
            <a:pPr algn="l"/>
            <a:r>
              <a:rPr sz="1100" b="0">
                <a:solidFill>
                  <a:srgbClr val="5F6368"/>
                </a:solidFill>
                <a:latin typeface="Arial"/>
              </a:rPr>
              <a:t>Tên bảng và khóa chính không đổi giữa các buổi nếu chưa cập nhật Data Contract.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PostgreSQL chạy trong Docker: tại sao?</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Lợi ích lớp học</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Lệnh tối thiểu</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Cùng PostgreSQL 16 cho mọi máy</a:t>
            </a:r>
          </a:p>
          <a:p>
            <a:pPr>
              <a:lnSpc>
                <a:spcPct val="108000"/>
              </a:lnSpc>
              <a:spcAft>
                <a:spcPts val="800"/>
              </a:spcAft>
              <a:defRPr sz="1600">
                <a:solidFill>
                  <a:srgbClr val="262626"/>
                </a:solidFill>
                <a:latin typeface="Arial"/>
              </a:defRPr>
            </a:pPr>
            <a:r>
              <a:t>• Reset môi trường nhanh</a:t>
            </a:r>
          </a:p>
          <a:p>
            <a:pPr>
              <a:lnSpc>
                <a:spcPct val="108000"/>
              </a:lnSpc>
              <a:spcAft>
                <a:spcPts val="800"/>
              </a:spcAft>
              <a:defRPr sz="1600">
                <a:solidFill>
                  <a:srgbClr val="262626"/>
                </a:solidFill>
                <a:latin typeface="Arial"/>
              </a:defRPr>
            </a:pPr>
            <a:r>
              <a:t>• Không cài DB server trực tiếp trên macOS</a:t>
            </a:r>
          </a:p>
          <a:p>
            <a:pPr>
              <a:lnSpc>
                <a:spcPct val="108000"/>
              </a:lnSpc>
              <a:spcAft>
                <a:spcPts val="800"/>
              </a:spcAft>
              <a:defRPr sz="1600">
                <a:solidFill>
                  <a:srgbClr val="262626"/>
                </a:solidFill>
                <a:latin typeface="Arial"/>
              </a:defRPr>
            </a:pPr>
            <a:r>
              <a:t>• Dễ chuyển sang service khác sau này</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docker compose up -d postgres</a:t>
            </a:r>
          </a:p>
          <a:p>
            <a:pPr>
              <a:lnSpc>
                <a:spcPct val="108000"/>
              </a:lnSpc>
              <a:spcAft>
                <a:spcPts val="800"/>
              </a:spcAft>
              <a:defRPr sz="1600">
                <a:solidFill>
                  <a:srgbClr val="262626"/>
                </a:solidFill>
                <a:latin typeface="Arial"/>
              </a:defRPr>
            </a:pPr>
            <a:r>
              <a:t>• docker compose ps</a:t>
            </a:r>
          </a:p>
          <a:p>
            <a:pPr>
              <a:lnSpc>
                <a:spcPct val="108000"/>
              </a:lnSpc>
              <a:spcAft>
                <a:spcPts val="800"/>
              </a:spcAft>
              <a:defRPr sz="1600">
                <a:solidFill>
                  <a:srgbClr val="262626"/>
                </a:solidFill>
                <a:latin typeface="Arial"/>
              </a:defRPr>
            </a:pPr>
            <a:r>
              <a:t>• docker compose logs postgres</a:t>
            </a:r>
          </a:p>
          <a:p>
            <a:pPr>
              <a:lnSpc>
                <a:spcPct val="108000"/>
              </a:lnSpc>
              <a:spcAft>
                <a:spcPts val="800"/>
              </a:spcAft>
              <a:defRPr sz="1600">
                <a:solidFill>
                  <a:srgbClr val="262626"/>
                </a:solidFill>
                <a:latin typeface="Arial"/>
              </a:defRPr>
            </a:pPr>
            <a:r>
              <a:t>• docker compose down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Workflow công cụ trên macOS</a:t>
            </a:r>
          </a:p>
        </p:txBody>
      </p:sp>
      <p:sp>
        <p:nvSpPr>
          <p:cNvPr id="5" name="Rounded Rectangle 4"/>
          <p:cNvSpPr/>
          <p:nvPr/>
        </p:nvSpPr>
        <p:spPr>
          <a:xfrm>
            <a:off x="777240" y="2240280"/>
            <a:ext cx="2539746"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dbdiagram.io</a:t>
            </a:r>
          </a:p>
          <a:p>
            <a:pPr algn="ctr">
              <a:defRPr sz="1150">
                <a:solidFill>
                  <a:srgbClr val="5F6368"/>
                </a:solidFill>
                <a:latin typeface="Arial"/>
              </a:defRPr>
            </a:pPr>
            <a:r>
              <a:t>ERD</a:t>
            </a:r>
          </a:p>
        </p:txBody>
      </p:sp>
      <p:sp>
        <p:nvSpPr>
          <p:cNvPr id="6" name="Right Arrow 5"/>
          <p:cNvSpPr/>
          <p:nvPr/>
        </p:nvSpPr>
        <p:spPr>
          <a:xfrm>
            <a:off x="334441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81578" y="2240280"/>
            <a:ext cx="2539746"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VS CODE</a:t>
            </a:r>
          </a:p>
          <a:p>
            <a:pPr algn="ctr">
              <a:defRPr sz="1150">
                <a:solidFill>
                  <a:srgbClr val="5F6368"/>
                </a:solidFill>
                <a:latin typeface="Arial"/>
              </a:defRPr>
            </a:pPr>
            <a:r>
              <a:t>SQL + Git</a:t>
            </a:r>
          </a:p>
        </p:txBody>
      </p:sp>
      <p:sp>
        <p:nvSpPr>
          <p:cNvPr id="8" name="Right Arrow 7"/>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5916" y="2240280"/>
            <a:ext cx="2539746"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DOCKER</a:t>
            </a:r>
          </a:p>
          <a:p>
            <a:pPr algn="ctr">
              <a:defRPr sz="1150">
                <a:solidFill>
                  <a:srgbClr val="5F6368"/>
                </a:solidFill>
                <a:latin typeface="Arial"/>
              </a:defRPr>
            </a:pPr>
            <a:r>
              <a:t>PostgreSQL</a:t>
            </a:r>
          </a:p>
        </p:txBody>
      </p:sp>
      <p:sp>
        <p:nvSpPr>
          <p:cNvPr id="10" name="Right Arrow 9"/>
          <p:cNvSpPr/>
          <p:nvPr/>
        </p:nvSpPr>
        <p:spPr>
          <a:xfrm>
            <a:off x="875309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254" y="2240280"/>
            <a:ext cx="2539746"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DBEAVER</a:t>
            </a:r>
          </a:p>
          <a:p>
            <a:pPr algn="ctr">
              <a:defRPr sz="1150">
                <a:solidFill>
                  <a:srgbClr val="5F6368"/>
                </a:solidFill>
                <a:latin typeface="Arial"/>
              </a:defRPr>
            </a:pPr>
            <a:r>
              <a:t>Query / inspect</a:t>
            </a:r>
          </a:p>
        </p:txBody>
      </p:sp>
      <p:sp>
        <p:nvSpPr>
          <p:cNvPr id="12" name="TextBox 11"/>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VS Code là trung tâm; Docker chạy DB; DBeaver là client để nhìn và kiểm tra.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Lab 1 – 90 phút</a:t>
            </a:r>
          </a:p>
        </p:txBody>
      </p:sp>
      <p:sp>
        <p:nvSpPr>
          <p:cNvPr id="5" name="Rounded Rectangle 4"/>
          <p:cNvSpPr/>
          <p:nvPr/>
        </p:nvSpPr>
        <p:spPr>
          <a:xfrm>
            <a:off x="777240"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1</a:t>
            </a:r>
          </a:p>
          <a:p>
            <a:pPr algn="ctr">
              <a:defRPr sz="1150">
                <a:solidFill>
                  <a:srgbClr val="5F6368"/>
                </a:solidFill>
                <a:latin typeface="Arial"/>
              </a:defRPr>
            </a:pPr>
            <a:r>
              <a:t>Phân tích requirement</a:t>
            </a:r>
          </a:p>
        </p:txBody>
      </p:sp>
      <p:sp>
        <p:nvSpPr>
          <p:cNvPr id="6" name="Right Arrow 5"/>
          <p:cNvSpPr/>
          <p:nvPr/>
        </p:nvSpPr>
        <p:spPr>
          <a:xfrm>
            <a:off x="280355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40710"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2</a:t>
            </a:r>
          </a:p>
          <a:p>
            <a:pPr algn="ctr">
              <a:defRPr sz="1150">
                <a:solidFill>
                  <a:srgbClr val="5F6368"/>
                </a:solidFill>
                <a:latin typeface="Arial"/>
              </a:defRPr>
            </a:pPr>
            <a:r>
              <a:t>Vẽ ERD</a:t>
            </a:r>
          </a:p>
        </p:txBody>
      </p:sp>
      <p:sp>
        <p:nvSpPr>
          <p:cNvPr id="8" name="Right Arrow 7"/>
          <p:cNvSpPr/>
          <p:nvPr/>
        </p:nvSpPr>
        <p:spPr>
          <a:xfrm>
            <a:off x="496702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04180" y="2240280"/>
            <a:ext cx="1998878"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3</a:t>
            </a:r>
          </a:p>
          <a:p>
            <a:pPr algn="ctr">
              <a:defRPr sz="1150">
                <a:solidFill>
                  <a:srgbClr val="5F6368"/>
                </a:solidFill>
                <a:latin typeface="Arial"/>
              </a:defRPr>
            </a:pPr>
            <a:r>
              <a:t>Start PostgreSQL</a:t>
            </a:r>
          </a:p>
        </p:txBody>
      </p:sp>
      <p:sp>
        <p:nvSpPr>
          <p:cNvPr id="10" name="Right Arrow 9"/>
          <p:cNvSpPr/>
          <p:nvPr/>
        </p:nvSpPr>
        <p:spPr>
          <a:xfrm>
            <a:off x="713049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67651"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4</a:t>
            </a:r>
          </a:p>
          <a:p>
            <a:pPr algn="ctr">
              <a:defRPr sz="1150">
                <a:solidFill>
                  <a:srgbClr val="5F6368"/>
                </a:solidFill>
                <a:latin typeface="Arial"/>
              </a:defRPr>
            </a:pPr>
            <a:r>
              <a:t>Kết nối DBeaver</a:t>
            </a:r>
          </a:p>
        </p:txBody>
      </p:sp>
      <p:sp>
        <p:nvSpPr>
          <p:cNvPr id="12" name="Right Arrow 11"/>
          <p:cNvSpPr/>
          <p:nvPr/>
        </p:nvSpPr>
        <p:spPr>
          <a:xfrm>
            <a:off x="929396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31121"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5</a:t>
            </a:r>
          </a:p>
          <a:p>
            <a:pPr algn="ctr">
              <a:defRPr sz="1150">
                <a:solidFill>
                  <a:srgbClr val="5F6368"/>
                </a:solidFill>
                <a:latin typeface="Arial"/>
              </a:defRPr>
            </a:pPr>
            <a:r>
              <a:t>Tạo schema skeleton</a:t>
            </a:r>
          </a:p>
        </p:txBody>
      </p:sp>
      <p:sp>
        <p:nvSpPr>
          <p:cNvPr id="14" name="TextBox 13"/>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Checkpoint cuối buổi: database chạy, ERD review được và SQL được commit.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SQL skeleton – ví dụ customers</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CREATE TABLE core.customers (</a:t>
            </a:r>
            <a:br/>
            <a:r>
              <a:t>  customer_id VARCHAR(12) PRIMARY KEY,</a:t>
            </a:r>
            <a:br/>
            <a:r>
              <a:t>  full_name VARCHAR(150) NOT NULL,</a:t>
            </a:r>
            <a:br/>
            <a:r>
              <a:t>  email VARCHAR(200) NOT NULL UNIQUE,</a:t>
            </a:r>
            <a:br/>
            <a:r>
              <a:t>  customer_segment VARCHAR(30) NOT NULL,</a:t>
            </a:r>
            <a:br/>
            <a:r>
              <a:t>  status VARCHAR(20) NOT NULL</a:t>
            </a:r>
            <a:br/>
            <a:r>
              <a:t>    CHECK (status IN ('active','inactive')),</a:t>
            </a:r>
            <a:br/>
            <a:r>
              <a:t>  created_at TIMESTAMPTZ NOT NULL,</a:t>
            </a:r>
            <a:br/>
            <a:r>
              <a:t>  updated_at TIMESTAMPTZ NOT NULL</a:t>
            </a:r>
            <a:br/>
            <a: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Checkpoint: kiểm tra schema trước khi sang Buổi 2</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6 bảng OLTP đã tồn tại và đúng quan hệ FK</a:t>
            </a:r>
          </a:p>
          <a:p>
            <a:pPr>
              <a:lnSpc>
                <a:spcPct val="108000"/>
              </a:lnSpc>
              <a:spcAft>
                <a:spcPts val="800"/>
              </a:spcAft>
              <a:defRPr sz="1800">
                <a:solidFill>
                  <a:srgbClr val="262626"/>
                </a:solidFill>
                <a:latin typeface="Arial"/>
              </a:defRPr>
            </a:pPr>
            <a:r>
              <a:t>• Mọi PK/UNIQUE/CHECK quan trọng được khai báo</a:t>
            </a:r>
          </a:p>
          <a:p>
            <a:pPr>
              <a:lnSpc>
                <a:spcPct val="108000"/>
              </a:lnSpc>
              <a:spcAft>
                <a:spcPts val="800"/>
              </a:spcAft>
              <a:defRPr sz="1800">
                <a:solidFill>
                  <a:srgbClr val="262626"/>
                </a:solidFill>
                <a:latin typeface="Arial"/>
              </a:defRPr>
            </a:pPr>
            <a:r>
              <a:t>• DBeaver chạy được SELECT trên schema core</a:t>
            </a:r>
          </a:p>
          <a:p>
            <a:pPr>
              <a:lnSpc>
                <a:spcPct val="108000"/>
              </a:lnSpc>
              <a:spcAft>
                <a:spcPts val="800"/>
              </a:spcAft>
              <a:defRPr sz="1800">
                <a:solidFill>
                  <a:srgbClr val="262626"/>
                </a:solidFill>
                <a:latin typeface="Arial"/>
              </a:defRPr>
            </a:pPr>
            <a:r>
              <a:t>• ERD và SQL khớp tên bảng / cột</a:t>
            </a:r>
          </a:p>
          <a:p>
            <a:pPr>
              <a:lnSpc>
                <a:spcPct val="108000"/>
              </a:lnSpc>
              <a:spcAft>
                <a:spcPts val="800"/>
              </a:spcAft>
              <a:defRPr sz="1800">
                <a:solidFill>
                  <a:srgbClr val="262626"/>
                </a:solidFill>
                <a:latin typeface="Arial"/>
              </a:defRPr>
            </a:pPr>
            <a:r>
              <a:t>• Repository có commit cuối buổi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Lỗi thường gặp và cách xử lý</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Lỗi</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Cách xử lý</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Port 5432 đã bị chiếm</a:t>
            </a:r>
          </a:p>
          <a:p>
            <a:pPr>
              <a:lnSpc>
                <a:spcPct val="108000"/>
              </a:lnSpc>
              <a:spcAft>
                <a:spcPts val="800"/>
              </a:spcAft>
              <a:defRPr sz="1600">
                <a:solidFill>
                  <a:srgbClr val="262626"/>
                </a:solidFill>
                <a:latin typeface="Arial"/>
              </a:defRPr>
            </a:pPr>
            <a:r>
              <a:t>• FK tạo sai thứ tự bảng</a:t>
            </a:r>
          </a:p>
          <a:p>
            <a:pPr>
              <a:lnSpc>
                <a:spcPct val="108000"/>
              </a:lnSpc>
              <a:spcAft>
                <a:spcPts val="800"/>
              </a:spcAft>
              <a:defRPr sz="1600">
                <a:solidFill>
                  <a:srgbClr val="262626"/>
                </a:solidFill>
                <a:latin typeface="Arial"/>
              </a:defRPr>
            </a:pPr>
            <a:r>
              <a:t>• Dùng FLOAT cho tiền</a:t>
            </a:r>
          </a:p>
          <a:p>
            <a:pPr>
              <a:lnSpc>
                <a:spcPct val="108000"/>
              </a:lnSpc>
              <a:spcAft>
                <a:spcPts val="800"/>
              </a:spcAft>
              <a:defRPr sz="1600">
                <a:solidFill>
                  <a:srgbClr val="262626"/>
                </a:solidFill>
                <a:latin typeface="Arial"/>
              </a:defRPr>
            </a:pPr>
            <a:r>
              <a:t>• Tên cột không nhất quán</a:t>
            </a:r>
          </a:p>
          <a:p>
            <a:pPr>
              <a:lnSpc>
                <a:spcPct val="108000"/>
              </a:lnSpc>
              <a:spcAft>
                <a:spcPts val="800"/>
              </a:spcAft>
              <a:defRPr sz="1600">
                <a:solidFill>
                  <a:srgbClr val="262626"/>
                </a:solidFill>
                <a:latin typeface="Arial"/>
              </a:defRPr>
            </a:pPr>
            <a:r>
              <a:t>• Docker Desktop chưa chạy</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Kiểm tra lsof / đổi port</a:t>
            </a:r>
          </a:p>
          <a:p>
            <a:pPr>
              <a:lnSpc>
                <a:spcPct val="108000"/>
              </a:lnSpc>
              <a:spcAft>
                <a:spcPts val="800"/>
              </a:spcAft>
              <a:defRPr sz="1600">
                <a:solidFill>
                  <a:srgbClr val="262626"/>
                </a:solidFill>
                <a:latin typeface="Arial"/>
              </a:defRPr>
            </a:pPr>
            <a:r>
              <a:t>• Tạo bảng cha trước bảng con</a:t>
            </a:r>
          </a:p>
          <a:p>
            <a:pPr>
              <a:lnSpc>
                <a:spcPct val="108000"/>
              </a:lnSpc>
              <a:spcAft>
                <a:spcPts val="800"/>
              </a:spcAft>
              <a:defRPr sz="1600">
                <a:solidFill>
                  <a:srgbClr val="262626"/>
                </a:solidFill>
                <a:latin typeface="Arial"/>
              </a:defRPr>
            </a:pPr>
            <a:r>
              <a:t>• Dùng NUMERIC</a:t>
            </a:r>
          </a:p>
          <a:p>
            <a:pPr>
              <a:lnSpc>
                <a:spcPct val="108000"/>
              </a:lnSpc>
              <a:spcAft>
                <a:spcPts val="800"/>
              </a:spcAft>
              <a:defRPr sz="1600">
                <a:solidFill>
                  <a:srgbClr val="262626"/>
                </a:solidFill>
                <a:latin typeface="Arial"/>
              </a:defRPr>
            </a:pPr>
            <a:r>
              <a:t>• Theo Data Contract</a:t>
            </a:r>
          </a:p>
          <a:p>
            <a:pPr>
              <a:lnSpc>
                <a:spcPct val="108000"/>
              </a:lnSpc>
              <a:spcAft>
                <a:spcPts val="800"/>
              </a:spcAft>
              <a:defRPr sz="1600">
                <a:solidFill>
                  <a:srgbClr val="262626"/>
                </a:solidFill>
                <a:latin typeface="Arial"/>
              </a:defRPr>
            </a:pPr>
            <a:r>
              <a:t>• Mở Docker rồi docker compose ps</a:t>
            </a:r>
          </a:p>
        </p:txBody>
      </p:sp>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40</Words>
  <Application>Microsoft Office PowerPoint</Application>
  <PresentationFormat>Widescreen</PresentationFormat>
  <Paragraphs>18</Paragraphs>
  <Slides>5</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Montserrat</vt:lpstr>
      <vt:lpstr>Trebuchet MS</vt:lpstr>
      <vt:lpstr>Montserrat Medium</vt:lpstr>
      <vt:lpstr>Montserrat Black</vt:lpstr>
      <vt:lpstr>Arial</vt:lpstr>
      <vt:lpstr>Calibri</vt:lpstr>
      <vt:lpstr>Montserrat ExtraBold</vt:lpstr>
      <vt:lpstr>Courier New</vt:lpstr>
      <vt:lpstr>Office Theme</vt:lpstr>
      <vt:lpstr>Tiêu Đề</vt:lpstr>
      <vt:lpstr> NỘI DUNG</vt:lpstr>
      <vt:lpstr>1. Lịch sử ra đời của Web</vt:lpstr>
      <vt:lpstr> TỔNG KẾT</vt:lpstr>
      <vt:lpstr>KẾT THÚC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Tiêu Đề</dc:title>
  <cp:lastModifiedBy>Media Rikkei Academy</cp:lastModifiedBy>
  <cp:revision>4</cp:revision>
  <dcterms:modified xsi:type="dcterms:W3CDTF">2024-01-09T03:56:22Z</dcterms:modified>
</cp:coreProperties>
</file>