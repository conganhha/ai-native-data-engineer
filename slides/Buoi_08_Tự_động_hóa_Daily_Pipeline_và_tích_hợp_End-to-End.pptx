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278" r:id="rId50"/>
    <p:sldId id="279" r:id="rId51"/>
    <p:sldId id="280" r:id="rId52"/>
    <p:sldId id="259" r:id="rId5"/>
    <p:sldId id="260" r:id="rId6"/>
  </p:sldIdLst>
  <p:sldSz cx="12192000" cy="6858000"/>
  <p:notesSz cx="6858000" cy="9144000"/>
  <p:embeddedFontLst>
    <p:embeddedFont>
      <p:font typeface="Calibri" panose="020F0502020204030204" pitchFamily="34" charset="0"/>
      <p:regular r:id="rId8"/>
      <p:bold r:id="rId9"/>
      <p:italic r:id="rId10"/>
      <p:boldItalic r:id="rId11"/>
    </p:embeddedFont>
    <p:embeddedFont>
      <p:font typeface="Montserrat" panose="00000500000000000000" pitchFamily="2" charset="0"/>
      <p:regular r:id="rId12"/>
      <p:bold r:id="rId13"/>
      <p:italic r:id="rId14"/>
      <p:boldItalic r:id="rId15"/>
    </p:embeddedFont>
    <p:embeddedFont>
      <p:font typeface="Montserrat Black" panose="00000A00000000000000" pitchFamily="2" charset="0"/>
      <p:bold r:id="rId16"/>
      <p:boldItalic r:id="rId17"/>
    </p:embeddedFont>
    <p:embeddedFont>
      <p:font typeface="Montserrat ExtraBold" panose="00000900000000000000" pitchFamily="2" charset="0"/>
      <p:bold r:id="rId18"/>
      <p:boldItalic r:id="rId19"/>
    </p:embeddedFont>
    <p:embeddedFont>
      <p:font typeface="Montserrat Medium" panose="00000600000000000000" pitchFamily="2" charset="0"/>
      <p:regular r:id="rId20"/>
      <p:bold r:id="rId21"/>
      <p:italic r:id="rId22"/>
      <p:boldItalic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rXkCGjZF/d1qb7RGT2S1sXUuH6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font" Target="fonts/font7.fntdata"/><Relationship Id="rId15" Type="http://schemas.openxmlformats.org/officeDocument/2006/relationships/font" Target="fonts/font8.fntdata"/><Relationship Id="rId16" Type="http://schemas.openxmlformats.org/officeDocument/2006/relationships/font" Target="fonts/font9.fntdata"/><Relationship Id="rId17" Type="http://schemas.openxmlformats.org/officeDocument/2006/relationships/font" Target="fonts/font10.fntdata"/><Relationship Id="rId18" Type="http://schemas.openxmlformats.org/officeDocument/2006/relationships/font" Target="fonts/font11.fntdata"/><Relationship Id="rId19" Type="http://schemas.openxmlformats.org/officeDocument/2006/relationships/font" Target="fonts/font12.fntdata"/><Relationship Id="rId20" Type="http://schemas.openxmlformats.org/officeDocument/2006/relationships/font" Target="fonts/font13.fntdata"/><Relationship Id="rId21" Type="http://schemas.openxmlformats.org/officeDocument/2006/relationships/font" Target="fonts/font14.fntdata"/><Relationship Id="rId22" Type="http://schemas.openxmlformats.org/officeDocument/2006/relationships/font" Target="fonts/font15.fntdata"/><Relationship Id="rId23" Type="http://schemas.openxmlformats.org/officeDocument/2006/relationships/font" Target="fonts/font16.fntdata"/><Relationship Id="rId24" Type="http://schemas.openxmlformats.org/officeDocument/2006/relationships/font" Target="fonts/font17.fntdata"/><Relationship Id="rId25" Type="http://schemas.openxmlformats.org/officeDocument/2006/relationships/font" Target="fonts/font18.fntdata"/><Relationship Id="rId26" Type="http://schemas.openxmlformats.org/officeDocument/2006/relationships/font" Target="fonts/font19.fntdata"/><Relationship Id="rId27" Type="http://schemas.openxmlformats.org/officeDocument/2006/relationships/font" Target="fonts/font20.fntdata"/><Relationship Id="rId28" Type="http://customschemas.google.com/relationships/presentationmetadata" Target="meta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7"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cuối Foundation</a:t>
            </a:r>
            <a:endParaRPr lang="vi-VN"/>
          </a:p>
          <a:p>
            <a:pPr marL="0" lvl="0" indent="0" algn="l">
              <a:buNone/>
            </a:pPr>
            <a:r>
              <a:rPr lang="vi-VN" dirty="0"/>
              <a:t>Lời giảng: Buổi 8 không thêm nhiều thuật ngữ mới; nhiệm vụ là tích hợp và vận hành. Một pipeline chỉ đáng tin khi end-to-end, có log/state, chạy lại an toàn và KPI phản ánh dữ liệu mới. Cuối buổi, các em phải có một command chạy pipeline, refresh mart, kiểm DQ/KPI và bằng chứng rerun không duplicate.</a:t>
            </a:r>
            <a:endParaRPr lang="vi-VN"/>
          </a:p>
          <a:p>
            <a:pPr marL="0" lvl="0" indent="0" algn="l">
              <a:buNone/>
            </a:pPr>
            <a:r>
              <a:rPr lang="vi-VN" dirty="0"/>
              <a:t>Tương tác / demo: Hỏi lớp kể lại chuỗi từ source đến analytics bằng 6 từ khóa.</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1bac9ab7f9_1_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cuối Foundation</a:t>
            </a:r>
            <a:endParaRPr lang="vi-VN"/>
          </a:p>
          <a:p>
            <a:pPr marL="0" lvl="0" indent="0" algn="l">
              <a:buNone/>
            </a:pPr>
            <a:r>
              <a:rPr lang="vi-VN" dirty="0"/>
              <a:t>Lời giảng: Buổi 8 không thêm nhiều thuật ngữ mới; nhiệm vụ là tích hợp và vận hành. Một pipeline chỉ đáng tin khi end-to-end, có log/state, chạy lại an toàn và KPI phản ánh dữ liệu mới. Cuối buổi, các em phải có một command chạy pipeline, refresh mart, kiểm DQ/KPI và bằng chứng rerun không duplicate.</a:t>
            </a:r>
            <a:endParaRPr lang="vi-VN"/>
          </a:p>
          <a:p>
            <a:pPr marL="0" lvl="0" indent="0" algn="l">
              <a:buNone/>
            </a:pPr>
            <a:r>
              <a:rPr lang="vi-VN" dirty="0"/>
              <a:t>Tương tác / demo: Hỏi lớp kể lại chuỗi từ source đến analytics bằng 6 từ khóa.</a:t>
            </a:r>
            <a:endParaRPr lang="vi-VN"/>
          </a:p>
        </p:txBody>
      </p:sp>
      <p:sp>
        <p:nvSpPr>
          <p:cNvPr id="182" name="Google Shape;182;g11bac9ab7f9_1_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1bac9ab7f9_1_8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cuối Foundation</a:t>
            </a:r>
            <a:endParaRPr lang="vi-VN"/>
          </a:p>
          <a:p>
            <a:pPr marL="0" lvl="0" indent="0" algn="l">
              <a:buNone/>
            </a:pPr>
            <a:r>
              <a:rPr lang="vi-VN" dirty="0"/>
              <a:t>Lời giảng: Buổi 8 không thêm nhiều thuật ngữ mới; nhiệm vụ là tích hợp và vận hành. Một pipeline chỉ đáng tin khi end-to-end, có log/state, chạy lại an toàn và KPI phản ánh dữ liệu mới. Cuối buổi, các em phải có một command chạy pipeline, refresh mart, kiểm DQ/KPI và bằng chứng rerun không duplicate.</a:t>
            </a:r>
            <a:endParaRPr lang="vi-VN"/>
          </a:p>
          <a:p>
            <a:pPr marL="0" lvl="0" indent="0" algn="l">
              <a:buNone/>
            </a:pPr>
            <a:r>
              <a:rPr lang="vi-VN" dirty="0"/>
              <a:t>Tương tác / demo: Hỏi lớp kể lại chuỗi từ source đến analytics bằng 6 từ khóa.</a:t>
            </a:r>
            <a:endParaRPr lang="vi-VN"/>
          </a:p>
        </p:txBody>
      </p:sp>
      <p:sp>
        <p:nvSpPr>
          <p:cNvPr id="189" name="Google Shape;189;g11bac9ab7f9_1_8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1bac9ab7f9_1_10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End-to-end, command, config/secrets, audit</a:t>
            </a:r>
            <a:endParaRPr lang="vi-VN"/>
          </a:p>
          <a:p>
            <a:pPr marL="0" lvl="0" indent="0" algn="l">
              <a:buNone/>
            </a:pPr>
            <a:r>
              <a:rPr lang="vi-VN" dirty="0"/>
              <a:t>Lời giảng: Chuỗi cuối cùng là Sources → RAW → STAGING/Validate → CORE → MART → Analytics. Một command nên điều phối nhiều component thay vì người vận hành chạy tay từng file. Config có thể commit default; secret thì không. Mỗi lần chạy cần run_id, started/finished time, status và row counts để trace.</a:t>
            </a:r>
            <a:endParaRPr lang="vi-VN"/>
          </a:p>
          <a:p>
            <a:pPr marL="0" lvl="0" indent="0" algn="l">
              <a:buNone/>
            </a:pPr>
            <a:r>
              <a:rPr lang="vi-VN" dirty="0"/>
              <a:t>Tương tác / demo: Mở pipeline command và một log/report sample. Hỏi nếu không có run_id thì điều tra nhiều lần chạy cùng ngày khó thế nào.</a:t>
            </a:r>
            <a:endParaRPr lang="vi-VN"/>
          </a:p>
        </p:txBody>
      </p:sp>
      <p:sp>
        <p:nvSpPr>
          <p:cNvPr id="196" name="Google Shape;196;g11bac9ab7f9_1_10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bb26f517d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05–14 phút | End-to-end, command, config/secrets, audit</a:t>
            </a:r>
            <a:endParaRPr lang="vi-VN"/>
          </a:p>
          <a:p>
            <a:pPr marL="0" lvl="0" indent="0" algn="l">
              <a:buNone/>
            </a:pPr>
            <a:r>
              <a:rPr lang="vi-VN" dirty="0"/>
              <a:t>Lời giảng: Chuỗi cuối cùng là Sources → RAW → STAGING/Validate → CORE → MART → Analytics. Một command nên điều phối nhiều component thay vì người vận hành chạy tay từng file. Config có thể commit default; secret thì không. Mỗi lần chạy cần run_id, started/finished time, status và row counts để trace.</a:t>
            </a:r>
            <a:endParaRPr lang="vi-VN"/>
          </a:p>
          <a:p>
            <a:pPr marL="0" lvl="0" indent="0" algn="l">
              <a:buNone/>
            </a:pPr>
            <a:r>
              <a:rPr lang="vi-VN" dirty="0"/>
              <a:t>Tương tác / demo: Mở pipeline command và một log/report sample. Hỏi nếu không có run_id thì điều tra nhiều lần chạy cùng ngày khó thế nào.</a:t>
            </a:r>
            <a:endParaRPr lang="vi-VN"/>
          </a:p>
          <a:p>
            <a:pPr marL="0" lvl="0" indent="0" algn="l">
              <a:buNone/>
            </a:pPr>
            <a:r>
              <a:rPr lang="vi-VN" dirty="0"/>
              <a:t>—</a:t>
            </a:r>
            <a:endParaRPr lang="vi-VN"/>
          </a:p>
          <a:p>
            <a:pPr marL="0" lvl="0" indent="0" algn="l">
              <a:buNone/>
            </a:pPr>
            <a:r>
              <a:rPr lang="vi-VN" dirty="0"/>
              <a:t>60–74 phút | Lab 8A – Chạy pipeline lần 1</a:t>
            </a:r>
            <a:endParaRPr lang="vi-VN"/>
          </a:p>
          <a:p>
            <a:pPr marL="0" lvl="0" indent="0" algn="l">
              <a:buNone/>
            </a:pPr>
            <a:r>
              <a:rPr lang="vi-VN" dirty="0"/>
              <a:t>Lời giảng: Chạy command end-to-end. Theo dõi log theo component thay vì chờ đến cuối. Nếu fail, dừng ở component lỗi và sửa đúng lớp. Sau success, ghi run_id, input/valid/reject, inserted/updated và checkpoint mới.</a:t>
            </a:r>
            <a:endParaRPr lang="vi-VN"/>
          </a:p>
          <a:p>
            <a:pPr marL="0" lvl="0" indent="0" algn="l">
              <a:buNone/>
            </a:pPr>
            <a:r>
              <a:rPr lang="vi-VN" dirty="0"/>
              <a:t>Tương tác / demo: GV yêu cầu nhóm không xóa log lỗi; giữ làm evidence troubleshooting.</a:t>
            </a:r>
            <a:endParaRPr lang="vi-VN"/>
          </a:p>
        </p:txBody>
      </p:sp>
      <p:sp>
        <p:nvSpPr>
          <p:cNvPr id="203" name="Google Shape;203;g11bb26f517d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End-to-end, command, config/secrets, audit</a:t>
            </a:r>
            <a:endParaRPr lang="vi-VN"/>
          </a:p>
          <a:p>
            <a:pPr marL="0" lvl="0" indent="0" algn="l">
              <a:buNone/>
            </a:pPr>
            <a:r>
              <a:rPr lang="vi-VN" dirty="0"/>
              <a:t>Lời giảng: Chuỗi cuối cùng là Sources → RAW → STAGING/Validate → CORE → MART → Analytics. Một command nên điều phối nhiều component thay vì người vận hành chạy tay từng file. Config có thể commit default; secret thì không. Mỗi lần chạy cần run_id, started/finished time, status và row counts để trace.</a:t>
            </a:r>
            <a:endParaRPr lang="vi-VN"/>
          </a:p>
          <a:p>
            <a:pPr marL="0" lvl="0" indent="0" algn="l">
              <a:buNone/>
            </a:pPr>
            <a:r>
              <a:rPr lang="vi-VN" dirty="0"/>
              <a:t>Tương tác / demo: Mở pipeline command và một log/report sample. Hỏi nếu không có run_id thì điều tra nhiều lần chạy cùng ngày khó thế nào.</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End-to-end, command, config/secrets, audit</a:t>
            </a:r>
            <a:endParaRPr lang="vi-VN"/>
          </a:p>
          <a:p>
            <a:pPr marL="0" lvl="0" indent="0" algn="l">
              <a:buNone/>
            </a:pPr>
            <a:r>
              <a:rPr lang="vi-VN" dirty="0"/>
              <a:t>Lời giảng: Chuỗi cuối cùng là Sources → RAW → STAGING/Validate → CORE → MART → Analytics. Một command nên điều phối nhiều component thay vì người vận hành chạy tay từng file. Config có thể commit default; secret thì không. Mỗi lần chạy cần run_id, started/finished time, status và row counts để trace.</a:t>
            </a:r>
            <a:endParaRPr lang="vi-VN"/>
          </a:p>
          <a:p>
            <a:pPr marL="0" lvl="0" indent="0" algn="l">
              <a:buNone/>
            </a:pPr>
            <a:r>
              <a:rPr lang="vi-VN" dirty="0"/>
              <a:t>Tương tác / demo: Mở pipeline command và một log/report sample. Hỏi nếu không có run_id thì điều tra nhiều lần chạy cùng ngày khó thế nào.</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14–26 phút | Retry, checkpoint, idempotency, logging</a:t>
            </a:r>
            <a:endParaRPr lang="vi-VN"/>
          </a:p>
          <a:p>
            <a:pPr marL="0" lvl="0" indent="0" algn="l">
              <a:buNone/>
            </a:pPr>
            <a:r>
              <a:rPr lang="vi-VN" dirty="0"/>
              <a:t>Lời giảng: Phân biệt transient và permanent error để retry đúng. Checkpoint chỉ commit sau thành công. Idempotency dựa trên unique key, upsert, checkpoint, transaction và batch identity. Structured logging phải kể được câu chuyện của run: extract bao nhiêu, validate bao nhiêu, load bao nhiêu, status ra sao. Nếu chạy lần hai cùng batch mà dữ liệu nhân đôi, pipeline chưa đạt.</a:t>
            </a:r>
            <a:endParaRPr lang="vi-VN"/>
          </a:p>
          <a:p>
            <a:pPr marL="0" lvl="0" indent="0" algn="l">
              <a:buNone/>
            </a:pPr>
            <a:r>
              <a:rPr lang="vi-VN" dirty="0"/>
              <a:t>Tương tác / demo: Cho lớp phân loại timeout, 401, bad schema, FK violation thành retry hay fail.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14–26 phút | Retry, checkpoint, idempotency, logging</a:t>
            </a:r>
            <a:endParaRPr lang="vi-VN"/>
          </a:p>
          <a:p>
            <a:pPr marL="0" lvl="0" indent="0" algn="l">
              <a:buNone/>
            </a:pPr>
            <a:r>
              <a:rPr lang="vi-VN" dirty="0"/>
              <a:t>Lời giảng: Phân biệt transient và permanent error để retry đúng. Checkpoint chỉ commit sau thành công. Idempotency dựa trên unique key, upsert, checkpoint, transaction và batch identity. Structured logging phải kể được câu chuyện của run: extract bao nhiêu, validate bao nhiêu, load bao nhiêu, status ra sao. Nếu chạy lần hai cùng batch mà dữ liệu nhân đôi, pipeline chưa đạt.</a:t>
            </a:r>
            <a:endParaRPr lang="vi-VN"/>
          </a:p>
          <a:p>
            <a:pPr marL="0" lvl="0" indent="0" algn="l">
              <a:buNone/>
            </a:pPr>
            <a:r>
              <a:rPr lang="vi-VN" dirty="0"/>
              <a:t>Tương tác / demo: Cho lớp phân loại timeout, 401, bad schema, FK violation thành retry hay fail.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14–26 phút | Retry, checkpoint, idempotency, logging</a:t>
            </a:r>
            <a:endParaRPr lang="vi-VN"/>
          </a:p>
          <a:p>
            <a:pPr marL="0" lvl="0" indent="0" algn="l">
              <a:buNone/>
            </a:pPr>
            <a:r>
              <a:rPr lang="vi-VN" dirty="0"/>
              <a:t>Lời giảng: Phân biệt transient và permanent error để retry đúng. Checkpoint chỉ commit sau thành công. Idempotency dựa trên unique key, upsert, checkpoint, transaction và batch identity. Structured logging phải kể được câu chuyện của run: extract bao nhiêu, validate bao nhiêu, load bao nhiêu, status ra sao. Nếu chạy lần hai cùng batch mà dữ liệu nhân đôi, pipeline chưa đạt.</a:t>
            </a:r>
            <a:endParaRPr lang="vi-VN"/>
          </a:p>
          <a:p>
            <a:pPr marL="0" lvl="0" indent="0" algn="l">
              <a:buNone/>
            </a:pPr>
            <a:r>
              <a:rPr lang="vi-VN" dirty="0"/>
              <a:t>Tương tác / demo: Cho lớp phân loại timeout, 401, bad schema, FK violation thành retry hay fail.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14–26 phút | Retry, checkpoint, idempotency, logging</a:t>
            </a:r>
            <a:endParaRPr lang="vi-VN"/>
          </a:p>
          <a:p>
            <a:pPr marL="0" lvl="0" indent="0" algn="l">
              <a:buNone/>
            </a:pPr>
            <a:r>
              <a:rPr lang="vi-VN" dirty="0"/>
              <a:t>Lời giảng: Phân biệt transient và permanent error để retry đúng. Checkpoint chỉ commit sau thành công. Idempotency dựa trên unique key, upsert, checkpoint, transaction và batch identity. Structured logging phải kể được câu chuyện của run: extract bao nhiêu, validate bao nhiêu, load bao nhiêu, status ra sao. Nếu chạy lần hai cùng batch mà dữ liệu nhân đôi, pipeline chưa đạt.</a:t>
            </a:r>
            <a:endParaRPr lang="vi-VN"/>
          </a:p>
          <a:p>
            <a:pPr marL="0" lvl="0" indent="0" algn="l">
              <a:buNone/>
            </a:pPr>
            <a:r>
              <a:rPr lang="vi-VN" dirty="0"/>
              <a:t>Tương tác / demo: Cho lớp phân loại timeout, 401, bad schema, FK violation thành retry hay fail.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26–36 phút | Scheduling, cron và state machine</a:t>
            </a:r>
            <a:endParaRPr lang="vi-VN"/>
          </a:p>
          <a:p>
            <a:pPr marL="0" lvl="0" indent="0" algn="l">
              <a:buNone/>
            </a:pPr>
            <a:r>
              <a:rPr lang="vi-VN" dirty="0"/>
              <a:t>Lời giảng: Scheduler chỉ chạy command theo lịch; nó không sửa logic pipeline. Cron là công cụ đơn giản để minh họa scheduling, còn production sau này dùng Airflow/Dagster. Luôn dùng absolute path và capture log/exit code. State machine START → EXTRACT → VALIDATE → LOAD → REFRESH → END giúp ta biết pipeline gãy ở đâu.</a:t>
            </a:r>
            <a:endParaRPr lang="vi-VN"/>
          </a:p>
          <a:p>
            <a:pPr marL="0" lvl="0" indent="0" algn="l">
              <a:buNone/>
            </a:pPr>
            <a:r>
              <a:rPr lang="vi-VN" dirty="0"/>
              <a:t>Tương tác / demo: Giải thích cron `0 7 * * *` và hỏi nếu máy tắt lúc 7h thì chuyện gì xảy ra — để thấy giới hạn cron.</a:t>
            </a:r>
            <a:endParaRPr lang="vi-VN"/>
          </a:p>
          <a:p>
            <a:pPr marL="0" lvl="0" indent="0" algn="l">
              <a:buNone/>
            </a:pPr>
            <a:r>
              <a:rPr lang="vi-VN" dirty="0"/>
              <a:t>—</a:t>
            </a:r>
            <a:endParaRPr lang="vi-VN"/>
          </a:p>
          <a:p>
            <a:pPr marL="0" lvl="0" indent="0" algn="l">
              <a:buNone/>
            </a:pPr>
            <a:r>
              <a:rPr lang="vi-VN" dirty="0"/>
              <a:t>98–108 phút | Lab 8D – Scheduling/troubleshooting drill</a:t>
            </a:r>
            <a:endParaRPr lang="vi-VN"/>
          </a:p>
          <a:p>
            <a:pPr marL="0" lvl="0" indent="0" algn="l">
              <a:buNone/>
            </a:pPr>
            <a:r>
              <a:rPr lang="vi-VN" dirty="0"/>
              <a:t>Lời giảng: Cấu hình run_daily.sh/cron example hoặc mô phỏng scheduler. Sau đó cố tình tạo một lỗi nhỏ như sai API key hoặc dừng DB, dùng checklist để tìm đúng điểm gãy. Mục tiêu là luyện quy trình chẩn đoán, không phải làm hệ thống hỏng lâu.</a:t>
            </a:r>
            <a:endParaRPr lang="vi-VN"/>
          </a:p>
          <a:p>
            <a:pPr marL="0" lvl="0" indent="0" algn="l">
              <a:buNone/>
            </a:pPr>
            <a:r>
              <a:rPr lang="vi-VN" dirty="0"/>
              <a:t>Tương tác / demo: GV chọn một lỗi duy nhất để lớp xử lý cùng nhau nếu thời gian hạn chế.</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26–36 phút | Scheduling, cron và state machine</a:t>
            </a:r>
            <a:endParaRPr lang="vi-VN"/>
          </a:p>
          <a:p>
            <a:pPr marL="0" lvl="0" indent="0" algn="l">
              <a:buNone/>
            </a:pPr>
            <a:r>
              <a:rPr lang="vi-VN" dirty="0"/>
              <a:t>Lời giảng: Scheduler chỉ chạy command theo lịch; nó không sửa logic pipeline. Cron là công cụ đơn giản để minh họa scheduling, còn production sau này dùng Airflow/Dagster. Luôn dùng absolute path và capture log/exit code. State machine START → EXTRACT → VALIDATE → LOAD → REFRESH → END giúp ta biết pipeline gãy ở đâu.</a:t>
            </a:r>
            <a:endParaRPr lang="vi-VN"/>
          </a:p>
          <a:p>
            <a:pPr marL="0" lvl="0" indent="0" algn="l">
              <a:buNone/>
            </a:pPr>
            <a:r>
              <a:rPr lang="vi-VN" dirty="0"/>
              <a:t>Tương tác / demo: Giải thích cron `0 7 * * *` và hỏi nếu máy tắt lúc 7h thì chuyện gì xảy ra — để thấy giới hạn cron.</a:t>
            </a:r>
            <a:endParaRPr lang="vi-VN"/>
          </a:p>
          <a:p>
            <a:pPr marL="0" lvl="0" indent="0" algn="l">
              <a:buNone/>
            </a:pPr>
            <a:r>
              <a:rPr lang="vi-VN" dirty="0"/>
              <a:t>—</a:t>
            </a:r>
            <a:endParaRPr lang="vi-VN"/>
          </a:p>
          <a:p>
            <a:pPr marL="0" lvl="0" indent="0" algn="l">
              <a:buNone/>
            </a:pPr>
            <a:r>
              <a:rPr lang="vi-VN" dirty="0"/>
              <a:t>98–108 phút | Lab 8D – Scheduling/troubleshooting drill</a:t>
            </a:r>
            <a:endParaRPr lang="vi-VN"/>
          </a:p>
          <a:p>
            <a:pPr marL="0" lvl="0" indent="0" algn="l">
              <a:buNone/>
            </a:pPr>
            <a:r>
              <a:rPr lang="vi-VN" dirty="0"/>
              <a:t>Lời giảng: Cấu hình run_daily.sh/cron example hoặc mô phỏng scheduler. Sau đó cố tình tạo một lỗi nhỏ như sai API key hoặc dừng DB, dùng checklist để tìm đúng điểm gãy. Mục tiêu là luyện quy trình chẩn đoán, không phải làm hệ thống hỏng lâu.</a:t>
            </a:r>
            <a:endParaRPr lang="vi-VN"/>
          </a:p>
          <a:p>
            <a:pPr marL="0" lvl="0" indent="0" algn="l">
              <a:buNone/>
            </a:pPr>
            <a:r>
              <a:rPr lang="vi-VN" dirty="0"/>
              <a:t>Tương tác / demo: GV chọn một lỗi duy nhất để lớp xử lý cùng nhau nếu thời gian hạn chế.</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26–36 phút | Scheduling, cron và state machine</a:t>
            </a:r>
            <a:endParaRPr lang="vi-VN"/>
          </a:p>
          <a:p>
            <a:pPr marL="0" lvl="0" indent="0" algn="l">
              <a:buNone/>
            </a:pPr>
            <a:r>
              <a:rPr lang="vi-VN" dirty="0"/>
              <a:t>Lời giảng: Scheduler chỉ chạy command theo lịch; nó không sửa logic pipeline. Cron là công cụ đơn giản để minh họa scheduling, còn production sau này dùng Airflow/Dagster. Luôn dùng absolute path và capture log/exit code. State machine START → EXTRACT → VALIDATE → LOAD → REFRESH → END giúp ta biết pipeline gãy ở đâu.</a:t>
            </a:r>
            <a:endParaRPr lang="vi-VN"/>
          </a:p>
          <a:p>
            <a:pPr marL="0" lvl="0" indent="0" algn="l">
              <a:buNone/>
            </a:pPr>
            <a:r>
              <a:rPr lang="vi-VN" dirty="0"/>
              <a:t>Tương tác / demo: Giải thích cron `0 7 * * *` và hỏi nếu máy tắt lúc 7h thì chuyện gì xảy ra — để thấy giới hạn cron.</a:t>
            </a:r>
            <a:endParaRPr lang="vi-VN"/>
          </a:p>
          <a:p>
            <a:pPr marL="0" lvl="0" indent="0" algn="l">
              <a:buNone/>
            </a:pPr>
            <a:r>
              <a:rPr lang="vi-VN" dirty="0"/>
              <a:t>—</a:t>
            </a:r>
            <a:endParaRPr lang="vi-VN"/>
          </a:p>
          <a:p>
            <a:pPr marL="0" lvl="0" indent="0" algn="l">
              <a:buNone/>
            </a:pPr>
            <a:r>
              <a:rPr lang="vi-VN" dirty="0"/>
              <a:t>60–74 phút | Lab 8A – Chạy pipeline lần 1</a:t>
            </a:r>
            <a:endParaRPr lang="vi-VN"/>
          </a:p>
          <a:p>
            <a:pPr marL="0" lvl="0" indent="0" algn="l">
              <a:buNone/>
            </a:pPr>
            <a:r>
              <a:rPr lang="vi-VN" dirty="0"/>
              <a:t>Lời giảng: Chạy command end-to-end. Theo dõi log theo component thay vì chờ đến cuối. Nếu fail, dừng ở component lỗi và sửa đúng lớp. Sau success, ghi run_id, input/valid/reject, inserted/updated và checkpoint mới.</a:t>
            </a:r>
            <a:endParaRPr lang="vi-VN"/>
          </a:p>
          <a:p>
            <a:pPr marL="0" lvl="0" indent="0" algn="l">
              <a:buNone/>
            </a:pPr>
            <a:r>
              <a:rPr lang="vi-VN" dirty="0"/>
              <a:t>Tương tác / demo: GV yêu cầu nhóm không xóa log lỗi; giữ làm evidence troubleshooting.</a:t>
            </a:r>
            <a:endParaRPr lang="vi-VN"/>
          </a:p>
          <a:p>
            <a:pPr marL="0" lvl="0" indent="0" algn="l">
              <a:buNone/>
            </a:pPr>
            <a:r>
              <a:rPr lang="vi-VN" dirty="0"/>
              <a:t>—</a:t>
            </a:r>
            <a:endParaRPr lang="vi-VN"/>
          </a:p>
          <a:p>
            <a:pPr marL="0" lvl="0" indent="0" algn="l">
              <a:buNone/>
            </a:pPr>
            <a:r>
              <a:rPr lang="vi-VN" dirty="0"/>
              <a:t>98–108 phút | Lab 8D – Scheduling/troubleshooting drill</a:t>
            </a:r>
            <a:endParaRPr lang="vi-VN"/>
          </a:p>
          <a:p>
            <a:pPr marL="0" lvl="0" indent="0" algn="l">
              <a:buNone/>
            </a:pPr>
            <a:r>
              <a:rPr lang="vi-VN" dirty="0"/>
              <a:t>Lời giảng: Cấu hình run_daily.sh/cron example hoặc mô phỏng scheduler. Sau đó cố tình tạo một lỗi nhỏ như sai API key hoặc dừng DB, dùng checklist để tìm đúng điểm gãy. Mục tiêu là luyện quy trình chẩn đoán, không phải làm hệ thống hỏng lâu.</a:t>
            </a:r>
            <a:endParaRPr lang="vi-VN"/>
          </a:p>
          <a:p>
            <a:pPr marL="0" lvl="0" indent="0" algn="l">
              <a:buNone/>
            </a:pPr>
            <a:r>
              <a:rPr lang="vi-VN" dirty="0"/>
              <a:t>Tương tác / demo: GV chọn một lỗi duy nhất để lớp xử lý cùng nhau nếu thời gian hạn chế.</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36–46 phút | Health check, troubleshooting, chạy 2 lần</a:t>
            </a:r>
            <a:endParaRPr lang="vi-VN"/>
          </a:p>
          <a:p>
            <a:pPr marL="0" lvl="0" indent="0" algn="l">
              <a:buNone/>
            </a:pPr>
            <a:r>
              <a:rPr lang="vi-VN" dirty="0"/>
              <a:t>Lời giảng: Trước khi chạy cần health check DB, API, disk/path, row counts và reject rate. Troubleshoot theo 'điểm gãy' thay vì nhìn toàn hệ thống cùng lúc: auth/network, DB connection, validation, load, mart refresh. Acceptance test quan trọng nhất là chạy 2 lần: lần 1 ingest, lần 2 cùng batch để chứng minh không duplicate.</a:t>
            </a:r>
            <a:endParaRPr lang="vi-VN"/>
          </a:p>
          <a:p>
            <a:pPr marL="0" lvl="0" indent="0" algn="l">
              <a:buNone/>
            </a:pPr>
            <a:r>
              <a:rPr lang="vi-VN" dirty="0"/>
              <a:t>Tương tác / demo: Cho một triệu chứng 'KPI không đổi sau pipeline' và để lớp lần theo refresh mart/reconciliation.</a:t>
            </a:r>
            <a:endParaRPr lang="vi-VN"/>
          </a:p>
          <a:p>
            <a:pPr marL="0" lvl="0" indent="0" algn="l">
              <a:buNone/>
            </a:pPr>
            <a:r>
              <a:rPr lang="vi-VN" dirty="0"/>
              <a:t>—</a:t>
            </a:r>
            <a:endParaRPr lang="vi-VN"/>
          </a:p>
          <a:p>
            <a:pPr marL="0" lvl="0" indent="0" algn="l">
              <a:buNone/>
            </a:pPr>
            <a:r>
              <a:rPr lang="vi-VN" dirty="0"/>
              <a:t>98–108 phút | Lab 8D – Scheduling/troubleshooting drill</a:t>
            </a:r>
            <a:endParaRPr lang="vi-VN"/>
          </a:p>
          <a:p>
            <a:pPr marL="0" lvl="0" indent="0" algn="l">
              <a:buNone/>
            </a:pPr>
            <a:r>
              <a:rPr lang="vi-VN" dirty="0"/>
              <a:t>Lời giảng: Cấu hình run_daily.sh/cron example hoặc mô phỏng scheduler. Sau đó cố tình tạo một lỗi nhỏ như sai API key hoặc dừng DB, dùng checklist để tìm đúng điểm gãy. Mục tiêu là luyện quy trình chẩn đoán, không phải làm hệ thống hỏng lâu.</a:t>
            </a:r>
            <a:endParaRPr lang="vi-VN"/>
          </a:p>
          <a:p>
            <a:pPr marL="0" lvl="0" indent="0" algn="l">
              <a:buNone/>
            </a:pPr>
            <a:r>
              <a:rPr lang="vi-VN" dirty="0"/>
              <a:t>Tương tác / demo: GV chọn một lỗi duy nhất để lớp xử lý cùng nhau nếu thời gian hạn chế.</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36–46 phút | Health check, troubleshooting, chạy 2 lần</a:t>
            </a:r>
            <a:endParaRPr lang="vi-VN"/>
          </a:p>
          <a:p>
            <a:pPr marL="0" lvl="0" indent="0" algn="l">
              <a:buNone/>
            </a:pPr>
            <a:r>
              <a:rPr lang="vi-VN" dirty="0"/>
              <a:t>Lời giảng: Trước khi chạy cần health check DB, API, disk/path, row counts và reject rate. Troubleshoot theo 'điểm gãy' thay vì nhìn toàn hệ thống cùng lúc: auth/network, DB connection, validation, load, mart refresh. Acceptance test quan trọng nhất là chạy 2 lần: lần 1 ingest, lần 2 cùng batch để chứng minh không duplicate.</a:t>
            </a:r>
            <a:endParaRPr lang="vi-VN"/>
          </a:p>
          <a:p>
            <a:pPr marL="0" lvl="0" indent="0" algn="l">
              <a:buNone/>
            </a:pPr>
            <a:r>
              <a:rPr lang="vi-VN" dirty="0"/>
              <a:t>Tương tác / demo: Cho một triệu chứng 'KPI không đổi sau pipeline' và để lớp lần theo refresh mart/reconciliation.</a:t>
            </a:r>
            <a:endParaRPr lang="vi-VN"/>
          </a:p>
          <a:p>
            <a:pPr marL="0" lvl="0" indent="0" algn="l">
              <a:buNone/>
            </a:pPr>
            <a:r>
              <a:rPr lang="vi-VN" dirty="0"/>
              <a:t>—</a:t>
            </a:r>
            <a:endParaRPr lang="vi-VN"/>
          </a:p>
          <a:p>
            <a:pPr marL="0" lvl="0" indent="0" algn="l">
              <a:buNone/>
            </a:pPr>
            <a:r>
              <a:rPr lang="vi-VN" dirty="0"/>
              <a:t>98–108 phút | Lab 8D – Scheduling/troubleshooting drill</a:t>
            </a:r>
            <a:endParaRPr lang="vi-VN"/>
          </a:p>
          <a:p>
            <a:pPr marL="0" lvl="0" indent="0" algn="l">
              <a:buNone/>
            </a:pPr>
            <a:r>
              <a:rPr lang="vi-VN" dirty="0"/>
              <a:t>Lời giảng: Cấu hình run_daily.sh/cron example hoặc mô phỏng scheduler. Sau đó cố tình tạo một lỗi nhỏ như sai API key hoặc dừng DB, dùng checklist để tìm đúng điểm gãy. Mục tiêu là luyện quy trình chẩn đoán, không phải làm hệ thống hỏng lâu.</a:t>
            </a:r>
            <a:endParaRPr lang="vi-VN"/>
          </a:p>
          <a:p>
            <a:pPr marL="0" lvl="0" indent="0" algn="l">
              <a:buNone/>
            </a:pPr>
            <a:r>
              <a:rPr lang="vi-VN" dirty="0"/>
              <a:t>Tương tác / demo: GV chọn một lỗi duy nhất để lớp xử lý cùng nhau nếu thời gian hạn chế.</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36–46 phút | Health check, troubleshooting, chạy 2 lần</a:t>
            </a:r>
            <a:endParaRPr lang="vi-VN"/>
          </a:p>
          <a:p>
            <a:pPr marL="0" lvl="0" indent="0" algn="l">
              <a:buNone/>
            </a:pPr>
            <a:r>
              <a:rPr lang="vi-VN" dirty="0"/>
              <a:t>Lời giảng: Trước khi chạy cần health check DB, API, disk/path, row counts và reject rate. Troubleshoot theo 'điểm gãy' thay vì nhìn toàn hệ thống cùng lúc: auth/network, DB connection, validation, load, mart refresh. Acceptance test quan trọng nhất là chạy 2 lần: lần 1 ingest, lần 2 cùng batch để chứng minh không duplicate.</a:t>
            </a:r>
            <a:endParaRPr lang="vi-VN"/>
          </a:p>
          <a:p>
            <a:pPr marL="0" lvl="0" indent="0" algn="l">
              <a:buNone/>
            </a:pPr>
            <a:r>
              <a:rPr lang="vi-VN" dirty="0"/>
              <a:t>Tương tác / demo: Cho một triệu chứng 'KPI không đổi sau pipeline' và để lớp lần theo refresh mart/reconciliation.</a:t>
            </a:r>
            <a:endParaRPr lang="vi-VN"/>
          </a:p>
          <a:p>
            <a:pPr marL="0" lvl="0" indent="0" algn="l">
              <a:buNone/>
            </a:pPr>
            <a:r>
              <a:rPr lang="vi-VN" dirty="0"/>
              <a:t>—</a:t>
            </a:r>
            <a:endParaRPr lang="vi-VN"/>
          </a:p>
          <a:p>
            <a:pPr marL="0" lvl="0" indent="0" algn="l">
              <a:buNone/>
            </a:pPr>
            <a:r>
              <a:rPr lang="vi-VN" dirty="0"/>
              <a:t>74–86 phút | Lab 8B – Chạy lại cùng batch</a:t>
            </a:r>
            <a:endParaRPr lang="vi-VN"/>
          </a:p>
          <a:p>
            <a:pPr marL="0" lvl="0" indent="0" algn="l">
              <a:buNone/>
            </a:pPr>
            <a:r>
              <a:rPr lang="vi-VN" dirty="0"/>
              <a:t>Lời giảng: Chạy lần hai cùng batch/state. Kiểm PK counts, inserted/updated, checkpoint và reject counts. Mục tiêu là chứng minh không duplicate và KPI không thay đổi ngoài phần thực sự mutable. Nếu tăng record bất thường, truy unique/upsert/checkpoint.</a:t>
            </a:r>
            <a:endParaRPr lang="vi-VN"/>
          </a:p>
          <a:p>
            <a:pPr marL="0" lvl="0" indent="0" algn="l">
              <a:buNone/>
            </a:pPr>
            <a:r>
              <a:rPr lang="vi-VN" dirty="0"/>
              <a:t>Tương tác / demo: Cho nhóm ghi kết quả Run1 vs Run2 vào bảng nhỏ.</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46–54 phút | Refresh mart, KPI, mini project và bước tiếp theo</a:t>
            </a:r>
            <a:endParaRPr lang="vi-VN"/>
          </a:p>
          <a:p>
            <a:pPr marL="0" lvl="0" indent="0" algn="l">
              <a:buNone/>
            </a:pPr>
            <a:r>
              <a:rPr lang="vi-VN" dirty="0"/>
              <a:t>Lời giảng: Sau CORE update, refresh dimensions/fact rồi chạy KPI trước/sau. SQL Buổi 3–4 phải phản ánh dữ liệu mới mà không sửa logic metric. Mini project cuối Foundation phải chứng minh hệ thống chạy thật, có DQ report, rerun-safe, KPI thay đổi đúng và README/demo. Sau nền tảng này mới sang orchestration chuyên nghiệp, Spark, Kafka, warehouse/cloud và observability.</a:t>
            </a:r>
            <a:endParaRPr lang="vi-VN"/>
          </a:p>
          <a:p>
            <a:pPr marL="0" lvl="0" indent="0" algn="l">
              <a:buNone/>
            </a:pPr>
            <a:r>
              <a:rPr lang="vi-VN" dirty="0"/>
              <a:t>Tương tác / demo: Nhấn mạnh demo 5–7 phút phải chạy hệ thống, không chỉ trình chiếu slide.</a:t>
            </a:r>
            <a:endParaRPr lang="vi-VN"/>
          </a:p>
          <a:p>
            <a:pPr marL="0" lvl="0" indent="0" algn="l">
              <a:buNone/>
            </a:pPr>
            <a:r>
              <a:rPr lang="vi-VN" dirty="0"/>
              <a:t>—</a:t>
            </a:r>
            <a:endParaRPr lang="vi-VN"/>
          </a:p>
          <a:p>
            <a:pPr marL="0" lvl="0" indent="0" algn="l">
              <a:buNone/>
            </a:pPr>
            <a:r>
              <a:rPr lang="vi-VN" dirty="0"/>
              <a:t>86–98 phút | Lab 8C – Refresh Mart + KPI before/after</a:t>
            </a:r>
            <a:endParaRPr lang="vi-VN"/>
          </a:p>
          <a:p>
            <a:pPr marL="0" lvl="0" indent="0" algn="l">
              <a:buNone/>
            </a:pPr>
            <a:r>
              <a:rPr lang="vi-VN" dirty="0"/>
              <a:t>Lời giảng: Refresh dimensions rồi fact. Chạy lại KPI revenue, orders, active customers, payment success, top category và reject rate. So với baseline và giải thích delta dựa trên input batch. Không chấp nhận chỉ nói 'KPI tăng'; phải giải thích vì dữ liệu nào.</a:t>
            </a:r>
            <a:endParaRPr lang="vi-VN"/>
          </a:p>
          <a:p>
            <a:pPr marL="0" lvl="0" indent="0" algn="l">
              <a:buNone/>
            </a:pPr>
            <a:r>
              <a:rPr lang="vi-VN" dirty="0"/>
              <a:t>Tương tác / demo: Yêu cầu một nhóm chọn một KPI và trace từ source record đến mart/report.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46–54 phút | Refresh mart, KPI, mini project và bước tiếp theo</a:t>
            </a:r>
            <a:endParaRPr lang="vi-VN"/>
          </a:p>
          <a:p>
            <a:pPr marL="0" lvl="0" indent="0" algn="l">
              <a:buNone/>
            </a:pPr>
            <a:r>
              <a:rPr lang="vi-VN" dirty="0"/>
              <a:t>Lời giảng: Sau CORE update, refresh dimensions/fact rồi chạy KPI trước/sau. SQL Buổi 3–4 phải phản ánh dữ liệu mới mà không sửa logic metric. Mini project cuối Foundation phải chứng minh hệ thống chạy thật, có DQ report, rerun-safe, KPI thay đổi đúng và README/demo. Sau nền tảng này mới sang orchestration chuyên nghiệp, Spark, Kafka, warehouse/cloud và observability.</a:t>
            </a:r>
            <a:endParaRPr lang="vi-VN"/>
          </a:p>
          <a:p>
            <a:pPr marL="0" lvl="0" indent="0" algn="l">
              <a:buNone/>
            </a:pPr>
            <a:r>
              <a:rPr lang="vi-VN" dirty="0"/>
              <a:t>Tương tác / demo: Nhấn mạnh demo 5–7 phút phải chạy hệ thống, không chỉ trình chiếu slide.</a:t>
            </a:r>
            <a:endParaRPr lang="vi-VN"/>
          </a:p>
          <a:p>
            <a:pPr marL="0" lvl="0" indent="0" algn="l">
              <a:buNone/>
            </a:pPr>
            <a:r>
              <a:rPr lang="vi-VN" dirty="0"/>
              <a:t>—</a:t>
            </a:r>
            <a:endParaRPr lang="vi-VN"/>
          </a:p>
          <a:p>
            <a:pPr marL="0" lvl="0" indent="0" algn="l">
              <a:buNone/>
            </a:pPr>
            <a:r>
              <a:rPr lang="vi-VN" dirty="0"/>
              <a:t>86–98 phút | Lab 8C – Refresh Mart + KPI before/after</a:t>
            </a:r>
            <a:endParaRPr lang="vi-VN"/>
          </a:p>
          <a:p>
            <a:pPr marL="0" lvl="0" indent="0" algn="l">
              <a:buNone/>
            </a:pPr>
            <a:r>
              <a:rPr lang="vi-VN" dirty="0"/>
              <a:t>Lời giảng: Refresh dimensions rồi fact. Chạy lại KPI revenue, orders, active customers, payment success, top category và reject rate. So với baseline và giải thích delta dựa trên input batch. Không chấp nhận chỉ nói 'KPI tăng'; phải giải thích vì dữ liệu nào.</a:t>
            </a:r>
            <a:endParaRPr lang="vi-VN"/>
          </a:p>
          <a:p>
            <a:pPr marL="0" lvl="0" indent="0" algn="l">
              <a:buNone/>
            </a:pPr>
            <a:r>
              <a:rPr lang="vi-VN" dirty="0"/>
              <a:t>Tương tác / demo: Yêu cầu một nhóm chọn một KPI và trace từ source record đến mart/report.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46–54 phút | Refresh mart, KPI, mini project và bước tiếp theo</a:t>
            </a:r>
            <a:endParaRPr lang="vi-VN"/>
          </a:p>
          <a:p>
            <a:pPr marL="0" lvl="0" indent="0" algn="l">
              <a:buNone/>
            </a:pPr>
            <a:r>
              <a:rPr lang="vi-VN" dirty="0"/>
              <a:t>Lời giảng: Sau CORE update, refresh dimensions/fact rồi chạy KPI trước/sau. SQL Buổi 3–4 phải phản ánh dữ liệu mới mà không sửa logic metric. Mini project cuối Foundation phải chứng minh hệ thống chạy thật, có DQ report, rerun-safe, KPI thay đổi đúng và README/demo. Sau nền tảng này mới sang orchestration chuyên nghiệp, Spark, Kafka, warehouse/cloud và observability.</a:t>
            </a:r>
            <a:endParaRPr lang="vi-VN"/>
          </a:p>
          <a:p>
            <a:pPr marL="0" lvl="0" indent="0" algn="l">
              <a:buNone/>
            </a:pPr>
            <a:r>
              <a:rPr lang="vi-VN" dirty="0"/>
              <a:t>Tương tác / demo: Nhấn mạnh demo 5–7 phút phải chạy hệ thống, không chỉ trình chiếu slide.</a:t>
            </a:r>
            <a:endParaRPr lang="vi-VN"/>
          </a:p>
          <a:p>
            <a:pPr marL="0" lvl="0" indent="0" algn="l">
              <a:buNone/>
            </a:pPr>
            <a:r>
              <a:rPr lang="vi-VN" dirty="0"/>
              <a:t>—</a:t>
            </a:r>
            <a:endParaRPr lang="vi-VN"/>
          </a:p>
          <a:p>
            <a:pPr marL="0" lvl="0" indent="0" algn="l">
              <a:buNone/>
            </a:pPr>
            <a:r>
              <a:rPr lang="vi-VN" dirty="0"/>
              <a:t>108–115 phút | Mini project demo rehearsal</a:t>
            </a:r>
            <a:endParaRPr lang="vi-VN"/>
          </a:p>
          <a:p>
            <a:pPr marL="0" lvl="0" indent="0" algn="l">
              <a:buNone/>
            </a:pPr>
            <a:r>
              <a:rPr lang="vi-VN" dirty="0"/>
              <a:t>Lời giảng: Mỗi nhóm chuẩn bị demo 5–7 phút theo thứ tự: architecture, run pipeline, show một error/reject, DQ report, KPI before/after. Hãy tập nói bằng bằng chứng: command, log, report, row count, KPI. Một demo tốt không cần nhiều slide.</a:t>
            </a:r>
            <a:endParaRPr lang="vi-VN"/>
          </a:p>
          <a:p>
            <a:pPr marL="0" lvl="0" indent="0" algn="l">
              <a:buNone/>
            </a:pPr>
            <a:r>
              <a:rPr lang="vi-VN" dirty="0"/>
              <a:t>Tương tác / demo: Cho 1 nhóm rehearsal 3 phút; cả lớp phản hồi theo Definition of Done.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46–54 phút | Refresh mart, KPI, mini project và bước tiếp theo</a:t>
            </a:r>
            <a:endParaRPr lang="vi-VN"/>
          </a:p>
          <a:p>
            <a:pPr marL="0" lvl="0" indent="0" algn="l">
              <a:buNone/>
            </a:pPr>
            <a:r>
              <a:rPr lang="vi-VN" dirty="0"/>
              <a:t>Lời giảng: Sau CORE update, refresh dimensions/fact rồi chạy KPI trước/sau. SQL Buổi 3–4 phải phản ánh dữ liệu mới mà không sửa logic metric. Mini project cuối Foundation phải chứng minh hệ thống chạy thật, có DQ report, rerun-safe, KPI thay đổi đúng và README/demo. Sau nền tảng này mới sang orchestration chuyên nghiệp, Spark, Kafka, warehouse/cloud và observability.</a:t>
            </a:r>
            <a:endParaRPr lang="vi-VN"/>
          </a:p>
          <a:p>
            <a:pPr marL="0" lvl="0" indent="0" algn="l">
              <a:buNone/>
            </a:pPr>
            <a:r>
              <a:rPr lang="vi-VN" dirty="0"/>
              <a:t>Tương tác / demo: Nhấn mạnh demo 5–7 phút phải chạy hệ thống, không chỉ trình chiếu slide.</a:t>
            </a:r>
            <a:endParaRPr lang="vi-VN"/>
          </a:p>
          <a:p>
            <a:pPr marL="0" lvl="0" indent="0" algn="l">
              <a:buNone/>
            </a:pPr>
            <a:r>
              <a:rPr lang="vi-VN" dirty="0"/>
              <a:t>—</a:t>
            </a:r>
            <a:endParaRPr lang="vi-VN"/>
          </a:p>
          <a:p>
            <a:pPr marL="0" lvl="0" indent="0" algn="l">
              <a:buNone/>
            </a:pPr>
            <a:r>
              <a:rPr lang="vi-VN" dirty="0"/>
              <a:t>108–115 phút | Mini project demo rehearsal</a:t>
            </a:r>
            <a:endParaRPr lang="vi-VN"/>
          </a:p>
          <a:p>
            <a:pPr marL="0" lvl="0" indent="0" algn="l">
              <a:buNone/>
            </a:pPr>
            <a:r>
              <a:rPr lang="vi-VN" dirty="0"/>
              <a:t>Lời giảng: Mỗi nhóm chuẩn bị demo 5–7 phút theo thứ tự: architecture, run pipeline, show một error/reject, DQ report, KPI before/after. Hãy tập nói bằng bằng chứng: command, log, report, row count, KPI. Một demo tốt không cần nhiều slide.</a:t>
            </a:r>
            <a:endParaRPr lang="vi-VN"/>
          </a:p>
          <a:p>
            <a:pPr marL="0" lvl="0" indent="0" algn="l">
              <a:buNone/>
            </a:pPr>
            <a:r>
              <a:rPr lang="vi-VN" dirty="0"/>
              <a:t>Tương tác / demo: Cho 1 nhóm rehearsal 3 phút; cả lớp phản hồi theo Definition of Done.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46–54 phút | Refresh mart, KPI, mini project và bước tiếp theo</a:t>
            </a:r>
            <a:endParaRPr lang="vi-VN"/>
          </a:p>
          <a:p>
            <a:pPr marL="0" lvl="0" indent="0" algn="l">
              <a:buNone/>
            </a:pPr>
            <a:r>
              <a:rPr lang="vi-VN" dirty="0"/>
              <a:t>Lời giảng: Sau CORE update, refresh dimensions/fact rồi chạy KPI trước/sau. SQL Buổi 3–4 phải phản ánh dữ liệu mới mà không sửa logic metric. Mini project cuối Foundation phải chứng minh hệ thống chạy thật, có DQ report, rerun-safe, KPI thay đổi đúng và README/demo. Sau nền tảng này mới sang orchestration chuyên nghiệp, Spark, Kafka, warehouse/cloud và observability.</a:t>
            </a:r>
            <a:endParaRPr lang="vi-VN"/>
          </a:p>
          <a:p>
            <a:pPr marL="0" lvl="0" indent="0" algn="l">
              <a:buNone/>
            </a:pPr>
            <a:r>
              <a:rPr lang="vi-VN" dirty="0"/>
              <a:t>Tương tác / demo: Nhấn mạnh demo 5–7 phút phải chạy hệ thống, không chỉ trình chiếu slide.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46–54 phút | Refresh mart, KPI, mini project và bước tiếp theo</a:t>
            </a:r>
            <a:endParaRPr lang="vi-VN"/>
          </a:p>
          <a:p>
            <a:pPr marL="0" lvl="0" indent="0" algn="l">
              <a:buNone/>
            </a:pPr>
            <a:r>
              <a:rPr lang="vi-VN" dirty="0"/>
              <a:t>Lời giảng: Sau CORE update, refresh dimensions/fact rồi chạy KPI trước/sau. SQL Buổi 3–4 phải phản ánh dữ liệu mới mà không sửa logic metric. Mini project cuối Foundation phải chứng minh hệ thống chạy thật, có DQ report, rerun-safe, KPI thay đổi đúng và README/demo. Sau nền tảng này mới sang orchestration chuyên nghiệp, Spark, Kafka, warehouse/cloud và observability.</a:t>
            </a:r>
            <a:endParaRPr lang="vi-VN"/>
          </a:p>
          <a:p>
            <a:pPr marL="0" lvl="0" indent="0" algn="l">
              <a:buNone/>
            </a:pPr>
            <a:r>
              <a:rPr lang="vi-VN" dirty="0"/>
              <a:t>Tương tác / demo: Nhấn mạnh demo 5–7 phút phải chạy hệ thống, không chỉ trình chiếu slide.</a:t>
            </a:r>
            <a:endParaRPr lang="vi-VN"/>
          </a:p>
          <a:p>
            <a:pPr marL="0" lvl="0" indent="0" algn="l">
              <a:buNone/>
            </a:pPr>
            <a:r>
              <a:rPr lang="vi-VN" dirty="0"/>
              <a:t>—</a:t>
            </a:r>
            <a:endParaRPr lang="vi-VN"/>
          </a:p>
          <a:p>
            <a:pPr marL="0" lvl="0" indent="0" algn="l">
              <a:buNone/>
            </a:pPr>
            <a:r>
              <a:rPr lang="vi-VN" dirty="0"/>
              <a:t>115–120 phút | Definition of Done và tổng kết</a:t>
            </a:r>
            <a:endParaRPr lang="vi-VN"/>
          </a:p>
          <a:p>
            <a:pPr marL="0" lvl="0" indent="0" algn="l">
              <a:buNone/>
            </a:pPr>
            <a:r>
              <a:rPr lang="vi-VN" dirty="0"/>
              <a:t>Lời giảng: Kết thúc 8 buổi đầu, hệ thống phải tái tạo database + mart từ script, có SQL analytics, file/API incremental, reject/report, rerun safe và README/config/log/test. Ba câu cần nhớ: pipeline phải end-to-end và rerun-safe; config/secret/retry/checkpoint là operational core; mart/KPI phải phản ánh dữ liệu mới. Đây là nền để sang Airflow, Spark, Kafka và các module AI-Native sau này.</a:t>
            </a:r>
            <a:endParaRPr lang="vi-VN"/>
          </a:p>
          <a:p>
            <a:pPr marL="0" lvl="0" indent="0" algn="l">
              <a:buNone/>
            </a:pPr>
            <a:r>
              <a:rPr lang="vi-VN" dirty="0"/>
              <a:t>Tương tác / demo: Nhắc deadline mini project và yêu cầu commit/tag bản demo.</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115–120 phút | Definition of Done và tổng kết</a:t>
            </a:r>
            <a:endParaRPr lang="vi-VN"/>
          </a:p>
          <a:p>
            <a:pPr marL="0" lvl="0" indent="0" algn="l">
              <a:buNone/>
            </a:pPr>
            <a:r>
              <a:rPr lang="vi-VN" dirty="0"/>
              <a:t>Lời giảng: Kết thúc 8 buổi đầu, hệ thống phải tái tạo database + mart từ script, có SQL analytics, file/API incremental, reject/report, rerun safe và README/config/log/test. Ba câu cần nhớ: pipeline phải end-to-end và rerun-safe; config/secret/retry/checkpoint là operational core; mart/KPI phải phản ánh dữ liệu mới. Đây là nền để sang Airflow, Spark, Kafka và các module AI-Native sau này.</a:t>
            </a:r>
            <a:endParaRPr lang="vi-VN"/>
          </a:p>
          <a:p>
            <a:pPr marL="0" lvl="0" indent="0" algn="l">
              <a:buNone/>
            </a:pPr>
            <a:r>
              <a:rPr lang="vi-VN" dirty="0"/>
              <a:t>Tương tác / demo: Nhắc deadline mini project và yêu cầu commit/tag bản demo.</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Chuyển tiếp / kết thúc</a:t>
            </a:r>
            <a:endParaRPr lang="vi-VN"/>
          </a:p>
          <a:p>
            <a:pPr marL="0" lvl="0" indent="0" algn="l">
              <a:buNone/>
            </a:pPr>
            <a:r>
              <a:rPr lang="vi-VN" dirty="0"/>
              <a:t>Lời giảng: Dùng slide này để chuyển ý hoặc kết thúc phần trình bày. Nhắc lại thông điệp chính của buổi và chỉ rõ đầu ra/bài tập học viên cần hoàn thành trước buổi tiếp theo.</a:t>
            </a:r>
            <a:endParaRPr lang="vi-VN"/>
          </a:p>
          <a:p>
            <a:pPr marL="0" lvl="0" indent="0" algn="l">
              <a:buNone/>
            </a:pPr>
            <a:r>
              <a:rPr lang="vi-VN" dirty="0"/>
              <a:t>Tương tác / demo: Dành 1–2 phút nhận câu hỏi ngắn; nhắc học viên lưu/commit artifact của buổi học.</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rot="5400000">
            <a:off x="-1225840" y="1040275"/>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2"/>
          <p:cNvSpPr txBox="1">
            <a:spLocks noGrp="1"/>
          </p:cNvSpPr>
          <p:nvPr>
            <p:ph type="body" idx="1" hasCustomPrompt="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1</a:t>
            </a:r>
            <a:endParaRPr dirty="0"/>
          </a:p>
        </p:txBody>
      </p:sp>
      <p:sp>
        <p:nvSpPr>
          <p:cNvPr id="20" name="Google Shape;20;p32"/>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2"/>
          <p:cNvSpPr txBox="1">
            <a:spLocks noGrp="1"/>
          </p:cNvSpPr>
          <p:nvPr>
            <p:ph type="body" idx="3" hasCustomPrompt="1"/>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2</a:t>
            </a:r>
            <a:endParaRPr dirty="0"/>
          </a:p>
        </p:txBody>
      </p:sp>
      <p:sp>
        <p:nvSpPr>
          <p:cNvPr id="22" name="Google Shape;22;p32"/>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2"/>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2"/>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2"/>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2"/>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2"/>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2"/>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2"/>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BEB9D187-055C-A20F-D630-69C136C329CF}"/>
              </a:ext>
            </a:extLst>
          </p:cNvPr>
          <p:cNvPicPr>
            <a:picLocks noChangeAspect="1"/>
          </p:cNvPicPr>
          <p:nvPr userDrawn="1"/>
        </p:nvPicPr>
        <p:blipFill>
          <a:blip r:embed="rId2"/>
          <a:stretch>
            <a:fillRect/>
          </a:stretch>
        </p:blipFill>
        <p:spPr>
          <a:xfrm>
            <a:off x="9584574" y="474131"/>
            <a:ext cx="2441171" cy="41765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38"/>
          <p:cNvSpPr txBox="1">
            <a:spLocks noGrp="1"/>
          </p:cNvSpPr>
          <p:nvPr>
            <p:ph type="body" idx="1"/>
          </p:nvPr>
        </p:nvSpPr>
        <p:spPr>
          <a:xfrm>
            <a:off x="742507" y="1978428"/>
            <a:ext cx="5181600" cy="4019651"/>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4" name="Google Shape;34;p38"/>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35" name="Google Shape;35;p38"/>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36" name="Google Shape;36;p38"/>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37" name="Google Shape;37;p38"/>
          <p:cNvSpPr txBox="1">
            <a:spLocks noGrp="1"/>
          </p:cNvSpPr>
          <p:nvPr>
            <p:ph type="body" idx="2"/>
          </p:nvPr>
        </p:nvSpPr>
        <p:spPr>
          <a:xfrm>
            <a:off x="6267893" y="1978428"/>
            <a:ext cx="5181600" cy="4019652"/>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8"/>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40"/>
        <p:cNvGrpSpPr/>
        <p:nvPr/>
      </p:nvGrpSpPr>
      <p:grpSpPr>
        <a:xfrm>
          <a:off x="0" y="0"/>
          <a:ext cx="0" cy="0"/>
          <a:chOff x="0" y="0"/>
          <a:chExt cx="0" cy="0"/>
        </a:xfrm>
      </p:grpSpPr>
      <p:pic>
        <p:nvPicPr>
          <p:cNvPr id="41" name="Google Shape;41;p34"/>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42" name="Google Shape;42;p34"/>
          <p:cNvSpPr txBox="1">
            <a:spLocks noGrp="1"/>
          </p:cNvSpPr>
          <p:nvPr>
            <p:ph type="ctrTitle"/>
          </p:nvPr>
        </p:nvSpPr>
        <p:spPr>
          <a:xfrm>
            <a:off x="1697669" y="3351966"/>
            <a:ext cx="7200000" cy="108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0000"/>
              </a:buClr>
              <a:buSzPts val="4000"/>
              <a:buFont typeface="Montserrat ExtraBold"/>
              <a:buNone/>
              <a:defRPr sz="4000">
                <a:solidFill>
                  <a:srgbClr val="000000"/>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a:endParaRPr dirty="0"/>
          </a:p>
        </p:txBody>
      </p:sp>
      <p:sp>
        <p:nvSpPr>
          <p:cNvPr id="43" name="Google Shape;43;p34"/>
          <p:cNvSpPr txBox="1">
            <a:spLocks noGrp="1"/>
          </p:cNvSpPr>
          <p:nvPr>
            <p:ph type="subTitle" idx="1"/>
          </p:nvPr>
        </p:nvSpPr>
        <p:spPr>
          <a:xfrm>
            <a:off x="1697669" y="4071966"/>
            <a:ext cx="5041797" cy="36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AEABAB"/>
              </a:buClr>
              <a:buSzPts val="2800"/>
              <a:buNone/>
              <a:defRPr>
                <a:solidFill>
                  <a:srgbClr val="AEABAB"/>
                </a:solidFill>
                <a:latin typeface="Montserrat Medium"/>
                <a:ea typeface="Montserrat Medium"/>
                <a:cs typeface="Montserrat Medium"/>
                <a:sym typeface="Montserrat Medium"/>
              </a:defRPr>
            </a:lvl1pPr>
            <a:lvl2pPr lvl="1" algn="l">
              <a:lnSpc>
                <a:spcPct val="90000"/>
              </a:lnSpc>
              <a:spcBef>
                <a:spcPts val="1600"/>
              </a:spcBef>
              <a:spcAft>
                <a:spcPts val="0"/>
              </a:spcAft>
              <a:buClr>
                <a:schemeClr val="dk1"/>
              </a:buClr>
              <a:buSzPts val="2400"/>
              <a:buNone/>
              <a:defRPr/>
            </a:lvl2pPr>
            <a:lvl3pPr lvl="2" algn="l">
              <a:lnSpc>
                <a:spcPct val="90000"/>
              </a:lnSpc>
              <a:spcBef>
                <a:spcPts val="1600"/>
              </a:spcBef>
              <a:spcAft>
                <a:spcPts val="0"/>
              </a:spcAft>
              <a:buClr>
                <a:schemeClr val="dk1"/>
              </a:buClr>
              <a:buSzPts val="2000"/>
              <a:buNone/>
              <a:defRPr/>
            </a:lvl3pPr>
            <a:lvl4pPr lvl="3" algn="l">
              <a:lnSpc>
                <a:spcPct val="90000"/>
              </a:lnSpc>
              <a:spcBef>
                <a:spcPts val="1600"/>
              </a:spcBef>
              <a:spcAft>
                <a:spcPts val="0"/>
              </a:spcAft>
              <a:buClr>
                <a:schemeClr val="dk1"/>
              </a:buClr>
              <a:buSzPts val="1800"/>
              <a:buNone/>
              <a:defRPr/>
            </a:lvl4pPr>
            <a:lvl5pPr lvl="4" algn="l">
              <a:lnSpc>
                <a:spcPct val="90000"/>
              </a:lnSpc>
              <a:spcBef>
                <a:spcPts val="1600"/>
              </a:spcBef>
              <a:spcAft>
                <a:spcPts val="0"/>
              </a:spcAft>
              <a:buClr>
                <a:schemeClr val="dk1"/>
              </a:buClr>
              <a:buSzPts val="1800"/>
              <a:buNone/>
              <a:defRPr/>
            </a:lvl5pPr>
            <a:lvl6pPr lvl="5" algn="l">
              <a:lnSpc>
                <a:spcPct val="90000"/>
              </a:lnSpc>
              <a:spcBef>
                <a:spcPts val="1600"/>
              </a:spcBef>
              <a:spcAft>
                <a:spcPts val="0"/>
              </a:spcAft>
              <a:buClr>
                <a:schemeClr val="dk1"/>
              </a:buClr>
              <a:buSzPts val="1800"/>
              <a:buNone/>
              <a:defRPr/>
            </a:lvl6pPr>
            <a:lvl7pPr lvl="6" algn="l">
              <a:lnSpc>
                <a:spcPct val="90000"/>
              </a:lnSpc>
              <a:spcBef>
                <a:spcPts val="1600"/>
              </a:spcBef>
              <a:spcAft>
                <a:spcPts val="0"/>
              </a:spcAft>
              <a:buClr>
                <a:schemeClr val="dk1"/>
              </a:buClr>
              <a:buSzPts val="1800"/>
              <a:buNone/>
              <a:defRPr/>
            </a:lvl7pPr>
            <a:lvl8pPr lvl="7" algn="l">
              <a:lnSpc>
                <a:spcPct val="90000"/>
              </a:lnSpc>
              <a:spcBef>
                <a:spcPts val="1600"/>
              </a:spcBef>
              <a:spcAft>
                <a:spcPts val="0"/>
              </a:spcAft>
              <a:buClr>
                <a:schemeClr val="dk1"/>
              </a:buClr>
              <a:buSzPts val="1800"/>
              <a:buNone/>
              <a:defRPr/>
            </a:lvl8pPr>
            <a:lvl9pPr lvl="8" algn="l">
              <a:lnSpc>
                <a:spcPct val="90000"/>
              </a:lnSpc>
              <a:spcBef>
                <a:spcPts val="1600"/>
              </a:spcBef>
              <a:spcAft>
                <a:spcPts val="1600"/>
              </a:spcAft>
              <a:buClr>
                <a:schemeClr val="dk1"/>
              </a:buClr>
              <a:buSzPts val="1800"/>
              <a:buNone/>
              <a:defRPr/>
            </a:lvl9pPr>
          </a:lstStyle>
          <a:p>
            <a:endParaRPr/>
          </a:p>
        </p:txBody>
      </p:sp>
      <p:pic>
        <p:nvPicPr>
          <p:cNvPr id="44" name="Google Shape;44;p34"/>
          <p:cNvPicPr preferRelativeResize="0"/>
          <p:nvPr/>
        </p:nvPicPr>
        <p:blipFill rotWithShape="1">
          <a:blip r:embed="rId3">
            <a:alphaModFix/>
          </a:blip>
          <a:srcRect/>
          <a:stretch/>
        </p:blipFill>
        <p:spPr>
          <a:xfrm>
            <a:off x="9349810" y="1223962"/>
            <a:ext cx="4438650" cy="4410075"/>
          </a:xfrm>
          <a:prstGeom prst="rect">
            <a:avLst/>
          </a:prstGeom>
          <a:noFill/>
          <a:ln>
            <a:noFill/>
          </a:ln>
        </p:spPr>
      </p:pic>
      <p:sp>
        <p:nvSpPr>
          <p:cNvPr id="45" name="Google Shape;45;p34"/>
          <p:cNvSpPr/>
          <p:nvPr/>
        </p:nvSpPr>
        <p:spPr>
          <a:xfrm rot="5400000">
            <a:off x="-307571" y="2821864"/>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46" name="Google Shape;46;p34"/>
          <p:cNvSpPr txBox="1">
            <a:spLocks noGrp="1"/>
          </p:cNvSpPr>
          <p:nvPr>
            <p:ph type="body" idx="2"/>
          </p:nvPr>
        </p:nvSpPr>
        <p:spPr>
          <a:xfrm>
            <a:off x="1562203" y="1974293"/>
            <a:ext cx="8966216" cy="10800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9600"/>
              <a:buNone/>
              <a:defRPr sz="96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pic>
        <p:nvPicPr>
          <p:cNvPr id="3" name="Picture 2" descr="A black and red logo&#10;&#10;Description automatically generated">
            <a:extLst>
              <a:ext uri="{FF2B5EF4-FFF2-40B4-BE49-F238E27FC236}">
                <a16:creationId xmlns:a16="http://schemas.microsoft.com/office/drawing/2014/main" id="{BB66C473-4843-563E-A229-3E43A4883405}"/>
              </a:ext>
            </a:extLst>
          </p:cNvPr>
          <p:cNvPicPr>
            <a:picLocks noChangeAspect="1"/>
          </p:cNvPicPr>
          <p:nvPr userDrawn="1"/>
        </p:nvPicPr>
        <p:blipFill>
          <a:blip r:embed="rId4"/>
          <a:stretch>
            <a:fillRect/>
          </a:stretch>
        </p:blipFill>
        <p:spPr>
          <a:xfrm>
            <a:off x="4218567" y="5362823"/>
            <a:ext cx="3170490" cy="54242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1974966" y="2521987"/>
            <a:ext cx="8076353"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0" name="Google Shape;50;p35"/>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51" name="Google Shape;51;p35"/>
          <p:cNvSpPr txBox="1">
            <a:spLocks noGrp="1"/>
          </p:cNvSpPr>
          <p:nvPr>
            <p:ph type="body" idx="1"/>
          </p:nvPr>
        </p:nvSpPr>
        <p:spPr>
          <a:xfrm>
            <a:off x="1989667" y="3847550"/>
            <a:ext cx="8076353" cy="145050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3F3F3F"/>
              </a:buClr>
              <a:buSzPts val="3200"/>
              <a:buNone/>
              <a:defRPr sz="3200">
                <a:solidFill>
                  <a:srgbClr val="3F3F3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52" name="Google Shape;52;p35"/>
          <p:cNvSpPr/>
          <p:nvPr/>
        </p:nvSpPr>
        <p:spPr>
          <a:xfrm rot="10800000">
            <a:off x="5289935" y="1559948"/>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F381582B-BF58-488D-444A-9B514DD58CEE}"/>
              </a:ext>
            </a:extLst>
          </p:cNvPr>
          <p:cNvPicPr>
            <a:picLocks noChangeAspect="1"/>
          </p:cNvPicPr>
          <p:nvPr userDrawn="1"/>
        </p:nvPicPr>
        <p:blipFill>
          <a:blip r:embed="rId3"/>
          <a:stretch>
            <a:fillRect/>
          </a:stretch>
        </p:blipFill>
        <p:spPr>
          <a:xfrm>
            <a:off x="4246556" y="5489273"/>
            <a:ext cx="3698887" cy="63282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4"/>
        <p:cNvGrpSpPr/>
        <p:nvPr/>
      </p:nvGrpSpPr>
      <p:grpSpPr>
        <a:xfrm>
          <a:off x="0" y="0"/>
          <a:ext cx="0" cy="0"/>
          <a:chOff x="0" y="0"/>
          <a:chExt cx="0" cy="0"/>
        </a:xfrm>
      </p:grpSpPr>
      <p:pic>
        <p:nvPicPr>
          <p:cNvPr id="55" name="Google Shape;55;p3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56" name="Google Shape;56;p3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57" name="Google Shape;57;p3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58" name="Google Shape;58;p3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EAD5742-1C6B-F857-A9B1-EEA8C00EED8B}"/>
              </a:ext>
            </a:extLst>
          </p:cNvPr>
          <p:cNvPicPr>
            <a:picLocks noChangeAspect="1"/>
          </p:cNvPicPr>
          <p:nvPr userDrawn="1"/>
        </p:nvPicPr>
        <p:blipFill>
          <a:blip r:embed="rId4"/>
          <a:stretch>
            <a:fillRect/>
          </a:stretch>
        </p:blipFill>
        <p:spPr>
          <a:xfrm>
            <a:off x="9729129" y="509145"/>
            <a:ext cx="2154931" cy="36867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Content with Caption">
  <p:cSld name="2_Content with Caption">
    <p:spTree>
      <p:nvGrpSpPr>
        <p:cNvPr id="1" name="Shape 60"/>
        <p:cNvGrpSpPr/>
        <p:nvPr/>
      </p:nvGrpSpPr>
      <p:grpSpPr>
        <a:xfrm>
          <a:off x="0" y="0"/>
          <a:ext cx="0" cy="0"/>
          <a:chOff x="0" y="0"/>
          <a:chExt cx="0" cy="0"/>
        </a:xfrm>
      </p:grpSpPr>
      <p:sp>
        <p:nvSpPr>
          <p:cNvPr id="61" name="Google Shape;61;p37"/>
          <p:cNvSpPr txBox="1">
            <a:spLocks noGrp="1"/>
          </p:cNvSpPr>
          <p:nvPr>
            <p:ph type="body" idx="1"/>
          </p:nvPr>
        </p:nvSpPr>
        <p:spPr>
          <a:xfrm>
            <a:off x="3818313" y="3901864"/>
            <a:ext cx="4555374"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2" name="Google Shape;62;p3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63" name="Google Shape;63;p3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64" name="Google Shape;64;p3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65" name="Google Shape;65;p3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3200"/>
              <a:buNone/>
              <a:defRPr sz="32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6" name="Google Shape;66;p37"/>
          <p:cNvPicPr preferRelativeResize="0"/>
          <p:nvPr/>
        </p:nvPicPr>
        <p:blipFill rotWithShape="1">
          <a:blip r:embed="rId2">
            <a:alphaModFix/>
          </a:blip>
          <a:srcRect/>
          <a:stretch/>
        </p:blipFill>
        <p:spPr>
          <a:xfrm rot="10800000" flipH="1">
            <a:off x="838200" y="3858704"/>
            <a:ext cx="2860964" cy="45719"/>
          </a:xfrm>
          <a:prstGeom prst="rect">
            <a:avLst/>
          </a:prstGeom>
          <a:noFill/>
          <a:ln>
            <a:noFill/>
          </a:ln>
        </p:spPr>
      </p:pic>
      <p:pic>
        <p:nvPicPr>
          <p:cNvPr id="3" name="Picture 2" descr="A black and red logo&#10;&#10;Description automatically generated">
            <a:extLst>
              <a:ext uri="{FF2B5EF4-FFF2-40B4-BE49-F238E27FC236}">
                <a16:creationId xmlns:a16="http://schemas.microsoft.com/office/drawing/2014/main" id="{55AA4231-604B-BA65-0355-28FA72F30CD0}"/>
              </a:ext>
            </a:extLst>
          </p:cNvPr>
          <p:cNvPicPr>
            <a:picLocks noChangeAspect="1"/>
          </p:cNvPicPr>
          <p:nvPr userDrawn="1"/>
        </p:nvPicPr>
        <p:blipFill>
          <a:blip r:embed="rId4"/>
          <a:stretch>
            <a:fillRect/>
          </a:stretch>
        </p:blipFill>
        <p:spPr>
          <a:xfrm>
            <a:off x="9716655" y="315885"/>
            <a:ext cx="2152072" cy="36819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68"/>
        <p:cNvGrpSpPr/>
        <p:nvPr/>
      </p:nvGrpSpPr>
      <p:grpSpPr>
        <a:xfrm>
          <a:off x="0" y="0"/>
          <a:ext cx="0" cy="0"/>
          <a:chOff x="0" y="0"/>
          <a:chExt cx="0" cy="0"/>
        </a:xfrm>
      </p:grpSpPr>
      <p:sp>
        <p:nvSpPr>
          <p:cNvPr id="69" name="Google Shape;69;p39"/>
          <p:cNvSpPr txBox="1">
            <a:spLocks noGrp="1"/>
          </p:cNvSpPr>
          <p:nvPr>
            <p:ph type="body" idx="1"/>
          </p:nvPr>
        </p:nvSpPr>
        <p:spPr>
          <a:xfrm>
            <a:off x="746918" y="3882043"/>
            <a:ext cx="3816769"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0" name="Google Shape;70;p39"/>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71" name="Google Shape;71;p39"/>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72" name="Google Shape;72;p39"/>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dirty="0">
              <a:solidFill>
                <a:schemeClr val="lt1"/>
              </a:solidFill>
              <a:latin typeface="Montserrat"/>
              <a:ea typeface="Montserrat"/>
              <a:cs typeface="Montserrat"/>
              <a:sym typeface="Montserrat"/>
            </a:endParaRPr>
          </a:p>
        </p:txBody>
      </p:sp>
      <p:sp>
        <p:nvSpPr>
          <p:cNvPr id="73" name="Google Shape;73;p39"/>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 name="Picture 2" descr="A black and red logo&#10;&#10;Description automatically generated">
            <a:extLst>
              <a:ext uri="{FF2B5EF4-FFF2-40B4-BE49-F238E27FC236}">
                <a16:creationId xmlns:a16="http://schemas.microsoft.com/office/drawing/2014/main" id="{43495D7B-6889-5FC5-B3E3-6995FEE87B6F}"/>
              </a:ext>
            </a:extLst>
          </p:cNvPr>
          <p:cNvPicPr>
            <a:picLocks noChangeAspect="1"/>
          </p:cNvPicPr>
          <p:nvPr userDrawn="1"/>
        </p:nvPicPr>
        <p:blipFill>
          <a:blip r:embed="rId4"/>
          <a:stretch>
            <a:fillRect/>
          </a:stretch>
        </p:blipFill>
        <p:spPr>
          <a:xfrm>
            <a:off x="9608344" y="315884"/>
            <a:ext cx="2301284" cy="39371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5"/>
        <p:cNvGrpSpPr/>
        <p:nvPr/>
      </p:nvGrpSpPr>
      <p:grpSpPr>
        <a:xfrm>
          <a:off x="0" y="0"/>
          <a:ext cx="0" cy="0"/>
          <a:chOff x="0" y="0"/>
          <a:chExt cx="0" cy="0"/>
        </a:xfrm>
      </p:grpSpPr>
      <p:pic>
        <p:nvPicPr>
          <p:cNvPr id="76" name="Google Shape;76;p40"/>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77" name="Google Shape;77;p40"/>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0"/>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9" name="Google Shape;79;p40"/>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80" name="Google Shape;80;p40"/>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81" name="Google Shape;81;p40"/>
          <p:cNvPicPr preferRelativeResize="0"/>
          <p:nvPr/>
        </p:nvPicPr>
        <p:blipFill rotWithShape="1">
          <a:blip r:embed="rId4">
            <a:alphaModFix/>
          </a:blip>
          <a:srcRect/>
          <a:stretch/>
        </p:blipFill>
        <p:spPr>
          <a:xfrm>
            <a:off x="5261198" y="4951700"/>
            <a:ext cx="2012426" cy="9816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2"/>
        <p:cNvGrpSpPr/>
        <p:nvPr/>
      </p:nvGrpSpPr>
      <p:grpSpPr>
        <a:xfrm>
          <a:off x="0" y="0"/>
          <a:ext cx="0" cy="0"/>
          <a:chOff x="0" y="0"/>
          <a:chExt cx="0" cy="0"/>
        </a:xfrm>
      </p:grpSpPr>
      <p:pic>
        <p:nvPicPr>
          <p:cNvPr id="83" name="Google Shape;83;p30"/>
          <p:cNvPicPr preferRelativeResize="0"/>
          <p:nvPr/>
        </p:nvPicPr>
        <p:blipFill rotWithShape="1">
          <a:blip r:embed="rId2">
            <a:alphaModFix/>
          </a:blip>
          <a:srcRect/>
          <a:stretch/>
        </p:blipFill>
        <p:spPr>
          <a:xfrm>
            <a:off x="-211667" y="-83672"/>
            <a:ext cx="12640676" cy="7017872"/>
          </a:xfrm>
          <a:prstGeom prst="rect">
            <a:avLst/>
          </a:prstGeom>
          <a:noFill/>
          <a:ln>
            <a:noFill/>
          </a:ln>
        </p:spPr>
      </p:pic>
      <p:sp>
        <p:nvSpPr>
          <p:cNvPr id="84" name="Google Shape;84;p30"/>
          <p:cNvSpPr txBox="1">
            <a:spLocks noGrp="1"/>
          </p:cNvSpPr>
          <p:nvPr>
            <p:ph type="ctrTitle"/>
          </p:nvPr>
        </p:nvSpPr>
        <p:spPr>
          <a:xfrm>
            <a:off x="279991" y="3969209"/>
            <a:ext cx="9144000" cy="14644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0"/>
          <p:cNvSpPr txBox="1">
            <a:spLocks noGrp="1"/>
          </p:cNvSpPr>
          <p:nvPr>
            <p:ph type="subTitle" idx="1"/>
          </p:nvPr>
        </p:nvSpPr>
        <p:spPr>
          <a:xfrm>
            <a:off x="279991" y="5433627"/>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6" name="Google Shape;86;p30"/>
          <p:cNvPicPr preferRelativeResize="0"/>
          <p:nvPr/>
        </p:nvPicPr>
        <p:blipFill rotWithShape="1">
          <a:blip r:embed="rId3">
            <a:alphaModFix/>
          </a:blip>
          <a:srcRect/>
          <a:stretch/>
        </p:blipFill>
        <p:spPr>
          <a:xfrm>
            <a:off x="9242381" y="-123349"/>
            <a:ext cx="7133810" cy="7097226"/>
          </a:xfrm>
          <a:prstGeom prst="rect">
            <a:avLst/>
          </a:prstGeom>
          <a:noFill/>
          <a:ln>
            <a:noFill/>
          </a:ln>
        </p:spPr>
      </p:pic>
      <p:pic>
        <p:nvPicPr>
          <p:cNvPr id="5" name="Picture 4" descr="A black and white logo with red letters&#10;&#10;Description automatically generated">
            <a:extLst>
              <a:ext uri="{FF2B5EF4-FFF2-40B4-BE49-F238E27FC236}">
                <a16:creationId xmlns:a16="http://schemas.microsoft.com/office/drawing/2014/main" id="{944B7BC4-09AD-B151-E7C8-E7171E587CD9}"/>
              </a:ext>
            </a:extLst>
          </p:cNvPr>
          <p:cNvPicPr>
            <a:picLocks noChangeAspect="1"/>
          </p:cNvPicPr>
          <p:nvPr userDrawn="1"/>
        </p:nvPicPr>
        <p:blipFill>
          <a:blip r:embed="rId4"/>
          <a:stretch>
            <a:fillRect/>
          </a:stretch>
        </p:blipFill>
        <p:spPr>
          <a:xfrm>
            <a:off x="279991" y="620658"/>
            <a:ext cx="4697722" cy="80371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8"/>
        <p:cNvGrpSpPr/>
        <p:nvPr/>
      </p:nvGrpSpPr>
      <p:grpSpPr>
        <a:xfrm>
          <a:off x="0" y="0"/>
          <a:ext cx="0" cy="0"/>
          <a:chOff x="0" y="0"/>
          <a:chExt cx="0" cy="0"/>
        </a:xfrm>
      </p:grpSpPr>
      <p:pic>
        <p:nvPicPr>
          <p:cNvPr id="89" name="Google Shape;89;p41"/>
          <p:cNvPicPr preferRelativeResize="0"/>
          <p:nvPr/>
        </p:nvPicPr>
        <p:blipFill rotWithShape="1">
          <a:blip r:embed="rId2">
            <a:alphaModFix/>
          </a:blip>
          <a:srcRect/>
          <a:stretch/>
        </p:blipFill>
        <p:spPr>
          <a:xfrm>
            <a:off x="11087100" y="5837237"/>
            <a:ext cx="1104900" cy="1038225"/>
          </a:xfrm>
          <a:prstGeom prst="rect">
            <a:avLst/>
          </a:prstGeom>
          <a:noFill/>
          <a:ln>
            <a:noFill/>
          </a:ln>
        </p:spPr>
      </p:pic>
      <p:sp>
        <p:nvSpPr>
          <p:cNvPr id="90" name="Google Shape;90;p41"/>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23531A56-D9C3-E1AF-F7D3-ADDFD7687D5B}"/>
              </a:ext>
            </a:extLst>
          </p:cNvPr>
          <p:cNvPicPr>
            <a:picLocks noChangeAspect="1"/>
          </p:cNvPicPr>
          <p:nvPr userDrawn="1"/>
        </p:nvPicPr>
        <p:blipFill>
          <a:blip r:embed="rId3"/>
          <a:stretch>
            <a:fillRect/>
          </a:stretch>
        </p:blipFill>
        <p:spPr>
          <a:xfrm>
            <a:off x="9453019" y="219653"/>
            <a:ext cx="2549174" cy="43612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3"/>
        <p:cNvGrpSpPr/>
        <p:nvPr/>
      </p:nvGrpSpPr>
      <p:grpSpPr>
        <a:xfrm>
          <a:off x="0" y="0"/>
          <a:ext cx="0" cy="0"/>
          <a:chOff x="0" y="0"/>
          <a:chExt cx="0" cy="0"/>
        </a:xfrm>
      </p:grpSpPr>
      <p:pic>
        <p:nvPicPr>
          <p:cNvPr id="94" name="Google Shape;94;p31"/>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95" name="Google Shape;95;p31"/>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7" name="Google Shape;97;p31"/>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98" name="Google Shape;98;p31"/>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3" name="Picture 2" descr="A black and white logo with red letters&#10;&#10;Description automatically generated">
            <a:extLst>
              <a:ext uri="{FF2B5EF4-FFF2-40B4-BE49-F238E27FC236}">
                <a16:creationId xmlns:a16="http://schemas.microsoft.com/office/drawing/2014/main" id="{D5439C6C-C6E6-A867-5355-0680D1B6AA06}"/>
              </a:ext>
            </a:extLst>
          </p:cNvPr>
          <p:cNvPicPr>
            <a:picLocks noChangeAspect="1"/>
          </p:cNvPicPr>
          <p:nvPr userDrawn="1"/>
        </p:nvPicPr>
        <p:blipFill>
          <a:blip r:embed="rId4"/>
          <a:stretch>
            <a:fillRect/>
          </a:stretch>
        </p:blipFill>
        <p:spPr>
          <a:xfrm>
            <a:off x="3232727" y="1184685"/>
            <a:ext cx="6577019" cy="112523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0"/>
        <p:cNvGrpSpPr/>
        <p:nvPr/>
      </p:nvGrpSpPr>
      <p:grpSpPr>
        <a:xfrm>
          <a:off x="0" y="0"/>
          <a:ext cx="0" cy="0"/>
          <a:chOff x="0" y="0"/>
          <a:chExt cx="0" cy="0"/>
        </a:xfrm>
      </p:grpSpPr>
      <p:pic>
        <p:nvPicPr>
          <p:cNvPr id="101" name="Google Shape;101;p33"/>
          <p:cNvPicPr preferRelativeResize="0"/>
          <p:nvPr/>
        </p:nvPicPr>
        <p:blipFill rotWithShape="1">
          <a:blip r:embed="rId2">
            <a:alphaModFix/>
          </a:blip>
          <a:srcRect/>
          <a:stretch/>
        </p:blipFill>
        <p:spPr>
          <a:xfrm>
            <a:off x="-160713" y="0"/>
            <a:ext cx="12352713" cy="6858000"/>
          </a:xfrm>
          <a:prstGeom prst="rect">
            <a:avLst/>
          </a:prstGeom>
          <a:noFill/>
          <a:ln>
            <a:noFill/>
          </a:ln>
        </p:spPr>
      </p:pic>
      <p:sp>
        <p:nvSpPr>
          <p:cNvPr id="102" name="Google Shape;102;p33"/>
          <p:cNvSpPr txBox="1">
            <a:spLocks noGrp="1"/>
          </p:cNvSpPr>
          <p:nvPr>
            <p:ph type="title"/>
          </p:nvPr>
        </p:nvSpPr>
        <p:spPr>
          <a:xfrm rot="5400000">
            <a:off x="-1225840" y="973773"/>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ontserrat Black"/>
              <a:buNone/>
              <a:defRPr sz="6000" b="1">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33"/>
          <p:cNvSpPr txBox="1">
            <a:spLocks noGrp="1"/>
          </p:cNvSpPr>
          <p:nvPr>
            <p:ph type="body" idx="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3"/>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3"/>
          <p:cNvSpPr txBox="1">
            <a:spLocks noGrp="1"/>
          </p:cNvSpPr>
          <p:nvPr>
            <p:ph type="body" idx="3"/>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3"/>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3"/>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3"/>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3"/>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3"/>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3"/>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33"/>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33"/>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33"/>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white logo with red letters&#10;&#10;Description automatically generated">
            <a:extLst>
              <a:ext uri="{FF2B5EF4-FFF2-40B4-BE49-F238E27FC236}">
                <a16:creationId xmlns:a16="http://schemas.microsoft.com/office/drawing/2014/main" id="{90038E1B-6286-91BE-4584-B33E73761237}"/>
              </a:ext>
            </a:extLst>
          </p:cNvPr>
          <p:cNvPicPr>
            <a:picLocks noChangeAspect="1"/>
          </p:cNvPicPr>
          <p:nvPr userDrawn="1"/>
        </p:nvPicPr>
        <p:blipFill>
          <a:blip r:embed="rId3"/>
          <a:stretch>
            <a:fillRect/>
          </a:stretch>
        </p:blipFill>
        <p:spPr>
          <a:xfrm>
            <a:off x="8517542" y="261281"/>
            <a:ext cx="3504736" cy="59961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7"/>
        <p:cNvGrpSpPr/>
        <p:nvPr/>
      </p:nvGrpSpPr>
      <p:grpSpPr>
        <a:xfrm>
          <a:off x="0" y="0"/>
          <a:ext cx="0" cy="0"/>
          <a:chOff x="0" y="0"/>
          <a:chExt cx="0" cy="0"/>
        </a:xfrm>
      </p:grpSpPr>
      <p:sp>
        <p:nvSpPr>
          <p:cNvPr id="118" name="Google Shape;118;p45"/>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9" name="Google Shape;119;p45"/>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120" name="Google Shape;120;p45"/>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121" name="Google Shape;121;p45"/>
          <p:cNvSpPr txBox="1">
            <a:spLocks noGrp="1"/>
          </p:cNvSpPr>
          <p:nvPr>
            <p:ph type="sldNum" idx="12"/>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45"/>
          <p:cNvSpPr txBox="1">
            <a:spLocks noGrp="1"/>
          </p:cNvSpPr>
          <p:nvPr>
            <p:ph type="body" idx="1"/>
          </p:nvPr>
        </p:nvSpPr>
        <p:spPr>
          <a:xfrm>
            <a:off x="838200" y="1680599"/>
            <a:ext cx="10641676" cy="504087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Courier New"/>
              <a:buChar char="o"/>
              <a:defRPr sz="1600"/>
            </a:lvl2pPr>
            <a:lvl3pPr marL="1371600" lvl="2" indent="-330200" algn="l">
              <a:lnSpc>
                <a:spcPct val="90000"/>
              </a:lnSpc>
              <a:spcBef>
                <a:spcPts val="500"/>
              </a:spcBef>
              <a:spcAft>
                <a:spcPts val="0"/>
              </a:spcAft>
              <a:buClr>
                <a:srgbClr val="C00000"/>
              </a:buClr>
              <a:buSzPts val="1600"/>
              <a:buChar char="•"/>
              <a:defRPr sz="1600"/>
            </a:lvl3pPr>
            <a:lvl4pPr marL="1828800" lvl="3" indent="-330200" algn="l">
              <a:lnSpc>
                <a:spcPct val="90000"/>
              </a:lnSpc>
              <a:spcBef>
                <a:spcPts val="500"/>
              </a:spcBef>
              <a:spcAft>
                <a:spcPts val="0"/>
              </a:spcAft>
              <a:buClr>
                <a:srgbClr val="C00000"/>
              </a:buClr>
              <a:buSzPts val="1600"/>
              <a:buChar char="•"/>
              <a:defRPr sz="1600"/>
            </a:lvl4pPr>
            <a:lvl5pPr marL="2286000" lvl="4" indent="-330200" algn="l">
              <a:lnSpc>
                <a:spcPct val="90000"/>
              </a:lnSpc>
              <a:spcBef>
                <a:spcPts val="500"/>
              </a:spcBef>
              <a:spcAft>
                <a:spcPts val="0"/>
              </a:spcAft>
              <a:buClr>
                <a:srgbClr val="C00000"/>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51CDB11-DCEB-AD1C-988C-22C79E587A94}"/>
              </a:ext>
            </a:extLst>
          </p:cNvPr>
          <p:cNvPicPr>
            <a:picLocks noChangeAspect="1"/>
          </p:cNvPicPr>
          <p:nvPr userDrawn="1"/>
        </p:nvPicPr>
        <p:blipFill>
          <a:blip r:embed="rId4"/>
          <a:stretch>
            <a:fillRect/>
          </a:stretch>
        </p:blipFill>
        <p:spPr>
          <a:xfrm>
            <a:off x="9656157" y="308458"/>
            <a:ext cx="2346036" cy="4013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4"/>
        <p:cNvGrpSpPr/>
        <p:nvPr/>
      </p:nvGrpSpPr>
      <p:grpSpPr>
        <a:xfrm>
          <a:off x="0" y="0"/>
          <a:ext cx="0" cy="0"/>
          <a:chOff x="0" y="0"/>
          <a:chExt cx="0" cy="0"/>
        </a:xfrm>
      </p:grpSpPr>
      <p:sp>
        <p:nvSpPr>
          <p:cNvPr id="125" name="Google Shape;125;p46"/>
          <p:cNvSpPr txBox="1">
            <a:spLocks noGrp="1"/>
          </p:cNvSpPr>
          <p:nvPr>
            <p:ph type="body" idx="1"/>
          </p:nvPr>
        </p:nvSpPr>
        <p:spPr>
          <a:xfrm>
            <a:off x="1695999" y="1566639"/>
            <a:ext cx="3175259"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6" name="Google Shape;126;p46"/>
          <p:cNvSpPr txBox="1">
            <a:spLocks noGrp="1"/>
          </p:cNvSpPr>
          <p:nvPr>
            <p:ph type="body" idx="2"/>
          </p:nvPr>
        </p:nvSpPr>
        <p:spPr>
          <a:xfrm>
            <a:off x="7176164" y="1566639"/>
            <a:ext cx="3175260"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pic>
        <p:nvPicPr>
          <p:cNvPr id="127" name="Google Shape;127;p4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28" name="Google Shape;128;p4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29" name="Google Shape;129;p4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30" name="Google Shape;130;p46"/>
          <p:cNvSpPr/>
          <p:nvPr/>
        </p:nvSpPr>
        <p:spPr>
          <a:xfrm>
            <a:off x="2199884" y="2284225"/>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1" name="Google Shape;131;p46"/>
          <p:cNvSpPr/>
          <p:nvPr/>
        </p:nvSpPr>
        <p:spPr>
          <a:xfrm>
            <a:off x="7610161" y="2337388"/>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2" name="Google Shape;132;p46"/>
          <p:cNvSpPr txBox="1">
            <a:spLocks noGrp="1"/>
          </p:cNvSpPr>
          <p:nvPr>
            <p:ph type="body" idx="3"/>
          </p:nvPr>
        </p:nvSpPr>
        <p:spPr>
          <a:xfrm>
            <a:off x="838200" y="2524124"/>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46"/>
          <p:cNvSpPr txBox="1">
            <a:spLocks noGrp="1"/>
          </p:cNvSpPr>
          <p:nvPr>
            <p:ph type="body" idx="4"/>
          </p:nvPr>
        </p:nvSpPr>
        <p:spPr>
          <a:xfrm>
            <a:off x="6137734" y="2524123"/>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4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F22D559F-F5D7-697E-052B-2498695D66EE}"/>
              </a:ext>
            </a:extLst>
          </p:cNvPr>
          <p:cNvPicPr>
            <a:picLocks noChangeAspect="1"/>
          </p:cNvPicPr>
          <p:nvPr userDrawn="1"/>
        </p:nvPicPr>
        <p:blipFill>
          <a:blip r:embed="rId4"/>
          <a:stretch>
            <a:fillRect/>
          </a:stretch>
        </p:blipFill>
        <p:spPr>
          <a:xfrm>
            <a:off x="9770915" y="291683"/>
            <a:ext cx="2274573" cy="38914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6"/>
        <p:cNvGrpSpPr/>
        <p:nvPr/>
      </p:nvGrpSpPr>
      <p:grpSpPr>
        <a:xfrm>
          <a:off x="0" y="0"/>
          <a:ext cx="0" cy="0"/>
          <a:chOff x="0" y="0"/>
          <a:chExt cx="0" cy="0"/>
        </a:xfrm>
      </p:grpSpPr>
      <p:sp>
        <p:nvSpPr>
          <p:cNvPr id="137" name="Google Shape;137;p47"/>
          <p:cNvSpPr txBox="1">
            <a:spLocks noGrp="1"/>
          </p:cNvSpPr>
          <p:nvPr>
            <p:ph type="body" idx="1"/>
          </p:nvPr>
        </p:nvSpPr>
        <p:spPr>
          <a:xfrm>
            <a:off x="838199" y="3672580"/>
            <a:ext cx="3932237" cy="140505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38" name="Google Shape;138;p4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39" name="Google Shape;139;p4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40" name="Google Shape;140;p4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41" name="Google Shape;141;p4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47"/>
          <p:cNvSpPr txBox="1">
            <a:spLocks noGrp="1"/>
          </p:cNvSpPr>
          <p:nvPr>
            <p:ph type="body" idx="3"/>
          </p:nvPr>
        </p:nvSpPr>
        <p:spPr>
          <a:xfrm>
            <a:off x="5170488" y="1346200"/>
            <a:ext cx="6375400" cy="488791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C00000"/>
              </a:buClr>
              <a:buSzPts val="2800"/>
              <a:buChar char="•"/>
              <a:defRPr/>
            </a:lvl1pPr>
            <a:lvl2pPr marL="914400" lvl="1" indent="-381000" algn="l">
              <a:lnSpc>
                <a:spcPct val="90000"/>
              </a:lnSpc>
              <a:spcBef>
                <a:spcPts val="500"/>
              </a:spcBef>
              <a:spcAft>
                <a:spcPts val="0"/>
              </a:spcAft>
              <a:buClr>
                <a:srgbClr val="C00000"/>
              </a:buClr>
              <a:buSzPts val="2400"/>
              <a:buChar char="•"/>
              <a:defRPr/>
            </a:lvl2pPr>
            <a:lvl3pPr marL="1371600" lvl="2" indent="-355600" algn="l">
              <a:lnSpc>
                <a:spcPct val="90000"/>
              </a:lnSpc>
              <a:spcBef>
                <a:spcPts val="500"/>
              </a:spcBef>
              <a:spcAft>
                <a:spcPts val="0"/>
              </a:spcAft>
              <a:buClr>
                <a:srgbClr val="C00000"/>
              </a:buClr>
              <a:buSzPts val="20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rgbClr val="C0000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E83F87B7-2ACC-D5DC-10AF-DFB19E33836A}"/>
              </a:ext>
            </a:extLst>
          </p:cNvPr>
          <p:cNvPicPr>
            <a:picLocks noChangeAspect="1"/>
          </p:cNvPicPr>
          <p:nvPr userDrawn="1"/>
        </p:nvPicPr>
        <p:blipFill>
          <a:blip r:embed="rId4"/>
          <a:stretch>
            <a:fillRect/>
          </a:stretch>
        </p:blipFill>
        <p:spPr>
          <a:xfrm>
            <a:off x="9914696" y="157942"/>
            <a:ext cx="2087497" cy="35714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4"/>
        <p:cNvGrpSpPr/>
        <p:nvPr/>
      </p:nvGrpSpPr>
      <p:grpSpPr>
        <a:xfrm>
          <a:off x="0" y="0"/>
          <a:ext cx="0" cy="0"/>
          <a:chOff x="0" y="0"/>
          <a:chExt cx="0" cy="0"/>
        </a:xfrm>
      </p:grpSpPr>
      <p:sp>
        <p:nvSpPr>
          <p:cNvPr id="145" name="Google Shape;145;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ontserra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8"/>
          <p:cNvSpPr>
            <a:spLocks noGrp="1"/>
          </p:cNvSpPr>
          <p:nvPr>
            <p:ph type="pic" idx="2"/>
          </p:nvPr>
        </p:nvSpPr>
        <p:spPr>
          <a:xfrm>
            <a:off x="5183188" y="987425"/>
            <a:ext cx="6172200" cy="4873625"/>
          </a:xfrm>
          <a:prstGeom prst="rect">
            <a:avLst/>
          </a:prstGeom>
          <a:noFill/>
          <a:ln>
            <a:noFill/>
          </a:ln>
        </p:spPr>
      </p:sp>
      <p:sp>
        <p:nvSpPr>
          <p:cNvPr id="147" name="Google Shape;147;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50" name="Google Shape;15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1"/>
        <p:cNvGrpSpPr/>
        <p:nvPr/>
      </p:nvGrpSpPr>
      <p:grpSpPr>
        <a:xfrm>
          <a:off x="0" y="0"/>
          <a:ext cx="0" cy="0"/>
          <a:chOff x="0" y="0"/>
          <a:chExt cx="0" cy="0"/>
        </a:xfrm>
      </p:grpSpPr>
      <p:sp>
        <p:nvSpPr>
          <p:cNvPr id="152" name="Google Shape;15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cxnSp>
        <p:nvCxnSpPr>
          <p:cNvPr id="164" name="Google Shape;164;g128e061f2de_0_109"/>
          <p:cNvCxnSpPr/>
          <p:nvPr/>
        </p:nvCxnSpPr>
        <p:spPr>
          <a:xfrm>
            <a:off x="575800" y="6322471"/>
            <a:ext cx="11040300" cy="0"/>
          </a:xfrm>
          <a:prstGeom prst="straightConnector1">
            <a:avLst/>
          </a:prstGeom>
          <a:noFill/>
          <a:ln w="9525" cap="flat" cmpd="sng">
            <a:solidFill>
              <a:srgbClr val="C6C5C5"/>
            </a:solidFill>
            <a:prstDash val="dot"/>
            <a:round/>
            <a:headEnd type="none" w="sm" len="sm"/>
            <a:tailEnd type="none" w="sm" len="sm"/>
          </a:ln>
        </p:spPr>
      </p:cxnSp>
      <p:sp>
        <p:nvSpPr>
          <p:cNvPr id="165" name="Google Shape;165;g128e061f2de_0_109"/>
          <p:cNvSpPr txBox="1">
            <a:spLocks noGrp="1"/>
          </p:cNvSpPr>
          <p:nvPr>
            <p:ph type="title"/>
          </p:nvPr>
        </p:nvSpPr>
        <p:spPr>
          <a:xfrm>
            <a:off x="415600" y="284933"/>
            <a:ext cx="11360700" cy="6207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rgbClr val="566579"/>
              </a:buClr>
              <a:buSzPts val="3700"/>
              <a:buFont typeface="Trebuchet MS"/>
              <a:buNone/>
              <a:defRPr>
                <a:solidFill>
                  <a:srgbClr val="566579"/>
                </a:solidFill>
                <a:latin typeface="Trebuchet MS"/>
                <a:ea typeface="Trebuchet MS"/>
                <a:cs typeface="Trebuchet MS"/>
                <a:sym typeface="Trebuchet MS"/>
              </a:defRPr>
            </a:lvl1pPr>
            <a:lvl2pPr lvl="1" algn="l" rtl="0">
              <a:lnSpc>
                <a:spcPct val="100000"/>
              </a:lnSpc>
              <a:spcBef>
                <a:spcPts val="0"/>
              </a:spcBef>
              <a:spcAft>
                <a:spcPts val="0"/>
              </a:spcAft>
              <a:buSzPts val="3700"/>
              <a:buNone/>
              <a:defRPr/>
            </a:lvl2pPr>
            <a:lvl3pPr lvl="2" algn="l" rtl="0">
              <a:lnSpc>
                <a:spcPct val="100000"/>
              </a:lnSpc>
              <a:spcBef>
                <a:spcPts val="0"/>
              </a:spcBef>
              <a:spcAft>
                <a:spcPts val="0"/>
              </a:spcAft>
              <a:buSzPts val="3700"/>
              <a:buNone/>
              <a:defRPr/>
            </a:lvl3pPr>
            <a:lvl4pPr lvl="3" algn="l" rtl="0">
              <a:lnSpc>
                <a:spcPct val="100000"/>
              </a:lnSpc>
              <a:spcBef>
                <a:spcPts val="0"/>
              </a:spcBef>
              <a:spcAft>
                <a:spcPts val="0"/>
              </a:spcAft>
              <a:buSzPts val="3700"/>
              <a:buNone/>
              <a:defRPr/>
            </a:lvl4pPr>
            <a:lvl5pPr lvl="4" algn="l" rtl="0">
              <a:lnSpc>
                <a:spcPct val="100000"/>
              </a:lnSpc>
              <a:spcBef>
                <a:spcPts val="0"/>
              </a:spcBef>
              <a:spcAft>
                <a:spcPts val="0"/>
              </a:spcAft>
              <a:buSzPts val="3700"/>
              <a:buNone/>
              <a:defRPr/>
            </a:lvl5pPr>
            <a:lvl6pPr lvl="5" algn="l" rtl="0">
              <a:lnSpc>
                <a:spcPct val="100000"/>
              </a:lnSpc>
              <a:spcBef>
                <a:spcPts val="0"/>
              </a:spcBef>
              <a:spcAft>
                <a:spcPts val="0"/>
              </a:spcAft>
              <a:buSzPts val="3700"/>
              <a:buNone/>
              <a:defRPr/>
            </a:lvl6pPr>
            <a:lvl7pPr lvl="6" algn="l" rtl="0">
              <a:lnSpc>
                <a:spcPct val="100000"/>
              </a:lnSpc>
              <a:spcBef>
                <a:spcPts val="0"/>
              </a:spcBef>
              <a:spcAft>
                <a:spcPts val="0"/>
              </a:spcAft>
              <a:buSzPts val="3700"/>
              <a:buNone/>
              <a:defRPr/>
            </a:lvl7pPr>
            <a:lvl8pPr lvl="7" algn="l" rtl="0">
              <a:lnSpc>
                <a:spcPct val="100000"/>
              </a:lnSpc>
              <a:spcBef>
                <a:spcPts val="0"/>
              </a:spcBef>
              <a:spcAft>
                <a:spcPts val="0"/>
              </a:spcAft>
              <a:buSzPts val="3700"/>
              <a:buNone/>
              <a:defRPr/>
            </a:lvl8pPr>
            <a:lvl9pPr lvl="8" algn="l" rtl="0">
              <a:lnSpc>
                <a:spcPct val="100000"/>
              </a:lnSpc>
              <a:spcBef>
                <a:spcPts val="0"/>
              </a:spcBef>
              <a:spcAft>
                <a:spcPts val="0"/>
              </a:spcAft>
              <a:buSzPts val="3700"/>
              <a:buNone/>
              <a:defRPr/>
            </a:lvl9pPr>
          </a:lstStyle>
          <a:p>
            <a:endParaRPr/>
          </a:p>
        </p:txBody>
      </p:sp>
      <p:cxnSp>
        <p:nvCxnSpPr>
          <p:cNvPr id="166" name="Google Shape;166;g128e061f2de_0_109"/>
          <p:cNvCxnSpPr/>
          <p:nvPr/>
        </p:nvCxnSpPr>
        <p:spPr>
          <a:xfrm>
            <a:off x="575800" y="1002333"/>
            <a:ext cx="11040300" cy="0"/>
          </a:xfrm>
          <a:prstGeom prst="straightConnector1">
            <a:avLst/>
          </a:prstGeom>
          <a:noFill/>
          <a:ln w="9525" cap="flat" cmpd="sng">
            <a:solidFill>
              <a:srgbClr val="C6C5C5"/>
            </a:solidFill>
            <a:prstDash val="dot"/>
            <a:round/>
            <a:headEnd type="none" w="sm" len="sm"/>
            <a:tailEnd type="none" w="sm" len="sm"/>
          </a:ln>
        </p:spPr>
      </p:cxnSp>
      <p:sp>
        <p:nvSpPr>
          <p:cNvPr id="167" name="Google Shape;167;g128e061f2de_0_109">
            <a:hlinkClick r:id="" action="ppaction://hlinkshowjump?jump=previousslide"/>
          </p:cNvPr>
          <p:cNvSpPr/>
          <p:nvPr/>
        </p:nvSpPr>
        <p:spPr>
          <a:xfrm rot="2700000">
            <a:off x="11348840" y="6420393"/>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8" name="Google Shape;168;g128e061f2de_0_109"/>
          <p:cNvSpPr/>
          <p:nvPr/>
        </p:nvSpPr>
        <p:spPr>
          <a:xfrm>
            <a:off x="579075" y="6315167"/>
            <a:ext cx="506400" cy="232800"/>
          </a:xfrm>
          <a:prstGeom prst="rect">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9" name="Google Shape;169;g128e061f2de_0_109">
            <a:hlinkClick r:id="" action="ppaction://hlinkshowjump?jump=nextslide"/>
          </p:cNvPr>
          <p:cNvSpPr/>
          <p:nvPr/>
        </p:nvSpPr>
        <p:spPr>
          <a:xfrm rot="-8100000">
            <a:off x="11508840" y="6420194"/>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70" name="Google Shape;170;g128e061f2de_0_109"/>
          <p:cNvSpPr txBox="1">
            <a:spLocks noGrp="1"/>
          </p:cNvSpPr>
          <p:nvPr>
            <p:ph type="sldNum" idx="12"/>
          </p:nvPr>
        </p:nvSpPr>
        <p:spPr>
          <a:xfrm>
            <a:off x="579067" y="6315167"/>
            <a:ext cx="506400" cy="232800"/>
          </a:xfrm>
          <a:prstGeom prst="rect">
            <a:avLst/>
          </a:prstGeom>
          <a:noFill/>
          <a:ln>
            <a:noFill/>
          </a:ln>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71" name="Google Shape;171;g128e061f2de_0_109"/>
          <p:cNvSpPr txBox="1"/>
          <p:nvPr/>
        </p:nvSpPr>
        <p:spPr>
          <a:xfrm>
            <a:off x="9204248" y="6246912"/>
            <a:ext cx="2043600" cy="2328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C6C5C5"/>
                </a:solidFill>
                <a:latin typeface="Arial"/>
                <a:ea typeface="Arial"/>
                <a:cs typeface="Arial"/>
                <a:sym typeface="Arial"/>
              </a:rPr>
              <a:t>www.companyname.com</a:t>
            </a:r>
            <a:endParaRPr sz="1200" b="0" i="0" u="none" strike="noStrike" cap="none" dirty="0">
              <a:solidFill>
                <a:srgbClr val="C6C5C5"/>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ontserrat"/>
              <a:buNone/>
              <a:defRPr sz="44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dirty="0"/>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9"/>
          <p:cNvSpPr txBox="1"/>
          <p:nvPr/>
        </p:nvSpPr>
        <p:spPr>
          <a:xfrm>
            <a:off x="1981200" y="6338813"/>
            <a:ext cx="7122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2024 By BK Fintech- Rikkei Education - All rights reserved.</a:t>
            </a:r>
            <a:endParaRPr sz="14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1bb26f517d_0_1"/>
          <p:cNvSpPr txBox="1">
            <a:spLocks noGrp="1"/>
          </p:cNvSpPr>
          <p:nvPr>
            <p:ph type="ctrTitle"/>
          </p:nvPr>
        </p:nvSpPr>
        <p:spPr>
          <a:xfrm>
            <a:off x="1691640" y="2423160"/>
            <a:ext cx="6858000" cy="1234440"/>
          </a:xfrm>
          <a:prstGeom prst="rect">
            <a:avLst/>
          </a:prstGeom>
          <a:noFill/>
          <a:ln>
            <a:noFill/>
          </a:ln>
        </p:spPr>
        <p:txBody>
          <a:bodyPr spcFirstLastPara="1" wrap="square" lIns="0" tIns="0" rIns="0" bIns="0" anchor="t" anchorCtr="0">
            <a:noAutofit/>
          </a:bodyPr>
          <a:lstStyle/>
          <a:p>
            <a:pPr>
              <a:spcAft>
                <a:spcPts val="0"/>
              </a:spcAft>
              <a:defRPr sz="2400" b="0">
                <a:solidFill>
                  <a:srgbClr val="000000"/>
                </a:solidFill>
                <a:latin typeface="Arial"/>
              </a:defRPr>
            </a:pPr>
            <a:r>
              <a:t>Tự động hóa Daily Pipeline và tích hợp End-to-End</a:t>
            </a:r>
          </a:p>
        </p:txBody>
      </p:sp>
      <p:sp>
        <p:nvSpPr>
          <p:cNvPr id="177" name="Google Shape;177;g11bb26f517d_0_1"/>
          <p:cNvSpPr txBox="1">
            <a:spLocks noGrp="1"/>
          </p:cNvSpPr>
          <p:nvPr>
            <p:ph type="subTitle" idx="1"/>
          </p:nvPr>
        </p:nvSpPr>
        <p:spPr>
          <a:xfrm>
            <a:off x="1691640" y="4160520"/>
            <a:ext cx="4389120" cy="292608"/>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Phiên bản: 1.0</a:t>
            </a:r>
          </a:p>
        </p:txBody>
      </p:sp>
      <p:sp>
        <p:nvSpPr>
          <p:cNvPr id="178" name="Google Shape;178;g11bb26f517d_0_1"/>
          <p:cNvSpPr txBox="1">
            <a:spLocks noGrp="1"/>
          </p:cNvSpPr>
          <p:nvPr>
            <p:ph type="body" idx="2"/>
          </p:nvPr>
        </p:nvSpPr>
        <p:spPr>
          <a:xfrm>
            <a:off x="1691640" y="1874519"/>
            <a:ext cx="5120640" cy="411480"/>
          </a:xfrm>
          <a:prstGeom prst="rect">
            <a:avLst/>
          </a:prstGeom>
          <a:noFill/>
          <a:ln>
            <a:noFill/>
          </a:ln>
        </p:spPr>
        <p:txBody>
          <a:bodyPr spcFirstLastPara="1" wrap="square" lIns="91425" tIns="45700" rIns="91425" bIns="45700" anchor="t" anchorCtr="0">
            <a:noAutofit/>
          </a:bodyPr>
          <a:lstStyle/>
          <a:p>
            <a:pPr>
              <a:defRPr sz="2300" b="0">
                <a:solidFill>
                  <a:srgbClr val="C5272A"/>
                </a:solidFill>
                <a:latin typeface="Arial"/>
              </a:defRPr>
            </a:pPr>
            <a:r>
              <a:t>BÀI 8:</a:t>
            </a:r>
          </a:p>
        </p:txBody>
      </p:sp>
      <p:sp>
        <p:nvSpPr>
          <p:cNvPr id="179" name="Google Shape;179;g11bb26f517d_0_1"/>
          <p:cNvSpPr txBox="1"/>
          <p:nvPr/>
        </p:nvSpPr>
        <p:spPr>
          <a:xfrm>
            <a:off x="1691640" y="3767328"/>
            <a:ext cx="6492240" cy="329184"/>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Module: AI-Native Data Engineering – Data Engineering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1bac9ab7f9_1_682"/>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200">
                <a:solidFill>
                  <a:srgbClr val="262626"/>
                </a:solidFill>
                <a:latin typeface="Arial"/>
              </a:defRPr>
            </a:pPr>
            <a:r>
              <a:t>1. End-to-end pipeline</a:t>
            </a:r>
          </a:p>
          <a:p>
            <a:pPr>
              <a:spcAft>
                <a:spcPts val="1200"/>
              </a:spcAft>
              <a:defRPr sz="2200">
                <a:solidFill>
                  <a:srgbClr val="262626"/>
                </a:solidFill>
                <a:latin typeface="Arial"/>
              </a:defRPr>
            </a:pPr>
            <a:r>
              <a:t>2. Retry/checkpoint/schedule</a:t>
            </a:r>
          </a:p>
          <a:p>
            <a:pPr>
              <a:spcAft>
                <a:spcPts val="1200"/>
              </a:spcAft>
              <a:defRPr sz="2200">
                <a:solidFill>
                  <a:srgbClr val="262626"/>
                </a:solidFill>
                <a:latin typeface="Arial"/>
              </a:defRPr>
            </a:pPr>
            <a:r>
              <a:t>3. KPI before/after</a:t>
            </a:r>
          </a:p>
          <a:p>
            <a:pPr>
              <a:spcAft>
                <a:spcPts val="1200"/>
              </a:spcAft>
              <a:defRPr sz="2200">
                <a:solidFill>
                  <a:srgbClr val="262626"/>
                </a:solidFill>
                <a:latin typeface="Arial"/>
              </a:defRPr>
            </a:pPr>
            <a:r>
              <a:t>4. Mini Project demo</a:t>
            </a:r>
          </a:p>
        </p:txBody>
      </p:sp>
      <p:sp>
        <p:nvSpPr>
          <p:cNvPr id="185" name="Google Shape;185;g11bac9ab7f9_1_682"/>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NỘI DUNG</a:t>
            </a:r>
            <a:endParaRPr/>
          </a:p>
        </p:txBody>
      </p:sp>
      <p:pic>
        <p:nvPicPr>
          <p:cNvPr id="186" name="Google Shape;186;g11bac9ab7f9_1_682"/>
          <p:cNvPicPr preferRelativeResize="0"/>
          <p:nvPr/>
        </p:nvPicPr>
        <p:blipFill rotWithShape="1">
          <a:blip r:embed="rId3">
            <a:alphaModFix/>
          </a:blip>
          <a:srcRect/>
          <a:stretch/>
        </p:blipFill>
        <p:spPr>
          <a:xfrm>
            <a:off x="-1863816" y="5111676"/>
            <a:ext cx="3515280" cy="34926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1bac9ab7f9_1_876"/>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a:defRPr sz="2500" b="1">
                <a:solidFill>
                  <a:srgbClr val="C5272A"/>
                </a:solidFill>
                <a:latin typeface="Arial"/>
              </a:defRPr>
            </a:pPr>
            <a:r>
              <a:t>Mục tiêu Buổi 8</a:t>
            </a:r>
          </a:p>
        </p:txBody>
      </p:sp>
      <p:sp>
        <p:nvSpPr>
          <p:cNvPr id="192" name="Google Shape;192;g11bac9ab7f9_1_876"/>
          <p:cNvSpPr txBox="1"/>
          <p:nvPr/>
        </p:nvSpPr>
        <p:spPr>
          <a:xfrm>
            <a:off x="742492" y="1978425"/>
            <a:ext cx="10792200" cy="4019700"/>
          </a:xfrm>
          <a:prstGeom prst="rect">
            <a:avLst/>
          </a:prstGeom>
          <a:noFill/>
          <a:ln>
            <a:noFill/>
          </a:ln>
        </p:spPr>
        <p:txBody>
          <a:bodyPr spcFirstLastPara="1" wrap="square" lIns="91425" tIns="45700" rIns="91425" bIns="45700" anchor="t" anchorCtr="0">
            <a:normAutofit/>
          </a:bodyPr>
          <a:lstStyle/>
          <a:p/>
        </p:txBody>
      </p:sp>
      <p:sp>
        <p:nvSpPr>
          <p:cNvPr id="193" name="Google Shape;193;g11bac9ab7f9_1_876"/>
          <p:cNvSpPr txBox="1"/>
          <p:nvPr/>
        </p:nvSpPr>
        <p:spPr>
          <a:xfrm>
            <a:off x="742500" y="1454750"/>
            <a:ext cx="10671300" cy="461700"/>
          </a:xfrm>
          <a:prstGeom prst="rect">
            <a:avLst/>
          </a:prstGeom>
          <a:noFill/>
          <a:ln>
            <a:noFill/>
          </a:ln>
        </p:spPr>
        <p:txBody>
          <a:bodyPr spcFirstLastPara="1" wrap="square" lIns="91425" tIns="91425" rIns="91425" bIns="91425" anchor="t" anchorCtr="0">
            <a:spAutoFit/>
          </a:bodyPr>
          <a:lstStyle/>
          <a:p/>
        </p:txBody>
      </p:sp>
      <p:sp>
        <p:nvSpPr>
          <p:cNvPr id="194" name="Rounded Rectangle 193"/>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Tích hợp</a:t>
            </a:r>
          </a:p>
        </p:txBody>
      </p:sp>
      <p:sp>
        <p:nvSpPr>
          <p:cNvPr id="195" name="Rounded Rectangle 194"/>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Vận hành</a:t>
            </a:r>
          </a:p>
        </p:txBody>
      </p:sp>
      <p:sp>
        <p:nvSpPr>
          <p:cNvPr id="196" name="TextBox 195"/>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File + API ingestion</a:t>
            </a:r>
          </a:p>
          <a:p>
            <a:pPr>
              <a:lnSpc>
                <a:spcPct val="108000"/>
              </a:lnSpc>
              <a:spcAft>
                <a:spcPts val="800"/>
              </a:spcAft>
              <a:defRPr sz="1600">
                <a:solidFill>
                  <a:srgbClr val="262626"/>
                </a:solidFill>
                <a:latin typeface="Arial"/>
              </a:defRPr>
            </a:pPr>
            <a:r>
              <a:t>• Validation + transform</a:t>
            </a:r>
          </a:p>
          <a:p>
            <a:pPr>
              <a:lnSpc>
                <a:spcPct val="108000"/>
              </a:lnSpc>
              <a:spcAft>
                <a:spcPts val="800"/>
              </a:spcAft>
              <a:defRPr sz="1600">
                <a:solidFill>
                  <a:srgbClr val="262626"/>
                </a:solidFill>
                <a:latin typeface="Arial"/>
              </a:defRPr>
            </a:pPr>
            <a:r>
              <a:t>• Incremental upsert</a:t>
            </a:r>
          </a:p>
          <a:p>
            <a:pPr>
              <a:lnSpc>
                <a:spcPct val="108000"/>
              </a:lnSpc>
              <a:spcAft>
                <a:spcPts val="800"/>
              </a:spcAft>
              <a:defRPr sz="1600">
                <a:solidFill>
                  <a:srgbClr val="262626"/>
                </a:solidFill>
                <a:latin typeface="Arial"/>
              </a:defRPr>
            </a:pPr>
            <a:r>
              <a:t>• Refresh Data Mart</a:t>
            </a:r>
          </a:p>
        </p:txBody>
      </p:sp>
      <p:sp>
        <p:nvSpPr>
          <p:cNvPr id="197" name="TextBox 196"/>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Config/secrets</a:t>
            </a:r>
          </a:p>
          <a:p>
            <a:pPr>
              <a:lnSpc>
                <a:spcPct val="108000"/>
              </a:lnSpc>
              <a:spcAft>
                <a:spcPts val="800"/>
              </a:spcAft>
              <a:defRPr sz="1600">
                <a:solidFill>
                  <a:srgbClr val="262626"/>
                </a:solidFill>
                <a:latin typeface="Arial"/>
              </a:defRPr>
            </a:pPr>
            <a:r>
              <a:t>• Retry/checkpoint</a:t>
            </a:r>
          </a:p>
          <a:p>
            <a:pPr>
              <a:lnSpc>
                <a:spcPct val="108000"/>
              </a:lnSpc>
              <a:spcAft>
                <a:spcPts val="800"/>
              </a:spcAft>
              <a:defRPr sz="1600">
                <a:solidFill>
                  <a:srgbClr val="262626"/>
                </a:solidFill>
                <a:latin typeface="Arial"/>
              </a:defRPr>
            </a:pPr>
            <a:r>
              <a:t>• Logging/audit</a:t>
            </a:r>
          </a:p>
          <a:p>
            <a:pPr>
              <a:lnSpc>
                <a:spcPct val="108000"/>
              </a:lnSpc>
              <a:spcAft>
                <a:spcPts val="800"/>
              </a:spcAft>
              <a:defRPr sz="1600">
                <a:solidFill>
                  <a:srgbClr val="262626"/>
                </a:solidFill>
                <a:latin typeface="Arial"/>
              </a:defRPr>
            </a:pPr>
            <a:r>
              <a:t>• Scheduling + troubleshooting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1bac9ab7f9_1_1035"/>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TỔNG KẾT</a:t>
            </a:r>
            <a:endParaRPr/>
          </a:p>
        </p:txBody>
      </p:sp>
      <p:pic>
        <p:nvPicPr>
          <p:cNvPr id="199" name="Google Shape;199;g11bac9ab7f9_1_1035"/>
          <p:cNvPicPr preferRelativeResize="0"/>
          <p:nvPr/>
        </p:nvPicPr>
        <p:blipFill rotWithShape="1">
          <a:blip r:embed="rId3">
            <a:alphaModFix/>
          </a:blip>
          <a:srcRect/>
          <a:stretch/>
        </p:blipFill>
        <p:spPr>
          <a:xfrm>
            <a:off x="-1863816" y="5111676"/>
            <a:ext cx="3515280" cy="3492645"/>
          </a:xfrm>
          <a:prstGeom prst="rect">
            <a:avLst/>
          </a:prstGeom>
          <a:noFill/>
          <a:ln>
            <a:noFill/>
          </a:ln>
        </p:spPr>
      </p:pic>
      <p:sp>
        <p:nvSpPr>
          <p:cNvPr id="200" name="Google Shape;200;g11bac9ab7f9_1_1035"/>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100">
                <a:solidFill>
                  <a:srgbClr val="262626"/>
                </a:solidFill>
                <a:latin typeface="Arial"/>
              </a:defRPr>
            </a:pPr>
            <a:r>
              <a:t>1. Pipeline phải end-to-end và rerun safe</a:t>
            </a:r>
          </a:p>
          <a:p>
            <a:pPr>
              <a:spcAft>
                <a:spcPts val="1200"/>
              </a:spcAft>
              <a:defRPr sz="2100">
                <a:solidFill>
                  <a:srgbClr val="262626"/>
                </a:solidFill>
                <a:latin typeface="Arial"/>
              </a:defRPr>
            </a:pPr>
            <a:r>
              <a:t>2. Config/secret/retry/checkpoint là operational core</a:t>
            </a:r>
          </a:p>
          <a:p>
            <a:pPr>
              <a:spcAft>
                <a:spcPts val="1200"/>
              </a:spcAft>
              <a:defRPr sz="2100">
                <a:solidFill>
                  <a:srgbClr val="262626"/>
                </a:solidFill>
                <a:latin typeface="Arial"/>
              </a:defRPr>
            </a:pPr>
            <a:r>
              <a:t>3. Mart/KPI phải phản ánh dữ liệu mới</a:t>
            </a:r>
          </a:p>
          <a:p>
            <a:pPr>
              <a:spcAft>
                <a:spcPts val="1200"/>
              </a:spcAft>
              <a:defRPr sz="2100">
                <a:solidFill>
                  <a:srgbClr val="262626"/>
                </a:solidFill>
                <a:latin typeface="Arial"/>
              </a:defRPr>
            </a:pPr>
            <a:r>
              <a:t>4. Mini project chứng minh toàn chuỗi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1bb26f517d_0_162"/>
          <p:cNvSpPr txBox="1">
            <a:spLocks noGrp="1"/>
          </p:cNvSpPr>
          <p:nvPr>
            <p:ph type="ctrTitle"/>
          </p:nvPr>
        </p:nvSpPr>
        <p:spPr>
          <a:xfrm>
            <a:off x="279991" y="3969209"/>
            <a:ext cx="9144000" cy="1464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Montserrat Black"/>
              <a:buNone/>
            </a:pPr>
            <a:r>
              <a:rPr lang="en-US" dirty="0"/>
              <a:t>KẾT THÚC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End-to-end pipeline cuối Module 1</a:t>
            </a:r>
          </a:p>
        </p:txBody>
      </p:sp>
      <p:sp>
        <p:nvSpPr>
          <p:cNvPr id="5" name="Rounded Rectangle 4"/>
          <p:cNvSpPr/>
          <p:nvPr/>
        </p:nvSpPr>
        <p:spPr>
          <a:xfrm>
            <a:off x="777240" y="2240280"/>
            <a:ext cx="1638300"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SOURCES</a:t>
            </a:r>
          </a:p>
          <a:p>
            <a:pPr algn="ctr">
              <a:defRPr sz="1150">
                <a:solidFill>
                  <a:srgbClr val="5F6368"/>
                </a:solidFill>
                <a:latin typeface="Arial"/>
              </a:defRPr>
            </a:pPr>
            <a:r>
              <a:t>CSV / JSON / REST API</a:t>
            </a:r>
          </a:p>
        </p:txBody>
      </p:sp>
      <p:sp>
        <p:nvSpPr>
          <p:cNvPr id="6" name="Right Arrow 5"/>
          <p:cNvSpPr/>
          <p:nvPr/>
        </p:nvSpPr>
        <p:spPr>
          <a:xfrm>
            <a:off x="2442972"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80132"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RAW</a:t>
            </a:r>
          </a:p>
          <a:p>
            <a:pPr algn="ctr">
              <a:defRPr sz="1150">
                <a:solidFill>
                  <a:srgbClr val="5F6368"/>
                </a:solidFill>
                <a:latin typeface="Arial"/>
              </a:defRPr>
            </a:pPr>
            <a:r>
              <a:t>Giữ nguyên nguồn</a:t>
            </a:r>
          </a:p>
        </p:txBody>
      </p:sp>
      <p:sp>
        <p:nvSpPr>
          <p:cNvPr id="8" name="Right Arrow 7"/>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3024"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STAGING</a:t>
            </a:r>
          </a:p>
          <a:p>
            <a:pPr algn="ctr">
              <a:defRPr sz="1150">
                <a:solidFill>
                  <a:srgbClr val="5F6368"/>
                </a:solidFill>
                <a:latin typeface="Arial"/>
              </a:defRPr>
            </a:pPr>
            <a:r>
              <a:t>Chuẩn hóa + Validate</a:t>
            </a:r>
          </a:p>
        </p:txBody>
      </p:sp>
      <p:sp>
        <p:nvSpPr>
          <p:cNvPr id="10" name="Right Arrow 9"/>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5916"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CORE</a:t>
            </a:r>
          </a:p>
          <a:p>
            <a:pPr algn="ctr">
              <a:defRPr sz="1150">
                <a:solidFill>
                  <a:srgbClr val="5F6368"/>
                </a:solidFill>
                <a:latin typeface="Arial"/>
              </a:defRPr>
            </a:pPr>
            <a:r>
              <a:t>PostgreSQL OLTP</a:t>
            </a:r>
          </a:p>
        </p:txBody>
      </p:sp>
      <p:sp>
        <p:nvSpPr>
          <p:cNvPr id="12" name="Right Arrow 11"/>
          <p:cNvSpPr/>
          <p:nvPr/>
        </p:nvSpPr>
        <p:spPr>
          <a:xfrm>
            <a:off x="7851647"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88808"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MART</a:t>
            </a:r>
          </a:p>
          <a:p>
            <a:pPr algn="ctr">
              <a:defRPr sz="1150">
                <a:solidFill>
                  <a:srgbClr val="5F6368"/>
                </a:solidFill>
                <a:latin typeface="Arial"/>
              </a:defRPr>
            </a:pPr>
            <a:r>
              <a:t>Fact / Dimension</a:t>
            </a:r>
          </a:p>
        </p:txBody>
      </p:sp>
      <p:sp>
        <p:nvSpPr>
          <p:cNvPr id="14" name="Right Arrow 13"/>
          <p:cNvSpPr/>
          <p:nvPr/>
        </p:nvSpPr>
        <p:spPr>
          <a:xfrm>
            <a:off x="9654539"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91700" y="2240280"/>
            <a:ext cx="1638300"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ANALYTICS</a:t>
            </a:r>
          </a:p>
          <a:p>
            <a:pPr algn="ctr">
              <a:defRPr sz="1150">
                <a:solidFill>
                  <a:srgbClr val="5F6368"/>
                </a:solidFill>
                <a:latin typeface="Arial"/>
              </a:defRPr>
            </a:pPr>
            <a:r>
              <a:t>KPI / SQL</a:t>
            </a:r>
          </a:p>
        </p:txBody>
      </p:sp>
      <p:sp>
        <p:nvSpPr>
          <p:cNvPr id="16" name="TextBox 15"/>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Một business case, một bộ ID và Data Contract xuyên suốt 8 buổi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Một command, nhiều component</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python -m src.pipeline \</a:t>
            </a:r>
            <a:br/>
            <a:r>
              <a:t>  --input-dir data/incremental/day_2026-07-01</a:t>
            </a:r>
            <a:br/>
            <a:br/>
            <a:r>
              <a:t># Sau load:</a:t>
            </a:r>
            <a:br/>
            <a:r>
              <a:t>python -m src.refresh_mart</a:t>
            </a:r>
            <a:br/>
            <a:r>
              <a:t># Kiểm tra reports/data_quality_report.csv</a:t>
            </a:r>
            <a:br/>
            <a:r>
              <a:t># Kiểm tra logs/pipeline.log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Configuration và secret</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CONFIG</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Paths / page_size</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Có thể commit default</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config.py / env</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.env.example</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SECRET</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Password / API key</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Không commit giá trị thật</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Environment variable</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local .env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run_id &amp; audit: truy vết một lần chạy</a:t>
            </a:r>
          </a:p>
        </p:txBody>
      </p:sp>
      <p:sp>
        <p:nvSpPr>
          <p:cNvPr id="5" name="Rounded Rectangle 4"/>
          <p:cNvSpPr/>
          <p:nvPr/>
        </p:nvSpPr>
        <p:spPr>
          <a:xfrm>
            <a:off x="86868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RUN_ID</a:t>
            </a:r>
          </a:p>
          <a:p>
            <a:pPr>
              <a:defRPr sz="2000" b="1">
                <a:solidFill>
                  <a:srgbClr val="C5272A"/>
                </a:solidFill>
                <a:latin typeface="Arial"/>
              </a:defRPr>
            </a:pPr>
            <a:r>
              <a:t>UUID</a:t>
            </a:r>
          </a:p>
          <a:p>
            <a:pPr>
              <a:defRPr sz="1050">
                <a:solidFill>
                  <a:srgbClr val="5F6368"/>
                </a:solidFill>
                <a:latin typeface="Arial"/>
              </a:defRPr>
            </a:pPr>
            <a:r>
              <a:t>trace</a:t>
            </a:r>
          </a:p>
        </p:txBody>
      </p:sp>
      <p:sp>
        <p:nvSpPr>
          <p:cNvPr id="6" name="Rounded Rectangle 5"/>
          <p:cNvSpPr/>
          <p:nvPr/>
        </p:nvSpPr>
        <p:spPr>
          <a:xfrm>
            <a:off x="443484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STARTED_AT</a:t>
            </a:r>
          </a:p>
          <a:p>
            <a:pPr>
              <a:defRPr sz="2000" b="1">
                <a:solidFill>
                  <a:srgbClr val="C5272A"/>
                </a:solidFill>
                <a:latin typeface="Arial"/>
              </a:defRPr>
            </a:pPr>
            <a:r>
              <a:t>timestamp</a:t>
            </a:r>
          </a:p>
          <a:p>
            <a:pPr>
              <a:defRPr sz="1050">
                <a:solidFill>
                  <a:srgbClr val="5F6368"/>
                </a:solidFill>
                <a:latin typeface="Arial"/>
              </a:defRPr>
            </a:pPr>
            <a:r>
              <a:t>start</a:t>
            </a:r>
          </a:p>
        </p:txBody>
      </p:sp>
      <p:sp>
        <p:nvSpPr>
          <p:cNvPr id="7" name="Rounded Rectangle 6"/>
          <p:cNvSpPr/>
          <p:nvPr/>
        </p:nvSpPr>
        <p:spPr>
          <a:xfrm>
            <a:off x="800100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FINISHED_AT</a:t>
            </a:r>
          </a:p>
          <a:p>
            <a:pPr>
              <a:defRPr sz="2000" b="1">
                <a:solidFill>
                  <a:srgbClr val="C5272A"/>
                </a:solidFill>
                <a:latin typeface="Arial"/>
              </a:defRPr>
            </a:pPr>
            <a:r>
              <a:t>timestamp</a:t>
            </a:r>
          </a:p>
          <a:p>
            <a:pPr>
              <a:defRPr sz="1050">
                <a:solidFill>
                  <a:srgbClr val="5F6368"/>
                </a:solidFill>
                <a:latin typeface="Arial"/>
              </a:defRPr>
            </a:pPr>
            <a:r>
              <a:t>end</a:t>
            </a:r>
          </a:p>
        </p:txBody>
      </p:sp>
      <p:sp>
        <p:nvSpPr>
          <p:cNvPr id="8" name="Rounded Rectangle 7"/>
          <p:cNvSpPr/>
          <p:nvPr/>
        </p:nvSpPr>
        <p:spPr>
          <a:xfrm>
            <a:off x="86868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STATUS</a:t>
            </a:r>
          </a:p>
          <a:p>
            <a:pPr>
              <a:defRPr sz="2000" b="1">
                <a:solidFill>
                  <a:srgbClr val="C5272A"/>
                </a:solidFill>
                <a:latin typeface="Arial"/>
              </a:defRPr>
            </a:pPr>
            <a:r>
              <a:t>success/fail</a:t>
            </a:r>
          </a:p>
          <a:p>
            <a:pPr>
              <a:defRPr sz="1050">
                <a:solidFill>
                  <a:srgbClr val="5F6368"/>
                </a:solidFill>
                <a:latin typeface="Arial"/>
              </a:defRPr>
            </a:pPr>
            <a:r>
              <a:t>outcome</a:t>
            </a:r>
          </a:p>
        </p:txBody>
      </p:sp>
      <p:sp>
        <p:nvSpPr>
          <p:cNvPr id="9" name="Rounded Rectangle 8"/>
          <p:cNvSpPr/>
          <p:nvPr/>
        </p:nvSpPr>
        <p:spPr>
          <a:xfrm>
            <a:off x="443484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INPUT/VALID</a:t>
            </a:r>
          </a:p>
          <a:p>
            <a:pPr>
              <a:defRPr sz="2000" b="1">
                <a:solidFill>
                  <a:srgbClr val="C5272A"/>
                </a:solidFill>
                <a:latin typeface="Arial"/>
              </a:defRPr>
            </a:pPr>
            <a:r>
              <a:t>counts</a:t>
            </a:r>
          </a:p>
          <a:p>
            <a:pPr>
              <a:defRPr sz="1050">
                <a:solidFill>
                  <a:srgbClr val="5F6368"/>
                </a:solidFill>
                <a:latin typeface="Arial"/>
              </a:defRPr>
            </a:pPr>
            <a:r>
              <a:t>volume</a:t>
            </a:r>
          </a:p>
        </p:txBody>
      </p:sp>
      <p:sp>
        <p:nvSpPr>
          <p:cNvPr id="10" name="Rounded Rectangle 9"/>
          <p:cNvSpPr/>
          <p:nvPr/>
        </p:nvSpPr>
        <p:spPr>
          <a:xfrm>
            <a:off x="800100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INSERT/UPDATE</a:t>
            </a:r>
          </a:p>
          <a:p>
            <a:pPr>
              <a:defRPr sz="2000" b="1">
                <a:solidFill>
                  <a:srgbClr val="C5272A"/>
                </a:solidFill>
                <a:latin typeface="Arial"/>
              </a:defRPr>
            </a:pPr>
            <a:r>
              <a:t>counts</a:t>
            </a:r>
          </a:p>
          <a:p>
            <a:pPr>
              <a:defRPr sz="1050">
                <a:solidFill>
                  <a:srgbClr val="5F6368"/>
                </a:solidFill>
                <a:latin typeface="Arial"/>
              </a:defRPr>
            </a:pPr>
            <a:r>
              <a:t>load result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Retry strategy: transient vs permanent</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TRANSIENT</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Timeout / 5xx</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Retry có backoff</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Có thể recover</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Log attempt</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PERMANENT</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Bad schema / 401</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Không retry vô hạn</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Cần sửa input/config</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Fail/quarantine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Checkpoint phải commit sau thành công</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READ STATE</a:t>
            </a:r>
          </a:p>
          <a:p>
            <a:pPr algn="ctr">
              <a:defRPr sz="1150">
                <a:solidFill>
                  <a:srgbClr val="5F6368"/>
                </a:solidFill>
                <a:latin typeface="Arial"/>
              </a:defRPr>
            </a:pPr>
            <a:r>
              <a:t>last_updated</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EXTRACT</a:t>
            </a:r>
          </a:p>
          <a:p>
            <a:pPr algn="ctr">
              <a:defRPr sz="1150">
                <a:solidFill>
                  <a:srgbClr val="5F6368"/>
                </a:solidFill>
                <a:latin typeface="Arial"/>
              </a:defRPr>
            </a:pPr>
            <a:r>
              <a:t>new rows</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VALIDATE/LOAD</a:t>
            </a:r>
          </a:p>
          <a:p>
            <a:pPr algn="ctr">
              <a:defRPr sz="1150">
                <a:solidFill>
                  <a:srgbClr val="5F6368"/>
                </a:solidFill>
                <a:latin typeface="Arial"/>
              </a:defRPr>
            </a:pPr>
            <a:r>
              <a:t>transaction</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SUCCESS</a:t>
            </a:r>
          </a:p>
          <a:p>
            <a:pPr algn="ctr">
              <a:defRPr sz="1150">
                <a:solidFill>
                  <a:srgbClr val="5F6368"/>
                </a:solidFill>
                <a:latin typeface="Arial"/>
              </a:defRPr>
            </a:pPr>
            <a:r>
              <a:t>save state</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Nếu load fail, giữ checkpoint cũ để lần sau đọc lại dữ liệu chưa commit.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Idempotency – nguyên tắc xuyên suốt</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UNIQUE KEY</a:t>
            </a:r>
          </a:p>
          <a:p>
            <a:pPr>
              <a:defRPr sz="1150">
                <a:solidFill>
                  <a:srgbClr val="262626"/>
                </a:solidFill>
                <a:latin typeface="Arial"/>
              </a:defRPr>
            </a:pPr>
            <a:r>
              <a:t>PK / unique constraint</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UPSERT</a:t>
            </a:r>
          </a:p>
          <a:p>
            <a:pPr>
              <a:defRPr sz="1150">
                <a:solidFill>
                  <a:srgbClr val="262626"/>
                </a:solidFill>
                <a:latin typeface="Arial"/>
              </a:defRPr>
            </a:pPr>
            <a:r>
              <a:t>ON CONFLICT</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CHECKPOINT</a:t>
            </a:r>
          </a:p>
          <a:p>
            <a:pPr>
              <a:defRPr sz="1150">
                <a:solidFill>
                  <a:srgbClr val="262626"/>
                </a:solidFill>
                <a:latin typeface="Arial"/>
              </a:defRPr>
            </a:pPr>
            <a:r>
              <a:t>watermark</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TRANSACTION</a:t>
            </a:r>
          </a:p>
          <a:p>
            <a:pPr>
              <a:defRPr sz="1150">
                <a:solidFill>
                  <a:srgbClr val="262626"/>
                </a:solidFill>
                <a:latin typeface="Arial"/>
              </a:defRPr>
            </a:pPr>
            <a:r>
              <a:t>all-or-nothing</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RAW ID</a:t>
            </a:r>
          </a:p>
          <a:p>
            <a:pPr>
              <a:defRPr sz="1150">
                <a:solidFill>
                  <a:srgbClr val="262626"/>
                </a:solidFill>
                <a:latin typeface="Arial"/>
              </a:defRPr>
            </a:pPr>
            <a:r>
              <a:t>batch/run identity</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TEST RERUN</a:t>
            </a:r>
          </a:p>
          <a:p>
            <a:pPr>
              <a:defRPr sz="1150">
                <a:solidFill>
                  <a:srgbClr val="262626"/>
                </a:solidFill>
                <a:latin typeface="Arial"/>
              </a:defRPr>
            </a:pPr>
            <a:r>
              <a:t>chạy 2 lần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Structured logging</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2026-07-01 08:00:01 | INFO | pipeline | run_id=... dataset=orders input=600</a:t>
            </a:r>
            <a:br/>
            <a:r>
              <a:t>2026-07-01 08:00:02 | INFO | api      | resource=orders page=1 rows=100</a:t>
            </a:r>
            <a:br/>
            <a:r>
              <a:t>2026-07-01 08:00:05 | INFO | quality  | valid=596 rejected=4</a:t>
            </a:r>
            <a:br/>
            <a:r>
              <a:t>2026-07-01 08:00:07 | INFO | load     | upserted=596</a:t>
            </a:r>
            <a:br/>
            <a:r>
              <a:t>2026-07-01 08:00:08 | INFO | pipeline | status=success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Scheduling fundamentals</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Scheduler làm gì?</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Foundation</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Chạy command theo lịch</a:t>
            </a:r>
          </a:p>
          <a:p>
            <a:pPr>
              <a:lnSpc>
                <a:spcPct val="108000"/>
              </a:lnSpc>
              <a:spcAft>
                <a:spcPts val="800"/>
              </a:spcAft>
              <a:defRPr sz="1600">
                <a:solidFill>
                  <a:srgbClr val="262626"/>
                </a:solidFill>
                <a:latin typeface="Arial"/>
              </a:defRPr>
            </a:pPr>
            <a:r>
              <a:t>• Không tự sửa logic pipeline</a:t>
            </a:r>
          </a:p>
          <a:p>
            <a:pPr>
              <a:lnSpc>
                <a:spcPct val="108000"/>
              </a:lnSpc>
              <a:spcAft>
                <a:spcPts val="800"/>
              </a:spcAft>
              <a:defRPr sz="1600">
                <a:solidFill>
                  <a:srgbClr val="262626"/>
                </a:solidFill>
                <a:latin typeface="Arial"/>
              </a:defRPr>
            </a:pPr>
            <a:r>
              <a:t>• Phải capture exit code/log</a:t>
            </a:r>
          </a:p>
          <a:p>
            <a:pPr>
              <a:lnSpc>
                <a:spcPct val="108000"/>
              </a:lnSpc>
              <a:spcAft>
                <a:spcPts val="800"/>
              </a:spcAft>
              <a:defRPr sz="1600">
                <a:solidFill>
                  <a:srgbClr val="262626"/>
                </a:solidFill>
                <a:latin typeface="Arial"/>
              </a:defRPr>
            </a:pPr>
            <a:r>
              <a:t>• Phải dùng env đúng</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Cron trên macOS/Linux</a:t>
            </a:r>
          </a:p>
          <a:p>
            <a:pPr>
              <a:lnSpc>
                <a:spcPct val="108000"/>
              </a:lnSpc>
              <a:spcAft>
                <a:spcPts val="800"/>
              </a:spcAft>
              <a:defRPr sz="1600">
                <a:solidFill>
                  <a:srgbClr val="262626"/>
                </a:solidFill>
                <a:latin typeface="Arial"/>
              </a:defRPr>
            </a:pPr>
            <a:r>
              <a:t>• Demo scheduling tương đương</a:t>
            </a:r>
          </a:p>
          <a:p>
            <a:pPr>
              <a:lnSpc>
                <a:spcPct val="108000"/>
              </a:lnSpc>
              <a:spcAft>
                <a:spcPts val="800"/>
              </a:spcAft>
              <a:defRPr sz="1600">
                <a:solidFill>
                  <a:srgbClr val="262626"/>
                </a:solidFill>
                <a:latin typeface="Arial"/>
              </a:defRPr>
            </a:pPr>
            <a:r>
              <a:t>• Production sau này: Airflow/Dagster/...</a:t>
            </a:r>
          </a:p>
          <a:p>
            <a:pPr>
              <a:lnSpc>
                <a:spcPct val="108000"/>
              </a:lnSpc>
              <a:spcAft>
                <a:spcPts val="800"/>
              </a:spcAft>
              <a:defRPr sz="1600">
                <a:solidFill>
                  <a:srgbClr val="262626"/>
                </a:solidFill>
                <a:latin typeface="Arial"/>
              </a:defRPr>
            </a:pPr>
            <a:r>
              <a:t>• Tư duy &gt; công cụ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Cron example</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 Chạy 07:00 mỗi ngày</a:t>
            </a:r>
            <a:br/>
            <a:r>
              <a:t>0 7 * * * cd /path/ecommerce-data-platform &amp;&amp; \</a:t>
            </a:r>
            <a:br/>
            <a:r>
              <a:t>  /path/.venv/bin/python -m src.pipeline \</a:t>
            </a:r>
            <a:br/>
            <a:r>
              <a:t>  &gt;&gt; logs/cron.log 2&gt;&amp;1</a:t>
            </a:r>
            <a:br/>
            <a:br/>
            <a:r>
              <a:t># Luôn dùng absolute path trong cron.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Pipeline state machine đơn giản</a:t>
            </a:r>
          </a:p>
        </p:txBody>
      </p:sp>
      <p:sp>
        <p:nvSpPr>
          <p:cNvPr id="5" name="Rounded Rectangle 4"/>
          <p:cNvSpPr/>
          <p:nvPr/>
        </p:nvSpPr>
        <p:spPr>
          <a:xfrm>
            <a:off x="777240" y="2240280"/>
            <a:ext cx="1638300"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START</a:t>
            </a:r>
          </a:p>
          <a:p>
            <a:pPr algn="ctr">
              <a:defRPr sz="1150">
                <a:solidFill>
                  <a:srgbClr val="5F6368"/>
                </a:solidFill>
                <a:latin typeface="Arial"/>
              </a:defRPr>
            </a:pPr>
            <a:r>
              <a:t>run_id</a:t>
            </a:r>
          </a:p>
        </p:txBody>
      </p:sp>
      <p:sp>
        <p:nvSpPr>
          <p:cNvPr id="6" name="Right Arrow 5"/>
          <p:cNvSpPr/>
          <p:nvPr/>
        </p:nvSpPr>
        <p:spPr>
          <a:xfrm>
            <a:off x="2442972"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80132"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EXTRACT</a:t>
            </a:r>
          </a:p>
          <a:p>
            <a:pPr algn="ctr">
              <a:defRPr sz="1150">
                <a:solidFill>
                  <a:srgbClr val="5F6368"/>
                </a:solidFill>
                <a:latin typeface="Arial"/>
              </a:defRPr>
            </a:pPr>
            <a:r>
              <a:t>file/API</a:t>
            </a:r>
          </a:p>
        </p:txBody>
      </p:sp>
      <p:sp>
        <p:nvSpPr>
          <p:cNvPr id="8" name="Right Arrow 7"/>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3024"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VALIDATE</a:t>
            </a:r>
          </a:p>
          <a:p>
            <a:pPr algn="ctr">
              <a:defRPr sz="1150">
                <a:solidFill>
                  <a:srgbClr val="5F6368"/>
                </a:solidFill>
                <a:latin typeface="Arial"/>
              </a:defRPr>
            </a:pPr>
            <a:r>
              <a:t>valid/reject</a:t>
            </a:r>
          </a:p>
        </p:txBody>
      </p:sp>
      <p:sp>
        <p:nvSpPr>
          <p:cNvPr id="10" name="Right Arrow 9"/>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5916"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LOAD</a:t>
            </a:r>
          </a:p>
          <a:p>
            <a:pPr algn="ctr">
              <a:defRPr sz="1150">
                <a:solidFill>
                  <a:srgbClr val="5F6368"/>
                </a:solidFill>
                <a:latin typeface="Arial"/>
              </a:defRPr>
            </a:pPr>
            <a:r>
              <a:t>upsert</a:t>
            </a:r>
          </a:p>
        </p:txBody>
      </p:sp>
      <p:sp>
        <p:nvSpPr>
          <p:cNvPr id="12" name="Right Arrow 11"/>
          <p:cNvSpPr/>
          <p:nvPr/>
        </p:nvSpPr>
        <p:spPr>
          <a:xfrm>
            <a:off x="7851647"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88808"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REFRESH</a:t>
            </a:r>
          </a:p>
          <a:p>
            <a:pPr algn="ctr">
              <a:defRPr sz="1150">
                <a:solidFill>
                  <a:srgbClr val="5F6368"/>
                </a:solidFill>
                <a:latin typeface="Arial"/>
              </a:defRPr>
            </a:pPr>
            <a:r>
              <a:t>mart</a:t>
            </a:r>
          </a:p>
        </p:txBody>
      </p:sp>
      <p:sp>
        <p:nvSpPr>
          <p:cNvPr id="14" name="Right Arrow 13"/>
          <p:cNvSpPr/>
          <p:nvPr/>
        </p:nvSpPr>
        <p:spPr>
          <a:xfrm>
            <a:off x="9654539"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91700" y="2240280"/>
            <a:ext cx="1638300"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END</a:t>
            </a:r>
          </a:p>
          <a:p>
            <a:pPr algn="ctr">
              <a:defRPr sz="1150">
                <a:solidFill>
                  <a:srgbClr val="5F6368"/>
                </a:solidFill>
                <a:latin typeface="Arial"/>
              </a:defRPr>
            </a:pPr>
            <a:r>
              <a:t>audit</a:t>
            </a:r>
          </a:p>
        </p:txBody>
      </p:sp>
      <p:sp>
        <p:nvSpPr>
          <p:cNvPr id="16" name="TextBox 15"/>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Mỗi bước có input/output rõ để troubleshoot.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Health check &amp; operational checklist</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PostgreSQL reachable (`SELECT 1`)</a:t>
            </a:r>
          </a:p>
          <a:p>
            <a:pPr>
              <a:lnSpc>
                <a:spcPct val="108000"/>
              </a:lnSpc>
              <a:spcAft>
                <a:spcPts val="800"/>
              </a:spcAft>
              <a:defRPr sz="1800">
                <a:solidFill>
                  <a:srgbClr val="262626"/>
                </a:solidFill>
                <a:latin typeface="Arial"/>
              </a:defRPr>
            </a:pPr>
            <a:r>
              <a:t>• API health endpoint trả OK</a:t>
            </a:r>
          </a:p>
          <a:p>
            <a:pPr>
              <a:lnSpc>
                <a:spcPct val="108000"/>
              </a:lnSpc>
              <a:spcAft>
                <a:spcPts val="800"/>
              </a:spcAft>
              <a:defRPr sz="1800">
                <a:solidFill>
                  <a:srgbClr val="262626"/>
                </a:solidFill>
                <a:latin typeface="Arial"/>
              </a:defRPr>
            </a:pPr>
            <a:r>
              <a:t>• Disk/path writable cho RAW/log/report</a:t>
            </a:r>
          </a:p>
          <a:p>
            <a:pPr>
              <a:lnSpc>
                <a:spcPct val="108000"/>
              </a:lnSpc>
              <a:spcAft>
                <a:spcPts val="800"/>
              </a:spcAft>
              <a:defRPr sz="1800">
                <a:solidFill>
                  <a:srgbClr val="262626"/>
                </a:solidFill>
                <a:latin typeface="Arial"/>
              </a:defRPr>
            </a:pPr>
            <a:r>
              <a:t>• Row counts không bất thường</a:t>
            </a:r>
          </a:p>
          <a:p>
            <a:pPr>
              <a:lnSpc>
                <a:spcPct val="108000"/>
              </a:lnSpc>
              <a:spcAft>
                <a:spcPts val="800"/>
              </a:spcAft>
              <a:defRPr sz="1800">
                <a:solidFill>
                  <a:srgbClr val="262626"/>
                </a:solidFill>
                <a:latin typeface="Arial"/>
              </a:defRPr>
            </a:pPr>
            <a:r>
              <a:t>• Reject rate dưới ngưỡng mong đợi</a:t>
            </a:r>
          </a:p>
          <a:p>
            <a:pPr>
              <a:lnSpc>
                <a:spcPct val="108000"/>
              </a:lnSpc>
              <a:spcAft>
                <a:spcPts val="800"/>
              </a:spcAft>
              <a:defRPr sz="1800">
                <a:solidFill>
                  <a:srgbClr val="262626"/>
                </a:solidFill>
                <a:latin typeface="Arial"/>
              </a:defRPr>
            </a:pPr>
            <a:r>
              <a:t>• Checkpoint tiến về phía trước sau success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Troubleshooting theo “điểm gãy”</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Triệu chứng</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Kiểm tra</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API 401/timeout</a:t>
            </a:r>
          </a:p>
          <a:p>
            <a:pPr>
              <a:lnSpc>
                <a:spcPct val="108000"/>
              </a:lnSpc>
              <a:spcAft>
                <a:spcPts val="800"/>
              </a:spcAft>
              <a:defRPr sz="1600">
                <a:solidFill>
                  <a:srgbClr val="262626"/>
                </a:solidFill>
                <a:latin typeface="Arial"/>
              </a:defRPr>
            </a:pPr>
            <a:r>
              <a:t>• DB connection refused</a:t>
            </a:r>
          </a:p>
          <a:p>
            <a:pPr>
              <a:lnSpc>
                <a:spcPct val="108000"/>
              </a:lnSpc>
              <a:spcAft>
                <a:spcPts val="800"/>
              </a:spcAft>
              <a:defRPr sz="1600">
                <a:solidFill>
                  <a:srgbClr val="262626"/>
                </a:solidFill>
                <a:latin typeface="Arial"/>
              </a:defRPr>
            </a:pPr>
            <a:r>
              <a:t>• FK violation</a:t>
            </a:r>
          </a:p>
          <a:p>
            <a:pPr>
              <a:lnSpc>
                <a:spcPct val="108000"/>
              </a:lnSpc>
              <a:spcAft>
                <a:spcPts val="800"/>
              </a:spcAft>
              <a:defRPr sz="1600">
                <a:solidFill>
                  <a:srgbClr val="262626"/>
                </a:solidFill>
                <a:latin typeface="Arial"/>
              </a:defRPr>
            </a:pPr>
            <a:r>
              <a:t>• Duplicate tăng sau rerun</a:t>
            </a:r>
          </a:p>
          <a:p>
            <a:pPr>
              <a:lnSpc>
                <a:spcPct val="108000"/>
              </a:lnSpc>
              <a:spcAft>
                <a:spcPts val="800"/>
              </a:spcAft>
              <a:defRPr sz="1600">
                <a:solidFill>
                  <a:srgbClr val="262626"/>
                </a:solidFill>
                <a:latin typeface="Arial"/>
              </a:defRPr>
            </a:pPr>
            <a:r>
              <a:t>• KPI không đổi/sai</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Key/status/log</a:t>
            </a:r>
          </a:p>
          <a:p>
            <a:pPr>
              <a:lnSpc>
                <a:spcPct val="108000"/>
              </a:lnSpc>
              <a:spcAft>
                <a:spcPts val="800"/>
              </a:spcAft>
              <a:defRPr sz="1600">
                <a:solidFill>
                  <a:srgbClr val="262626"/>
                </a:solidFill>
                <a:latin typeface="Arial"/>
              </a:defRPr>
            </a:pPr>
            <a:r>
              <a:t>• Docker/port/.env</a:t>
            </a:r>
          </a:p>
          <a:p>
            <a:pPr>
              <a:lnSpc>
                <a:spcPct val="108000"/>
              </a:lnSpc>
              <a:spcAft>
                <a:spcPts val="800"/>
              </a:spcAft>
              <a:defRPr sz="1600">
                <a:solidFill>
                  <a:srgbClr val="262626"/>
                </a:solidFill>
                <a:latin typeface="Arial"/>
              </a:defRPr>
            </a:pPr>
            <a:r>
              <a:t>• load order + reject</a:t>
            </a:r>
          </a:p>
          <a:p>
            <a:pPr>
              <a:lnSpc>
                <a:spcPct val="108000"/>
              </a:lnSpc>
              <a:spcAft>
                <a:spcPts val="800"/>
              </a:spcAft>
              <a:defRPr sz="1600">
                <a:solidFill>
                  <a:srgbClr val="262626"/>
                </a:solidFill>
                <a:latin typeface="Arial"/>
              </a:defRPr>
            </a:pPr>
            <a:r>
              <a:t>• unique/upsert/checkpoint</a:t>
            </a:r>
          </a:p>
          <a:p>
            <a:pPr>
              <a:lnSpc>
                <a:spcPct val="108000"/>
              </a:lnSpc>
              <a:spcAft>
                <a:spcPts val="800"/>
              </a:spcAft>
              <a:defRPr sz="1600">
                <a:solidFill>
                  <a:srgbClr val="262626"/>
                </a:solidFill>
                <a:latin typeface="Arial"/>
              </a:defRPr>
            </a:pPr>
            <a:r>
              <a:t>• refresh mart + reconciliation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End-to-end test: chạy 2 lần</a:t>
            </a:r>
          </a:p>
        </p:txBody>
      </p:sp>
      <p:sp>
        <p:nvSpPr>
          <p:cNvPr id="5" name="Rounded Rectangle 4"/>
          <p:cNvSpPr/>
          <p:nvPr/>
        </p:nvSpPr>
        <p:spPr>
          <a:xfrm>
            <a:off x="777240"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BASELINE</a:t>
            </a:r>
          </a:p>
          <a:p>
            <a:pPr algn="ctr">
              <a:defRPr sz="1150">
                <a:solidFill>
                  <a:srgbClr val="5F6368"/>
                </a:solidFill>
                <a:latin typeface="Arial"/>
              </a:defRPr>
            </a:pPr>
            <a:r>
              <a:t>KPI before</a:t>
            </a:r>
          </a:p>
        </p:txBody>
      </p:sp>
      <p:sp>
        <p:nvSpPr>
          <p:cNvPr id="6" name="Right Arrow 5"/>
          <p:cNvSpPr/>
          <p:nvPr/>
        </p:nvSpPr>
        <p:spPr>
          <a:xfrm>
            <a:off x="280355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0710"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RUN #1</a:t>
            </a:r>
          </a:p>
          <a:p>
            <a:pPr algn="ctr">
              <a:defRPr sz="1150">
                <a:solidFill>
                  <a:srgbClr val="5F6368"/>
                </a:solidFill>
                <a:latin typeface="Arial"/>
              </a:defRPr>
            </a:pPr>
            <a:r>
              <a:t>incremental</a:t>
            </a:r>
          </a:p>
        </p:txBody>
      </p:sp>
      <p:sp>
        <p:nvSpPr>
          <p:cNvPr id="8" name="Right Arrow 7"/>
          <p:cNvSpPr/>
          <p:nvPr/>
        </p:nvSpPr>
        <p:spPr>
          <a:xfrm>
            <a:off x="496702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4180" y="2240280"/>
            <a:ext cx="1998878"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CHECK</a:t>
            </a:r>
          </a:p>
          <a:p>
            <a:pPr algn="ctr">
              <a:defRPr sz="1150">
                <a:solidFill>
                  <a:srgbClr val="5F6368"/>
                </a:solidFill>
                <a:latin typeface="Arial"/>
              </a:defRPr>
            </a:pPr>
            <a:r>
              <a:t>counts + DQ</a:t>
            </a:r>
          </a:p>
        </p:txBody>
      </p:sp>
      <p:sp>
        <p:nvSpPr>
          <p:cNvPr id="10" name="Right Arrow 9"/>
          <p:cNvSpPr/>
          <p:nvPr/>
        </p:nvSpPr>
        <p:spPr>
          <a:xfrm>
            <a:off x="713049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7651"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RUN #2</a:t>
            </a:r>
          </a:p>
          <a:p>
            <a:pPr algn="ctr">
              <a:defRPr sz="1150">
                <a:solidFill>
                  <a:srgbClr val="5F6368"/>
                </a:solidFill>
                <a:latin typeface="Arial"/>
              </a:defRPr>
            </a:pPr>
            <a:r>
              <a:t>same batch</a:t>
            </a:r>
          </a:p>
        </p:txBody>
      </p:sp>
      <p:sp>
        <p:nvSpPr>
          <p:cNvPr id="12" name="Right Arrow 11"/>
          <p:cNvSpPr/>
          <p:nvPr/>
        </p:nvSpPr>
        <p:spPr>
          <a:xfrm>
            <a:off x="929396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31121"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PROVE</a:t>
            </a:r>
          </a:p>
          <a:p>
            <a:pPr algn="ctr">
              <a:defRPr sz="1150">
                <a:solidFill>
                  <a:srgbClr val="5F6368"/>
                </a:solidFill>
                <a:latin typeface="Arial"/>
              </a:defRPr>
            </a:pPr>
            <a:r>
              <a:t>no duplicate</a:t>
            </a:r>
          </a:p>
        </p:txBody>
      </p:sp>
      <p:sp>
        <p:nvSpPr>
          <p:cNvPr id="14" name="TextBox 13"/>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Đây là acceptance test quan trọng nhất của 8 buổi.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Refresh Sales Data Mart sau pipeline</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CORE UPDATED</a:t>
            </a:r>
          </a:p>
          <a:p>
            <a:pPr algn="ctr">
              <a:defRPr sz="1150">
                <a:solidFill>
                  <a:srgbClr val="5F6368"/>
                </a:solidFill>
                <a:latin typeface="Arial"/>
              </a:defRPr>
            </a:pPr>
            <a:r>
              <a:t>new/changed</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DIMENSIONS</a:t>
            </a:r>
          </a:p>
          <a:p>
            <a:pPr algn="ctr">
              <a:defRPr sz="1150">
                <a:solidFill>
                  <a:srgbClr val="5F6368"/>
                </a:solidFill>
                <a:latin typeface="Arial"/>
              </a:defRPr>
            </a:pPr>
            <a:r>
              <a:t>refresh</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FACT</a:t>
            </a:r>
          </a:p>
          <a:p>
            <a:pPr algn="ctr">
              <a:defRPr sz="1150">
                <a:solidFill>
                  <a:srgbClr val="5F6368"/>
                </a:solidFill>
                <a:latin typeface="Arial"/>
              </a:defRPr>
            </a:pPr>
            <a:r>
              <a:t>upsert/load</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KPI</a:t>
            </a:r>
          </a:p>
          <a:p>
            <a:pPr algn="ctr">
              <a:defRPr sz="1150">
                <a:solidFill>
                  <a:srgbClr val="5F6368"/>
                </a:solidFill>
                <a:latin typeface="Arial"/>
              </a:defRPr>
            </a:pPr>
            <a:r>
              <a:t>before vs after</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Các SQL KPI của Buổi 3–4 phải phản ánh dữ liệu mới mà không sửa logic.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KPI before / after – cách trình bày</a:t>
            </a:r>
          </a:p>
        </p:txBody>
      </p:sp>
      <p:sp>
        <p:nvSpPr>
          <p:cNvPr id="5" name="Rounded Rectangle 4"/>
          <p:cNvSpPr/>
          <p:nvPr/>
        </p:nvSpPr>
        <p:spPr>
          <a:xfrm>
            <a:off x="86868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REVENUE</a:t>
            </a:r>
          </a:p>
          <a:p>
            <a:pPr>
              <a:defRPr sz="2000" b="1">
                <a:solidFill>
                  <a:srgbClr val="C5272A"/>
                </a:solidFill>
                <a:latin typeface="Arial"/>
              </a:defRPr>
            </a:pPr>
            <a:r>
              <a:t>before → after</a:t>
            </a:r>
          </a:p>
          <a:p>
            <a:pPr>
              <a:defRPr sz="1050">
                <a:solidFill>
                  <a:srgbClr val="5F6368"/>
                </a:solidFill>
                <a:latin typeface="Arial"/>
              </a:defRPr>
            </a:pPr>
            <a:r>
              <a:t>Δ expected</a:t>
            </a:r>
          </a:p>
        </p:txBody>
      </p:sp>
      <p:sp>
        <p:nvSpPr>
          <p:cNvPr id="6" name="Rounded Rectangle 5"/>
          <p:cNvSpPr/>
          <p:nvPr/>
        </p:nvSpPr>
        <p:spPr>
          <a:xfrm>
            <a:off x="443484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ORDERS</a:t>
            </a:r>
          </a:p>
          <a:p>
            <a:pPr>
              <a:defRPr sz="2000" b="1">
                <a:solidFill>
                  <a:srgbClr val="C5272A"/>
                </a:solidFill>
                <a:latin typeface="Arial"/>
              </a:defRPr>
            </a:pPr>
            <a:r>
              <a:t>before → after</a:t>
            </a:r>
          </a:p>
          <a:p>
            <a:pPr>
              <a:defRPr sz="1050">
                <a:solidFill>
                  <a:srgbClr val="5F6368"/>
                </a:solidFill>
                <a:latin typeface="Arial"/>
              </a:defRPr>
            </a:pPr>
            <a:r>
              <a:t>+ completed</a:t>
            </a:r>
          </a:p>
        </p:txBody>
      </p:sp>
      <p:sp>
        <p:nvSpPr>
          <p:cNvPr id="7" name="Rounded Rectangle 6"/>
          <p:cNvSpPr/>
          <p:nvPr/>
        </p:nvSpPr>
        <p:spPr>
          <a:xfrm>
            <a:off x="800100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ACTIVE CUSTOMERS</a:t>
            </a:r>
          </a:p>
          <a:p>
            <a:pPr>
              <a:defRPr sz="2000" b="1">
                <a:solidFill>
                  <a:srgbClr val="C5272A"/>
                </a:solidFill>
                <a:latin typeface="Arial"/>
              </a:defRPr>
            </a:pPr>
            <a:r>
              <a:t>before → after</a:t>
            </a:r>
          </a:p>
          <a:p>
            <a:pPr>
              <a:defRPr sz="1050">
                <a:solidFill>
                  <a:srgbClr val="5F6368"/>
                </a:solidFill>
                <a:latin typeface="Arial"/>
              </a:defRPr>
            </a:pPr>
            <a:r>
              <a:t>new/returning</a:t>
            </a:r>
          </a:p>
        </p:txBody>
      </p:sp>
      <p:sp>
        <p:nvSpPr>
          <p:cNvPr id="8" name="Rounded Rectangle 7"/>
          <p:cNvSpPr/>
          <p:nvPr/>
        </p:nvSpPr>
        <p:spPr>
          <a:xfrm>
            <a:off x="86868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PAYMENT SUCCESS</a:t>
            </a:r>
          </a:p>
          <a:p>
            <a:pPr>
              <a:defRPr sz="2000" b="1">
                <a:solidFill>
                  <a:srgbClr val="C5272A"/>
                </a:solidFill>
                <a:latin typeface="Arial"/>
              </a:defRPr>
            </a:pPr>
            <a:r>
              <a:t>% → %</a:t>
            </a:r>
          </a:p>
          <a:p>
            <a:pPr>
              <a:defRPr sz="1050">
                <a:solidFill>
                  <a:srgbClr val="5F6368"/>
                </a:solidFill>
                <a:latin typeface="Arial"/>
              </a:defRPr>
            </a:pPr>
            <a:r>
              <a:t>payment mix</a:t>
            </a:r>
          </a:p>
        </p:txBody>
      </p:sp>
      <p:sp>
        <p:nvSpPr>
          <p:cNvPr id="9" name="Rounded Rectangle 8"/>
          <p:cNvSpPr/>
          <p:nvPr/>
        </p:nvSpPr>
        <p:spPr>
          <a:xfrm>
            <a:off x="443484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TOP CATEGORY</a:t>
            </a:r>
          </a:p>
          <a:p>
            <a:pPr>
              <a:defRPr sz="2000" b="1">
                <a:solidFill>
                  <a:srgbClr val="C5272A"/>
                </a:solidFill>
                <a:latin typeface="Arial"/>
              </a:defRPr>
            </a:pPr>
            <a:r>
              <a:t>name</a:t>
            </a:r>
          </a:p>
          <a:p>
            <a:pPr>
              <a:defRPr sz="1050">
                <a:solidFill>
                  <a:srgbClr val="5F6368"/>
                </a:solidFill>
                <a:latin typeface="Arial"/>
              </a:defRPr>
            </a:pPr>
            <a:r>
              <a:t>may change</a:t>
            </a:r>
          </a:p>
        </p:txBody>
      </p:sp>
      <p:sp>
        <p:nvSpPr>
          <p:cNvPr id="10" name="Rounded Rectangle 9"/>
          <p:cNvSpPr/>
          <p:nvPr/>
        </p:nvSpPr>
        <p:spPr>
          <a:xfrm>
            <a:off x="800100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REJECT RATE</a:t>
            </a:r>
          </a:p>
          <a:p>
            <a:pPr>
              <a:defRPr sz="2000" b="1">
                <a:solidFill>
                  <a:srgbClr val="C5272A"/>
                </a:solidFill>
                <a:latin typeface="Arial"/>
              </a:defRPr>
            </a:pPr>
            <a:r>
              <a:t>%</a:t>
            </a:r>
          </a:p>
          <a:p>
            <a:pPr>
              <a:defRPr sz="1050">
                <a:solidFill>
                  <a:srgbClr val="5F6368"/>
                </a:solidFill>
                <a:latin typeface="Arial"/>
              </a:defRPr>
            </a:pPr>
            <a:r>
              <a:t>quality evidence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Mini Project – sản phẩm cuối</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OLTP database + seed</a:t>
            </a:r>
          </a:p>
          <a:p>
            <a:pPr>
              <a:lnSpc>
                <a:spcPct val="108000"/>
              </a:lnSpc>
              <a:spcAft>
                <a:spcPts val="800"/>
              </a:spcAft>
              <a:defRPr sz="1800">
                <a:solidFill>
                  <a:srgbClr val="262626"/>
                </a:solidFill>
                <a:latin typeface="Arial"/>
              </a:defRPr>
            </a:pPr>
            <a:r>
              <a:t>• SQL Analytics + KPI</a:t>
            </a:r>
          </a:p>
          <a:p>
            <a:pPr>
              <a:lnSpc>
                <a:spcPct val="108000"/>
              </a:lnSpc>
              <a:spcAft>
                <a:spcPts val="800"/>
              </a:spcAft>
              <a:defRPr sz="1800">
                <a:solidFill>
                  <a:srgbClr val="262626"/>
                </a:solidFill>
                <a:latin typeface="Arial"/>
              </a:defRPr>
            </a:pPr>
            <a:r>
              <a:t>• Sales Data Mart</a:t>
            </a:r>
          </a:p>
          <a:p>
            <a:pPr>
              <a:lnSpc>
                <a:spcPct val="108000"/>
              </a:lnSpc>
              <a:spcAft>
                <a:spcPts val="800"/>
              </a:spcAft>
              <a:defRPr sz="1800">
                <a:solidFill>
                  <a:srgbClr val="262626"/>
                </a:solidFill>
                <a:latin typeface="Arial"/>
              </a:defRPr>
            </a:pPr>
            <a:r>
              <a:t>• Daily file/API ingestion</a:t>
            </a:r>
          </a:p>
          <a:p>
            <a:pPr>
              <a:lnSpc>
                <a:spcPct val="108000"/>
              </a:lnSpc>
              <a:spcAft>
                <a:spcPts val="800"/>
              </a:spcAft>
              <a:defRPr sz="1800">
                <a:solidFill>
                  <a:srgbClr val="262626"/>
                </a:solidFill>
                <a:latin typeface="Arial"/>
              </a:defRPr>
            </a:pPr>
            <a:r>
              <a:t>• Data Quality + reject/report</a:t>
            </a:r>
          </a:p>
          <a:p>
            <a:pPr>
              <a:lnSpc>
                <a:spcPct val="108000"/>
              </a:lnSpc>
              <a:spcAft>
                <a:spcPts val="800"/>
              </a:spcAft>
              <a:defRPr sz="1800">
                <a:solidFill>
                  <a:srgbClr val="262626"/>
                </a:solidFill>
                <a:latin typeface="Arial"/>
              </a:defRPr>
            </a:pPr>
            <a:r>
              <a:t>• Incremental upsert + rerun safe</a:t>
            </a:r>
          </a:p>
          <a:p>
            <a:pPr>
              <a:lnSpc>
                <a:spcPct val="108000"/>
              </a:lnSpc>
              <a:spcAft>
                <a:spcPts val="800"/>
              </a:spcAft>
              <a:defRPr sz="1800">
                <a:solidFill>
                  <a:srgbClr val="262626"/>
                </a:solidFill>
                <a:latin typeface="Arial"/>
              </a:defRPr>
            </a:pPr>
            <a:r>
              <a:t>• Refresh mart + KPI before/after</a:t>
            </a:r>
          </a:p>
          <a:p>
            <a:pPr>
              <a:lnSpc>
                <a:spcPct val="108000"/>
              </a:lnSpc>
              <a:spcAft>
                <a:spcPts val="800"/>
              </a:spcAft>
              <a:defRPr sz="1800">
                <a:solidFill>
                  <a:srgbClr val="262626"/>
                </a:solidFill>
                <a:latin typeface="Arial"/>
              </a:defRPr>
            </a:pPr>
            <a:r>
              <a:t>• README + demo 5–7 phút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Demo 5–7 phút: cấu trúc gợi ý</a:t>
            </a:r>
          </a:p>
        </p:txBody>
      </p:sp>
      <p:sp>
        <p:nvSpPr>
          <p:cNvPr id="5" name="Rounded Rectangle 4"/>
          <p:cNvSpPr/>
          <p:nvPr/>
        </p:nvSpPr>
        <p:spPr>
          <a:xfrm>
            <a:off x="777240"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1</a:t>
            </a:r>
          </a:p>
          <a:p>
            <a:pPr algn="ctr">
              <a:defRPr sz="1150">
                <a:solidFill>
                  <a:srgbClr val="5F6368"/>
                </a:solidFill>
                <a:latin typeface="Arial"/>
              </a:defRPr>
            </a:pPr>
            <a:r>
              <a:t>Architecture</a:t>
            </a:r>
          </a:p>
        </p:txBody>
      </p:sp>
      <p:sp>
        <p:nvSpPr>
          <p:cNvPr id="6" name="Right Arrow 5"/>
          <p:cNvSpPr/>
          <p:nvPr/>
        </p:nvSpPr>
        <p:spPr>
          <a:xfrm>
            <a:off x="280355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0710"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2</a:t>
            </a:r>
          </a:p>
          <a:p>
            <a:pPr algn="ctr">
              <a:defRPr sz="1150">
                <a:solidFill>
                  <a:srgbClr val="5F6368"/>
                </a:solidFill>
                <a:latin typeface="Arial"/>
              </a:defRPr>
            </a:pPr>
            <a:r>
              <a:t>Run pipeline</a:t>
            </a:r>
          </a:p>
        </p:txBody>
      </p:sp>
      <p:sp>
        <p:nvSpPr>
          <p:cNvPr id="8" name="Right Arrow 7"/>
          <p:cNvSpPr/>
          <p:nvPr/>
        </p:nvSpPr>
        <p:spPr>
          <a:xfrm>
            <a:off x="496702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4180" y="2240280"/>
            <a:ext cx="1998878"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3</a:t>
            </a:r>
          </a:p>
          <a:p>
            <a:pPr algn="ctr">
              <a:defRPr sz="1150">
                <a:solidFill>
                  <a:srgbClr val="5F6368"/>
                </a:solidFill>
                <a:latin typeface="Arial"/>
              </a:defRPr>
            </a:pPr>
            <a:r>
              <a:t>Show error</a:t>
            </a:r>
          </a:p>
        </p:txBody>
      </p:sp>
      <p:sp>
        <p:nvSpPr>
          <p:cNvPr id="10" name="Right Arrow 9"/>
          <p:cNvSpPr/>
          <p:nvPr/>
        </p:nvSpPr>
        <p:spPr>
          <a:xfrm>
            <a:off x="713049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7651"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4</a:t>
            </a:r>
          </a:p>
          <a:p>
            <a:pPr algn="ctr">
              <a:defRPr sz="1150">
                <a:solidFill>
                  <a:srgbClr val="5F6368"/>
                </a:solidFill>
                <a:latin typeface="Arial"/>
              </a:defRPr>
            </a:pPr>
            <a:r>
              <a:t>DQ report</a:t>
            </a:r>
          </a:p>
        </p:txBody>
      </p:sp>
      <p:sp>
        <p:nvSpPr>
          <p:cNvPr id="12" name="Right Arrow 11"/>
          <p:cNvSpPr/>
          <p:nvPr/>
        </p:nvSpPr>
        <p:spPr>
          <a:xfrm>
            <a:off x="929396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31121"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5</a:t>
            </a:r>
          </a:p>
          <a:p>
            <a:pPr algn="ctr">
              <a:defRPr sz="1150">
                <a:solidFill>
                  <a:srgbClr val="5F6368"/>
                </a:solidFill>
                <a:latin typeface="Arial"/>
              </a:defRPr>
            </a:pPr>
            <a:r>
              <a:t>KPI before/after</a:t>
            </a:r>
          </a:p>
        </p:txBody>
      </p:sp>
      <p:sp>
        <p:nvSpPr>
          <p:cNvPr id="14" name="TextBox 13"/>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Demo phải chứng minh hệ thống chạy, không chỉ trình bày slide.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Từ Foundation sang các module tiếp theo</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ORCHESTRATION</a:t>
            </a:r>
          </a:p>
          <a:p>
            <a:pPr>
              <a:defRPr sz="1150">
                <a:solidFill>
                  <a:srgbClr val="262626"/>
                </a:solidFill>
                <a:latin typeface="Arial"/>
              </a:defRPr>
            </a:pPr>
            <a:r>
              <a:t>Airflow/Dagster</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BIG DATA</a:t>
            </a:r>
          </a:p>
          <a:p>
            <a:pPr>
              <a:defRPr sz="1150">
                <a:solidFill>
                  <a:srgbClr val="262626"/>
                </a:solidFill>
                <a:latin typeface="Arial"/>
              </a:defRPr>
            </a:pPr>
            <a:r>
              <a:t>Spark</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STREAMING</a:t>
            </a:r>
          </a:p>
          <a:p>
            <a:pPr>
              <a:defRPr sz="1150">
                <a:solidFill>
                  <a:srgbClr val="262626"/>
                </a:solidFill>
                <a:latin typeface="Arial"/>
              </a:defRPr>
            </a:pPr>
            <a:r>
              <a:t>Kafka</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WAREHOUSE</a:t>
            </a:r>
          </a:p>
          <a:p>
            <a:pPr>
              <a:defRPr sz="1150">
                <a:solidFill>
                  <a:srgbClr val="262626"/>
                </a:solidFill>
                <a:latin typeface="Arial"/>
              </a:defRPr>
            </a:pPr>
            <a:r>
              <a:t>Cloud DW/Lakehouse</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OBSERVABILITY</a:t>
            </a:r>
          </a:p>
          <a:p>
            <a:pPr>
              <a:defRPr sz="1150">
                <a:solidFill>
                  <a:srgbClr val="262626"/>
                </a:solidFill>
                <a:latin typeface="Arial"/>
              </a:defRPr>
            </a:pPr>
            <a:r>
              <a:t>Metrics/lineage</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CI/CD</a:t>
            </a:r>
          </a:p>
          <a:p>
            <a:pPr>
              <a:defRPr sz="1150">
                <a:solidFill>
                  <a:srgbClr val="262626"/>
                </a:solidFill>
                <a:latin typeface="Arial"/>
              </a:defRPr>
            </a:pPr>
            <a:r>
              <a:t>Test/deploy pipeline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Definition of Done – 8 buổi đầu</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Database + Data Mart tái tạo từ script</a:t>
            </a:r>
          </a:p>
          <a:p>
            <a:pPr>
              <a:lnSpc>
                <a:spcPct val="108000"/>
              </a:lnSpc>
              <a:spcAft>
                <a:spcPts val="800"/>
              </a:spcAft>
              <a:defRPr sz="1800">
                <a:solidFill>
                  <a:srgbClr val="262626"/>
                </a:solidFill>
                <a:latin typeface="Arial"/>
              </a:defRPr>
            </a:pPr>
            <a:r>
              <a:t>• ≥15 SQL queries; ≥5 CTE/window</a:t>
            </a:r>
          </a:p>
          <a:p>
            <a:pPr>
              <a:lnSpc>
                <a:spcPct val="108000"/>
              </a:lnSpc>
              <a:spcAft>
                <a:spcPts val="800"/>
              </a:spcAft>
              <a:defRPr sz="1800">
                <a:solidFill>
                  <a:srgbClr val="262626"/>
                </a:solidFill>
                <a:latin typeface="Arial"/>
              </a:defRPr>
            </a:pPr>
            <a:r>
              <a:t>• File + API pipeline có incremental load</a:t>
            </a:r>
          </a:p>
          <a:p>
            <a:pPr>
              <a:lnSpc>
                <a:spcPct val="108000"/>
              </a:lnSpc>
              <a:spcAft>
                <a:spcPts val="800"/>
              </a:spcAft>
              <a:defRPr sz="1800">
                <a:solidFill>
                  <a:srgbClr val="262626"/>
                </a:solidFill>
                <a:latin typeface="Arial"/>
              </a:defRPr>
            </a:pPr>
            <a:r>
              <a:t>• Invalid data tách reject + DQ report</a:t>
            </a:r>
          </a:p>
          <a:p>
            <a:pPr>
              <a:lnSpc>
                <a:spcPct val="108000"/>
              </a:lnSpc>
              <a:spcAft>
                <a:spcPts val="800"/>
              </a:spcAft>
              <a:defRPr sz="1800">
                <a:solidFill>
                  <a:srgbClr val="262626"/>
                </a:solidFill>
                <a:latin typeface="Arial"/>
              </a:defRPr>
            </a:pPr>
            <a:r>
              <a:t>• Rerun không duplicate</a:t>
            </a:r>
          </a:p>
          <a:p>
            <a:pPr>
              <a:lnSpc>
                <a:spcPct val="108000"/>
              </a:lnSpc>
              <a:spcAft>
                <a:spcPts val="800"/>
              </a:spcAft>
              <a:defRPr sz="1800">
                <a:solidFill>
                  <a:srgbClr val="262626"/>
                </a:solidFill>
                <a:latin typeface="Arial"/>
              </a:defRPr>
            </a:pPr>
            <a:r>
              <a:t>• KPI Module SQL thay đổi đúng sau pipeline</a:t>
            </a:r>
          </a:p>
          <a:p>
            <a:pPr>
              <a:lnSpc>
                <a:spcPct val="108000"/>
              </a:lnSpc>
              <a:spcAft>
                <a:spcPts val="800"/>
              </a:spcAft>
              <a:defRPr sz="1800">
                <a:solidFill>
                  <a:srgbClr val="262626"/>
                </a:solidFill>
                <a:latin typeface="Arial"/>
              </a:defRPr>
            </a:pPr>
            <a:r>
              <a:t>• Repository có README/config/log/test</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40</Words>
  <Application>Microsoft Office PowerPoint</Application>
  <PresentationFormat>Widescreen</PresentationFormat>
  <Paragraphs>18</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Montserrat</vt:lpstr>
      <vt:lpstr>Trebuchet MS</vt:lpstr>
      <vt:lpstr>Montserrat Medium</vt:lpstr>
      <vt:lpstr>Montserrat Black</vt:lpstr>
      <vt:lpstr>Arial</vt:lpstr>
      <vt:lpstr>Calibri</vt:lpstr>
      <vt:lpstr>Montserrat ExtraBold</vt:lpstr>
      <vt:lpstr>Courier New</vt:lpstr>
      <vt:lpstr>Office Theme</vt:lpstr>
      <vt:lpstr>Tiêu Đề</vt:lpstr>
      <vt:lpstr> NỘI DUNG</vt:lpstr>
      <vt:lpstr>1. Lịch sử ra đời của Web</vt:lpstr>
      <vt:lpstr> TỔNG KẾT</vt:lpstr>
      <vt:lpstr>KẾT THÚC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dc:title>
  <cp:lastModifiedBy>Media Rikkei Academy</cp:lastModifiedBy>
  <cp:revision>4</cp:revision>
  <dcterms:modified xsi:type="dcterms:W3CDTF">2024-01-09T03:56:22Z</dcterms:modified>
</cp:coreProperties>
</file>