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7"/>
  </p:notesMasterIdLst>
  <p:sldIdLst>
    <p:sldId id="256" r:id="rId2"/>
    <p:sldId id="257" r:id="rId3"/>
    <p:sldId id="258" r:id="rId4"/>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4" r:id="rId46"/>
    <p:sldId id="275" r:id="rId47"/>
    <p:sldId id="276" r:id="rId48"/>
    <p:sldId id="277" r:id="rId49"/>
    <p:sldId id="278" r:id="rId50"/>
    <p:sldId id="259" r:id="rId5"/>
    <p:sldId id="260" r:id="rId6"/>
  </p:sldIdLst>
  <p:sldSz cx="12192000" cy="6858000"/>
  <p:notesSz cx="6858000" cy="9144000"/>
  <p:embeddedFontLst>
    <p:embeddedFont>
      <p:font typeface="Calibri" panose="020F0502020204030204" pitchFamily="34" charset="0"/>
      <p:regular r:id="rId8"/>
      <p:bold r:id="rId9"/>
      <p:italic r:id="rId10"/>
      <p:boldItalic r:id="rId11"/>
    </p:embeddedFont>
    <p:embeddedFont>
      <p:font typeface="Montserrat" panose="00000500000000000000" pitchFamily="2" charset="0"/>
      <p:regular r:id="rId12"/>
      <p:bold r:id="rId13"/>
      <p:italic r:id="rId14"/>
      <p:boldItalic r:id="rId15"/>
    </p:embeddedFont>
    <p:embeddedFont>
      <p:font typeface="Montserrat Black" panose="00000A00000000000000" pitchFamily="2" charset="0"/>
      <p:bold r:id="rId16"/>
      <p:boldItalic r:id="rId17"/>
    </p:embeddedFont>
    <p:embeddedFont>
      <p:font typeface="Montserrat ExtraBold" panose="00000900000000000000" pitchFamily="2" charset="0"/>
      <p:bold r:id="rId18"/>
      <p:boldItalic r:id="rId19"/>
    </p:embeddedFont>
    <p:embeddedFont>
      <p:font typeface="Montserrat Medium" panose="00000600000000000000" pitchFamily="2" charset="0"/>
      <p:regular r:id="rId20"/>
      <p:bold r:id="rId21"/>
      <p:italic r:id="rId22"/>
      <p:boldItalic r:id="rId23"/>
    </p:embeddedFont>
    <p:embeddedFont>
      <p:font typeface="Trebuchet MS" panose="020B0603020202020204"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irXkCGjZF/d1qb7RGT2S1sXUuH6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56" y="3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font" Target="fonts/font1.fntdata"/><Relationship Id="rId9" Type="http://schemas.openxmlformats.org/officeDocument/2006/relationships/font" Target="fonts/font2.fntdata"/><Relationship Id="rId10" Type="http://schemas.openxmlformats.org/officeDocument/2006/relationships/font" Target="fonts/font3.fntdata"/><Relationship Id="rId11" Type="http://schemas.openxmlformats.org/officeDocument/2006/relationships/font" Target="fonts/font4.fntdata"/><Relationship Id="rId12" Type="http://schemas.openxmlformats.org/officeDocument/2006/relationships/font" Target="fonts/font5.fntdata"/><Relationship Id="rId13" Type="http://schemas.openxmlformats.org/officeDocument/2006/relationships/font" Target="fonts/font6.fntdata"/><Relationship Id="rId14" Type="http://schemas.openxmlformats.org/officeDocument/2006/relationships/font" Target="fonts/font7.fntdata"/><Relationship Id="rId15" Type="http://schemas.openxmlformats.org/officeDocument/2006/relationships/font" Target="fonts/font8.fntdata"/><Relationship Id="rId16" Type="http://schemas.openxmlformats.org/officeDocument/2006/relationships/font" Target="fonts/font9.fntdata"/><Relationship Id="rId17" Type="http://schemas.openxmlformats.org/officeDocument/2006/relationships/font" Target="fonts/font10.fntdata"/><Relationship Id="rId18" Type="http://schemas.openxmlformats.org/officeDocument/2006/relationships/font" Target="fonts/font11.fntdata"/><Relationship Id="rId19" Type="http://schemas.openxmlformats.org/officeDocument/2006/relationships/font" Target="fonts/font12.fntdata"/><Relationship Id="rId20" Type="http://schemas.openxmlformats.org/officeDocument/2006/relationships/font" Target="fonts/font13.fntdata"/><Relationship Id="rId21" Type="http://schemas.openxmlformats.org/officeDocument/2006/relationships/font" Target="fonts/font14.fntdata"/><Relationship Id="rId22" Type="http://schemas.openxmlformats.org/officeDocument/2006/relationships/font" Target="fonts/font15.fntdata"/><Relationship Id="rId23" Type="http://schemas.openxmlformats.org/officeDocument/2006/relationships/font" Target="fonts/font16.fntdata"/><Relationship Id="rId24" Type="http://schemas.openxmlformats.org/officeDocument/2006/relationships/font" Target="fonts/font17.fntdata"/><Relationship Id="rId25" Type="http://schemas.openxmlformats.org/officeDocument/2006/relationships/font" Target="fonts/font18.fntdata"/><Relationship Id="rId26" Type="http://schemas.openxmlformats.org/officeDocument/2006/relationships/font" Target="fonts/font19.fntdata"/><Relationship Id="rId27" Type="http://schemas.openxmlformats.org/officeDocument/2006/relationships/font" Target="fonts/font20.fntdata"/><Relationship Id="rId28" Type="http://customschemas.google.com/relationships/presentationmetadata" Target="metadata"/><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openxmlformats.org/officeDocument/2006/relationships/slide" Target="slides/slide6.xml"/><Relationship Id="rId34" Type="http://schemas.openxmlformats.org/officeDocument/2006/relationships/slide" Target="slides/slide7.xml"/><Relationship Id="rId35" Type="http://schemas.openxmlformats.org/officeDocument/2006/relationships/slide" Target="slides/slide8.xml"/><Relationship Id="rId36" Type="http://schemas.openxmlformats.org/officeDocument/2006/relationships/slide" Target="slides/slide9.xml"/><Relationship Id="rId37" Type="http://schemas.openxmlformats.org/officeDocument/2006/relationships/slide" Target="slides/slide10.xml"/><Relationship Id="rId38" Type="http://schemas.openxmlformats.org/officeDocument/2006/relationships/slide" Target="slides/slide11.xml"/><Relationship Id="rId39" Type="http://schemas.openxmlformats.org/officeDocument/2006/relationships/slide" Target="slides/slide12.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5.xml"/><Relationship Id="rId43" Type="http://schemas.openxmlformats.org/officeDocument/2006/relationships/slide" Target="slides/slide16.xml"/><Relationship Id="rId44" Type="http://schemas.openxmlformats.org/officeDocument/2006/relationships/slide" Target="slides/slide17.xml"/><Relationship Id="rId45" Type="http://schemas.openxmlformats.org/officeDocument/2006/relationships/slide" Target="slides/slide18.xml"/><Relationship Id="rId46" Type="http://schemas.openxmlformats.org/officeDocument/2006/relationships/slide" Target="slides/slide19.xml"/><Relationship Id="rId47" Type="http://schemas.openxmlformats.org/officeDocument/2006/relationships/slide" Target="slides/slide20.xml"/><Relationship Id="rId48" Type="http://schemas.openxmlformats.org/officeDocument/2006/relationships/slide" Target="slides/slide21.xml"/><Relationship Id="rId49" Type="http://schemas.openxmlformats.org/officeDocument/2006/relationships/slide" Target="slides/slide22.xml"/><Relationship Id="rId5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Hôm nay chúng ta không 'làm sạch cho đẹp'. Data Quality là cơ chế kiểm soát dữ liệu theo contract, có rule, quyết định xử lý và bằng chứng audit. Cuối buổi, dirty batch phải được chia valid/reject, mỗi reject có lý do, report có row counts và tests bảo vệ logic validation.</a:t>
            </a:r>
            <a:endParaRPr lang="vi-VN"/>
          </a:p>
          <a:p>
            <a:pPr marL="0" lvl="0" indent="0" algn="l">
              <a:buNone/>
            </a:pPr>
            <a:r>
              <a:rPr lang="vi-VN" dirty="0"/>
              <a:t>Tương tác / demo: Không tiết lộ trước danh sách lỗi trong dirty manifest. Hỏi lớp đoán loại lỗi thường gặp trong E-commerce.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11bac9ab7f9_1_68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Hôm nay chúng ta không 'làm sạch cho đẹp'. Data Quality là cơ chế kiểm soát dữ liệu theo contract, có rule, quyết định xử lý và bằng chứng audit. Cuối buổi, dirty batch phải được chia valid/reject, mỗi reject có lý do, report có row counts và tests bảo vệ logic validation.</a:t>
            </a:r>
            <a:endParaRPr lang="vi-VN"/>
          </a:p>
          <a:p>
            <a:pPr marL="0" lvl="0" indent="0" algn="l">
              <a:buNone/>
            </a:pPr>
            <a:r>
              <a:rPr lang="vi-VN" dirty="0"/>
              <a:t>Tương tác / demo: Không tiết lộ trước danh sách lỗi trong dirty manifest. Hỏi lớp đoán loại lỗi thường gặp trong E-commerce.</a:t>
            </a:r>
            <a:endParaRPr lang="vi-VN"/>
          </a:p>
        </p:txBody>
      </p:sp>
      <p:sp>
        <p:nvSpPr>
          <p:cNvPr id="182" name="Google Shape;182;g11bac9ab7f9_1_6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11bac9ab7f9_1_8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00–05 phút | Mở buổi</a:t>
            </a:r>
            <a:endParaRPr lang="vi-VN"/>
          </a:p>
          <a:p>
            <a:pPr marL="0" lvl="0" indent="0" algn="l">
              <a:buNone/>
            </a:pPr>
            <a:r>
              <a:rPr lang="vi-VN" dirty="0"/>
              <a:t>Lời giảng: Hôm nay chúng ta không 'làm sạch cho đẹp'. Data Quality là cơ chế kiểm soát dữ liệu theo contract, có rule, quyết định xử lý và bằng chứng audit. Cuối buổi, dirty batch phải được chia valid/reject, mỗi reject có lý do, report có row counts và tests bảo vệ logic validation.</a:t>
            </a:r>
            <a:endParaRPr lang="vi-VN"/>
          </a:p>
          <a:p>
            <a:pPr marL="0" lvl="0" indent="0" algn="l">
              <a:buNone/>
            </a:pPr>
            <a:r>
              <a:rPr lang="vi-VN" dirty="0"/>
              <a:t>Tương tác / demo: Không tiết lộ trước danh sách lỗi trong dirty manifest. Hỏi lớp đoán loại lỗi thường gặp trong E-commerce.</a:t>
            </a:r>
            <a:endParaRPr lang="vi-VN"/>
          </a:p>
        </p:txBody>
      </p:sp>
      <p:sp>
        <p:nvSpPr>
          <p:cNvPr id="189" name="Google Shape;189;g11bac9ab7f9_1_8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g11bac9ab7f9_1_10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DQ mindset, dimensions và schema validation</a:t>
            </a:r>
            <a:endParaRPr lang="vi-VN"/>
          </a:p>
          <a:p>
            <a:pPr marL="0" lvl="0" indent="0" algn="l">
              <a:buNone/>
            </a:pPr>
            <a:r>
              <a:rPr lang="vi-VN" dirty="0"/>
              <a:t>Lời giảng: Pipeline DQ có flow: source có lỗi → validate bằng rule rõ → quyết định fix/reject/fail → audit/report → chỉ load valid. Sáu chiều DQ gồm completeness, uniqueness, validity, consistency, accuracy, timeliness. Ở lab hôm nay chúng ta đo được tốt nhất bốn chiều đầu và một phần timeliness; accuracy thực tế thường cần external truth. Schema validation kiểm required columns, tên cột và khả năng parse type.</a:t>
            </a:r>
            <a:endParaRPr lang="vi-VN"/>
          </a:p>
          <a:p>
            <a:pPr marL="0" lvl="0" indent="0" algn="l">
              <a:buNone/>
            </a:pPr>
            <a:r>
              <a:rPr lang="vi-VN" dirty="0"/>
              <a:t>Tương tác / demo: Hỏi: 'Schema thiếu cột customer_id nên reject từng row hay fail/quarantine cả batch?' để dẫn vào policy.</a:t>
            </a:r>
            <a:endParaRPr lang="vi-VN"/>
          </a:p>
        </p:txBody>
      </p:sp>
      <p:sp>
        <p:nvSpPr>
          <p:cNvPr id="196" name="Google Shape;196;g11bac9ab7f9_1_10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1bb26f517d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DQ mindset, dimensions và schema validation</a:t>
            </a:r>
            <a:endParaRPr lang="vi-VN"/>
          </a:p>
          <a:p>
            <a:pPr marL="0" lvl="0" indent="0" algn="l">
              <a:buNone/>
            </a:pPr>
            <a:r>
              <a:rPr lang="vi-VN" dirty="0"/>
              <a:t>Lời giảng: Pipeline DQ có flow: source có lỗi → validate bằng rule rõ → quyết định fix/reject/fail → audit/report → chỉ load valid. Sáu chiều DQ gồm completeness, uniqueness, validity, consistency, accuracy, timeliness. Ở lab hôm nay chúng ta đo được tốt nhất bốn chiều đầu và một phần timeliness; accuracy thực tế thường cần external truth. Schema validation kiểm required columns, tên cột và khả năng parse type.</a:t>
            </a:r>
            <a:endParaRPr lang="vi-VN"/>
          </a:p>
          <a:p>
            <a:pPr marL="0" lvl="0" indent="0" algn="l">
              <a:buNone/>
            </a:pPr>
            <a:r>
              <a:rPr lang="vi-VN" dirty="0"/>
              <a:t>Tương tác / demo: Hỏi: 'Schema thiếu cột customer_id nên reject từng row hay fail/quarantine cả batch?' để dẫn vào policy.</a:t>
            </a:r>
            <a:endParaRPr lang="vi-VN"/>
          </a:p>
        </p:txBody>
      </p:sp>
      <p:sp>
        <p:nvSpPr>
          <p:cNvPr id="203" name="Google Shape;203;g11bb26f517d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05–14 phút | DQ mindset, dimensions và schema validation</a:t>
            </a:r>
            <a:endParaRPr lang="vi-VN"/>
          </a:p>
          <a:p>
            <a:pPr marL="0" lvl="0" indent="0" algn="l">
              <a:buNone/>
            </a:pPr>
            <a:r>
              <a:rPr lang="vi-VN" dirty="0"/>
              <a:t>Lời giảng: Pipeline DQ có flow: source có lỗi → validate bằng rule rõ → quyết định fix/reject/fail → audit/report → chỉ load valid. Sáu chiều DQ gồm completeness, uniqueness, validity, consistency, accuracy, timeliness. Ở lab hôm nay chúng ta đo được tốt nhất bốn chiều đầu và một phần timeliness; accuracy thực tế thường cần external truth. Schema validation kiểm required columns, tên cột và khả năng parse type.</a:t>
            </a:r>
            <a:endParaRPr lang="vi-VN"/>
          </a:p>
          <a:p>
            <a:pPr marL="0" lvl="0" indent="0" algn="l">
              <a:buNone/>
            </a:pPr>
            <a:r>
              <a:rPr lang="vi-VN" dirty="0"/>
              <a:t>Tương tác / demo: Hỏi: 'Schema thiếu cột customer_id nên reject từng row hay fail/quarantine cả batch?' để dẫn vào policy.</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14–25 phút | Completeness, uniqueness, validity</a:t>
            </a:r>
            <a:endParaRPr lang="vi-VN"/>
          </a:p>
          <a:p>
            <a:pPr marL="0" lvl="0" indent="0" algn="l">
              <a:buNone/>
            </a:pPr>
            <a:r>
              <a:rPr lang="vi-VN" dirty="0"/>
              <a:t>Lời giảng: Completeness kiểm field bắt buộc, kể cả chuỗi rỗng. Uniqueness phải phân biệt duplicate trong batch với conflict entity đã có trong CORE. Validity kiểm domain/range: status enum, price &gt;= 0, quantity &gt; 0, email pattern, date parse, discount không vượt gross. Mỗi rule nên tạo error code ổn định để báo cáo và test.</a:t>
            </a:r>
            <a:endParaRPr lang="vi-VN"/>
          </a:p>
          <a:p>
            <a:pPr marL="0" lvl="0" indent="0" algn="l">
              <a:buNone/>
            </a:pPr>
            <a:r>
              <a:rPr lang="vi-VN" dirty="0"/>
              <a:t>Tương tác / demo: Cho lớp đề xuất error code cho ba lỗi; chỉnh về format ngắn, ổn định, không chứa dữ liệu nhạy cảm.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14–25 phút | Completeness, uniqueness, validity</a:t>
            </a:r>
            <a:endParaRPr lang="vi-VN"/>
          </a:p>
          <a:p>
            <a:pPr marL="0" lvl="0" indent="0" algn="l">
              <a:buNone/>
            </a:pPr>
            <a:r>
              <a:rPr lang="vi-VN" dirty="0"/>
              <a:t>Lời giảng: Completeness kiểm field bắt buộc, kể cả chuỗi rỗng. Uniqueness phải phân biệt duplicate trong batch với conflict entity đã có trong CORE. Validity kiểm domain/range: status enum, price &gt;= 0, quantity &gt; 0, email pattern, date parse, discount không vượt gross. Mỗi rule nên tạo error code ổn định để báo cáo và test.</a:t>
            </a:r>
            <a:endParaRPr lang="vi-VN"/>
          </a:p>
          <a:p>
            <a:pPr marL="0" lvl="0" indent="0" algn="l">
              <a:buNone/>
            </a:pPr>
            <a:r>
              <a:rPr lang="vi-VN" dirty="0"/>
              <a:t>Tương tác / demo: Cho lớp đề xuất error code cho ba lỗi; chỉnh về format ngắn, ổn định, không chứa dữ liệu nhạy cảm.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14–25 phút | Completeness, uniqueness, validity</a:t>
            </a:r>
            <a:endParaRPr lang="vi-VN"/>
          </a:p>
          <a:p>
            <a:pPr marL="0" lvl="0" indent="0" algn="l">
              <a:buNone/>
            </a:pPr>
            <a:r>
              <a:rPr lang="vi-VN" dirty="0"/>
              <a:t>Lời giảng: Completeness kiểm field bắt buộc, kể cả chuỗi rỗng. Uniqueness phải phân biệt duplicate trong batch với conflict entity đã có trong CORE. Validity kiểm domain/range: status enum, price &gt;= 0, quantity &gt; 0, email pattern, date parse, discount không vượt gross. Mỗi rule nên tạo error code ổn định để báo cáo và test.</a:t>
            </a:r>
            <a:endParaRPr lang="vi-VN"/>
          </a:p>
          <a:p>
            <a:pPr marL="0" lvl="0" indent="0" algn="l">
              <a:buNone/>
            </a:pPr>
            <a:r>
              <a:rPr lang="vi-VN" dirty="0"/>
              <a:t>Tương tác / demo: Cho lớp đề xuất error code cho ba lỗi; chỉnh về format ngắn, ổn định, không chứa dữ liệu nhạy cảm.</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25–35 phút | Consistency, referential integrity và dirty dataset</a:t>
            </a:r>
            <a:endParaRPr lang="vi-VN"/>
          </a:p>
          <a:p>
            <a:pPr marL="0" lvl="0" indent="0" algn="l">
              <a:buNone/>
            </a:pPr>
            <a:r>
              <a:rPr lang="vi-VN" dirty="0"/>
              <a:t>Lời giảng: Consistency có thể trong một record hoặc giữa bảng: payment_date &gt;= order_date, updated_at &gt;= created_at, order.customer tồn tại, item.product/order tồn tại, payment.order tồn tại. DB FK là lớp bảo vệ cuối, nhưng pipeline validation cho error code dễ hiểu và tránh đẩy cả batch vào lỗi transaction. Dirty dataset chứa cả lỗi kỹ thuật và nghiệp vụ; nhiệm vụ là tìm bằng code, không sửa RAW bằng tay.</a:t>
            </a:r>
            <a:endParaRPr lang="vi-VN"/>
          </a:p>
          <a:p>
            <a:pPr marL="0" lvl="0" indent="0" algn="l">
              <a:buNone/>
            </a:pPr>
            <a:r>
              <a:rPr lang="vi-VN" dirty="0"/>
              <a:t>Tương tác / demo: Cho sinh viên xem tên các file dirty nhưng chưa reveal từng lỗi. Hỏi họ rule nào cần lookup sang bảng khác.</a:t>
            </a:r>
            <a:endParaRPr lang="vi-VN"/>
          </a:p>
          <a:p>
            <a:pPr marL="0" lvl="0" indent="0" algn="l">
              <a:buNone/>
            </a:pPr>
            <a:r>
              <a:rPr lang="vi-VN" dirty="0"/>
              <a:t>—</a:t>
            </a:r>
            <a:endParaRPr lang="vi-VN"/>
          </a:p>
          <a:p>
            <a:pPr marL="0" lvl="0" indent="0" algn="l">
              <a:buNone/>
            </a:pPr>
            <a:r>
              <a:rPr lang="vi-VN" dirty="0"/>
              <a:t>88–101 phút | Lab 7C – Cross-table rules</a:t>
            </a:r>
            <a:endParaRPr lang="vi-VN"/>
          </a:p>
          <a:p>
            <a:pPr marL="0" lvl="0" indent="0" algn="l">
              <a:buNone/>
            </a:pPr>
            <a:r>
              <a:rPr lang="vi-VN" dirty="0"/>
              <a:t>Lời giảng: Bây giờ kiểm tra FK/reference và payment_date/order_date. Đây là phần khó vì validator cần context từ bảng khác. Đảm bảo lookup dùng dữ liệu valid/core phù hợp, tránh tạo cascade false reject vì thứ tự xử lý sai.</a:t>
            </a:r>
            <a:endParaRPr lang="vi-VN"/>
          </a:p>
          <a:p>
            <a:pPr marL="0" lvl="0" indent="0" algn="l">
              <a:buNone/>
            </a:pPr>
            <a:r>
              <a:rPr lang="vi-VN" dirty="0"/>
              <a:t>Tương tác / demo: GV dùng một missing product/order cụ thể để hỏi cách phát hiện.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25–35 phút | Consistency, referential integrity và dirty dataset</a:t>
            </a:r>
            <a:endParaRPr lang="vi-VN"/>
          </a:p>
          <a:p>
            <a:pPr marL="0" lvl="0" indent="0" algn="l">
              <a:buNone/>
            </a:pPr>
            <a:r>
              <a:rPr lang="vi-VN" dirty="0"/>
              <a:t>Lời giảng: Consistency có thể trong một record hoặc giữa bảng: payment_date &gt;= order_date, updated_at &gt;= created_at, order.customer tồn tại, item.product/order tồn tại, payment.order tồn tại. DB FK là lớp bảo vệ cuối, nhưng pipeline validation cho error code dễ hiểu và tránh đẩy cả batch vào lỗi transaction. Dirty dataset chứa cả lỗi kỹ thuật và nghiệp vụ; nhiệm vụ là tìm bằng code, không sửa RAW bằng tay.</a:t>
            </a:r>
            <a:endParaRPr lang="vi-VN"/>
          </a:p>
          <a:p>
            <a:pPr marL="0" lvl="0" indent="0" algn="l">
              <a:buNone/>
            </a:pPr>
            <a:r>
              <a:rPr lang="vi-VN" dirty="0"/>
              <a:t>Tương tác / demo: Cho sinh viên xem tên các file dirty nhưng chưa reveal từng lỗi. Hỏi họ rule nào cần lookup sang bảng khác.</a:t>
            </a:r>
            <a:endParaRPr lang="vi-VN"/>
          </a:p>
          <a:p>
            <a:pPr marL="0" lvl="0" indent="0" algn="l">
              <a:buNone/>
            </a:pPr>
            <a:r>
              <a:rPr lang="vi-VN" dirty="0"/>
              <a:t>—</a:t>
            </a:r>
            <a:endParaRPr lang="vi-VN"/>
          </a:p>
          <a:p>
            <a:pPr marL="0" lvl="0" indent="0" algn="l">
              <a:buNone/>
            </a:pPr>
            <a:r>
              <a:rPr lang="vi-VN" dirty="0"/>
              <a:t>88–101 phút | Lab 7C – Cross-table rules</a:t>
            </a:r>
            <a:endParaRPr lang="vi-VN"/>
          </a:p>
          <a:p>
            <a:pPr marL="0" lvl="0" indent="0" algn="l">
              <a:buNone/>
            </a:pPr>
            <a:r>
              <a:rPr lang="vi-VN" dirty="0"/>
              <a:t>Lời giảng: Bây giờ kiểm tra FK/reference và payment_date/order_date. Đây là phần khó vì validator cần context từ bảng khác. Đảm bảo lookup dùng dữ liệu valid/core phù hợp, tránh tạo cascade false reject vì thứ tự xử lý sai.</a:t>
            </a:r>
            <a:endParaRPr lang="vi-VN"/>
          </a:p>
          <a:p>
            <a:pPr marL="0" lvl="0" indent="0" algn="l">
              <a:buNone/>
            </a:pPr>
            <a:r>
              <a:rPr lang="vi-VN" dirty="0"/>
              <a:t>Tương tác / demo: GV dùng một missing product/order cụ thể để hỏi cách phát hiện.</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25–35 phút | Consistency, referential integrity và dirty dataset</a:t>
            </a:r>
            <a:endParaRPr lang="vi-VN"/>
          </a:p>
          <a:p>
            <a:pPr marL="0" lvl="0" indent="0" algn="l">
              <a:buNone/>
            </a:pPr>
            <a:r>
              <a:rPr lang="vi-VN" dirty="0"/>
              <a:t>Lời giảng: Consistency có thể trong một record hoặc giữa bảng: payment_date &gt;= order_date, updated_at &gt;= created_at, order.customer tồn tại, item.product/order tồn tại, payment.order tồn tại. DB FK là lớp bảo vệ cuối, nhưng pipeline validation cho error code dễ hiểu và tránh đẩy cả batch vào lỗi transaction. Dirty dataset chứa cả lỗi kỹ thuật và nghiệp vụ; nhiệm vụ là tìm bằng code, không sửa RAW bằng tay.</a:t>
            </a:r>
            <a:endParaRPr lang="vi-VN"/>
          </a:p>
          <a:p>
            <a:pPr marL="0" lvl="0" indent="0" algn="l">
              <a:buNone/>
            </a:pPr>
            <a:r>
              <a:rPr lang="vi-VN" dirty="0"/>
              <a:t>Tương tác / demo: Cho sinh viên xem tên các file dirty nhưng chưa reveal từng lỗi. Hỏi họ rule nào cần lookup sang bảng khác.</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35–45 phút | Fix/Reject/Quarantine/Fail và DQ report</a:t>
            </a:r>
            <a:endParaRPr lang="vi-VN"/>
          </a:p>
          <a:p>
            <a:pPr marL="0" lvl="0" indent="0" algn="l">
              <a:buNone/>
            </a:pPr>
            <a:r>
              <a:rPr lang="vi-VN" dirty="0"/>
              <a:t>Lời giảng: Không phải lỗi nào cũng xử lý giống nhau. Format xác định được có thể normalize; record lỗi độc lập có thể reject; schema critical có thể fail/quarantine cả batch. Sau validation phải giữ invariant Input = Valid + Rejected. Reject cần error_code/error_message; report cần input, valid, rejected, valid rate, top errors và run_id.</a:t>
            </a:r>
            <a:endParaRPr lang="vi-VN"/>
          </a:p>
          <a:p>
            <a:pPr marL="0" lvl="0" indent="0" algn="l">
              <a:buNone/>
            </a:pPr>
            <a:r>
              <a:rPr lang="vi-VN" dirty="0"/>
              <a:t>Tương tác / demo: Dùng ví dụ 100 input → 92 valid + 8 reject. Hỏi nếu tổng thành 99 thì pipeline audit nói lên điều gì.</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35–45 phút | Fix/Reject/Quarantine/Fail và DQ report</a:t>
            </a:r>
            <a:endParaRPr lang="vi-VN"/>
          </a:p>
          <a:p>
            <a:pPr marL="0" lvl="0" indent="0" algn="l">
              <a:buNone/>
            </a:pPr>
            <a:r>
              <a:rPr lang="vi-VN" dirty="0"/>
              <a:t>Lời giảng: Không phải lỗi nào cũng xử lý giống nhau. Format xác định được có thể normalize; record lỗi độc lập có thể reject; schema critical có thể fail/quarantine cả batch. Sau validation phải giữ invariant Input = Valid + Rejected. Reject cần error_code/error_message; report cần input, valid, rejected, valid rate, top errors và run_id.</a:t>
            </a:r>
            <a:endParaRPr lang="vi-VN"/>
          </a:p>
          <a:p>
            <a:pPr marL="0" lvl="0" indent="0" algn="l">
              <a:buNone/>
            </a:pPr>
            <a:r>
              <a:rPr lang="vi-VN" dirty="0"/>
              <a:t>Tương tác / demo: Dùng ví dụ 100 input → 92 valid + 8 reject. Hỏi nếu tổng thành 99 thì pipeline audit nói lên điều gì.</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35–45 phút | Fix/Reject/Quarantine/Fail và DQ report</a:t>
            </a:r>
            <a:endParaRPr lang="vi-VN"/>
          </a:p>
          <a:p>
            <a:pPr marL="0" lvl="0" indent="0" algn="l">
              <a:buNone/>
            </a:pPr>
            <a:r>
              <a:rPr lang="vi-VN" dirty="0"/>
              <a:t>Lời giảng: Không phải lỗi nào cũng xử lý giống nhau. Format xác định được có thể normalize; record lỗi độc lập có thể reject; schema critical có thể fail/quarantine cả batch. Sau validation phải giữ invariant Input = Valid + Rejected. Reject cần error_code/error_message; report cần input, valid, rejected, valid rate, top errors và run_id.</a:t>
            </a:r>
            <a:endParaRPr lang="vi-VN"/>
          </a:p>
          <a:p>
            <a:pPr marL="0" lvl="0" indent="0" algn="l">
              <a:buNone/>
            </a:pPr>
            <a:r>
              <a:rPr lang="vi-VN" dirty="0"/>
              <a:t>Tương tác / demo: Dùng ví dụ 100 input → 92 valid + 8 reject. Hỏi nếu tổng thành 99 thì pipeline audit nói lên điều gì.</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35–45 phút | Fix/Reject/Quarantine/Fail và DQ report</a:t>
            </a:r>
            <a:endParaRPr lang="vi-VN"/>
          </a:p>
          <a:p>
            <a:pPr marL="0" lvl="0" indent="0" algn="l">
              <a:buNone/>
            </a:pPr>
            <a:r>
              <a:rPr lang="vi-VN" dirty="0"/>
              <a:t>Lời giảng: Không phải lỗi nào cũng xử lý giống nhau. Format xác định được có thể normalize; record lỗi độc lập có thể reject; schema critical có thể fail/quarantine cả batch. Sau validation phải giữ invariant Input = Valid + Rejected. Reject cần error_code/error_message; report cần input, valid, rejected, valid rate, top errors và run_id.</a:t>
            </a:r>
            <a:endParaRPr lang="vi-VN"/>
          </a:p>
          <a:p>
            <a:pPr marL="0" lvl="0" indent="0" algn="l">
              <a:buNone/>
            </a:pPr>
            <a:r>
              <a:rPr lang="vi-VN" dirty="0"/>
              <a:t>Tương tác / demo: Dùng ví dụ 100 input → 92 valid + 8 reject. Hỏi nếu tổng thành 99 thì pipeline audit nói lên điều gì.</a:t>
            </a:r>
            <a:endParaRPr lang="vi-VN"/>
          </a:p>
          <a:p>
            <a:pPr marL="0" lvl="0" indent="0" algn="l">
              <a:buNone/>
            </a:pPr>
            <a:r>
              <a:rPr lang="vi-VN" dirty="0"/>
              <a:t>—</a:t>
            </a:r>
            <a:endParaRPr lang="vi-VN"/>
          </a:p>
          <a:p>
            <a:pPr marL="0" lvl="0" indent="0" algn="l">
              <a:buNone/>
            </a:pPr>
            <a:r>
              <a:rPr lang="vi-VN" dirty="0"/>
              <a:t>101–111 phút | Lab 7D – DQ report + tests</a:t>
            </a:r>
            <a:endParaRPr lang="vi-VN"/>
          </a:p>
          <a:p>
            <a:pPr marL="0" lvl="0" indent="0" algn="l">
              <a:buNone/>
            </a:pPr>
            <a:r>
              <a:rPr lang="vi-VN" dirty="0"/>
              <a:t>Lời giảng: Sinh DQ report theo dataset và run_id. Kiểm tra Input = Valid + Rejected. Chạy pytest public tests; nếu test fail, sửa rule chứ không sửa test. Khi pass, thêm ít nhất một test edge case do nhóm tự nghĩ.</a:t>
            </a:r>
            <a:endParaRPr lang="vi-VN"/>
          </a:p>
          <a:p>
            <a:pPr marL="0" lvl="0" indent="0" algn="l">
              <a:buNone/>
            </a:pPr>
            <a:r>
              <a:rPr lang="vi-VN" dirty="0"/>
              <a:t>Tương tác / demo: Cho lớp nhìn report và chọn top error để giải thích root cause.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35–45 phút | Fix/Reject/Quarantine/Fail và DQ report</a:t>
            </a:r>
            <a:endParaRPr lang="vi-VN"/>
          </a:p>
          <a:p>
            <a:pPr marL="0" lvl="0" indent="0" algn="l">
              <a:buNone/>
            </a:pPr>
            <a:r>
              <a:rPr lang="vi-VN" dirty="0"/>
              <a:t>Lời giảng: Không phải lỗi nào cũng xử lý giống nhau. Format xác định được có thể normalize; record lỗi độc lập có thể reject; schema critical có thể fail/quarantine cả batch. Sau validation phải giữ invariant Input = Valid + Rejected. Reject cần error_code/error_message; report cần input, valid, rejected, valid rate, top errors và run_id.</a:t>
            </a:r>
            <a:endParaRPr lang="vi-VN"/>
          </a:p>
          <a:p>
            <a:pPr marL="0" lvl="0" indent="0" algn="l">
              <a:buNone/>
            </a:pPr>
            <a:r>
              <a:rPr lang="vi-VN" dirty="0"/>
              <a:t>Tương tác / demo: Dùng ví dụ 100 input → 92 valid + 8 reject. Hỏi nếu tổng thành 99 thì pipeline audit nói lên điều gì.</a:t>
            </a:r>
            <a:endParaRPr lang="vi-VN"/>
          </a:p>
          <a:p>
            <a:pPr marL="0" lvl="0" indent="0" algn="l">
              <a:buNone/>
            </a:pPr>
            <a:r>
              <a:rPr lang="vi-VN" dirty="0"/>
              <a:t>—</a:t>
            </a:r>
            <a:endParaRPr lang="vi-VN"/>
          </a:p>
          <a:p>
            <a:pPr marL="0" lvl="0" indent="0" algn="l">
              <a:buNone/>
            </a:pPr>
            <a:r>
              <a:rPr lang="vi-VN" dirty="0"/>
              <a:t>101–111 phút | Lab 7D – DQ report + tests</a:t>
            </a:r>
            <a:endParaRPr lang="vi-VN"/>
          </a:p>
          <a:p>
            <a:pPr marL="0" lvl="0" indent="0" algn="l">
              <a:buNone/>
            </a:pPr>
            <a:r>
              <a:rPr lang="vi-VN" dirty="0"/>
              <a:t>Lời giảng: Sinh DQ report theo dataset và run_id. Kiểm tra Input = Valid + Rejected. Chạy pytest public tests; nếu test fail, sửa rule chứ không sửa test. Khi pass, thêm ít nhất một test edge case do nhóm tự nghĩ.</a:t>
            </a:r>
            <a:endParaRPr lang="vi-VN"/>
          </a:p>
          <a:p>
            <a:pPr marL="0" lvl="0" indent="0" algn="l">
              <a:buNone/>
            </a:pPr>
            <a:r>
              <a:rPr lang="vi-VN" dirty="0"/>
              <a:t>Tương tác / demo: Cho lớp nhìn report và chọn top error để giải thích root cause.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45–53 phút | Automated tests</a:t>
            </a:r>
            <a:endParaRPr lang="vi-VN"/>
          </a:p>
          <a:p>
            <a:pPr marL="0" lvl="0" indent="0" algn="l">
              <a:buNone/>
            </a:pPr>
            <a:r>
              <a:rPr lang="vi-VN" dirty="0"/>
              <a:t>Lời giảng: Validation logic là code nghiệp vụ nên phải có tests. Một test tốt dựng input nhỏ, chạy split_valid_invalid và assert đúng hành vi. Tối thiểu cần test invalid email, missing field, duplicate ID, negative price, quantity 0, discount âm, invalid status/channel, payment amount/status. Test giúp rule không bị phá khi refactor.</a:t>
            </a:r>
            <a:endParaRPr lang="vi-VN"/>
          </a:p>
          <a:p>
            <a:pPr marL="0" lvl="0" indent="0" algn="l">
              <a:buNone/>
            </a:pPr>
            <a:r>
              <a:rPr lang="vi-VN" dirty="0"/>
              <a:t>Tương tác / demo: Demo một test bad email và cho lớp viết tiếp test quantity=0 bằng miệng/pseudocode.</a:t>
            </a:r>
            <a:endParaRPr lang="vi-VN"/>
          </a:p>
          <a:p>
            <a:pPr marL="0" lvl="0" indent="0" algn="l">
              <a:buNone/>
            </a:pPr>
            <a:r>
              <a:rPr lang="vi-VN" dirty="0"/>
              <a:t>—</a:t>
            </a:r>
            <a:endParaRPr lang="vi-VN"/>
          </a:p>
          <a:p>
            <a:pPr marL="0" lvl="0" indent="0" algn="l">
              <a:buNone/>
            </a:pPr>
            <a:r>
              <a:rPr lang="vi-VN" dirty="0"/>
              <a:t>101–111 phút | Lab 7D – DQ report + tests</a:t>
            </a:r>
            <a:endParaRPr lang="vi-VN"/>
          </a:p>
          <a:p>
            <a:pPr marL="0" lvl="0" indent="0" algn="l">
              <a:buNone/>
            </a:pPr>
            <a:r>
              <a:rPr lang="vi-VN" dirty="0"/>
              <a:t>Lời giảng: Sinh DQ report theo dataset và run_id. Kiểm tra Input = Valid + Rejected. Chạy pytest public tests; nếu test fail, sửa rule chứ không sửa test. Khi pass, thêm ít nhất một test edge case do nhóm tự nghĩ.</a:t>
            </a:r>
            <a:endParaRPr lang="vi-VN"/>
          </a:p>
          <a:p>
            <a:pPr marL="0" lvl="0" indent="0" algn="l">
              <a:buNone/>
            </a:pPr>
            <a:r>
              <a:rPr lang="vi-VN" dirty="0"/>
              <a:t>Tương tác / demo: Cho lớp nhìn report và chọn top error để giải thích root cause.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45–53 phút | Automated tests</a:t>
            </a:r>
            <a:endParaRPr lang="vi-VN"/>
          </a:p>
          <a:p>
            <a:pPr marL="0" lvl="0" indent="0" algn="l">
              <a:buNone/>
            </a:pPr>
            <a:r>
              <a:rPr lang="vi-VN" dirty="0"/>
              <a:t>Lời giảng: Validation logic là code nghiệp vụ nên phải có tests. Một test tốt dựng input nhỏ, chạy split_valid_invalid và assert đúng hành vi. Tối thiểu cần test invalid email, missing field, duplicate ID, negative price, quantity 0, discount âm, invalid status/channel, payment amount/status. Test giúp rule không bị phá khi refactor.</a:t>
            </a:r>
            <a:endParaRPr lang="vi-VN"/>
          </a:p>
          <a:p>
            <a:pPr marL="0" lvl="0" indent="0" algn="l">
              <a:buNone/>
            </a:pPr>
            <a:r>
              <a:rPr lang="vi-VN" dirty="0"/>
              <a:t>Tương tác / demo: Demo một test bad email và cho lớp viết tiếp test quantity=0 bằng miệng/pseudocode.</a:t>
            </a:r>
            <a:endParaRPr lang="vi-VN"/>
          </a:p>
          <a:p>
            <a:pPr marL="0" lvl="0" indent="0" algn="l">
              <a:buNone/>
            </a:pPr>
            <a:r>
              <a:rPr lang="vi-VN" dirty="0"/>
              <a:t>—</a:t>
            </a:r>
            <a:endParaRPr lang="vi-VN"/>
          </a:p>
          <a:p>
            <a:pPr marL="0" lvl="0" indent="0" algn="l">
              <a:buNone/>
            </a:pPr>
            <a:r>
              <a:rPr lang="vi-VN" dirty="0"/>
              <a:t>101–111 phút | Lab 7D – DQ report + tests</a:t>
            </a:r>
            <a:endParaRPr lang="vi-VN"/>
          </a:p>
          <a:p>
            <a:pPr marL="0" lvl="0" indent="0" algn="l">
              <a:buNone/>
            </a:pPr>
            <a:r>
              <a:rPr lang="vi-VN" dirty="0"/>
              <a:t>Lời giảng: Sinh DQ report theo dataset và run_id. Kiểm tra Input = Valid + Rejected. Chạy pytest public tests; nếu test fail, sửa rule chứ không sửa test. Khi pass, thêm ít nhất một test edge case do nhóm tự nghĩ.</a:t>
            </a:r>
            <a:endParaRPr lang="vi-VN"/>
          </a:p>
          <a:p>
            <a:pPr marL="0" lvl="0" indent="0" algn="l">
              <a:buNone/>
            </a:pPr>
            <a:r>
              <a:rPr lang="vi-VN" dirty="0"/>
              <a:t>Tương tác / demo: Cho lớp nhìn report và chọn top error để giải thích root cause.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 – slide này được dùng ở nhiều thời điểm trong buổi học</a:t>
            </a:r>
            <a:endParaRPr lang="vi-VN"/>
          </a:p>
          <a:p>
            <a:pPr marL="0" lvl="0" indent="0" algn="l">
              <a:buNone/>
            </a:pPr>
            <a:r>
              <a:rPr lang="vi-VN" dirty="0"/>
              <a:t>53–60 phút | Giao Dirty Data Challenge</a:t>
            </a:r>
            <a:endParaRPr lang="vi-VN"/>
          </a:p>
          <a:p>
            <a:pPr marL="0" lvl="0" indent="0" algn="l">
              <a:buNone/>
            </a:pPr>
            <a:r>
              <a:rPr lang="vi-VN" dirty="0"/>
              <a:t>Lời giảng: Lab gồm profile, schema validation, business rules, cross-table, reject và report. Các em không được mở manifest lỗi và không sửa file RAW. Mục tiêu không phải bắt càng nhiều lỗi càng tốt bằng heuristic, mà là biến rule thành code giải thích được và test được.</a:t>
            </a:r>
            <a:endParaRPr lang="vi-VN"/>
          </a:p>
          <a:p>
            <a:pPr marL="0" lvl="0" indent="0" algn="l">
              <a:buNone/>
            </a:pPr>
            <a:r>
              <a:rPr lang="vi-VN" dirty="0"/>
              <a:t>Tương tác / demo: Phát dirty dataset; giữ manifest cho cuối lab.</a:t>
            </a:r>
            <a:endParaRPr lang="vi-VN"/>
          </a:p>
          <a:p>
            <a:pPr marL="0" lvl="0" indent="0" algn="l">
              <a:buNone/>
            </a:pPr>
            <a:r>
              <a:rPr lang="vi-VN" dirty="0"/>
              <a:t>—</a:t>
            </a:r>
            <a:endParaRPr lang="vi-VN"/>
          </a:p>
          <a:p>
            <a:pPr marL="0" lvl="0" indent="0" algn="l">
              <a:buNone/>
            </a:pPr>
            <a:r>
              <a:rPr lang="vi-VN" dirty="0"/>
              <a:t>60–73 phút | Lab 7A – Profile + schema</a:t>
            </a:r>
            <a:endParaRPr lang="vi-VN"/>
          </a:p>
          <a:p>
            <a:pPr marL="0" lvl="0" indent="0" algn="l">
              <a:buNone/>
            </a:pPr>
            <a:r>
              <a:rPr lang="vi-VN" dirty="0"/>
              <a:t>Lời giảng: Chạy profile cho từng dataset: row count, columns, missing, duplicate, dtypes/domain. Sau đó schema validation. Ghi lại lỗi ở mức batch và quyết định policy fail/quarantine nếu schema critical.</a:t>
            </a:r>
            <a:endParaRPr lang="vi-VN"/>
          </a:p>
          <a:p>
            <a:pPr marL="0" lvl="0" indent="0" algn="l">
              <a:buNone/>
            </a:pPr>
            <a:r>
              <a:rPr lang="vi-VN" dirty="0"/>
              <a:t>Tương tác / demo: GV hỏi nhóm nào thấy tín hiệu bất thường nhưng chưa cho đáp án.</a:t>
            </a:r>
            <a:endParaRPr lang="vi-VN"/>
          </a:p>
          <a:p>
            <a:pPr marL="0" lvl="0" indent="0" algn="l">
              <a:buNone/>
            </a:pPr>
            <a:r>
              <a:rPr lang="vi-VN" dirty="0"/>
              <a:t>—</a:t>
            </a:r>
            <a:endParaRPr lang="vi-VN"/>
          </a:p>
          <a:p>
            <a:pPr marL="0" lvl="0" indent="0" algn="l">
              <a:buNone/>
            </a:pPr>
            <a:r>
              <a:rPr lang="vi-VN" dirty="0"/>
              <a:t>73–88 phút | Lab 7B – Row-level business rules</a:t>
            </a:r>
            <a:endParaRPr lang="vi-VN"/>
          </a:p>
          <a:p>
            <a:pPr marL="0" lvl="0" indent="0" algn="l">
              <a:buNone/>
            </a:pPr>
            <a:r>
              <a:rPr lang="vi-VN" dirty="0"/>
              <a:t>Lời giảng: Cài completeness/uniqueness/validity. Mỗi row lỗi phải đi vào reject với code rõ. Nếu một row có nhiều lỗi, nhóm cần chọn policy: giữ first error, aggregate codes, hoặc priority; quan trọng là nhất quán.</a:t>
            </a:r>
            <a:endParaRPr lang="vi-VN"/>
          </a:p>
          <a:p>
            <a:pPr marL="0" lvl="0" indent="0" algn="l">
              <a:buNone/>
            </a:pPr>
            <a:r>
              <a:rPr lang="vi-VN" dirty="0"/>
              <a:t>Tương tác / demo: Kiểm tra reject file có đủ identifier để trace về source.</a:t>
            </a:r>
            <a:endParaRPr lang="vi-VN"/>
          </a:p>
          <a:p>
            <a:pPr marL="0" lvl="0" indent="0" algn="l">
              <a:buNone/>
            </a:pPr>
            <a:r>
              <a:rPr lang="vi-VN" dirty="0"/>
              <a:t>—</a:t>
            </a:r>
            <a:endParaRPr lang="vi-VN"/>
          </a:p>
          <a:p>
            <a:pPr marL="0" lvl="0" indent="0" algn="l">
              <a:buNone/>
            </a:pPr>
            <a:r>
              <a:rPr lang="vi-VN" dirty="0"/>
              <a:t>88–101 phút | Lab 7C – Cross-table rules</a:t>
            </a:r>
            <a:endParaRPr lang="vi-VN"/>
          </a:p>
          <a:p>
            <a:pPr marL="0" lvl="0" indent="0" algn="l">
              <a:buNone/>
            </a:pPr>
            <a:r>
              <a:rPr lang="vi-VN" dirty="0"/>
              <a:t>Lời giảng: Bây giờ kiểm tra FK/reference và payment_date/order_date. Đây là phần khó vì validator cần context từ bảng khác. Đảm bảo lookup dùng dữ liệu valid/core phù hợp, tránh tạo cascade false reject vì thứ tự xử lý sai.</a:t>
            </a:r>
            <a:endParaRPr lang="vi-VN"/>
          </a:p>
          <a:p>
            <a:pPr marL="0" lvl="0" indent="0" algn="l">
              <a:buNone/>
            </a:pPr>
            <a:r>
              <a:rPr lang="vi-VN" dirty="0"/>
              <a:t>Tương tác / demo: GV dùng một missing product/order cụ thể để hỏi cách phát hiện.</a:t>
            </a:r>
            <a:endParaRPr lang="vi-VN"/>
          </a:p>
          <a:p>
            <a:pPr marL="0" lvl="0" indent="0" algn="l">
              <a:buNone/>
            </a:pPr>
            <a:r>
              <a:rPr lang="vi-VN" dirty="0"/>
              <a:t>—</a:t>
            </a:r>
            <a:endParaRPr lang="vi-VN"/>
          </a:p>
          <a:p>
            <a:pPr marL="0" lvl="0" indent="0" algn="l">
              <a:buNone/>
            </a:pPr>
            <a:r>
              <a:rPr lang="vi-VN" dirty="0"/>
              <a:t>101–111 phút | Lab 7D – DQ report + tests</a:t>
            </a:r>
            <a:endParaRPr lang="vi-VN"/>
          </a:p>
          <a:p>
            <a:pPr marL="0" lvl="0" indent="0" algn="l">
              <a:buNone/>
            </a:pPr>
            <a:r>
              <a:rPr lang="vi-VN" dirty="0"/>
              <a:t>Lời giảng: Sinh DQ report theo dataset và run_id. Kiểm tra Input = Valid + Rejected. Chạy pytest public tests; nếu test fail, sửa rule chứ không sửa test. Khi pass, thêm ít nhất một test edge case do nhóm tự nghĩ.</a:t>
            </a:r>
            <a:endParaRPr lang="vi-VN"/>
          </a:p>
          <a:p>
            <a:pPr marL="0" lvl="0" indent="0" algn="l">
              <a:buNone/>
            </a:pPr>
            <a:r>
              <a:rPr lang="vi-VN" dirty="0"/>
              <a:t>Tương tác / demo: Cho lớp nhìn report và chọn top error để giải thích root cause.</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111–118 phút | Checkpoint + reveal manifest</a:t>
            </a:r>
            <a:endParaRPr lang="vi-VN"/>
          </a:p>
          <a:p>
            <a:pPr marL="0" lvl="0" indent="0" algn="l">
              <a:buNone/>
            </a:pPr>
            <a:r>
              <a:rPr lang="vi-VN" dirty="0"/>
              <a:t>Lời giảng: Đạt khi mỗi dataset cân bằng input/valid/reject, reject có code/message, invalid không vào CORE, ít nhất 10 tests pass và report có row counts. Lúc này mới reveal dirty manifest để các nhóm so lỗi tìm được với lỗi cài cắm; mục đích là học khoảng trống trong rule.</a:t>
            </a:r>
            <a:endParaRPr lang="vi-VN"/>
          </a:p>
          <a:p>
            <a:pPr marL="0" lvl="0" indent="0" algn="l">
              <a:buNone/>
            </a:pPr>
            <a:r>
              <a:rPr lang="vi-VN" dirty="0"/>
              <a:t>Tương tác / demo: Thảo luận 2 phút: lỗi nào khó nhất và vì sao.</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DQ = rule + decision + audit; Input = Valid + Rejected; error code phải ổn định; automated tests bảo vệ validation logic. Buổi 8 sẽ ghép toàn bộ file/API/DQ/load/mart thành pipeline vận hành end-to-end.</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11bb26f517d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a:buNone/>
            </a:pPr>
            <a:r>
              <a:rPr lang="vi-VN" dirty="0"/>
              <a:t>GHI CHÚ GIẢNG DẠY</a:t>
            </a:r>
            <a:endParaRPr lang="vi-VN"/>
          </a:p>
          <a:p>
            <a:pPr marL="0" lvl="0" indent="0" algn="l">
              <a:buNone/>
            </a:pPr>
            <a:r>
              <a:rPr lang="vi-VN" dirty="0"/>
              <a:t>118–120 phút | Chốt buổi</a:t>
            </a:r>
            <a:endParaRPr lang="vi-VN"/>
          </a:p>
          <a:p>
            <a:pPr marL="0" lvl="0" indent="0" algn="l">
              <a:buNone/>
            </a:pPr>
            <a:r>
              <a:rPr lang="vi-VN" dirty="0"/>
              <a:t>Lời giảng: Nhớ bốn ý: DQ = rule + decision + audit; Input = Valid + Rejected; error code phải ổn định; automated tests bảo vệ validation logic. Buổi 8 sẽ ghép toàn bộ file/API/DQ/load/mart thành pipeline vận hành end-to-end.</a:t>
            </a:r>
            <a:endParaRPr lang="vi-VN"/>
          </a:p>
          <a:p>
            <a:pPr marL="0" lvl="0" indent="0" algn="l">
              <a:buNone/>
            </a:pPr>
            <a:r>
              <a:rPr lang="vi-VN" dirty="0"/>
              <a:t>Tương tác / demo: Giao assignment.</a:t>
            </a:r>
            <a:endParaRPr lang="vi-VN"/>
          </a:p>
        </p:txBody>
      </p:sp>
      <p:sp>
        <p:nvSpPr>
          <p:cNvPr id="174" name="Google Shape;174;g11bb26f517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Section Header">
  <p:cSld name="1_Section Header">
    <p:spTree>
      <p:nvGrpSpPr>
        <p:cNvPr id="1" name="Shape 16"/>
        <p:cNvGrpSpPr/>
        <p:nvPr/>
      </p:nvGrpSpPr>
      <p:grpSpPr>
        <a:xfrm>
          <a:off x="0" y="0"/>
          <a:ext cx="0" cy="0"/>
          <a:chOff x="0" y="0"/>
          <a:chExt cx="0" cy="0"/>
        </a:xfrm>
      </p:grpSpPr>
      <p:sp>
        <p:nvSpPr>
          <p:cNvPr id="17" name="Google Shape;17;p32"/>
          <p:cNvSpPr txBox="1">
            <a:spLocks noGrp="1"/>
          </p:cNvSpPr>
          <p:nvPr>
            <p:ph type="title"/>
          </p:nvPr>
        </p:nvSpPr>
        <p:spPr>
          <a:xfrm rot="5400000">
            <a:off x="-1225840" y="1040275"/>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32"/>
          <p:cNvSpPr txBox="1">
            <a:spLocks noGrp="1"/>
          </p:cNvSpPr>
          <p:nvPr>
            <p:ph type="body" idx="1" hasCustomPrompt="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1</a:t>
            </a:r>
            <a:endParaRPr dirty="0"/>
          </a:p>
        </p:txBody>
      </p:sp>
      <p:sp>
        <p:nvSpPr>
          <p:cNvPr id="20" name="Google Shape;20;p32"/>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 name="Google Shape;21;p32"/>
          <p:cNvSpPr txBox="1">
            <a:spLocks noGrp="1"/>
          </p:cNvSpPr>
          <p:nvPr>
            <p:ph type="body" idx="3" hasCustomPrompt="1"/>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dirty="0"/>
              <a:t>2</a:t>
            </a:r>
            <a:endParaRPr dirty="0"/>
          </a:p>
        </p:txBody>
      </p:sp>
      <p:sp>
        <p:nvSpPr>
          <p:cNvPr id="22" name="Google Shape;22;p32"/>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32"/>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2"/>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32"/>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BE2727"/>
              </a:buClr>
              <a:buSzPts val="6000"/>
              <a:buFont typeface="Montserrat"/>
              <a:buNone/>
              <a:defRPr sz="6000" b="1">
                <a:solidFill>
                  <a:srgbClr val="BE2727"/>
                </a:solidFill>
              </a:defRPr>
            </a:lvl1pPr>
            <a:lvl2pPr marL="914400" lvl="1" indent="-482600" algn="l">
              <a:lnSpc>
                <a:spcPct val="90000"/>
              </a:lnSpc>
              <a:spcBef>
                <a:spcPts val="500"/>
              </a:spcBef>
              <a:spcAft>
                <a:spcPts val="0"/>
              </a:spcAft>
              <a:buClr>
                <a:srgbClr val="BE2727"/>
              </a:buClr>
              <a:buSzPts val="4000"/>
              <a:buChar char="•"/>
              <a:defRPr sz="4000" b="1">
                <a:solidFill>
                  <a:srgbClr val="BE2727"/>
                </a:solidFill>
              </a:defRPr>
            </a:lvl2pPr>
            <a:lvl3pPr marL="1371600" lvl="2" indent="-482600" algn="l">
              <a:lnSpc>
                <a:spcPct val="90000"/>
              </a:lnSpc>
              <a:spcBef>
                <a:spcPts val="500"/>
              </a:spcBef>
              <a:spcAft>
                <a:spcPts val="0"/>
              </a:spcAft>
              <a:buClr>
                <a:srgbClr val="BE2727"/>
              </a:buClr>
              <a:buSzPts val="4000"/>
              <a:buChar char="•"/>
              <a:defRPr sz="4000" b="1">
                <a:solidFill>
                  <a:srgbClr val="BE2727"/>
                </a:solidFill>
              </a:defRPr>
            </a:lvl3pPr>
            <a:lvl4pPr marL="1828800" lvl="3" indent="-482600" algn="l">
              <a:lnSpc>
                <a:spcPct val="90000"/>
              </a:lnSpc>
              <a:spcBef>
                <a:spcPts val="500"/>
              </a:spcBef>
              <a:spcAft>
                <a:spcPts val="0"/>
              </a:spcAft>
              <a:buClr>
                <a:srgbClr val="BE2727"/>
              </a:buClr>
              <a:buSzPts val="4000"/>
              <a:buChar char="•"/>
              <a:defRPr sz="4000" b="1">
                <a:solidFill>
                  <a:srgbClr val="BE2727"/>
                </a:solidFill>
              </a:defRPr>
            </a:lvl4pPr>
            <a:lvl5pPr marL="2286000" lvl="4" indent="-482600" algn="l">
              <a:lnSpc>
                <a:spcPct val="90000"/>
              </a:lnSpc>
              <a:spcBef>
                <a:spcPts val="500"/>
              </a:spcBef>
              <a:spcAft>
                <a:spcPts val="0"/>
              </a:spcAft>
              <a:buClr>
                <a:srgbClr val="BE2727"/>
              </a:buClr>
              <a:buSzPts val="4000"/>
              <a:buChar char="•"/>
              <a:defRPr sz="4000" b="1">
                <a:solidFill>
                  <a:srgbClr val="BE2727"/>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32"/>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BE2727"/>
              </a:buClr>
              <a:buSzPts val="2000"/>
              <a:buFont typeface="Montserrat"/>
              <a:buNone/>
              <a:defRPr sz="2000" b="1">
                <a:solidFill>
                  <a:srgbClr val="BE2727"/>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32"/>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8" name="Google Shape;28;p32"/>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32"/>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0" name="Google Shape;30;p32"/>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171616"/>
              </a:buClr>
              <a:buSzPts val="1400"/>
              <a:buFont typeface="Montserrat"/>
              <a:buNone/>
              <a:defRPr sz="1400">
                <a:solidFill>
                  <a:srgbClr val="171616"/>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BEB9D187-055C-A20F-D630-69C136C329CF}"/>
              </a:ext>
            </a:extLst>
          </p:cNvPr>
          <p:cNvPicPr>
            <a:picLocks noChangeAspect="1"/>
          </p:cNvPicPr>
          <p:nvPr userDrawn="1"/>
        </p:nvPicPr>
        <p:blipFill>
          <a:blip r:embed="rId2"/>
          <a:stretch>
            <a:fillRect/>
          </a:stretch>
        </p:blipFill>
        <p:spPr>
          <a:xfrm>
            <a:off x="9584574" y="474131"/>
            <a:ext cx="2441171" cy="417651"/>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32"/>
        <p:cNvGrpSpPr/>
        <p:nvPr/>
      </p:nvGrpSpPr>
      <p:grpSpPr>
        <a:xfrm>
          <a:off x="0" y="0"/>
          <a:ext cx="0" cy="0"/>
          <a:chOff x="0" y="0"/>
          <a:chExt cx="0" cy="0"/>
        </a:xfrm>
      </p:grpSpPr>
      <p:sp>
        <p:nvSpPr>
          <p:cNvPr id="33" name="Google Shape;33;p38"/>
          <p:cNvSpPr txBox="1">
            <a:spLocks noGrp="1"/>
          </p:cNvSpPr>
          <p:nvPr>
            <p:ph type="body" idx="1"/>
          </p:nvPr>
        </p:nvSpPr>
        <p:spPr>
          <a:xfrm>
            <a:off x="742507" y="1978428"/>
            <a:ext cx="5181600" cy="4019651"/>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4" name="Google Shape;34;p38"/>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35" name="Google Shape;35;p38"/>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36" name="Google Shape;36;p38"/>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37" name="Google Shape;37;p38"/>
          <p:cNvSpPr txBox="1">
            <a:spLocks noGrp="1"/>
          </p:cNvSpPr>
          <p:nvPr>
            <p:ph type="body" idx="2"/>
          </p:nvPr>
        </p:nvSpPr>
        <p:spPr>
          <a:xfrm>
            <a:off x="6267893" y="1978428"/>
            <a:ext cx="5181600" cy="4019652"/>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38"/>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Custom Layout">
  <p:cSld name="1_Custom Layout">
    <p:spTree>
      <p:nvGrpSpPr>
        <p:cNvPr id="1" name="Shape 40"/>
        <p:cNvGrpSpPr/>
        <p:nvPr/>
      </p:nvGrpSpPr>
      <p:grpSpPr>
        <a:xfrm>
          <a:off x="0" y="0"/>
          <a:ext cx="0" cy="0"/>
          <a:chOff x="0" y="0"/>
          <a:chExt cx="0" cy="0"/>
        </a:xfrm>
      </p:grpSpPr>
      <p:pic>
        <p:nvPicPr>
          <p:cNvPr id="41" name="Google Shape;41;p34"/>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42" name="Google Shape;42;p34"/>
          <p:cNvSpPr txBox="1">
            <a:spLocks noGrp="1"/>
          </p:cNvSpPr>
          <p:nvPr>
            <p:ph type="ctrTitle"/>
          </p:nvPr>
        </p:nvSpPr>
        <p:spPr>
          <a:xfrm>
            <a:off x="1697669" y="3351966"/>
            <a:ext cx="7200000" cy="108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000000"/>
              </a:buClr>
              <a:buSzPts val="4000"/>
              <a:buFont typeface="Montserrat ExtraBold"/>
              <a:buNone/>
              <a:defRPr sz="4000">
                <a:solidFill>
                  <a:srgbClr val="000000"/>
                </a:solidFill>
                <a:latin typeface="Montserrat ExtraBold"/>
                <a:ea typeface="Montserrat ExtraBold"/>
                <a:cs typeface="Montserrat ExtraBold"/>
                <a:sym typeface="Montserrat ExtraBold"/>
              </a:defRPr>
            </a:lvl1pPr>
            <a:lvl2pPr lvl="1" algn="ctr">
              <a:lnSpc>
                <a:spcPct val="100000"/>
              </a:lnSpc>
              <a:spcBef>
                <a:spcPts val="0"/>
              </a:spcBef>
              <a:spcAft>
                <a:spcPts val="0"/>
              </a:spcAft>
              <a:buClr>
                <a:srgbClr val="000000"/>
              </a:buClr>
              <a:buSzPts val="5200"/>
              <a:buNone/>
              <a:defRPr sz="5200">
                <a:solidFill>
                  <a:srgbClr val="000000"/>
                </a:solidFill>
              </a:defRPr>
            </a:lvl2pPr>
            <a:lvl3pPr lvl="2" algn="ctr">
              <a:lnSpc>
                <a:spcPct val="100000"/>
              </a:lnSpc>
              <a:spcBef>
                <a:spcPts val="0"/>
              </a:spcBef>
              <a:spcAft>
                <a:spcPts val="0"/>
              </a:spcAft>
              <a:buClr>
                <a:srgbClr val="000000"/>
              </a:buClr>
              <a:buSzPts val="5200"/>
              <a:buNone/>
              <a:defRPr sz="5200">
                <a:solidFill>
                  <a:srgbClr val="000000"/>
                </a:solidFill>
              </a:defRPr>
            </a:lvl3pPr>
            <a:lvl4pPr lvl="3" algn="ctr">
              <a:lnSpc>
                <a:spcPct val="100000"/>
              </a:lnSpc>
              <a:spcBef>
                <a:spcPts val="0"/>
              </a:spcBef>
              <a:spcAft>
                <a:spcPts val="0"/>
              </a:spcAft>
              <a:buClr>
                <a:srgbClr val="000000"/>
              </a:buClr>
              <a:buSzPts val="5200"/>
              <a:buNone/>
              <a:defRPr sz="5200">
                <a:solidFill>
                  <a:srgbClr val="000000"/>
                </a:solidFill>
              </a:defRPr>
            </a:lvl4pPr>
            <a:lvl5pPr lvl="4" algn="ctr">
              <a:lnSpc>
                <a:spcPct val="100000"/>
              </a:lnSpc>
              <a:spcBef>
                <a:spcPts val="0"/>
              </a:spcBef>
              <a:spcAft>
                <a:spcPts val="0"/>
              </a:spcAft>
              <a:buClr>
                <a:srgbClr val="000000"/>
              </a:buClr>
              <a:buSzPts val="5200"/>
              <a:buNone/>
              <a:defRPr sz="5200">
                <a:solidFill>
                  <a:srgbClr val="000000"/>
                </a:solidFill>
              </a:defRPr>
            </a:lvl5pPr>
            <a:lvl6pPr lvl="5" algn="ctr">
              <a:lnSpc>
                <a:spcPct val="100000"/>
              </a:lnSpc>
              <a:spcBef>
                <a:spcPts val="0"/>
              </a:spcBef>
              <a:spcAft>
                <a:spcPts val="0"/>
              </a:spcAft>
              <a:buClr>
                <a:srgbClr val="000000"/>
              </a:buClr>
              <a:buSzPts val="5200"/>
              <a:buNone/>
              <a:defRPr sz="5200">
                <a:solidFill>
                  <a:srgbClr val="000000"/>
                </a:solidFill>
              </a:defRPr>
            </a:lvl6pPr>
            <a:lvl7pPr lvl="6" algn="ctr">
              <a:lnSpc>
                <a:spcPct val="100000"/>
              </a:lnSpc>
              <a:spcBef>
                <a:spcPts val="0"/>
              </a:spcBef>
              <a:spcAft>
                <a:spcPts val="0"/>
              </a:spcAft>
              <a:buClr>
                <a:srgbClr val="000000"/>
              </a:buClr>
              <a:buSzPts val="5200"/>
              <a:buNone/>
              <a:defRPr sz="5200">
                <a:solidFill>
                  <a:srgbClr val="000000"/>
                </a:solidFill>
              </a:defRPr>
            </a:lvl7pPr>
            <a:lvl8pPr lvl="7" algn="ctr">
              <a:lnSpc>
                <a:spcPct val="100000"/>
              </a:lnSpc>
              <a:spcBef>
                <a:spcPts val="0"/>
              </a:spcBef>
              <a:spcAft>
                <a:spcPts val="0"/>
              </a:spcAft>
              <a:buClr>
                <a:srgbClr val="000000"/>
              </a:buClr>
              <a:buSzPts val="5200"/>
              <a:buNone/>
              <a:defRPr sz="5200">
                <a:solidFill>
                  <a:srgbClr val="000000"/>
                </a:solidFill>
              </a:defRPr>
            </a:lvl8pPr>
            <a:lvl9pPr lvl="8" algn="ctr">
              <a:lnSpc>
                <a:spcPct val="100000"/>
              </a:lnSpc>
              <a:spcBef>
                <a:spcPts val="0"/>
              </a:spcBef>
              <a:spcAft>
                <a:spcPts val="0"/>
              </a:spcAft>
              <a:buClr>
                <a:srgbClr val="000000"/>
              </a:buClr>
              <a:buSzPts val="5200"/>
              <a:buNone/>
              <a:defRPr sz="5200">
                <a:solidFill>
                  <a:srgbClr val="000000"/>
                </a:solidFill>
              </a:defRPr>
            </a:lvl9pPr>
          </a:lstStyle>
          <a:p>
            <a:endParaRPr dirty="0"/>
          </a:p>
        </p:txBody>
      </p:sp>
      <p:sp>
        <p:nvSpPr>
          <p:cNvPr id="43" name="Google Shape;43;p34"/>
          <p:cNvSpPr txBox="1">
            <a:spLocks noGrp="1"/>
          </p:cNvSpPr>
          <p:nvPr>
            <p:ph type="subTitle" idx="1"/>
          </p:nvPr>
        </p:nvSpPr>
        <p:spPr>
          <a:xfrm>
            <a:off x="1697669" y="4071966"/>
            <a:ext cx="5041797" cy="36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rgbClr val="AEABAB"/>
              </a:buClr>
              <a:buSzPts val="2800"/>
              <a:buNone/>
              <a:defRPr>
                <a:solidFill>
                  <a:srgbClr val="AEABAB"/>
                </a:solidFill>
                <a:latin typeface="Montserrat Medium"/>
                <a:ea typeface="Montserrat Medium"/>
                <a:cs typeface="Montserrat Medium"/>
                <a:sym typeface="Montserrat Medium"/>
              </a:defRPr>
            </a:lvl1pPr>
            <a:lvl2pPr lvl="1" algn="l">
              <a:lnSpc>
                <a:spcPct val="90000"/>
              </a:lnSpc>
              <a:spcBef>
                <a:spcPts val="1600"/>
              </a:spcBef>
              <a:spcAft>
                <a:spcPts val="0"/>
              </a:spcAft>
              <a:buClr>
                <a:schemeClr val="dk1"/>
              </a:buClr>
              <a:buSzPts val="2400"/>
              <a:buNone/>
              <a:defRPr/>
            </a:lvl2pPr>
            <a:lvl3pPr lvl="2" algn="l">
              <a:lnSpc>
                <a:spcPct val="90000"/>
              </a:lnSpc>
              <a:spcBef>
                <a:spcPts val="1600"/>
              </a:spcBef>
              <a:spcAft>
                <a:spcPts val="0"/>
              </a:spcAft>
              <a:buClr>
                <a:schemeClr val="dk1"/>
              </a:buClr>
              <a:buSzPts val="2000"/>
              <a:buNone/>
              <a:defRPr/>
            </a:lvl3pPr>
            <a:lvl4pPr lvl="3" algn="l">
              <a:lnSpc>
                <a:spcPct val="90000"/>
              </a:lnSpc>
              <a:spcBef>
                <a:spcPts val="1600"/>
              </a:spcBef>
              <a:spcAft>
                <a:spcPts val="0"/>
              </a:spcAft>
              <a:buClr>
                <a:schemeClr val="dk1"/>
              </a:buClr>
              <a:buSzPts val="1800"/>
              <a:buNone/>
              <a:defRPr/>
            </a:lvl4pPr>
            <a:lvl5pPr lvl="4" algn="l">
              <a:lnSpc>
                <a:spcPct val="90000"/>
              </a:lnSpc>
              <a:spcBef>
                <a:spcPts val="1600"/>
              </a:spcBef>
              <a:spcAft>
                <a:spcPts val="0"/>
              </a:spcAft>
              <a:buClr>
                <a:schemeClr val="dk1"/>
              </a:buClr>
              <a:buSzPts val="1800"/>
              <a:buNone/>
              <a:defRPr/>
            </a:lvl5pPr>
            <a:lvl6pPr lvl="5" algn="l">
              <a:lnSpc>
                <a:spcPct val="90000"/>
              </a:lnSpc>
              <a:spcBef>
                <a:spcPts val="1600"/>
              </a:spcBef>
              <a:spcAft>
                <a:spcPts val="0"/>
              </a:spcAft>
              <a:buClr>
                <a:schemeClr val="dk1"/>
              </a:buClr>
              <a:buSzPts val="1800"/>
              <a:buNone/>
              <a:defRPr/>
            </a:lvl6pPr>
            <a:lvl7pPr lvl="6" algn="l">
              <a:lnSpc>
                <a:spcPct val="90000"/>
              </a:lnSpc>
              <a:spcBef>
                <a:spcPts val="1600"/>
              </a:spcBef>
              <a:spcAft>
                <a:spcPts val="0"/>
              </a:spcAft>
              <a:buClr>
                <a:schemeClr val="dk1"/>
              </a:buClr>
              <a:buSzPts val="1800"/>
              <a:buNone/>
              <a:defRPr/>
            </a:lvl7pPr>
            <a:lvl8pPr lvl="7" algn="l">
              <a:lnSpc>
                <a:spcPct val="90000"/>
              </a:lnSpc>
              <a:spcBef>
                <a:spcPts val="1600"/>
              </a:spcBef>
              <a:spcAft>
                <a:spcPts val="0"/>
              </a:spcAft>
              <a:buClr>
                <a:schemeClr val="dk1"/>
              </a:buClr>
              <a:buSzPts val="1800"/>
              <a:buNone/>
              <a:defRPr/>
            </a:lvl8pPr>
            <a:lvl9pPr lvl="8" algn="l">
              <a:lnSpc>
                <a:spcPct val="90000"/>
              </a:lnSpc>
              <a:spcBef>
                <a:spcPts val="1600"/>
              </a:spcBef>
              <a:spcAft>
                <a:spcPts val="1600"/>
              </a:spcAft>
              <a:buClr>
                <a:schemeClr val="dk1"/>
              </a:buClr>
              <a:buSzPts val="1800"/>
              <a:buNone/>
              <a:defRPr/>
            </a:lvl9pPr>
          </a:lstStyle>
          <a:p>
            <a:endParaRPr/>
          </a:p>
        </p:txBody>
      </p:sp>
      <p:pic>
        <p:nvPicPr>
          <p:cNvPr id="44" name="Google Shape;44;p34"/>
          <p:cNvPicPr preferRelativeResize="0"/>
          <p:nvPr/>
        </p:nvPicPr>
        <p:blipFill rotWithShape="1">
          <a:blip r:embed="rId3">
            <a:alphaModFix/>
          </a:blip>
          <a:srcRect/>
          <a:stretch/>
        </p:blipFill>
        <p:spPr>
          <a:xfrm>
            <a:off x="9349810" y="1223962"/>
            <a:ext cx="4438650" cy="4410075"/>
          </a:xfrm>
          <a:prstGeom prst="rect">
            <a:avLst/>
          </a:prstGeom>
          <a:noFill/>
          <a:ln>
            <a:noFill/>
          </a:ln>
        </p:spPr>
      </p:pic>
      <p:sp>
        <p:nvSpPr>
          <p:cNvPr id="45" name="Google Shape;45;p34"/>
          <p:cNvSpPr/>
          <p:nvPr/>
        </p:nvSpPr>
        <p:spPr>
          <a:xfrm rot="5400000">
            <a:off x="-307571" y="2821864"/>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46" name="Google Shape;46;p34"/>
          <p:cNvSpPr txBox="1">
            <a:spLocks noGrp="1"/>
          </p:cNvSpPr>
          <p:nvPr>
            <p:ph type="body" idx="2"/>
          </p:nvPr>
        </p:nvSpPr>
        <p:spPr>
          <a:xfrm>
            <a:off x="1562203" y="1974293"/>
            <a:ext cx="8966216" cy="1080000"/>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9600"/>
              <a:buNone/>
              <a:defRPr sz="96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pic>
        <p:nvPicPr>
          <p:cNvPr id="3" name="Picture 2" descr="A black and red logo&#10;&#10;Description automatically generated">
            <a:extLst>
              <a:ext uri="{FF2B5EF4-FFF2-40B4-BE49-F238E27FC236}">
                <a16:creationId xmlns:a16="http://schemas.microsoft.com/office/drawing/2014/main" id="{BB66C473-4843-563E-A229-3E43A4883405}"/>
              </a:ext>
            </a:extLst>
          </p:cNvPr>
          <p:cNvPicPr>
            <a:picLocks noChangeAspect="1"/>
          </p:cNvPicPr>
          <p:nvPr userDrawn="1"/>
        </p:nvPicPr>
        <p:blipFill>
          <a:blip r:embed="rId4"/>
          <a:stretch>
            <a:fillRect/>
          </a:stretch>
        </p:blipFill>
        <p:spPr>
          <a:xfrm>
            <a:off x="4218567" y="5362823"/>
            <a:ext cx="3170490" cy="54242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48"/>
        <p:cNvGrpSpPr/>
        <p:nvPr/>
      </p:nvGrpSpPr>
      <p:grpSpPr>
        <a:xfrm>
          <a:off x="0" y="0"/>
          <a:ext cx="0" cy="0"/>
          <a:chOff x="0" y="0"/>
          <a:chExt cx="0" cy="0"/>
        </a:xfrm>
      </p:grpSpPr>
      <p:sp>
        <p:nvSpPr>
          <p:cNvPr id="49" name="Google Shape;49;p35"/>
          <p:cNvSpPr txBox="1">
            <a:spLocks noGrp="1"/>
          </p:cNvSpPr>
          <p:nvPr>
            <p:ph type="title"/>
          </p:nvPr>
        </p:nvSpPr>
        <p:spPr>
          <a:xfrm>
            <a:off x="1974966" y="2521987"/>
            <a:ext cx="8076353" cy="13255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C00000"/>
              </a:buClr>
              <a:buSzPts val="6000"/>
              <a:buFont typeface="Montserrat Black"/>
              <a:buNone/>
              <a:defRPr sz="6000" b="1">
                <a:solidFill>
                  <a:srgbClr val="C00000"/>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50" name="Google Shape;50;p35"/>
          <p:cNvPicPr preferRelativeResize="0"/>
          <p:nvPr/>
        </p:nvPicPr>
        <p:blipFill rotWithShape="1">
          <a:blip r:embed="rId2">
            <a:alphaModFix/>
          </a:blip>
          <a:srcRect/>
          <a:stretch/>
        </p:blipFill>
        <p:spPr>
          <a:xfrm>
            <a:off x="559185" y="0"/>
            <a:ext cx="2860964" cy="315884"/>
          </a:xfrm>
          <a:prstGeom prst="rect">
            <a:avLst/>
          </a:prstGeom>
          <a:noFill/>
          <a:ln>
            <a:noFill/>
          </a:ln>
        </p:spPr>
      </p:pic>
      <p:sp>
        <p:nvSpPr>
          <p:cNvPr id="51" name="Google Shape;51;p35"/>
          <p:cNvSpPr txBox="1">
            <a:spLocks noGrp="1"/>
          </p:cNvSpPr>
          <p:nvPr>
            <p:ph type="body" idx="1"/>
          </p:nvPr>
        </p:nvSpPr>
        <p:spPr>
          <a:xfrm>
            <a:off x="1989667" y="3847550"/>
            <a:ext cx="8076353" cy="1450503"/>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rgbClr val="3F3F3F"/>
              </a:buClr>
              <a:buSzPts val="3200"/>
              <a:buNone/>
              <a:defRPr sz="3200">
                <a:solidFill>
                  <a:srgbClr val="3F3F3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dirty="0"/>
          </a:p>
        </p:txBody>
      </p:sp>
      <p:sp>
        <p:nvSpPr>
          <p:cNvPr id="52" name="Google Shape;52;p35"/>
          <p:cNvSpPr/>
          <p:nvPr/>
        </p:nvSpPr>
        <p:spPr>
          <a:xfrm rot="10800000">
            <a:off x="5289935" y="1559948"/>
            <a:ext cx="1446414" cy="831272"/>
          </a:xfrm>
          <a:prstGeom prst="triangle">
            <a:avLst>
              <a:gd name="adj" fmla="val 50000"/>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F381582B-BF58-488D-444A-9B514DD58CEE}"/>
              </a:ext>
            </a:extLst>
          </p:cNvPr>
          <p:cNvPicPr>
            <a:picLocks noChangeAspect="1"/>
          </p:cNvPicPr>
          <p:nvPr userDrawn="1"/>
        </p:nvPicPr>
        <p:blipFill>
          <a:blip r:embed="rId3"/>
          <a:stretch>
            <a:fillRect/>
          </a:stretch>
        </p:blipFill>
        <p:spPr>
          <a:xfrm>
            <a:off x="4246556" y="5489273"/>
            <a:ext cx="3698887" cy="63282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54"/>
        <p:cNvGrpSpPr/>
        <p:nvPr/>
      </p:nvGrpSpPr>
      <p:grpSpPr>
        <a:xfrm>
          <a:off x="0" y="0"/>
          <a:ext cx="0" cy="0"/>
          <a:chOff x="0" y="0"/>
          <a:chExt cx="0" cy="0"/>
        </a:xfrm>
      </p:grpSpPr>
      <p:pic>
        <p:nvPicPr>
          <p:cNvPr id="55" name="Google Shape;55;p3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56" name="Google Shape;56;p3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57" name="Google Shape;57;p3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58" name="Google Shape;58;p3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EAD5742-1C6B-F857-A9B1-EEA8C00EED8B}"/>
              </a:ext>
            </a:extLst>
          </p:cNvPr>
          <p:cNvPicPr>
            <a:picLocks noChangeAspect="1"/>
          </p:cNvPicPr>
          <p:nvPr userDrawn="1"/>
        </p:nvPicPr>
        <p:blipFill>
          <a:blip r:embed="rId4"/>
          <a:stretch>
            <a:fillRect/>
          </a:stretch>
        </p:blipFill>
        <p:spPr>
          <a:xfrm>
            <a:off x="9729129" y="509145"/>
            <a:ext cx="2154931" cy="368679"/>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Content with Caption">
  <p:cSld name="2_Content with Caption">
    <p:spTree>
      <p:nvGrpSpPr>
        <p:cNvPr id="1" name="Shape 60"/>
        <p:cNvGrpSpPr/>
        <p:nvPr/>
      </p:nvGrpSpPr>
      <p:grpSpPr>
        <a:xfrm>
          <a:off x="0" y="0"/>
          <a:ext cx="0" cy="0"/>
          <a:chOff x="0" y="0"/>
          <a:chExt cx="0" cy="0"/>
        </a:xfrm>
      </p:grpSpPr>
      <p:sp>
        <p:nvSpPr>
          <p:cNvPr id="61" name="Google Shape;61;p37"/>
          <p:cNvSpPr txBox="1">
            <a:spLocks noGrp="1"/>
          </p:cNvSpPr>
          <p:nvPr>
            <p:ph type="body" idx="1"/>
          </p:nvPr>
        </p:nvSpPr>
        <p:spPr>
          <a:xfrm>
            <a:off x="3818313" y="3901864"/>
            <a:ext cx="4555374"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200"/>
              <a:buNone/>
              <a:defRPr sz="12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2" name="Google Shape;62;p3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63" name="Google Shape;63;p3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64" name="Google Shape;64;p3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65" name="Google Shape;65;p3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3200"/>
              <a:buNone/>
              <a:defRPr sz="32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66" name="Google Shape;66;p37"/>
          <p:cNvPicPr preferRelativeResize="0"/>
          <p:nvPr/>
        </p:nvPicPr>
        <p:blipFill rotWithShape="1">
          <a:blip r:embed="rId2">
            <a:alphaModFix/>
          </a:blip>
          <a:srcRect/>
          <a:stretch/>
        </p:blipFill>
        <p:spPr>
          <a:xfrm rot="10800000" flipH="1">
            <a:off x="838200" y="3858704"/>
            <a:ext cx="2860964" cy="45719"/>
          </a:xfrm>
          <a:prstGeom prst="rect">
            <a:avLst/>
          </a:prstGeom>
          <a:noFill/>
          <a:ln>
            <a:noFill/>
          </a:ln>
        </p:spPr>
      </p:pic>
      <p:pic>
        <p:nvPicPr>
          <p:cNvPr id="3" name="Picture 2" descr="A black and red logo&#10;&#10;Description automatically generated">
            <a:extLst>
              <a:ext uri="{FF2B5EF4-FFF2-40B4-BE49-F238E27FC236}">
                <a16:creationId xmlns:a16="http://schemas.microsoft.com/office/drawing/2014/main" id="{55AA4231-604B-BA65-0355-28FA72F30CD0}"/>
              </a:ext>
            </a:extLst>
          </p:cNvPr>
          <p:cNvPicPr>
            <a:picLocks noChangeAspect="1"/>
          </p:cNvPicPr>
          <p:nvPr userDrawn="1"/>
        </p:nvPicPr>
        <p:blipFill>
          <a:blip r:embed="rId4"/>
          <a:stretch>
            <a:fillRect/>
          </a:stretch>
        </p:blipFill>
        <p:spPr>
          <a:xfrm>
            <a:off x="9716655" y="315885"/>
            <a:ext cx="2152072" cy="36819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spTree>
      <p:nvGrpSpPr>
        <p:cNvPr id="1" name="Shape 68"/>
        <p:cNvGrpSpPr/>
        <p:nvPr/>
      </p:nvGrpSpPr>
      <p:grpSpPr>
        <a:xfrm>
          <a:off x="0" y="0"/>
          <a:ext cx="0" cy="0"/>
          <a:chOff x="0" y="0"/>
          <a:chExt cx="0" cy="0"/>
        </a:xfrm>
      </p:grpSpPr>
      <p:sp>
        <p:nvSpPr>
          <p:cNvPr id="69" name="Google Shape;69;p39"/>
          <p:cNvSpPr txBox="1">
            <a:spLocks noGrp="1"/>
          </p:cNvSpPr>
          <p:nvPr>
            <p:ph type="body" idx="1"/>
          </p:nvPr>
        </p:nvSpPr>
        <p:spPr>
          <a:xfrm>
            <a:off x="746918" y="3882043"/>
            <a:ext cx="3816769" cy="21696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70" name="Google Shape;70;p39"/>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71" name="Google Shape;71;p39"/>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72" name="Google Shape;72;p39"/>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dirty="0">
              <a:solidFill>
                <a:schemeClr val="lt1"/>
              </a:solidFill>
              <a:latin typeface="Montserrat"/>
              <a:ea typeface="Montserrat"/>
              <a:cs typeface="Montserrat"/>
              <a:sym typeface="Montserrat"/>
            </a:endParaRPr>
          </a:p>
        </p:txBody>
      </p:sp>
      <p:sp>
        <p:nvSpPr>
          <p:cNvPr id="73" name="Google Shape;73;p39"/>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 name="Picture 2" descr="A black and red logo&#10;&#10;Description automatically generated">
            <a:extLst>
              <a:ext uri="{FF2B5EF4-FFF2-40B4-BE49-F238E27FC236}">
                <a16:creationId xmlns:a16="http://schemas.microsoft.com/office/drawing/2014/main" id="{43495D7B-6889-5FC5-B3E3-6995FEE87B6F}"/>
              </a:ext>
            </a:extLst>
          </p:cNvPr>
          <p:cNvPicPr>
            <a:picLocks noChangeAspect="1"/>
          </p:cNvPicPr>
          <p:nvPr userDrawn="1"/>
        </p:nvPicPr>
        <p:blipFill>
          <a:blip r:embed="rId4"/>
          <a:stretch>
            <a:fillRect/>
          </a:stretch>
        </p:blipFill>
        <p:spPr>
          <a:xfrm>
            <a:off x="9608344" y="315884"/>
            <a:ext cx="2301284" cy="393718"/>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5"/>
        <p:cNvGrpSpPr/>
        <p:nvPr/>
      </p:nvGrpSpPr>
      <p:grpSpPr>
        <a:xfrm>
          <a:off x="0" y="0"/>
          <a:ext cx="0" cy="0"/>
          <a:chOff x="0" y="0"/>
          <a:chExt cx="0" cy="0"/>
        </a:xfrm>
      </p:grpSpPr>
      <p:pic>
        <p:nvPicPr>
          <p:cNvPr id="76" name="Google Shape;76;p40"/>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77" name="Google Shape;77;p40"/>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40"/>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79" name="Google Shape;79;p40"/>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80" name="Google Shape;80;p40"/>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81" name="Google Shape;81;p40"/>
          <p:cNvPicPr preferRelativeResize="0"/>
          <p:nvPr/>
        </p:nvPicPr>
        <p:blipFill rotWithShape="1">
          <a:blip r:embed="rId4">
            <a:alphaModFix/>
          </a:blip>
          <a:srcRect/>
          <a:stretch/>
        </p:blipFill>
        <p:spPr>
          <a:xfrm>
            <a:off x="5261198" y="4951700"/>
            <a:ext cx="2012426" cy="9816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2"/>
        <p:cNvGrpSpPr/>
        <p:nvPr/>
      </p:nvGrpSpPr>
      <p:grpSpPr>
        <a:xfrm>
          <a:off x="0" y="0"/>
          <a:ext cx="0" cy="0"/>
          <a:chOff x="0" y="0"/>
          <a:chExt cx="0" cy="0"/>
        </a:xfrm>
      </p:grpSpPr>
      <p:pic>
        <p:nvPicPr>
          <p:cNvPr id="83" name="Google Shape;83;p30"/>
          <p:cNvPicPr preferRelativeResize="0"/>
          <p:nvPr/>
        </p:nvPicPr>
        <p:blipFill rotWithShape="1">
          <a:blip r:embed="rId2">
            <a:alphaModFix/>
          </a:blip>
          <a:srcRect/>
          <a:stretch/>
        </p:blipFill>
        <p:spPr>
          <a:xfrm>
            <a:off x="-211667" y="-83672"/>
            <a:ext cx="12640676" cy="7017872"/>
          </a:xfrm>
          <a:prstGeom prst="rect">
            <a:avLst/>
          </a:prstGeom>
          <a:noFill/>
          <a:ln>
            <a:noFill/>
          </a:ln>
        </p:spPr>
      </p:pic>
      <p:sp>
        <p:nvSpPr>
          <p:cNvPr id="84" name="Google Shape;84;p30"/>
          <p:cNvSpPr txBox="1">
            <a:spLocks noGrp="1"/>
          </p:cNvSpPr>
          <p:nvPr>
            <p:ph type="ctrTitle"/>
          </p:nvPr>
        </p:nvSpPr>
        <p:spPr>
          <a:xfrm>
            <a:off x="279991" y="3969209"/>
            <a:ext cx="9144000" cy="146441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0"/>
          <p:cNvSpPr txBox="1">
            <a:spLocks noGrp="1"/>
          </p:cNvSpPr>
          <p:nvPr>
            <p:ph type="subTitle" idx="1"/>
          </p:nvPr>
        </p:nvSpPr>
        <p:spPr>
          <a:xfrm>
            <a:off x="279991" y="5433627"/>
            <a:ext cx="9144000" cy="1655762"/>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86" name="Google Shape;86;p30"/>
          <p:cNvPicPr preferRelativeResize="0"/>
          <p:nvPr/>
        </p:nvPicPr>
        <p:blipFill rotWithShape="1">
          <a:blip r:embed="rId3">
            <a:alphaModFix/>
          </a:blip>
          <a:srcRect/>
          <a:stretch/>
        </p:blipFill>
        <p:spPr>
          <a:xfrm>
            <a:off x="9242381" y="-123349"/>
            <a:ext cx="7133810" cy="7097226"/>
          </a:xfrm>
          <a:prstGeom prst="rect">
            <a:avLst/>
          </a:prstGeom>
          <a:noFill/>
          <a:ln>
            <a:noFill/>
          </a:ln>
        </p:spPr>
      </p:pic>
      <p:pic>
        <p:nvPicPr>
          <p:cNvPr id="5" name="Picture 4" descr="A black and white logo with red letters&#10;&#10;Description automatically generated">
            <a:extLst>
              <a:ext uri="{FF2B5EF4-FFF2-40B4-BE49-F238E27FC236}">
                <a16:creationId xmlns:a16="http://schemas.microsoft.com/office/drawing/2014/main" id="{944B7BC4-09AD-B151-E7C8-E7171E587CD9}"/>
              </a:ext>
            </a:extLst>
          </p:cNvPr>
          <p:cNvPicPr>
            <a:picLocks noChangeAspect="1"/>
          </p:cNvPicPr>
          <p:nvPr userDrawn="1"/>
        </p:nvPicPr>
        <p:blipFill>
          <a:blip r:embed="rId4"/>
          <a:stretch>
            <a:fillRect/>
          </a:stretch>
        </p:blipFill>
        <p:spPr>
          <a:xfrm>
            <a:off x="279991" y="620658"/>
            <a:ext cx="4697722" cy="803716"/>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8"/>
        <p:cNvGrpSpPr/>
        <p:nvPr/>
      </p:nvGrpSpPr>
      <p:grpSpPr>
        <a:xfrm>
          <a:off x="0" y="0"/>
          <a:ext cx="0" cy="0"/>
          <a:chOff x="0" y="0"/>
          <a:chExt cx="0" cy="0"/>
        </a:xfrm>
      </p:grpSpPr>
      <p:pic>
        <p:nvPicPr>
          <p:cNvPr id="89" name="Google Shape;89;p41"/>
          <p:cNvPicPr preferRelativeResize="0"/>
          <p:nvPr/>
        </p:nvPicPr>
        <p:blipFill rotWithShape="1">
          <a:blip r:embed="rId2">
            <a:alphaModFix/>
          </a:blip>
          <a:srcRect/>
          <a:stretch/>
        </p:blipFill>
        <p:spPr>
          <a:xfrm>
            <a:off x="11087100" y="5837237"/>
            <a:ext cx="1104900" cy="1038225"/>
          </a:xfrm>
          <a:prstGeom prst="rect">
            <a:avLst/>
          </a:prstGeom>
          <a:noFill/>
          <a:ln>
            <a:noFill/>
          </a:ln>
        </p:spPr>
      </p:pic>
      <p:sp>
        <p:nvSpPr>
          <p:cNvPr id="90" name="Google Shape;90;p41"/>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pic>
        <p:nvPicPr>
          <p:cNvPr id="3" name="Picture 2" descr="A black and red logo&#10;&#10;Description automatically generated">
            <a:extLst>
              <a:ext uri="{FF2B5EF4-FFF2-40B4-BE49-F238E27FC236}">
                <a16:creationId xmlns:a16="http://schemas.microsoft.com/office/drawing/2014/main" id="{23531A56-D9C3-E1AF-F7D3-ADDFD7687D5B}"/>
              </a:ext>
            </a:extLst>
          </p:cNvPr>
          <p:cNvPicPr>
            <a:picLocks noChangeAspect="1"/>
          </p:cNvPicPr>
          <p:nvPr userDrawn="1"/>
        </p:nvPicPr>
        <p:blipFill>
          <a:blip r:embed="rId3"/>
          <a:stretch>
            <a:fillRect/>
          </a:stretch>
        </p:blipFill>
        <p:spPr>
          <a:xfrm>
            <a:off x="9453019" y="219653"/>
            <a:ext cx="2549174" cy="43612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9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93"/>
        <p:cNvGrpSpPr/>
        <p:nvPr/>
      </p:nvGrpSpPr>
      <p:grpSpPr>
        <a:xfrm>
          <a:off x="0" y="0"/>
          <a:ext cx="0" cy="0"/>
          <a:chOff x="0" y="0"/>
          <a:chExt cx="0" cy="0"/>
        </a:xfrm>
      </p:grpSpPr>
      <p:pic>
        <p:nvPicPr>
          <p:cNvPr id="94" name="Google Shape;94;p31"/>
          <p:cNvPicPr preferRelativeResize="0"/>
          <p:nvPr/>
        </p:nvPicPr>
        <p:blipFill rotWithShape="1">
          <a:blip r:embed="rId2">
            <a:alphaModFix/>
          </a:blip>
          <a:srcRect/>
          <a:stretch/>
        </p:blipFill>
        <p:spPr>
          <a:xfrm>
            <a:off x="0" y="-59085"/>
            <a:ext cx="12534822" cy="6959104"/>
          </a:xfrm>
          <a:prstGeom prst="rect">
            <a:avLst/>
          </a:prstGeom>
          <a:noFill/>
          <a:ln>
            <a:noFill/>
          </a:ln>
        </p:spPr>
      </p:pic>
      <p:sp>
        <p:nvSpPr>
          <p:cNvPr id="95" name="Google Shape;95;p31"/>
          <p:cNvSpPr txBox="1">
            <a:spLocks noGrp="1"/>
          </p:cNvSpPr>
          <p:nvPr>
            <p:ph type="ctrTitle"/>
          </p:nvPr>
        </p:nvSpPr>
        <p:spPr>
          <a:xfrm>
            <a:off x="2594340" y="3145331"/>
            <a:ext cx="7558961" cy="1515588"/>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0"/>
              </a:spcBef>
              <a:spcAft>
                <a:spcPts val="0"/>
              </a:spcAft>
              <a:buClr>
                <a:schemeClr val="lt1"/>
              </a:buClr>
              <a:buSzPts val="3600"/>
              <a:buFont typeface="Montserrat Black"/>
              <a:buNone/>
              <a:defRPr sz="3600">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1"/>
          <p:cNvSpPr txBox="1">
            <a:spLocks noGrp="1"/>
          </p:cNvSpPr>
          <p:nvPr>
            <p:ph type="subTitle" idx="1"/>
          </p:nvPr>
        </p:nvSpPr>
        <p:spPr>
          <a:xfrm>
            <a:off x="2594340" y="4372481"/>
            <a:ext cx="7558961" cy="130083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lt1"/>
              </a:buClr>
              <a:buSzPts val="1600"/>
              <a:buNone/>
              <a:defRPr sz="16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97" name="Google Shape;97;p31"/>
          <p:cNvPicPr preferRelativeResize="0"/>
          <p:nvPr/>
        </p:nvPicPr>
        <p:blipFill rotWithShape="1">
          <a:blip r:embed="rId3">
            <a:alphaModFix/>
          </a:blip>
          <a:srcRect/>
          <a:stretch/>
        </p:blipFill>
        <p:spPr>
          <a:xfrm>
            <a:off x="10394571" y="1362499"/>
            <a:ext cx="4280502" cy="4258551"/>
          </a:xfrm>
          <a:prstGeom prst="rect">
            <a:avLst/>
          </a:prstGeom>
          <a:noFill/>
          <a:ln>
            <a:noFill/>
          </a:ln>
        </p:spPr>
      </p:pic>
      <p:pic>
        <p:nvPicPr>
          <p:cNvPr id="98" name="Google Shape;98;p31"/>
          <p:cNvPicPr preferRelativeResize="0"/>
          <p:nvPr/>
        </p:nvPicPr>
        <p:blipFill rotWithShape="1">
          <a:blip r:embed="rId3">
            <a:alphaModFix/>
          </a:blip>
          <a:srcRect/>
          <a:stretch/>
        </p:blipFill>
        <p:spPr>
          <a:xfrm>
            <a:off x="-2241803" y="1422897"/>
            <a:ext cx="4280502" cy="4258551"/>
          </a:xfrm>
          <a:prstGeom prst="rect">
            <a:avLst/>
          </a:prstGeom>
          <a:noFill/>
          <a:ln>
            <a:noFill/>
          </a:ln>
        </p:spPr>
      </p:pic>
      <p:pic>
        <p:nvPicPr>
          <p:cNvPr id="3" name="Picture 2" descr="A black and white logo with red letters&#10;&#10;Description automatically generated">
            <a:extLst>
              <a:ext uri="{FF2B5EF4-FFF2-40B4-BE49-F238E27FC236}">
                <a16:creationId xmlns:a16="http://schemas.microsoft.com/office/drawing/2014/main" id="{D5439C6C-C6E6-A867-5355-0680D1B6AA06}"/>
              </a:ext>
            </a:extLst>
          </p:cNvPr>
          <p:cNvPicPr>
            <a:picLocks noChangeAspect="1"/>
          </p:cNvPicPr>
          <p:nvPr userDrawn="1"/>
        </p:nvPicPr>
        <p:blipFill>
          <a:blip r:embed="rId4"/>
          <a:stretch>
            <a:fillRect/>
          </a:stretch>
        </p:blipFill>
        <p:spPr>
          <a:xfrm>
            <a:off x="3232727" y="1184685"/>
            <a:ext cx="6577019" cy="112523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00"/>
        <p:cNvGrpSpPr/>
        <p:nvPr/>
      </p:nvGrpSpPr>
      <p:grpSpPr>
        <a:xfrm>
          <a:off x="0" y="0"/>
          <a:ext cx="0" cy="0"/>
          <a:chOff x="0" y="0"/>
          <a:chExt cx="0" cy="0"/>
        </a:xfrm>
      </p:grpSpPr>
      <p:pic>
        <p:nvPicPr>
          <p:cNvPr id="101" name="Google Shape;101;p33"/>
          <p:cNvPicPr preferRelativeResize="0"/>
          <p:nvPr/>
        </p:nvPicPr>
        <p:blipFill rotWithShape="1">
          <a:blip r:embed="rId2">
            <a:alphaModFix/>
          </a:blip>
          <a:srcRect/>
          <a:stretch/>
        </p:blipFill>
        <p:spPr>
          <a:xfrm>
            <a:off x="-160713" y="0"/>
            <a:ext cx="12352713" cy="6858000"/>
          </a:xfrm>
          <a:prstGeom prst="rect">
            <a:avLst/>
          </a:prstGeom>
          <a:noFill/>
          <a:ln>
            <a:noFill/>
          </a:ln>
        </p:spPr>
      </p:pic>
      <p:sp>
        <p:nvSpPr>
          <p:cNvPr id="102" name="Google Shape;102;p33"/>
          <p:cNvSpPr txBox="1">
            <a:spLocks noGrp="1"/>
          </p:cNvSpPr>
          <p:nvPr>
            <p:ph type="title"/>
          </p:nvPr>
        </p:nvSpPr>
        <p:spPr>
          <a:xfrm rot="5400000">
            <a:off x="-1225840" y="973773"/>
            <a:ext cx="4164099" cy="184542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Montserrat Black"/>
              <a:buNone/>
              <a:defRPr sz="6000" b="1">
                <a:solidFill>
                  <a:schemeClr val="lt1"/>
                </a:solidFill>
                <a:latin typeface="Montserrat Black"/>
                <a:ea typeface="Montserrat Black"/>
                <a:cs typeface="Montserrat Black"/>
                <a:sym typeface="Montserrat Blac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33"/>
          <p:cNvSpPr txBox="1">
            <a:spLocks noGrp="1"/>
          </p:cNvSpPr>
          <p:nvPr>
            <p:ph type="body" idx="1"/>
          </p:nvPr>
        </p:nvSpPr>
        <p:spPr>
          <a:xfrm>
            <a:off x="2394064" y="2759840"/>
            <a:ext cx="1122220"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33"/>
          <p:cNvSpPr txBox="1">
            <a:spLocks noGrp="1"/>
          </p:cNvSpPr>
          <p:nvPr>
            <p:ph type="body" idx="2"/>
          </p:nvPr>
        </p:nvSpPr>
        <p:spPr>
          <a:xfrm>
            <a:off x="3516284" y="28884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33"/>
          <p:cNvSpPr txBox="1">
            <a:spLocks noGrp="1"/>
          </p:cNvSpPr>
          <p:nvPr>
            <p:ph type="body" idx="3"/>
          </p:nvPr>
        </p:nvSpPr>
        <p:spPr>
          <a:xfrm>
            <a:off x="2310942" y="4349625"/>
            <a:ext cx="1205342"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33"/>
          <p:cNvSpPr txBox="1">
            <a:spLocks noGrp="1"/>
          </p:cNvSpPr>
          <p:nvPr>
            <p:ph type="body" idx="4"/>
          </p:nvPr>
        </p:nvSpPr>
        <p:spPr>
          <a:xfrm>
            <a:off x="3516284"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8" name="Google Shape;108;p33"/>
          <p:cNvSpPr txBox="1">
            <a:spLocks noGrp="1"/>
          </p:cNvSpPr>
          <p:nvPr>
            <p:ph type="body" idx="5"/>
          </p:nvPr>
        </p:nvSpPr>
        <p:spPr>
          <a:xfrm>
            <a:off x="7245926" y="2759840"/>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9" name="Google Shape;109;p33"/>
          <p:cNvSpPr txBox="1">
            <a:spLocks noGrp="1"/>
          </p:cNvSpPr>
          <p:nvPr>
            <p:ph type="body" idx="6"/>
          </p:nvPr>
        </p:nvSpPr>
        <p:spPr>
          <a:xfrm>
            <a:off x="8448502" y="2888427"/>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0" name="Google Shape;110;p33"/>
          <p:cNvSpPr txBox="1">
            <a:spLocks noGrp="1"/>
          </p:cNvSpPr>
          <p:nvPr>
            <p:ph type="body" idx="7"/>
          </p:nvPr>
        </p:nvSpPr>
        <p:spPr>
          <a:xfrm>
            <a:off x="7245926" y="4349625"/>
            <a:ext cx="1202576" cy="1138813"/>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lt1"/>
              </a:buClr>
              <a:buSzPts val="6000"/>
              <a:buFont typeface="Montserrat"/>
              <a:buNone/>
              <a:defRPr sz="6000" b="1">
                <a:solidFill>
                  <a:schemeClr val="lt1"/>
                </a:solidFill>
              </a:defRPr>
            </a:lvl1pPr>
            <a:lvl2pPr marL="914400" lvl="1" indent="-482600" algn="l">
              <a:lnSpc>
                <a:spcPct val="90000"/>
              </a:lnSpc>
              <a:spcBef>
                <a:spcPts val="500"/>
              </a:spcBef>
              <a:spcAft>
                <a:spcPts val="0"/>
              </a:spcAft>
              <a:buClr>
                <a:schemeClr val="lt1"/>
              </a:buClr>
              <a:buSzPts val="4000"/>
              <a:buChar char="•"/>
              <a:defRPr sz="4000" b="1">
                <a:solidFill>
                  <a:schemeClr val="lt1"/>
                </a:solidFill>
              </a:defRPr>
            </a:lvl2pPr>
            <a:lvl3pPr marL="1371600" lvl="2" indent="-482600" algn="l">
              <a:lnSpc>
                <a:spcPct val="90000"/>
              </a:lnSpc>
              <a:spcBef>
                <a:spcPts val="500"/>
              </a:spcBef>
              <a:spcAft>
                <a:spcPts val="0"/>
              </a:spcAft>
              <a:buClr>
                <a:schemeClr val="lt1"/>
              </a:buClr>
              <a:buSzPts val="4000"/>
              <a:buChar char="•"/>
              <a:defRPr sz="4000" b="1">
                <a:solidFill>
                  <a:schemeClr val="lt1"/>
                </a:solidFill>
              </a:defRPr>
            </a:lvl3pPr>
            <a:lvl4pPr marL="1828800" lvl="3" indent="-482600" algn="l">
              <a:lnSpc>
                <a:spcPct val="90000"/>
              </a:lnSpc>
              <a:spcBef>
                <a:spcPts val="500"/>
              </a:spcBef>
              <a:spcAft>
                <a:spcPts val="0"/>
              </a:spcAft>
              <a:buClr>
                <a:schemeClr val="lt1"/>
              </a:buClr>
              <a:buSzPts val="4000"/>
              <a:buChar char="•"/>
              <a:defRPr sz="4000" b="1">
                <a:solidFill>
                  <a:schemeClr val="lt1"/>
                </a:solidFill>
              </a:defRPr>
            </a:lvl4pPr>
            <a:lvl5pPr marL="2286000" lvl="4" indent="-482600" algn="l">
              <a:lnSpc>
                <a:spcPct val="90000"/>
              </a:lnSpc>
              <a:spcBef>
                <a:spcPts val="500"/>
              </a:spcBef>
              <a:spcAft>
                <a:spcPts val="0"/>
              </a:spcAft>
              <a:buClr>
                <a:schemeClr val="lt1"/>
              </a:buClr>
              <a:buSzPts val="4000"/>
              <a:buChar char="•"/>
              <a:defRPr sz="4000" b="1">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33"/>
          <p:cNvSpPr txBox="1">
            <a:spLocks noGrp="1"/>
          </p:cNvSpPr>
          <p:nvPr>
            <p:ph type="body" idx="8"/>
          </p:nvPr>
        </p:nvSpPr>
        <p:spPr>
          <a:xfrm>
            <a:off x="8448502" y="4478213"/>
            <a:ext cx="2733675" cy="55721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2000"/>
              <a:buFont typeface="Montserrat"/>
              <a:buNone/>
              <a:defRPr sz="2000" b="1">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33"/>
          <p:cNvSpPr txBox="1">
            <a:spLocks noGrp="1"/>
          </p:cNvSpPr>
          <p:nvPr>
            <p:ph type="body" idx="9"/>
          </p:nvPr>
        </p:nvSpPr>
        <p:spPr>
          <a:xfrm>
            <a:off x="3516283" y="3284445"/>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33"/>
          <p:cNvSpPr txBox="1">
            <a:spLocks noGrp="1"/>
          </p:cNvSpPr>
          <p:nvPr>
            <p:ph type="body" idx="13"/>
          </p:nvPr>
        </p:nvSpPr>
        <p:spPr>
          <a:xfrm>
            <a:off x="3516283" y="4874231"/>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33"/>
          <p:cNvSpPr txBox="1">
            <a:spLocks noGrp="1"/>
          </p:cNvSpPr>
          <p:nvPr>
            <p:ph type="body" idx="14"/>
          </p:nvPr>
        </p:nvSpPr>
        <p:spPr>
          <a:xfrm>
            <a:off x="8448501" y="3284444"/>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33"/>
          <p:cNvSpPr txBox="1">
            <a:spLocks noGrp="1"/>
          </p:cNvSpPr>
          <p:nvPr>
            <p:ph type="body" idx="15"/>
          </p:nvPr>
        </p:nvSpPr>
        <p:spPr>
          <a:xfrm>
            <a:off x="8448500" y="4893727"/>
            <a:ext cx="2733675" cy="54057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Font typeface="Montserrat"/>
              <a:buNone/>
              <a:defRPr sz="1400">
                <a:solidFill>
                  <a:schemeClr val="lt1"/>
                </a:solidFill>
              </a:defRPr>
            </a:lvl1pPr>
            <a:lvl2pPr marL="914400" lvl="1" indent="-381000" algn="l">
              <a:lnSpc>
                <a:spcPct val="90000"/>
              </a:lnSpc>
              <a:spcBef>
                <a:spcPts val="500"/>
              </a:spcBef>
              <a:spcAft>
                <a:spcPts val="0"/>
              </a:spcAft>
              <a:buClr>
                <a:schemeClr val="lt1"/>
              </a:buClr>
              <a:buSzPts val="2400"/>
              <a:buChar char="•"/>
              <a:defRPr>
                <a:solidFill>
                  <a:schemeClr val="lt1"/>
                </a:solidFill>
              </a:defRPr>
            </a:lvl2pPr>
            <a:lvl3pPr marL="1371600" lvl="2" indent="-355600" algn="l">
              <a:lnSpc>
                <a:spcPct val="90000"/>
              </a:lnSpc>
              <a:spcBef>
                <a:spcPts val="500"/>
              </a:spcBef>
              <a:spcAft>
                <a:spcPts val="0"/>
              </a:spcAft>
              <a:buClr>
                <a:schemeClr val="lt1"/>
              </a:buClr>
              <a:buSzPts val="2000"/>
              <a:buChar char="•"/>
              <a:defRPr>
                <a:solidFill>
                  <a:schemeClr val="lt1"/>
                </a:solidFill>
              </a:defRPr>
            </a:lvl3pPr>
            <a:lvl4pPr marL="1828800" lvl="3" indent="-342900" algn="l">
              <a:lnSpc>
                <a:spcPct val="90000"/>
              </a:lnSpc>
              <a:spcBef>
                <a:spcPts val="500"/>
              </a:spcBef>
              <a:spcAft>
                <a:spcPts val="0"/>
              </a:spcAft>
              <a:buClr>
                <a:schemeClr val="lt1"/>
              </a:buClr>
              <a:buSzPts val="1800"/>
              <a:buChar char="•"/>
              <a:defRPr>
                <a:solidFill>
                  <a:schemeClr val="lt1"/>
                </a:solidFill>
              </a:defRPr>
            </a:lvl4pPr>
            <a:lvl5pPr marL="2286000" lvl="4" indent="-342900" algn="l">
              <a:lnSpc>
                <a:spcPct val="90000"/>
              </a:lnSpc>
              <a:spcBef>
                <a:spcPts val="500"/>
              </a:spcBef>
              <a:spcAft>
                <a:spcPts val="0"/>
              </a:spcAft>
              <a:buClr>
                <a:schemeClr val="lt1"/>
              </a:buClr>
              <a:buSzPts val="1800"/>
              <a:buChar char="•"/>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white logo with red letters&#10;&#10;Description automatically generated">
            <a:extLst>
              <a:ext uri="{FF2B5EF4-FFF2-40B4-BE49-F238E27FC236}">
                <a16:creationId xmlns:a16="http://schemas.microsoft.com/office/drawing/2014/main" id="{90038E1B-6286-91BE-4584-B33E73761237}"/>
              </a:ext>
            </a:extLst>
          </p:cNvPr>
          <p:cNvPicPr>
            <a:picLocks noChangeAspect="1"/>
          </p:cNvPicPr>
          <p:nvPr userDrawn="1"/>
        </p:nvPicPr>
        <p:blipFill>
          <a:blip r:embed="rId3"/>
          <a:stretch>
            <a:fillRect/>
          </a:stretch>
        </p:blipFill>
        <p:spPr>
          <a:xfrm>
            <a:off x="8517542" y="261281"/>
            <a:ext cx="3504736" cy="59961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17"/>
        <p:cNvGrpSpPr/>
        <p:nvPr/>
      </p:nvGrpSpPr>
      <p:grpSpPr>
        <a:xfrm>
          <a:off x="0" y="0"/>
          <a:ext cx="0" cy="0"/>
          <a:chOff x="0" y="0"/>
          <a:chExt cx="0" cy="0"/>
        </a:xfrm>
      </p:grpSpPr>
      <p:sp>
        <p:nvSpPr>
          <p:cNvPr id="118" name="Google Shape;118;p45"/>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19" name="Google Shape;119;p45"/>
          <p:cNvPicPr preferRelativeResize="0"/>
          <p:nvPr/>
        </p:nvPicPr>
        <p:blipFill rotWithShape="1">
          <a:blip r:embed="rId2">
            <a:alphaModFix/>
          </a:blip>
          <a:srcRect/>
          <a:stretch/>
        </p:blipFill>
        <p:spPr>
          <a:xfrm>
            <a:off x="11087100" y="5837237"/>
            <a:ext cx="1104900" cy="1038225"/>
          </a:xfrm>
          <a:prstGeom prst="rect">
            <a:avLst/>
          </a:prstGeom>
          <a:noFill/>
          <a:ln>
            <a:noFill/>
          </a:ln>
        </p:spPr>
      </p:pic>
      <p:pic>
        <p:nvPicPr>
          <p:cNvPr id="120" name="Google Shape;120;p45"/>
          <p:cNvPicPr preferRelativeResize="0"/>
          <p:nvPr/>
        </p:nvPicPr>
        <p:blipFill rotWithShape="1">
          <a:blip r:embed="rId3">
            <a:alphaModFix/>
          </a:blip>
          <a:srcRect/>
          <a:stretch/>
        </p:blipFill>
        <p:spPr>
          <a:xfrm>
            <a:off x="838200" y="0"/>
            <a:ext cx="2860964" cy="315884"/>
          </a:xfrm>
          <a:prstGeom prst="rect">
            <a:avLst/>
          </a:prstGeom>
          <a:noFill/>
          <a:ln>
            <a:noFill/>
          </a:ln>
        </p:spPr>
      </p:pic>
      <p:sp>
        <p:nvSpPr>
          <p:cNvPr id="121" name="Google Shape;121;p45"/>
          <p:cNvSpPr txBox="1">
            <a:spLocks noGrp="1"/>
          </p:cNvSpPr>
          <p:nvPr>
            <p:ph type="sldNum" idx="12"/>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chemeClr val="lt1"/>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22" name="Google Shape;122;p45"/>
          <p:cNvSpPr txBox="1">
            <a:spLocks noGrp="1"/>
          </p:cNvSpPr>
          <p:nvPr>
            <p:ph type="body" idx="1"/>
          </p:nvPr>
        </p:nvSpPr>
        <p:spPr>
          <a:xfrm>
            <a:off x="838200" y="1680599"/>
            <a:ext cx="10641676" cy="504087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Courier New"/>
              <a:buChar char="o"/>
              <a:defRPr sz="1600"/>
            </a:lvl2pPr>
            <a:lvl3pPr marL="1371600" lvl="2" indent="-330200" algn="l">
              <a:lnSpc>
                <a:spcPct val="90000"/>
              </a:lnSpc>
              <a:spcBef>
                <a:spcPts val="500"/>
              </a:spcBef>
              <a:spcAft>
                <a:spcPts val="0"/>
              </a:spcAft>
              <a:buClr>
                <a:srgbClr val="C00000"/>
              </a:buClr>
              <a:buSzPts val="1600"/>
              <a:buChar char="•"/>
              <a:defRPr sz="1600"/>
            </a:lvl3pPr>
            <a:lvl4pPr marL="1828800" lvl="3" indent="-330200" algn="l">
              <a:lnSpc>
                <a:spcPct val="90000"/>
              </a:lnSpc>
              <a:spcBef>
                <a:spcPts val="500"/>
              </a:spcBef>
              <a:spcAft>
                <a:spcPts val="0"/>
              </a:spcAft>
              <a:buClr>
                <a:srgbClr val="C00000"/>
              </a:buClr>
              <a:buSzPts val="1600"/>
              <a:buChar char="•"/>
              <a:defRPr sz="1600"/>
            </a:lvl4pPr>
            <a:lvl5pPr marL="2286000" lvl="4" indent="-330200" algn="l">
              <a:lnSpc>
                <a:spcPct val="90000"/>
              </a:lnSpc>
              <a:spcBef>
                <a:spcPts val="500"/>
              </a:spcBef>
              <a:spcAft>
                <a:spcPts val="0"/>
              </a:spcAft>
              <a:buClr>
                <a:srgbClr val="C00000"/>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551CDB11-DCEB-AD1C-988C-22C79E587A94}"/>
              </a:ext>
            </a:extLst>
          </p:cNvPr>
          <p:cNvPicPr>
            <a:picLocks noChangeAspect="1"/>
          </p:cNvPicPr>
          <p:nvPr userDrawn="1"/>
        </p:nvPicPr>
        <p:blipFill>
          <a:blip r:embed="rId4"/>
          <a:stretch>
            <a:fillRect/>
          </a:stretch>
        </p:blipFill>
        <p:spPr>
          <a:xfrm>
            <a:off x="9656157" y="308458"/>
            <a:ext cx="2346036" cy="401374"/>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124"/>
        <p:cNvGrpSpPr/>
        <p:nvPr/>
      </p:nvGrpSpPr>
      <p:grpSpPr>
        <a:xfrm>
          <a:off x="0" y="0"/>
          <a:ext cx="0" cy="0"/>
          <a:chOff x="0" y="0"/>
          <a:chExt cx="0" cy="0"/>
        </a:xfrm>
      </p:grpSpPr>
      <p:sp>
        <p:nvSpPr>
          <p:cNvPr id="125" name="Google Shape;125;p46"/>
          <p:cNvSpPr txBox="1">
            <a:spLocks noGrp="1"/>
          </p:cNvSpPr>
          <p:nvPr>
            <p:ph type="body" idx="1"/>
          </p:nvPr>
        </p:nvSpPr>
        <p:spPr>
          <a:xfrm>
            <a:off x="1695999" y="1566639"/>
            <a:ext cx="3175259"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26" name="Google Shape;126;p46"/>
          <p:cNvSpPr txBox="1">
            <a:spLocks noGrp="1"/>
          </p:cNvSpPr>
          <p:nvPr>
            <p:ph type="body" idx="2"/>
          </p:nvPr>
        </p:nvSpPr>
        <p:spPr>
          <a:xfrm>
            <a:off x="7176164" y="1566639"/>
            <a:ext cx="3175260" cy="82391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pic>
        <p:nvPicPr>
          <p:cNvPr id="127" name="Google Shape;127;p46"/>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28" name="Google Shape;128;p46"/>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29" name="Google Shape;129;p46"/>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30" name="Google Shape;130;p46"/>
          <p:cNvSpPr/>
          <p:nvPr/>
        </p:nvSpPr>
        <p:spPr>
          <a:xfrm>
            <a:off x="2199884" y="2284225"/>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1" name="Google Shape;131;p46"/>
          <p:cNvSpPr/>
          <p:nvPr/>
        </p:nvSpPr>
        <p:spPr>
          <a:xfrm>
            <a:off x="7610161" y="2337388"/>
            <a:ext cx="2307266" cy="53163"/>
          </a:xfrm>
          <a:prstGeom prst="rect">
            <a:avLst/>
          </a:prstGeom>
          <a:solidFill>
            <a:srgbClr val="BE272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Montserrat"/>
              <a:ea typeface="Montserrat"/>
              <a:cs typeface="Montserrat"/>
              <a:sym typeface="Montserrat"/>
            </a:endParaRPr>
          </a:p>
        </p:txBody>
      </p:sp>
      <p:sp>
        <p:nvSpPr>
          <p:cNvPr id="132" name="Google Shape;132;p46"/>
          <p:cNvSpPr txBox="1">
            <a:spLocks noGrp="1"/>
          </p:cNvSpPr>
          <p:nvPr>
            <p:ph type="body" idx="3"/>
          </p:nvPr>
        </p:nvSpPr>
        <p:spPr>
          <a:xfrm>
            <a:off x="838200" y="2524124"/>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3" name="Google Shape;133;p46"/>
          <p:cNvSpPr txBox="1">
            <a:spLocks noGrp="1"/>
          </p:cNvSpPr>
          <p:nvPr>
            <p:ph type="body" idx="4"/>
          </p:nvPr>
        </p:nvSpPr>
        <p:spPr>
          <a:xfrm>
            <a:off x="6137734" y="2524123"/>
            <a:ext cx="5063836" cy="3832226"/>
          </a:xfrm>
          <a:prstGeom prst="rect">
            <a:avLst/>
          </a:prstGeom>
          <a:noFill/>
          <a:ln>
            <a:noFill/>
          </a:ln>
        </p:spPr>
        <p:txBody>
          <a:bodyPr spcFirstLastPara="1" wrap="square" lIns="91425" tIns="45700" rIns="91425" bIns="45700" anchor="t" anchorCtr="0">
            <a:normAutofit/>
          </a:bodyPr>
          <a:lstStyle>
            <a:lvl1pPr marL="457200" lvl="0" indent="-391160" algn="l">
              <a:lnSpc>
                <a:spcPct val="90000"/>
              </a:lnSpc>
              <a:spcBef>
                <a:spcPts val="1000"/>
              </a:spcBef>
              <a:spcAft>
                <a:spcPts val="0"/>
              </a:spcAft>
              <a:buClr>
                <a:srgbClr val="C00000"/>
              </a:buClr>
              <a:buSzPts val="2560"/>
              <a:buFont typeface="Arial"/>
              <a:buChar char="•"/>
              <a:defRPr sz="1600"/>
            </a:lvl1pPr>
            <a:lvl2pPr marL="914400" lvl="1" indent="-310896" algn="l">
              <a:lnSpc>
                <a:spcPct val="90000"/>
              </a:lnSpc>
              <a:spcBef>
                <a:spcPts val="500"/>
              </a:spcBef>
              <a:spcAft>
                <a:spcPts val="0"/>
              </a:spcAft>
              <a:buClr>
                <a:srgbClr val="C00000"/>
              </a:buClr>
              <a:buSzPts val="1296"/>
              <a:buFont typeface="Arial"/>
              <a:buChar char="•"/>
              <a:defRPr sz="1600"/>
            </a:lvl2pPr>
            <a:lvl3pPr marL="1371600" lvl="2" indent="-330200" algn="l">
              <a:lnSpc>
                <a:spcPct val="90000"/>
              </a:lnSpc>
              <a:spcBef>
                <a:spcPts val="500"/>
              </a:spcBef>
              <a:spcAft>
                <a:spcPts val="0"/>
              </a:spcAft>
              <a:buClr>
                <a:srgbClr val="C00000"/>
              </a:buClr>
              <a:buSzPts val="1600"/>
              <a:buFont typeface="Arial"/>
              <a:buChar char="•"/>
              <a:defRPr sz="1600"/>
            </a:lvl3pPr>
            <a:lvl4pPr marL="1828800" lvl="3" indent="-330200" algn="l">
              <a:lnSpc>
                <a:spcPct val="90000"/>
              </a:lnSpc>
              <a:spcBef>
                <a:spcPts val="500"/>
              </a:spcBef>
              <a:spcAft>
                <a:spcPts val="0"/>
              </a:spcAft>
              <a:buClr>
                <a:srgbClr val="C00000"/>
              </a:buClr>
              <a:buSzPts val="1600"/>
              <a:buFont typeface="Arial"/>
              <a:buChar char="•"/>
              <a:defRPr sz="1600"/>
            </a:lvl4pPr>
            <a:lvl5pPr marL="2286000" lvl="4" indent="-330200" algn="l">
              <a:lnSpc>
                <a:spcPct val="90000"/>
              </a:lnSpc>
              <a:spcBef>
                <a:spcPts val="500"/>
              </a:spcBef>
              <a:spcAft>
                <a:spcPts val="0"/>
              </a:spcAft>
              <a:buClr>
                <a:srgbClr val="C00000"/>
              </a:buClr>
              <a:buSzPts val="1600"/>
              <a:buFont typeface="Arial"/>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4" name="Google Shape;134;p46"/>
          <p:cNvSpPr txBox="1">
            <a:spLocks noGrp="1"/>
          </p:cNvSpPr>
          <p:nvPr>
            <p:ph type="title"/>
          </p:nvPr>
        </p:nvSpPr>
        <p:spPr>
          <a:xfrm>
            <a:off x="838200" y="509145"/>
            <a:ext cx="8463742" cy="94558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BE2727"/>
              </a:buClr>
              <a:buSzPts val="2800"/>
              <a:buFont typeface="Montserrat ExtraBold"/>
              <a:buNone/>
              <a:defRPr sz="2800" b="1">
                <a:solidFill>
                  <a:srgbClr val="BE2727"/>
                </a:solidFill>
                <a:latin typeface="Montserrat ExtraBold"/>
                <a:ea typeface="Montserrat ExtraBold"/>
                <a:cs typeface="Montserrat ExtraBold"/>
                <a:sym typeface="Montserrat ExtraBol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F22D559F-F5D7-697E-052B-2498695D66EE}"/>
              </a:ext>
            </a:extLst>
          </p:cNvPr>
          <p:cNvPicPr>
            <a:picLocks noChangeAspect="1"/>
          </p:cNvPicPr>
          <p:nvPr userDrawn="1"/>
        </p:nvPicPr>
        <p:blipFill>
          <a:blip r:embed="rId4"/>
          <a:stretch>
            <a:fillRect/>
          </a:stretch>
        </p:blipFill>
        <p:spPr>
          <a:xfrm>
            <a:off x="9770915" y="291683"/>
            <a:ext cx="2274573" cy="38914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136"/>
        <p:cNvGrpSpPr/>
        <p:nvPr/>
      </p:nvGrpSpPr>
      <p:grpSpPr>
        <a:xfrm>
          <a:off x="0" y="0"/>
          <a:ext cx="0" cy="0"/>
          <a:chOff x="0" y="0"/>
          <a:chExt cx="0" cy="0"/>
        </a:xfrm>
      </p:grpSpPr>
      <p:sp>
        <p:nvSpPr>
          <p:cNvPr id="137" name="Google Shape;137;p47"/>
          <p:cNvSpPr txBox="1">
            <a:spLocks noGrp="1"/>
          </p:cNvSpPr>
          <p:nvPr>
            <p:ph type="body" idx="1"/>
          </p:nvPr>
        </p:nvSpPr>
        <p:spPr>
          <a:xfrm>
            <a:off x="838199" y="3672580"/>
            <a:ext cx="3932237" cy="140505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F7F7F"/>
              </a:buClr>
              <a:buSzPts val="1600"/>
              <a:buNone/>
              <a:defRPr sz="1600">
                <a:solidFill>
                  <a:srgbClr val="7F7F7F"/>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38" name="Google Shape;138;p47"/>
          <p:cNvPicPr preferRelativeResize="0"/>
          <p:nvPr/>
        </p:nvPicPr>
        <p:blipFill rotWithShape="1">
          <a:blip r:embed="rId2">
            <a:alphaModFix/>
          </a:blip>
          <a:srcRect/>
          <a:stretch/>
        </p:blipFill>
        <p:spPr>
          <a:xfrm>
            <a:off x="838200" y="0"/>
            <a:ext cx="2860964" cy="315884"/>
          </a:xfrm>
          <a:prstGeom prst="rect">
            <a:avLst/>
          </a:prstGeom>
          <a:noFill/>
          <a:ln>
            <a:noFill/>
          </a:ln>
        </p:spPr>
      </p:pic>
      <p:pic>
        <p:nvPicPr>
          <p:cNvPr id="139" name="Google Shape;139;p47"/>
          <p:cNvPicPr preferRelativeResize="0"/>
          <p:nvPr/>
        </p:nvPicPr>
        <p:blipFill rotWithShape="1">
          <a:blip r:embed="rId3">
            <a:alphaModFix/>
          </a:blip>
          <a:srcRect/>
          <a:stretch/>
        </p:blipFill>
        <p:spPr>
          <a:xfrm>
            <a:off x="11087100" y="5837237"/>
            <a:ext cx="1104900" cy="1038225"/>
          </a:xfrm>
          <a:prstGeom prst="rect">
            <a:avLst/>
          </a:prstGeom>
          <a:noFill/>
          <a:ln>
            <a:noFill/>
          </a:ln>
        </p:spPr>
      </p:pic>
      <p:sp>
        <p:nvSpPr>
          <p:cNvPr id="140" name="Google Shape;140;p47"/>
          <p:cNvSpPr txBox="1"/>
          <p:nvPr/>
        </p:nvSpPr>
        <p:spPr>
          <a:xfrm>
            <a:off x="11546379" y="6356350"/>
            <a:ext cx="455814"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1" i="0" u="none" strike="noStrike" cap="none">
                <a:solidFill>
                  <a:schemeClr val="lt1"/>
                </a:solidFill>
                <a:latin typeface="Montserrat"/>
                <a:ea typeface="Montserrat"/>
                <a:cs typeface="Montserrat"/>
                <a:sym typeface="Montserrat"/>
              </a:rPr>
              <a:t>‹#›</a:t>
            </a:fld>
            <a:endParaRPr sz="1200" b="1" i="0" u="none" strike="noStrike" cap="none">
              <a:solidFill>
                <a:schemeClr val="lt1"/>
              </a:solidFill>
              <a:latin typeface="Montserrat"/>
              <a:ea typeface="Montserrat"/>
              <a:cs typeface="Montserrat"/>
              <a:sym typeface="Montserrat"/>
            </a:endParaRPr>
          </a:p>
        </p:txBody>
      </p:sp>
      <p:sp>
        <p:nvSpPr>
          <p:cNvPr id="141" name="Google Shape;141;p47"/>
          <p:cNvSpPr txBox="1">
            <a:spLocks noGrp="1"/>
          </p:cNvSpPr>
          <p:nvPr>
            <p:ph type="body" idx="2"/>
          </p:nvPr>
        </p:nvSpPr>
        <p:spPr>
          <a:xfrm>
            <a:off x="803764" y="834017"/>
            <a:ext cx="2978527" cy="2030892"/>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C00000"/>
              </a:buClr>
              <a:buSzPts val="2800"/>
              <a:buNone/>
              <a:defRPr sz="2800" b="0">
                <a:solidFill>
                  <a:srgbClr val="C00000"/>
                </a:solidFill>
                <a:latin typeface="Montserrat ExtraBold"/>
                <a:ea typeface="Montserrat ExtraBold"/>
                <a:cs typeface="Montserrat ExtraBold"/>
                <a:sym typeface="Montserrat ExtraBold"/>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2" name="Google Shape;142;p47"/>
          <p:cNvSpPr txBox="1">
            <a:spLocks noGrp="1"/>
          </p:cNvSpPr>
          <p:nvPr>
            <p:ph type="body" idx="3"/>
          </p:nvPr>
        </p:nvSpPr>
        <p:spPr>
          <a:xfrm>
            <a:off x="5170488" y="1346200"/>
            <a:ext cx="6375400" cy="488791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C00000"/>
              </a:buClr>
              <a:buSzPts val="2800"/>
              <a:buChar char="•"/>
              <a:defRPr/>
            </a:lvl1pPr>
            <a:lvl2pPr marL="914400" lvl="1" indent="-381000" algn="l">
              <a:lnSpc>
                <a:spcPct val="90000"/>
              </a:lnSpc>
              <a:spcBef>
                <a:spcPts val="500"/>
              </a:spcBef>
              <a:spcAft>
                <a:spcPts val="0"/>
              </a:spcAft>
              <a:buClr>
                <a:srgbClr val="C00000"/>
              </a:buClr>
              <a:buSzPts val="2400"/>
              <a:buChar char="•"/>
              <a:defRPr/>
            </a:lvl2pPr>
            <a:lvl3pPr marL="1371600" lvl="2" indent="-355600" algn="l">
              <a:lnSpc>
                <a:spcPct val="90000"/>
              </a:lnSpc>
              <a:spcBef>
                <a:spcPts val="500"/>
              </a:spcBef>
              <a:spcAft>
                <a:spcPts val="0"/>
              </a:spcAft>
              <a:buClr>
                <a:srgbClr val="C00000"/>
              </a:buClr>
              <a:buSzPts val="2000"/>
              <a:buChar char="•"/>
              <a:defRPr/>
            </a:lvl3pPr>
            <a:lvl4pPr marL="1828800" lvl="3" indent="-342900" algn="l">
              <a:lnSpc>
                <a:spcPct val="90000"/>
              </a:lnSpc>
              <a:spcBef>
                <a:spcPts val="500"/>
              </a:spcBef>
              <a:spcAft>
                <a:spcPts val="0"/>
              </a:spcAft>
              <a:buClr>
                <a:srgbClr val="C00000"/>
              </a:buClr>
              <a:buSzPts val="1800"/>
              <a:buChar char="•"/>
              <a:defRPr/>
            </a:lvl4pPr>
            <a:lvl5pPr marL="2286000" lvl="4" indent="-342900" algn="l">
              <a:lnSpc>
                <a:spcPct val="90000"/>
              </a:lnSpc>
              <a:spcBef>
                <a:spcPts val="500"/>
              </a:spcBef>
              <a:spcAft>
                <a:spcPts val="0"/>
              </a:spcAft>
              <a:buClr>
                <a:srgbClr val="C00000"/>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3" name="Picture 2" descr="A black and red logo&#10;&#10;Description automatically generated">
            <a:extLst>
              <a:ext uri="{FF2B5EF4-FFF2-40B4-BE49-F238E27FC236}">
                <a16:creationId xmlns:a16="http://schemas.microsoft.com/office/drawing/2014/main" id="{E83F87B7-2ACC-D5DC-10AF-DFB19E33836A}"/>
              </a:ext>
            </a:extLst>
          </p:cNvPr>
          <p:cNvPicPr>
            <a:picLocks noChangeAspect="1"/>
          </p:cNvPicPr>
          <p:nvPr userDrawn="1"/>
        </p:nvPicPr>
        <p:blipFill>
          <a:blip r:embed="rId4"/>
          <a:stretch>
            <a:fillRect/>
          </a:stretch>
        </p:blipFill>
        <p:spPr>
          <a:xfrm>
            <a:off x="9914696" y="157942"/>
            <a:ext cx="2087497" cy="357142"/>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spTree>
      <p:nvGrpSpPr>
        <p:cNvPr id="1" name="Shape 144"/>
        <p:cNvGrpSpPr/>
        <p:nvPr/>
      </p:nvGrpSpPr>
      <p:grpSpPr>
        <a:xfrm>
          <a:off x="0" y="0"/>
          <a:ext cx="0" cy="0"/>
          <a:chOff x="0" y="0"/>
          <a:chExt cx="0" cy="0"/>
        </a:xfrm>
      </p:grpSpPr>
      <p:sp>
        <p:nvSpPr>
          <p:cNvPr id="145" name="Google Shape;145;p4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Montserrat"/>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6" name="Google Shape;146;p48"/>
          <p:cNvSpPr>
            <a:spLocks noGrp="1"/>
          </p:cNvSpPr>
          <p:nvPr>
            <p:ph type="pic" idx="2"/>
          </p:nvPr>
        </p:nvSpPr>
        <p:spPr>
          <a:xfrm>
            <a:off x="5183188" y="987425"/>
            <a:ext cx="6172200" cy="4873625"/>
          </a:xfrm>
          <a:prstGeom prst="rect">
            <a:avLst/>
          </a:prstGeom>
          <a:noFill/>
          <a:ln>
            <a:noFill/>
          </a:ln>
        </p:spPr>
      </p:sp>
      <p:sp>
        <p:nvSpPr>
          <p:cNvPr id="147" name="Google Shape;147;p4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48" name="Google Shape;148;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9" name="Google Shape;149;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50" name="Google Shape;150;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1"/>
        <p:cNvGrpSpPr/>
        <p:nvPr/>
      </p:nvGrpSpPr>
      <p:grpSpPr>
        <a:xfrm>
          <a:off x="0" y="0"/>
          <a:ext cx="0" cy="0"/>
          <a:chOff x="0" y="0"/>
          <a:chExt cx="0" cy="0"/>
        </a:xfrm>
      </p:grpSpPr>
      <p:sp>
        <p:nvSpPr>
          <p:cNvPr id="152" name="Google Shape;152;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p4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6" name="Google Shape;156;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7"/>
        <p:cNvGrpSpPr/>
        <p:nvPr/>
      </p:nvGrpSpPr>
      <p:grpSpPr>
        <a:xfrm>
          <a:off x="0" y="0"/>
          <a:ext cx="0" cy="0"/>
          <a:chOff x="0" y="0"/>
          <a:chExt cx="0" cy="0"/>
        </a:xfrm>
      </p:grpSpPr>
      <p:sp>
        <p:nvSpPr>
          <p:cNvPr id="158" name="Google Shape;158;p5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9" name="Google Shape;159;p5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0" name="Google Shape;160;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1" name="Google Shape;161;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63"/>
        <p:cNvGrpSpPr/>
        <p:nvPr/>
      </p:nvGrpSpPr>
      <p:grpSpPr>
        <a:xfrm>
          <a:off x="0" y="0"/>
          <a:ext cx="0" cy="0"/>
          <a:chOff x="0" y="0"/>
          <a:chExt cx="0" cy="0"/>
        </a:xfrm>
      </p:grpSpPr>
      <p:cxnSp>
        <p:nvCxnSpPr>
          <p:cNvPr id="164" name="Google Shape;164;g128e061f2de_0_109"/>
          <p:cNvCxnSpPr/>
          <p:nvPr/>
        </p:nvCxnSpPr>
        <p:spPr>
          <a:xfrm>
            <a:off x="575800" y="6322471"/>
            <a:ext cx="11040300" cy="0"/>
          </a:xfrm>
          <a:prstGeom prst="straightConnector1">
            <a:avLst/>
          </a:prstGeom>
          <a:noFill/>
          <a:ln w="9525" cap="flat" cmpd="sng">
            <a:solidFill>
              <a:srgbClr val="C6C5C5"/>
            </a:solidFill>
            <a:prstDash val="dot"/>
            <a:round/>
            <a:headEnd type="none" w="sm" len="sm"/>
            <a:tailEnd type="none" w="sm" len="sm"/>
          </a:ln>
        </p:spPr>
      </p:cxnSp>
      <p:sp>
        <p:nvSpPr>
          <p:cNvPr id="165" name="Google Shape;165;g128e061f2de_0_109"/>
          <p:cNvSpPr txBox="1">
            <a:spLocks noGrp="1"/>
          </p:cNvSpPr>
          <p:nvPr>
            <p:ph type="title"/>
          </p:nvPr>
        </p:nvSpPr>
        <p:spPr>
          <a:xfrm>
            <a:off x="415600" y="284933"/>
            <a:ext cx="11360700" cy="620700"/>
          </a:xfrm>
          <a:prstGeom prst="rect">
            <a:avLst/>
          </a:prstGeom>
          <a:noFill/>
          <a:ln>
            <a:noFill/>
          </a:ln>
        </p:spPr>
        <p:txBody>
          <a:bodyPr spcFirstLastPara="1" wrap="square" lIns="121900" tIns="121900" rIns="121900" bIns="121900" anchor="t" anchorCtr="0">
            <a:noAutofit/>
          </a:bodyPr>
          <a:lstStyle>
            <a:lvl1pPr lvl="0" algn="l" rtl="0">
              <a:lnSpc>
                <a:spcPct val="100000"/>
              </a:lnSpc>
              <a:spcBef>
                <a:spcPts val="0"/>
              </a:spcBef>
              <a:spcAft>
                <a:spcPts val="0"/>
              </a:spcAft>
              <a:buClr>
                <a:srgbClr val="566579"/>
              </a:buClr>
              <a:buSzPts val="3700"/>
              <a:buFont typeface="Trebuchet MS"/>
              <a:buNone/>
              <a:defRPr>
                <a:solidFill>
                  <a:srgbClr val="566579"/>
                </a:solidFill>
                <a:latin typeface="Trebuchet MS"/>
                <a:ea typeface="Trebuchet MS"/>
                <a:cs typeface="Trebuchet MS"/>
                <a:sym typeface="Trebuchet MS"/>
              </a:defRPr>
            </a:lvl1pPr>
            <a:lvl2pPr lvl="1" algn="l" rtl="0">
              <a:lnSpc>
                <a:spcPct val="100000"/>
              </a:lnSpc>
              <a:spcBef>
                <a:spcPts val="0"/>
              </a:spcBef>
              <a:spcAft>
                <a:spcPts val="0"/>
              </a:spcAft>
              <a:buSzPts val="3700"/>
              <a:buNone/>
              <a:defRPr/>
            </a:lvl2pPr>
            <a:lvl3pPr lvl="2" algn="l" rtl="0">
              <a:lnSpc>
                <a:spcPct val="100000"/>
              </a:lnSpc>
              <a:spcBef>
                <a:spcPts val="0"/>
              </a:spcBef>
              <a:spcAft>
                <a:spcPts val="0"/>
              </a:spcAft>
              <a:buSzPts val="3700"/>
              <a:buNone/>
              <a:defRPr/>
            </a:lvl3pPr>
            <a:lvl4pPr lvl="3" algn="l" rtl="0">
              <a:lnSpc>
                <a:spcPct val="100000"/>
              </a:lnSpc>
              <a:spcBef>
                <a:spcPts val="0"/>
              </a:spcBef>
              <a:spcAft>
                <a:spcPts val="0"/>
              </a:spcAft>
              <a:buSzPts val="3700"/>
              <a:buNone/>
              <a:defRPr/>
            </a:lvl4pPr>
            <a:lvl5pPr lvl="4" algn="l" rtl="0">
              <a:lnSpc>
                <a:spcPct val="100000"/>
              </a:lnSpc>
              <a:spcBef>
                <a:spcPts val="0"/>
              </a:spcBef>
              <a:spcAft>
                <a:spcPts val="0"/>
              </a:spcAft>
              <a:buSzPts val="3700"/>
              <a:buNone/>
              <a:defRPr/>
            </a:lvl5pPr>
            <a:lvl6pPr lvl="5" algn="l" rtl="0">
              <a:lnSpc>
                <a:spcPct val="100000"/>
              </a:lnSpc>
              <a:spcBef>
                <a:spcPts val="0"/>
              </a:spcBef>
              <a:spcAft>
                <a:spcPts val="0"/>
              </a:spcAft>
              <a:buSzPts val="3700"/>
              <a:buNone/>
              <a:defRPr/>
            </a:lvl6pPr>
            <a:lvl7pPr lvl="6" algn="l" rtl="0">
              <a:lnSpc>
                <a:spcPct val="100000"/>
              </a:lnSpc>
              <a:spcBef>
                <a:spcPts val="0"/>
              </a:spcBef>
              <a:spcAft>
                <a:spcPts val="0"/>
              </a:spcAft>
              <a:buSzPts val="3700"/>
              <a:buNone/>
              <a:defRPr/>
            </a:lvl7pPr>
            <a:lvl8pPr lvl="7" algn="l" rtl="0">
              <a:lnSpc>
                <a:spcPct val="100000"/>
              </a:lnSpc>
              <a:spcBef>
                <a:spcPts val="0"/>
              </a:spcBef>
              <a:spcAft>
                <a:spcPts val="0"/>
              </a:spcAft>
              <a:buSzPts val="3700"/>
              <a:buNone/>
              <a:defRPr/>
            </a:lvl8pPr>
            <a:lvl9pPr lvl="8" algn="l" rtl="0">
              <a:lnSpc>
                <a:spcPct val="100000"/>
              </a:lnSpc>
              <a:spcBef>
                <a:spcPts val="0"/>
              </a:spcBef>
              <a:spcAft>
                <a:spcPts val="0"/>
              </a:spcAft>
              <a:buSzPts val="3700"/>
              <a:buNone/>
              <a:defRPr/>
            </a:lvl9pPr>
          </a:lstStyle>
          <a:p>
            <a:endParaRPr/>
          </a:p>
        </p:txBody>
      </p:sp>
      <p:cxnSp>
        <p:nvCxnSpPr>
          <p:cNvPr id="166" name="Google Shape;166;g128e061f2de_0_109"/>
          <p:cNvCxnSpPr/>
          <p:nvPr/>
        </p:nvCxnSpPr>
        <p:spPr>
          <a:xfrm>
            <a:off x="575800" y="1002333"/>
            <a:ext cx="11040300" cy="0"/>
          </a:xfrm>
          <a:prstGeom prst="straightConnector1">
            <a:avLst/>
          </a:prstGeom>
          <a:noFill/>
          <a:ln w="9525" cap="flat" cmpd="sng">
            <a:solidFill>
              <a:srgbClr val="C6C5C5"/>
            </a:solidFill>
            <a:prstDash val="dot"/>
            <a:round/>
            <a:headEnd type="none" w="sm" len="sm"/>
            <a:tailEnd type="none" w="sm" len="sm"/>
          </a:ln>
        </p:spPr>
      </p:cxnSp>
      <p:sp>
        <p:nvSpPr>
          <p:cNvPr id="167" name="Google Shape;167;g128e061f2de_0_109">
            <a:hlinkClick r:id="" action="ppaction://hlinkshowjump?jump=previousslide"/>
          </p:cNvPr>
          <p:cNvSpPr/>
          <p:nvPr/>
        </p:nvSpPr>
        <p:spPr>
          <a:xfrm rot="2700000">
            <a:off x="11348840" y="6420393"/>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8" name="Google Shape;168;g128e061f2de_0_109"/>
          <p:cNvSpPr/>
          <p:nvPr/>
        </p:nvSpPr>
        <p:spPr>
          <a:xfrm>
            <a:off x="579075" y="6315167"/>
            <a:ext cx="506400" cy="232800"/>
          </a:xfrm>
          <a:prstGeom prst="rect">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69" name="Google Shape;169;g128e061f2de_0_109">
            <a:hlinkClick r:id="" action="ppaction://hlinkshowjump?jump=nextslide"/>
          </p:cNvPr>
          <p:cNvSpPr/>
          <p:nvPr/>
        </p:nvSpPr>
        <p:spPr>
          <a:xfrm rot="-8100000">
            <a:off x="11508840" y="6420194"/>
            <a:ext cx="113279" cy="113279"/>
          </a:xfrm>
          <a:prstGeom prst="rtTriangle">
            <a:avLst/>
          </a:prstGeom>
          <a:solidFill>
            <a:srgbClr val="C6C5C5"/>
          </a:solid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Clr>
                <a:srgbClr val="000000"/>
              </a:buClr>
              <a:buSzPts val="1900"/>
              <a:buFont typeface="Arial"/>
              <a:buNone/>
            </a:pPr>
            <a:endParaRPr sz="1900" b="0" i="0" u="none" strike="noStrike" cap="none">
              <a:solidFill>
                <a:srgbClr val="000000"/>
              </a:solidFill>
              <a:latin typeface="Arial"/>
              <a:ea typeface="Arial"/>
              <a:cs typeface="Arial"/>
              <a:sym typeface="Arial"/>
            </a:endParaRPr>
          </a:p>
        </p:txBody>
      </p:sp>
      <p:sp>
        <p:nvSpPr>
          <p:cNvPr id="170" name="Google Shape;170;g128e061f2de_0_109"/>
          <p:cNvSpPr txBox="1">
            <a:spLocks noGrp="1"/>
          </p:cNvSpPr>
          <p:nvPr>
            <p:ph type="sldNum" idx="12"/>
          </p:nvPr>
        </p:nvSpPr>
        <p:spPr>
          <a:xfrm>
            <a:off x="579067" y="6315167"/>
            <a:ext cx="506400" cy="232800"/>
          </a:xfrm>
          <a:prstGeom prst="rect">
            <a:avLst/>
          </a:prstGeom>
          <a:noFill/>
          <a:ln>
            <a:noFill/>
          </a:ln>
        </p:spPr>
        <p:txBody>
          <a:bodyPr spcFirstLastPara="1" wrap="square" lIns="121900" tIns="121900" rIns="121900" bIns="121900" anchor="ctr" anchorCtr="0">
            <a:noAutofit/>
          </a:bodyPr>
          <a:lstStyle>
            <a:lvl1pPr marL="0" marR="0" lvl="0"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200"/>
              <a:buFont typeface="Arial"/>
              <a:buNone/>
              <a:defRPr sz="1200" b="0" i="0" u="none" strike="noStrike" cap="none">
                <a:solidFill>
                  <a:srgbClr val="FFFFFF"/>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171" name="Google Shape;171;g128e061f2de_0_109"/>
          <p:cNvSpPr txBox="1"/>
          <p:nvPr/>
        </p:nvSpPr>
        <p:spPr>
          <a:xfrm>
            <a:off x="9204248" y="6246912"/>
            <a:ext cx="2043600" cy="232800"/>
          </a:xfrm>
          <a:prstGeom prst="rect">
            <a:avLst/>
          </a:prstGeom>
          <a:noFill/>
          <a:ln>
            <a:noFill/>
          </a:ln>
        </p:spPr>
        <p:txBody>
          <a:bodyPr spcFirstLastPara="1" wrap="square" lIns="121900" tIns="121900" rIns="121900" bIns="121900" anchor="t" anchorCtr="0">
            <a:noAutofit/>
          </a:bodyPr>
          <a:lstStyle/>
          <a:p>
            <a:pPr marL="0" marR="0" lvl="0" indent="0" algn="r" rtl="0">
              <a:lnSpc>
                <a:spcPct val="100000"/>
              </a:lnSpc>
              <a:spcBef>
                <a:spcPts val="0"/>
              </a:spcBef>
              <a:spcAft>
                <a:spcPts val="0"/>
              </a:spcAft>
              <a:buClr>
                <a:srgbClr val="000000"/>
              </a:buClr>
              <a:buSzPts val="1200"/>
              <a:buFont typeface="Arial"/>
              <a:buNone/>
            </a:pPr>
            <a:r>
              <a:rPr lang="en-US" sz="1200" b="0" i="0" u="none" strike="noStrike" cap="none" dirty="0">
                <a:solidFill>
                  <a:srgbClr val="C6C5C5"/>
                </a:solidFill>
                <a:latin typeface="Arial"/>
                <a:ea typeface="Arial"/>
                <a:cs typeface="Arial"/>
                <a:sym typeface="Arial"/>
              </a:rPr>
              <a:t>www.companyname.com</a:t>
            </a:r>
            <a:endParaRPr sz="1200" b="0" i="0" u="none" strike="noStrike" cap="none" dirty="0">
              <a:solidFill>
                <a:srgbClr val="C6C5C5"/>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Montserrat"/>
              <a:buNone/>
              <a:defRPr sz="44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Montserrat"/>
                <a:ea typeface="Montserrat"/>
                <a:cs typeface="Montserrat"/>
                <a:sym typeface="Montserra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Montserrat"/>
                <a:ea typeface="Montserrat"/>
                <a:cs typeface="Montserrat"/>
                <a:sym typeface="Montserrat"/>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Montserrat"/>
                <a:ea typeface="Montserrat"/>
                <a:cs typeface="Montserrat"/>
                <a:sym typeface="Montserrat"/>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Montserrat"/>
                <a:ea typeface="Montserrat"/>
                <a:cs typeface="Montserrat"/>
                <a:sym typeface="Montserrat"/>
              </a:defRPr>
            </a:lvl9pPr>
          </a:lstStyle>
          <a:p>
            <a:endParaRPr dirty="0"/>
          </a:p>
        </p:txBody>
      </p:sp>
      <p:sp>
        <p:nvSpPr>
          <p:cNvPr id="12" name="Google Shape;1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3" name="Google Shape;1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Montserrat"/>
                <a:ea typeface="Montserrat"/>
                <a:cs typeface="Montserrat"/>
                <a:sym typeface="Montserrat"/>
              </a:defRPr>
            </a:lvl9pPr>
          </a:lstStyle>
          <a:p>
            <a:endParaRPr/>
          </a:p>
        </p:txBody>
      </p:sp>
      <p:sp>
        <p:nvSpPr>
          <p:cNvPr id="14" name="Google Shape;1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
        <p:nvSpPr>
          <p:cNvPr id="15" name="Google Shape;15;p29"/>
          <p:cNvSpPr txBox="1"/>
          <p:nvPr/>
        </p:nvSpPr>
        <p:spPr>
          <a:xfrm>
            <a:off x="1981200" y="6338813"/>
            <a:ext cx="71229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dirty="0">
                <a:solidFill>
                  <a:srgbClr val="000000"/>
                </a:solidFill>
                <a:latin typeface="Arial"/>
                <a:ea typeface="Arial"/>
                <a:cs typeface="Arial"/>
                <a:sym typeface="Arial"/>
              </a:rPr>
              <a:t>© 2024 By BK Fintech- Rikkei Education - All rights reserved.</a:t>
            </a:r>
            <a:endParaRPr sz="1400" b="0" i="0" u="none" strike="noStrike" cap="none" dirty="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g11bb26f517d_0_1"/>
          <p:cNvSpPr txBox="1">
            <a:spLocks noGrp="1"/>
          </p:cNvSpPr>
          <p:nvPr>
            <p:ph type="ctrTitle"/>
          </p:nvPr>
        </p:nvSpPr>
        <p:spPr>
          <a:xfrm>
            <a:off x="1691640" y="2423160"/>
            <a:ext cx="6858000" cy="1234440"/>
          </a:xfrm>
          <a:prstGeom prst="rect">
            <a:avLst/>
          </a:prstGeom>
          <a:noFill/>
          <a:ln>
            <a:noFill/>
          </a:ln>
        </p:spPr>
        <p:txBody>
          <a:bodyPr spcFirstLastPara="1" wrap="square" lIns="0" tIns="0" rIns="0" bIns="0" anchor="t" anchorCtr="0">
            <a:noAutofit/>
          </a:bodyPr>
          <a:lstStyle/>
          <a:p>
            <a:pPr>
              <a:spcAft>
                <a:spcPts val="0"/>
              </a:spcAft>
              <a:defRPr sz="2400" b="0">
                <a:solidFill>
                  <a:srgbClr val="000000"/>
                </a:solidFill>
                <a:latin typeface="Arial"/>
              </a:defRPr>
            </a:pPr>
            <a:r>
              <a:t>Data Cleaning và Data Quality trong thực tế</a:t>
            </a:r>
          </a:p>
        </p:txBody>
      </p:sp>
      <p:sp>
        <p:nvSpPr>
          <p:cNvPr id="177" name="Google Shape;177;g11bb26f517d_0_1"/>
          <p:cNvSpPr txBox="1">
            <a:spLocks noGrp="1"/>
          </p:cNvSpPr>
          <p:nvPr>
            <p:ph type="subTitle" idx="1"/>
          </p:nvPr>
        </p:nvSpPr>
        <p:spPr>
          <a:xfrm>
            <a:off x="1691640" y="4160520"/>
            <a:ext cx="4389120" cy="292608"/>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Phiên bản: 1.0</a:t>
            </a:r>
          </a:p>
        </p:txBody>
      </p:sp>
      <p:sp>
        <p:nvSpPr>
          <p:cNvPr id="178" name="Google Shape;178;g11bb26f517d_0_1"/>
          <p:cNvSpPr txBox="1">
            <a:spLocks noGrp="1"/>
          </p:cNvSpPr>
          <p:nvPr>
            <p:ph type="body" idx="2"/>
          </p:nvPr>
        </p:nvSpPr>
        <p:spPr>
          <a:xfrm>
            <a:off x="1691640" y="1874519"/>
            <a:ext cx="5120640" cy="411480"/>
          </a:xfrm>
          <a:prstGeom prst="rect">
            <a:avLst/>
          </a:prstGeom>
          <a:noFill/>
          <a:ln>
            <a:noFill/>
          </a:ln>
        </p:spPr>
        <p:txBody>
          <a:bodyPr spcFirstLastPara="1" wrap="square" lIns="91425" tIns="45700" rIns="91425" bIns="45700" anchor="t" anchorCtr="0">
            <a:noAutofit/>
          </a:bodyPr>
          <a:lstStyle/>
          <a:p>
            <a:pPr>
              <a:defRPr sz="2300" b="0">
                <a:solidFill>
                  <a:srgbClr val="C5272A"/>
                </a:solidFill>
                <a:latin typeface="Arial"/>
              </a:defRPr>
            </a:pPr>
            <a:r>
              <a:t>BÀI 7:</a:t>
            </a:r>
          </a:p>
        </p:txBody>
      </p:sp>
      <p:sp>
        <p:nvSpPr>
          <p:cNvPr id="179" name="Google Shape;179;g11bb26f517d_0_1"/>
          <p:cNvSpPr txBox="1"/>
          <p:nvPr/>
        </p:nvSpPr>
        <p:spPr>
          <a:xfrm>
            <a:off x="1691640" y="3767328"/>
            <a:ext cx="6492240" cy="329184"/>
          </a:xfrm>
          <a:prstGeom prst="rect">
            <a:avLst/>
          </a:prstGeom>
          <a:noFill/>
          <a:ln>
            <a:noFill/>
          </a:ln>
        </p:spPr>
        <p:txBody>
          <a:bodyPr spcFirstLastPara="1" wrap="square" lIns="0" tIns="0" rIns="0" bIns="0" anchor="t" anchorCtr="0">
            <a:noAutofit/>
          </a:bodyPr>
          <a:lstStyle/>
          <a:p>
            <a:pPr>
              <a:defRPr sz="1350">
                <a:solidFill>
                  <a:srgbClr val="5F6368"/>
                </a:solidFill>
                <a:latin typeface="Arial"/>
              </a:defRPr>
            </a:pPr>
            <a:r>
              <a:t>Module: AI-Native Data Engineering – Data Engineering Foundation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11bac9ab7f9_1_682"/>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200">
                <a:solidFill>
                  <a:srgbClr val="262626"/>
                </a:solidFill>
                <a:latin typeface="Arial"/>
              </a:defRPr>
            </a:pPr>
            <a:r>
              <a:t>1. DQ dimensions</a:t>
            </a:r>
          </a:p>
          <a:p>
            <a:pPr>
              <a:spcAft>
                <a:spcPts val="1200"/>
              </a:spcAft>
              <a:defRPr sz="2200">
                <a:solidFill>
                  <a:srgbClr val="262626"/>
                </a:solidFill>
                <a:latin typeface="Arial"/>
              </a:defRPr>
            </a:pPr>
            <a:r>
              <a:t>2. Validation rules</a:t>
            </a:r>
          </a:p>
          <a:p>
            <a:pPr>
              <a:spcAft>
                <a:spcPts val="1200"/>
              </a:spcAft>
              <a:defRPr sz="2200">
                <a:solidFill>
                  <a:srgbClr val="262626"/>
                </a:solidFill>
                <a:latin typeface="Arial"/>
              </a:defRPr>
            </a:pPr>
            <a:r>
              <a:t>3. Reject/report/test</a:t>
            </a:r>
          </a:p>
          <a:p>
            <a:pPr>
              <a:spcAft>
                <a:spcPts val="1200"/>
              </a:spcAft>
              <a:defRPr sz="2200">
                <a:solidFill>
                  <a:srgbClr val="262626"/>
                </a:solidFill>
                <a:latin typeface="Arial"/>
              </a:defRPr>
            </a:pPr>
            <a:r>
              <a:t>4. Dirty Data Lab</a:t>
            </a:r>
          </a:p>
        </p:txBody>
      </p:sp>
      <p:sp>
        <p:nvSpPr>
          <p:cNvPr id="185" name="Google Shape;185;g11bac9ab7f9_1_682"/>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NỘI DUNG</a:t>
            </a:r>
            <a:endParaRPr/>
          </a:p>
        </p:txBody>
      </p:sp>
      <p:pic>
        <p:nvPicPr>
          <p:cNvPr id="186" name="Google Shape;186;g11bac9ab7f9_1_682"/>
          <p:cNvPicPr preferRelativeResize="0"/>
          <p:nvPr/>
        </p:nvPicPr>
        <p:blipFill rotWithShape="1">
          <a:blip r:embed="rId3">
            <a:alphaModFix/>
          </a:blip>
          <a:srcRect/>
          <a:stretch/>
        </p:blipFill>
        <p:spPr>
          <a:xfrm>
            <a:off x="-1863816" y="5111676"/>
            <a:ext cx="3515280" cy="349264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g11bac9ab7f9_1_876"/>
          <p:cNvSpPr txBox="1">
            <a:spLocks noGrp="1"/>
          </p:cNvSpPr>
          <p:nvPr>
            <p:ph type="title"/>
          </p:nvPr>
        </p:nvSpPr>
        <p:spPr>
          <a:xfrm>
            <a:off x="838200" y="509145"/>
            <a:ext cx="8463600" cy="945600"/>
          </a:xfrm>
          <a:prstGeom prst="rect">
            <a:avLst/>
          </a:prstGeom>
          <a:noFill/>
          <a:ln>
            <a:noFill/>
          </a:ln>
        </p:spPr>
        <p:txBody>
          <a:bodyPr spcFirstLastPara="1" wrap="square" lIns="91425" tIns="45700" rIns="91425" bIns="45700" anchor="ctr" anchorCtr="0">
            <a:normAutofit/>
          </a:bodyPr>
          <a:lstStyle/>
          <a:p>
            <a:pPr>
              <a:defRPr sz="2500" b="1">
                <a:solidFill>
                  <a:srgbClr val="C5272A"/>
                </a:solidFill>
                <a:latin typeface="Arial"/>
              </a:defRPr>
            </a:pPr>
            <a:r>
              <a:t>Mục tiêu Buổi 7</a:t>
            </a:r>
          </a:p>
        </p:txBody>
      </p:sp>
      <p:sp>
        <p:nvSpPr>
          <p:cNvPr id="192" name="Google Shape;192;g11bac9ab7f9_1_876"/>
          <p:cNvSpPr txBox="1"/>
          <p:nvPr/>
        </p:nvSpPr>
        <p:spPr>
          <a:xfrm>
            <a:off x="742492" y="1978425"/>
            <a:ext cx="10792200" cy="4019700"/>
          </a:xfrm>
          <a:prstGeom prst="rect">
            <a:avLst/>
          </a:prstGeom>
          <a:noFill/>
          <a:ln>
            <a:noFill/>
          </a:ln>
        </p:spPr>
        <p:txBody>
          <a:bodyPr spcFirstLastPara="1" wrap="square" lIns="91425" tIns="45700" rIns="91425" bIns="45700" anchor="t" anchorCtr="0">
            <a:normAutofit/>
          </a:bodyPr>
          <a:lstStyle/>
          <a:p/>
        </p:txBody>
      </p:sp>
      <p:sp>
        <p:nvSpPr>
          <p:cNvPr id="193" name="Google Shape;193;g11bac9ab7f9_1_876"/>
          <p:cNvSpPr txBox="1"/>
          <p:nvPr/>
        </p:nvSpPr>
        <p:spPr>
          <a:xfrm>
            <a:off x="742500" y="1454750"/>
            <a:ext cx="10671300" cy="461700"/>
          </a:xfrm>
          <a:prstGeom prst="rect">
            <a:avLst/>
          </a:prstGeom>
          <a:noFill/>
          <a:ln>
            <a:noFill/>
          </a:ln>
        </p:spPr>
        <p:txBody>
          <a:bodyPr spcFirstLastPara="1" wrap="square" lIns="91425" tIns="91425" rIns="91425" bIns="91425" anchor="t" anchorCtr="0">
            <a:spAutoFit/>
          </a:bodyPr>
          <a:lstStyle/>
          <a:p/>
        </p:txBody>
      </p:sp>
      <p:sp>
        <p:nvSpPr>
          <p:cNvPr id="194" name="Rounded Rectangle 193"/>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Data Quality</a:t>
            </a:r>
          </a:p>
        </p:txBody>
      </p:sp>
      <p:sp>
        <p:nvSpPr>
          <p:cNvPr id="195" name="Rounded Rectangle 194"/>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Operational</a:t>
            </a:r>
          </a:p>
        </p:txBody>
      </p:sp>
      <p:sp>
        <p:nvSpPr>
          <p:cNvPr id="196" name="TextBox 195"/>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Completeness / uniqueness / validity</a:t>
            </a:r>
          </a:p>
          <a:p>
            <a:pPr>
              <a:lnSpc>
                <a:spcPct val="108000"/>
              </a:lnSpc>
              <a:spcAft>
                <a:spcPts val="800"/>
              </a:spcAft>
              <a:defRPr sz="1600">
                <a:solidFill>
                  <a:srgbClr val="262626"/>
                </a:solidFill>
                <a:latin typeface="Arial"/>
              </a:defRPr>
            </a:pPr>
            <a:r>
              <a:t>• Schema/type validation</a:t>
            </a:r>
          </a:p>
          <a:p>
            <a:pPr>
              <a:lnSpc>
                <a:spcPct val="108000"/>
              </a:lnSpc>
              <a:spcAft>
                <a:spcPts val="800"/>
              </a:spcAft>
              <a:defRPr sz="1600">
                <a:solidFill>
                  <a:srgbClr val="262626"/>
                </a:solidFill>
                <a:latin typeface="Arial"/>
              </a:defRPr>
            </a:pPr>
            <a:r>
              <a:t>• Business rules</a:t>
            </a:r>
          </a:p>
          <a:p>
            <a:pPr>
              <a:lnSpc>
                <a:spcPct val="108000"/>
              </a:lnSpc>
              <a:spcAft>
                <a:spcPts val="800"/>
              </a:spcAft>
              <a:defRPr sz="1600">
                <a:solidFill>
                  <a:srgbClr val="262626"/>
                </a:solidFill>
                <a:latin typeface="Arial"/>
              </a:defRPr>
            </a:pPr>
            <a:r>
              <a:t>• Referential integrity</a:t>
            </a:r>
          </a:p>
        </p:txBody>
      </p:sp>
      <p:sp>
        <p:nvSpPr>
          <p:cNvPr id="197" name="TextBox 196"/>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Valid/reject split</a:t>
            </a:r>
          </a:p>
          <a:p>
            <a:pPr>
              <a:lnSpc>
                <a:spcPct val="108000"/>
              </a:lnSpc>
              <a:spcAft>
                <a:spcPts val="800"/>
              </a:spcAft>
              <a:defRPr sz="1600">
                <a:solidFill>
                  <a:srgbClr val="262626"/>
                </a:solidFill>
                <a:latin typeface="Arial"/>
              </a:defRPr>
            </a:pPr>
            <a:r>
              <a:t>• Error code/message</a:t>
            </a:r>
          </a:p>
          <a:p>
            <a:pPr>
              <a:lnSpc>
                <a:spcPct val="108000"/>
              </a:lnSpc>
              <a:spcAft>
                <a:spcPts val="800"/>
              </a:spcAft>
              <a:defRPr sz="1600">
                <a:solidFill>
                  <a:srgbClr val="262626"/>
                </a:solidFill>
                <a:latin typeface="Arial"/>
              </a:defRPr>
            </a:pPr>
            <a:r>
              <a:t>• DQ report</a:t>
            </a:r>
          </a:p>
          <a:p>
            <a:pPr>
              <a:lnSpc>
                <a:spcPct val="108000"/>
              </a:lnSpc>
              <a:spcAft>
                <a:spcPts val="800"/>
              </a:spcAft>
              <a:defRPr sz="1600">
                <a:solidFill>
                  <a:srgbClr val="262626"/>
                </a:solidFill>
                <a:latin typeface="Arial"/>
              </a:defRPr>
            </a:pPr>
            <a:r>
              <a:t>• Automated tests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g11bac9ab7f9_1_1035"/>
          <p:cNvSpPr txBox="1">
            <a:spLocks noGrp="1"/>
          </p:cNvSpPr>
          <p:nvPr>
            <p:ph type="title"/>
          </p:nvPr>
        </p:nvSpPr>
        <p:spPr>
          <a:xfrm rot="5400000">
            <a:off x="-1686375" y="1500953"/>
            <a:ext cx="5085300" cy="1845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C00000"/>
              </a:buClr>
              <a:buSzPts val="6000"/>
              <a:buFont typeface="Montserrat Black"/>
              <a:buNone/>
            </a:pPr>
            <a:r>
              <a:rPr lang="en-US"/>
              <a:t> TỔNG KẾT</a:t>
            </a:r>
            <a:endParaRPr/>
          </a:p>
        </p:txBody>
      </p:sp>
      <p:pic>
        <p:nvPicPr>
          <p:cNvPr id="199" name="Google Shape;199;g11bac9ab7f9_1_1035"/>
          <p:cNvPicPr preferRelativeResize="0"/>
          <p:nvPr/>
        </p:nvPicPr>
        <p:blipFill rotWithShape="1">
          <a:blip r:embed="rId3">
            <a:alphaModFix/>
          </a:blip>
          <a:srcRect/>
          <a:stretch/>
        </p:blipFill>
        <p:spPr>
          <a:xfrm>
            <a:off x="-1863816" y="5111676"/>
            <a:ext cx="3515280" cy="3492645"/>
          </a:xfrm>
          <a:prstGeom prst="rect">
            <a:avLst/>
          </a:prstGeom>
          <a:noFill/>
          <a:ln>
            <a:noFill/>
          </a:ln>
        </p:spPr>
      </p:pic>
      <p:sp>
        <p:nvSpPr>
          <p:cNvPr id="200" name="Google Shape;200;g11bac9ab7f9_1_1035"/>
          <p:cNvSpPr txBox="1">
            <a:spLocks noGrp="1"/>
          </p:cNvSpPr>
          <p:nvPr>
            <p:ph type="body" idx="1"/>
          </p:nvPr>
        </p:nvSpPr>
        <p:spPr>
          <a:xfrm>
            <a:off x="1651450" y="1261300"/>
            <a:ext cx="9767400" cy="4935600"/>
          </a:xfrm>
          <a:prstGeom prst="rect">
            <a:avLst/>
          </a:prstGeom>
          <a:noFill/>
          <a:ln>
            <a:noFill/>
          </a:ln>
        </p:spPr>
        <p:txBody>
          <a:bodyPr spcFirstLastPara="1" wrap="square" lIns="91425" tIns="45700" rIns="91425" bIns="45700" anchor="t" anchorCtr="0">
            <a:normAutofit/>
          </a:bodyPr>
          <a:lstStyle/>
          <a:p>
            <a:pPr>
              <a:spcAft>
                <a:spcPts val="1200"/>
              </a:spcAft>
              <a:defRPr sz="2100">
                <a:solidFill>
                  <a:srgbClr val="262626"/>
                </a:solidFill>
                <a:latin typeface="Arial"/>
              </a:defRPr>
            </a:pPr>
            <a:r>
              <a:t>1. DQ = rule + decision + audit</a:t>
            </a:r>
          </a:p>
          <a:p>
            <a:pPr>
              <a:spcAft>
                <a:spcPts val="1200"/>
              </a:spcAft>
              <a:defRPr sz="2100">
                <a:solidFill>
                  <a:srgbClr val="262626"/>
                </a:solidFill>
                <a:latin typeface="Arial"/>
              </a:defRPr>
            </a:pPr>
            <a:r>
              <a:t>2. Input = Valid + Rejected</a:t>
            </a:r>
          </a:p>
          <a:p>
            <a:pPr>
              <a:spcAft>
                <a:spcPts val="1200"/>
              </a:spcAft>
              <a:defRPr sz="2100">
                <a:solidFill>
                  <a:srgbClr val="262626"/>
                </a:solidFill>
                <a:latin typeface="Arial"/>
              </a:defRPr>
            </a:pPr>
            <a:r>
              <a:t>3. Error code phải ổn định</a:t>
            </a:r>
          </a:p>
          <a:p>
            <a:pPr>
              <a:spcAft>
                <a:spcPts val="1200"/>
              </a:spcAft>
              <a:defRPr sz="2100">
                <a:solidFill>
                  <a:srgbClr val="262626"/>
                </a:solidFill>
                <a:latin typeface="Arial"/>
              </a:defRPr>
            </a:pPr>
            <a:r>
              <a:t>4. Automated tests bảo vệ validation logic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g11bb26f517d_0_162"/>
          <p:cNvSpPr txBox="1">
            <a:spLocks noGrp="1"/>
          </p:cNvSpPr>
          <p:nvPr>
            <p:ph type="ctrTitle"/>
          </p:nvPr>
        </p:nvSpPr>
        <p:spPr>
          <a:xfrm>
            <a:off x="279991" y="3969209"/>
            <a:ext cx="9144000" cy="146430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Montserrat Black"/>
              <a:buNone/>
            </a:pPr>
            <a:r>
              <a:rPr lang="en-US" dirty="0"/>
              <a:t>KẾT THÚC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Quality không phải “làm sạch cho đẹp”</a:t>
            </a:r>
          </a:p>
        </p:txBody>
      </p:sp>
      <p:sp>
        <p:nvSpPr>
          <p:cNvPr id="5" name="Rounded Rectangle 4"/>
          <p:cNvSpPr/>
          <p:nvPr/>
        </p:nvSpPr>
        <p:spPr>
          <a:xfrm>
            <a:off x="777240"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SOURCE</a:t>
            </a:r>
          </a:p>
          <a:p>
            <a:pPr algn="ctr">
              <a:defRPr sz="1150">
                <a:solidFill>
                  <a:srgbClr val="5F6368"/>
                </a:solidFill>
                <a:latin typeface="Arial"/>
              </a:defRPr>
            </a:pPr>
            <a:r>
              <a:t>Có lỗi</a:t>
            </a:r>
          </a:p>
        </p:txBody>
      </p:sp>
      <p:sp>
        <p:nvSpPr>
          <p:cNvPr id="6" name="Right Arrow 5"/>
          <p:cNvSpPr/>
          <p:nvPr/>
        </p:nvSpPr>
        <p:spPr>
          <a:xfrm>
            <a:off x="280355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940710"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VALIDATE</a:t>
            </a:r>
          </a:p>
          <a:p>
            <a:pPr algn="ctr">
              <a:defRPr sz="1150">
                <a:solidFill>
                  <a:srgbClr val="5F6368"/>
                </a:solidFill>
                <a:latin typeface="Arial"/>
              </a:defRPr>
            </a:pPr>
            <a:r>
              <a:t>Rule rõ</a:t>
            </a:r>
          </a:p>
        </p:txBody>
      </p:sp>
      <p:sp>
        <p:nvSpPr>
          <p:cNvPr id="8" name="Right Arrow 7"/>
          <p:cNvSpPr/>
          <p:nvPr/>
        </p:nvSpPr>
        <p:spPr>
          <a:xfrm>
            <a:off x="4967020"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04180" y="2240280"/>
            <a:ext cx="1998878"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DECIDE</a:t>
            </a:r>
          </a:p>
          <a:p>
            <a:pPr algn="ctr">
              <a:defRPr sz="1150">
                <a:solidFill>
                  <a:srgbClr val="5F6368"/>
                </a:solidFill>
                <a:latin typeface="Arial"/>
              </a:defRPr>
            </a:pPr>
            <a:r>
              <a:t>Fix / reject / fail</a:t>
            </a:r>
          </a:p>
        </p:txBody>
      </p:sp>
      <p:sp>
        <p:nvSpPr>
          <p:cNvPr id="10" name="Right Arrow 9"/>
          <p:cNvSpPr/>
          <p:nvPr/>
        </p:nvSpPr>
        <p:spPr>
          <a:xfrm>
            <a:off x="713049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267651" y="2240280"/>
            <a:ext cx="1998878"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AUDIT</a:t>
            </a:r>
          </a:p>
          <a:p>
            <a:pPr algn="ctr">
              <a:defRPr sz="1150">
                <a:solidFill>
                  <a:srgbClr val="5F6368"/>
                </a:solidFill>
                <a:latin typeface="Arial"/>
              </a:defRPr>
            </a:pPr>
            <a:r>
              <a:t>Report</a:t>
            </a:r>
          </a:p>
        </p:txBody>
      </p:sp>
      <p:sp>
        <p:nvSpPr>
          <p:cNvPr id="12" name="Right Arrow 11"/>
          <p:cNvSpPr/>
          <p:nvPr/>
        </p:nvSpPr>
        <p:spPr>
          <a:xfrm>
            <a:off x="9293961"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31121" y="2240280"/>
            <a:ext cx="1998878"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LOAD</a:t>
            </a:r>
          </a:p>
          <a:p>
            <a:pPr algn="ctr">
              <a:defRPr sz="1150">
                <a:solidFill>
                  <a:srgbClr val="5F6368"/>
                </a:solidFill>
                <a:latin typeface="Arial"/>
              </a:defRPr>
            </a:pPr>
            <a:r>
              <a:t>Chỉ valid</a:t>
            </a:r>
          </a:p>
        </p:txBody>
      </p:sp>
      <p:sp>
        <p:nvSpPr>
          <p:cNvPr id="14" name="TextBox 13"/>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DQ là cơ chế kiểm soát dữ liệu theo contract, có bằng chứng và hành vi xác định.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6 chiều Data Quality</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COMPLETENESS</a:t>
            </a:r>
          </a:p>
          <a:p>
            <a:pPr>
              <a:defRPr sz="1150">
                <a:solidFill>
                  <a:srgbClr val="262626"/>
                </a:solidFill>
                <a:latin typeface="Arial"/>
              </a:defRPr>
            </a:pPr>
            <a:r>
              <a:t>Có đủ giá trị bắt buộc?</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UNIQUENESS</a:t>
            </a:r>
          </a:p>
          <a:p>
            <a:pPr>
              <a:defRPr sz="1150">
                <a:solidFill>
                  <a:srgbClr val="262626"/>
                </a:solidFill>
                <a:latin typeface="Arial"/>
              </a:defRPr>
            </a:pPr>
            <a:r>
              <a:t>ID có trùng?</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VALIDITY</a:t>
            </a:r>
          </a:p>
          <a:p>
            <a:pPr>
              <a:defRPr sz="1150">
                <a:solidFill>
                  <a:srgbClr val="262626"/>
                </a:solidFill>
                <a:latin typeface="Arial"/>
              </a:defRPr>
            </a:pPr>
            <a:r>
              <a:t>Có đúng domain/type?</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CONSISTENCY</a:t>
            </a:r>
          </a:p>
          <a:p>
            <a:pPr>
              <a:defRPr sz="1150">
                <a:solidFill>
                  <a:srgbClr val="262626"/>
                </a:solidFill>
                <a:latin typeface="Arial"/>
              </a:defRPr>
            </a:pPr>
            <a:r>
              <a:t>Các trường có mâu thuẫn?</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ACCURACY</a:t>
            </a:r>
          </a:p>
          <a:p>
            <a:pPr>
              <a:defRPr sz="1150">
                <a:solidFill>
                  <a:srgbClr val="262626"/>
                </a:solidFill>
                <a:latin typeface="Arial"/>
              </a:defRPr>
            </a:pPr>
            <a:r>
              <a:t>Có phản ánh thực tế?</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TIMELINESS</a:t>
            </a:r>
          </a:p>
          <a:p>
            <a:pPr>
              <a:defRPr sz="1150">
                <a:solidFill>
                  <a:srgbClr val="262626"/>
                </a:solidFill>
                <a:latin typeface="Arial"/>
              </a:defRPr>
            </a:pPr>
            <a:r>
              <a:t>Có đến đúng thời điểm?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Schema validation</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Required columns tồn tại</a:t>
            </a:r>
          </a:p>
          <a:p>
            <a:pPr>
              <a:lnSpc>
                <a:spcPct val="108000"/>
              </a:lnSpc>
              <a:spcAft>
                <a:spcPts val="800"/>
              </a:spcAft>
              <a:defRPr sz="1800">
                <a:solidFill>
                  <a:srgbClr val="262626"/>
                </a:solidFill>
                <a:latin typeface="Arial"/>
              </a:defRPr>
            </a:pPr>
            <a:r>
              <a:t>• Tên cột theo Data Contract</a:t>
            </a:r>
          </a:p>
          <a:p>
            <a:pPr>
              <a:lnSpc>
                <a:spcPct val="108000"/>
              </a:lnSpc>
              <a:spcAft>
                <a:spcPts val="800"/>
              </a:spcAft>
              <a:defRPr sz="1800">
                <a:solidFill>
                  <a:srgbClr val="262626"/>
                </a:solidFill>
                <a:latin typeface="Arial"/>
              </a:defRPr>
            </a:pPr>
            <a:r>
              <a:t>• Kiểu dữ liệu parse được</a:t>
            </a:r>
          </a:p>
          <a:p>
            <a:pPr>
              <a:lnSpc>
                <a:spcPct val="108000"/>
              </a:lnSpc>
              <a:spcAft>
                <a:spcPts val="800"/>
              </a:spcAft>
              <a:defRPr sz="1800">
                <a:solidFill>
                  <a:srgbClr val="262626"/>
                </a:solidFill>
                <a:latin typeface="Arial"/>
              </a:defRPr>
            </a:pPr>
            <a:r>
              <a:t>• Không có column rename “tự phát”</a:t>
            </a:r>
          </a:p>
          <a:p>
            <a:pPr>
              <a:lnSpc>
                <a:spcPct val="108000"/>
              </a:lnSpc>
              <a:spcAft>
                <a:spcPts val="800"/>
              </a:spcAft>
              <a:defRPr sz="1800">
                <a:solidFill>
                  <a:srgbClr val="262626"/>
                </a:solidFill>
                <a:latin typeface="Arial"/>
              </a:defRPr>
            </a:pPr>
            <a:r>
              <a:t>• Schema mismatch → fail hoặc quarantine tùy chính sách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Completeness: missing ở field bắt buộc</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required = ["customer_id", "full_name", "email", "status"]</a:t>
            </a:r>
            <a:br/>
            <a:r>
              <a:t>missing_rows = df[required].isna().any(axis=1)</a:t>
            </a:r>
            <a:br/>
            <a:br/>
            <a:r>
              <a:t># Chuỗi rỗng cũng cần coi là missing theo rule.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Uniqueness: duplicate ID</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RAW</a:t>
            </a:r>
          </a:p>
          <a:p>
            <a:pPr algn="ctr">
              <a:defRPr sz="1150">
                <a:solidFill>
                  <a:srgbClr val="5F6368"/>
                </a:solidFill>
                <a:latin typeface="Arial"/>
              </a:defRPr>
            </a:pPr>
            <a:r>
              <a:t>CUS001, CUS001</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DETECT</a:t>
            </a:r>
          </a:p>
          <a:p>
            <a:pPr algn="ctr">
              <a:defRPr sz="1150">
                <a:solidFill>
                  <a:srgbClr val="5F6368"/>
                </a:solidFill>
                <a:latin typeface="Arial"/>
              </a:defRPr>
            </a:pPr>
            <a:r>
              <a:t>duplicated(customer_id)</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KEEP/REJECT</a:t>
            </a:r>
          </a:p>
          <a:p>
            <a:pPr algn="ctr">
              <a:defRPr sz="1150">
                <a:solidFill>
                  <a:srgbClr val="5F6368"/>
                </a:solidFill>
                <a:latin typeface="Arial"/>
              </a:defRPr>
            </a:pPr>
            <a:r>
              <a:t>policy</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REPORT</a:t>
            </a:r>
          </a:p>
          <a:p>
            <a:pPr algn="ctr">
              <a:defRPr sz="1150">
                <a:solidFill>
                  <a:srgbClr val="5F6368"/>
                </a:solidFill>
                <a:latin typeface="Arial"/>
              </a:defRPr>
            </a:pPr>
            <a:r>
              <a:t>DUPLICATE_ID</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Phân biệt duplicate trong cùng batch và conflict với dữ liệu đã có trong CORE.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Validity: domain và range</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STATUS</a:t>
            </a:r>
          </a:p>
          <a:p>
            <a:pPr>
              <a:defRPr sz="1150">
                <a:solidFill>
                  <a:srgbClr val="262626"/>
                </a:solidFill>
                <a:latin typeface="Arial"/>
              </a:defRPr>
            </a:pPr>
            <a:r>
              <a:t>phải thuộc enum</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PRICE</a:t>
            </a:r>
          </a:p>
          <a:p>
            <a:pPr>
              <a:defRPr sz="1150">
                <a:solidFill>
                  <a:srgbClr val="262626"/>
                </a:solidFill>
                <a:latin typeface="Arial"/>
              </a:defRPr>
            </a:pPr>
            <a:r>
              <a:t>≥ 0</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QUANTITY</a:t>
            </a:r>
          </a:p>
          <a:p>
            <a:pPr>
              <a:defRPr sz="1150">
                <a:solidFill>
                  <a:srgbClr val="262626"/>
                </a:solidFill>
                <a:latin typeface="Arial"/>
              </a:defRPr>
            </a:pPr>
            <a:r>
              <a:t>&gt; 0</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EMAIL</a:t>
            </a:r>
          </a:p>
          <a:p>
            <a:pPr>
              <a:defRPr sz="1150">
                <a:solidFill>
                  <a:srgbClr val="262626"/>
                </a:solidFill>
                <a:latin typeface="Arial"/>
              </a:defRPr>
            </a:pPr>
            <a:r>
              <a:t>pattern hợp lệ</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DATE</a:t>
            </a:r>
          </a:p>
          <a:p>
            <a:pPr>
              <a:defRPr sz="1150">
                <a:solidFill>
                  <a:srgbClr val="262626"/>
                </a:solidFill>
                <a:latin typeface="Arial"/>
              </a:defRPr>
            </a:pPr>
            <a:r>
              <a:t>parse được</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DISCOUNT</a:t>
            </a:r>
          </a:p>
          <a:p>
            <a:pPr>
              <a:defRPr sz="1150">
                <a:solidFill>
                  <a:srgbClr val="262626"/>
                </a:solidFill>
                <a:latin typeface="Arial"/>
              </a:defRPr>
            </a:pPr>
            <a:r>
              <a:t>0 ≤ discount ≤ gross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Consistency / cross-field rules</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Trong một record</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Giữa bảng</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payment_date ≥ order_date</a:t>
            </a:r>
          </a:p>
          <a:p>
            <a:pPr>
              <a:lnSpc>
                <a:spcPct val="108000"/>
              </a:lnSpc>
              <a:spcAft>
                <a:spcPts val="800"/>
              </a:spcAft>
              <a:defRPr sz="1600">
                <a:solidFill>
                  <a:srgbClr val="262626"/>
                </a:solidFill>
                <a:latin typeface="Arial"/>
              </a:defRPr>
            </a:pPr>
            <a:r>
              <a:t>• discount ≤ gross</a:t>
            </a:r>
          </a:p>
          <a:p>
            <a:pPr>
              <a:lnSpc>
                <a:spcPct val="108000"/>
              </a:lnSpc>
              <a:spcAft>
                <a:spcPts val="800"/>
              </a:spcAft>
              <a:defRPr sz="1600">
                <a:solidFill>
                  <a:srgbClr val="262626"/>
                </a:solidFill>
                <a:latin typeface="Arial"/>
              </a:defRPr>
            </a:pPr>
            <a:r>
              <a:t>• updated_at ≥ created_at</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order.customer tồn tại</a:t>
            </a:r>
          </a:p>
          <a:p>
            <a:pPr>
              <a:lnSpc>
                <a:spcPct val="108000"/>
              </a:lnSpc>
              <a:spcAft>
                <a:spcPts val="800"/>
              </a:spcAft>
              <a:defRPr sz="1600">
                <a:solidFill>
                  <a:srgbClr val="262626"/>
                </a:solidFill>
                <a:latin typeface="Arial"/>
              </a:defRPr>
            </a:pPr>
            <a:r>
              <a:t>• item.product tồn tại</a:t>
            </a:r>
          </a:p>
          <a:p>
            <a:pPr>
              <a:lnSpc>
                <a:spcPct val="108000"/>
              </a:lnSpc>
              <a:spcAft>
                <a:spcPts val="800"/>
              </a:spcAft>
              <a:defRPr sz="1600">
                <a:solidFill>
                  <a:srgbClr val="262626"/>
                </a:solidFill>
                <a:latin typeface="Arial"/>
              </a:defRPr>
            </a:pPr>
            <a:r>
              <a:t>• item.order tồn tại</a:t>
            </a:r>
          </a:p>
          <a:p>
            <a:pPr>
              <a:lnSpc>
                <a:spcPct val="108000"/>
              </a:lnSpc>
              <a:spcAft>
                <a:spcPts val="800"/>
              </a:spcAft>
              <a:defRPr sz="1600">
                <a:solidFill>
                  <a:srgbClr val="262626"/>
                </a:solidFill>
                <a:latin typeface="Arial"/>
              </a:defRPr>
            </a:pPr>
            <a:r>
              <a:t>• payment.order tồn tại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Referential integrity: kiểm tra trước load</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ORDER ITEM</a:t>
            </a:r>
          </a:p>
          <a:p>
            <a:pPr algn="ctr">
              <a:defRPr sz="1150">
                <a:solidFill>
                  <a:srgbClr val="5F6368"/>
                </a:solidFill>
                <a:latin typeface="Arial"/>
              </a:defRPr>
            </a:pPr>
            <a:r>
              <a:t>product_id</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LOOKUP</a:t>
            </a:r>
          </a:p>
          <a:p>
            <a:pPr algn="ctr">
              <a:defRPr sz="1150">
                <a:solidFill>
                  <a:srgbClr val="5F6368"/>
                </a:solidFill>
                <a:latin typeface="Arial"/>
              </a:defRPr>
            </a:pPr>
            <a:r>
              <a:t>CORE/STAGING products</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
            </a:r>
          </a:p>
          <a:p>
            <a:pPr algn="ctr">
              <a:defRPr sz="1150">
                <a:solidFill>
                  <a:srgbClr val="5F6368"/>
                </a:solidFill>
                <a:latin typeface="Arial"/>
              </a:defRPr>
            </a:pPr>
            <a:r>
              <a:t>exists</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LOAD/REJECT</a:t>
            </a:r>
          </a:p>
          <a:p>
            <a:pPr algn="ctr">
              <a:defRPr sz="1150">
                <a:solidFill>
                  <a:srgbClr val="5F6368"/>
                </a:solidFill>
                <a:latin typeface="Arial"/>
              </a:defRPr>
            </a:pPr>
            <a:r>
              <a:t>decision</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DB FK là lớp bảo vệ cuối; pipeline validation cho error_code dễ hiểu và kiểm soát batch.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Dirty dataset của Lab 7</a:t>
            </a:r>
          </a:p>
        </p:txBody>
      </p:sp>
      <p:sp>
        <p:nvSpPr>
          <p:cNvPr id="5" name="Rounded Rectangle 4"/>
          <p:cNvSpPr/>
          <p:nvPr/>
        </p:nvSpPr>
        <p:spPr>
          <a:xfrm>
            <a:off x="822960" y="1444752"/>
            <a:ext cx="5074920" cy="411480"/>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Lỗi kỹ thuật</a:t>
            </a:r>
          </a:p>
        </p:txBody>
      </p:sp>
      <p:sp>
        <p:nvSpPr>
          <p:cNvPr id="6" name="Rounded Rectangle 5"/>
          <p:cNvSpPr/>
          <p:nvPr/>
        </p:nvSpPr>
        <p:spPr>
          <a:xfrm>
            <a:off x="6263640" y="1444752"/>
            <a:ext cx="5074920" cy="411480"/>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Lỗi nghiệp vụ</a:t>
            </a:r>
          </a:p>
        </p:txBody>
      </p:sp>
      <p:sp>
        <p:nvSpPr>
          <p:cNvPr id="7" name="TextBox 6"/>
          <p:cNvSpPr txBox="1"/>
          <p:nvPr/>
        </p:nvSpPr>
        <p:spPr>
          <a:xfrm>
            <a:off x="868680" y="1938528"/>
            <a:ext cx="493776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bad date</a:t>
            </a:r>
          </a:p>
          <a:p>
            <a:pPr>
              <a:lnSpc>
                <a:spcPct val="108000"/>
              </a:lnSpc>
              <a:spcAft>
                <a:spcPts val="800"/>
              </a:spcAft>
              <a:defRPr sz="1600">
                <a:solidFill>
                  <a:srgbClr val="262626"/>
                </a:solidFill>
                <a:latin typeface="Arial"/>
              </a:defRPr>
            </a:pPr>
            <a:r>
              <a:t>• missing name</a:t>
            </a:r>
          </a:p>
          <a:p>
            <a:pPr>
              <a:lnSpc>
                <a:spcPct val="108000"/>
              </a:lnSpc>
              <a:spcAft>
                <a:spcPts val="800"/>
              </a:spcAft>
              <a:defRPr sz="1600">
                <a:solidFill>
                  <a:srgbClr val="262626"/>
                </a:solidFill>
                <a:latin typeface="Arial"/>
              </a:defRPr>
            </a:pPr>
            <a:r>
              <a:t>• duplicate ID</a:t>
            </a:r>
          </a:p>
          <a:p>
            <a:pPr>
              <a:lnSpc>
                <a:spcPct val="108000"/>
              </a:lnSpc>
              <a:spcAft>
                <a:spcPts val="800"/>
              </a:spcAft>
              <a:defRPr sz="1600">
                <a:solidFill>
                  <a:srgbClr val="262626"/>
                </a:solidFill>
                <a:latin typeface="Arial"/>
              </a:defRPr>
            </a:pPr>
            <a:r>
              <a:t>• negative numeric</a:t>
            </a:r>
          </a:p>
        </p:txBody>
      </p:sp>
      <p:sp>
        <p:nvSpPr>
          <p:cNvPr id="8" name="TextBox 7"/>
          <p:cNvSpPr txBox="1"/>
          <p:nvPr/>
        </p:nvSpPr>
        <p:spPr>
          <a:xfrm>
            <a:off x="6309360" y="1938528"/>
            <a:ext cx="4892040" cy="3931920"/>
          </a:xfrm>
          <a:prstGeom prst="rect">
            <a:avLst/>
          </a:prstGeom>
          <a:noFill/>
        </p:spPr>
        <p:txBody>
          <a:bodyPr wrap="square" lIns="45720" rIns="45720" tIns="18288">
            <a:spAutoFit/>
          </a:bodyPr>
          <a:lstStyle/>
          <a:p>
            <a:pPr>
              <a:lnSpc>
                <a:spcPct val="108000"/>
              </a:lnSpc>
              <a:spcAft>
                <a:spcPts val="800"/>
              </a:spcAft>
              <a:defRPr sz="1600">
                <a:solidFill>
                  <a:srgbClr val="262626"/>
                </a:solidFill>
                <a:latin typeface="Arial"/>
              </a:defRPr>
            </a:pPr>
            <a:r>
              <a:t>• unknown status</a:t>
            </a:r>
          </a:p>
          <a:p>
            <a:pPr>
              <a:lnSpc>
                <a:spcPct val="108000"/>
              </a:lnSpc>
              <a:spcAft>
                <a:spcPts val="800"/>
              </a:spcAft>
              <a:defRPr sz="1600">
                <a:solidFill>
                  <a:srgbClr val="262626"/>
                </a:solidFill>
                <a:latin typeface="Arial"/>
              </a:defRPr>
            </a:pPr>
            <a:r>
              <a:t>• missing customer/product/order</a:t>
            </a:r>
          </a:p>
          <a:p>
            <a:pPr>
              <a:lnSpc>
                <a:spcPct val="108000"/>
              </a:lnSpc>
              <a:spcAft>
                <a:spcPts val="800"/>
              </a:spcAft>
              <a:defRPr sz="1600">
                <a:solidFill>
                  <a:srgbClr val="262626"/>
                </a:solidFill>
                <a:latin typeface="Arial"/>
              </a:defRPr>
            </a:pPr>
            <a:r>
              <a:t>• payment before order</a:t>
            </a:r>
          </a:p>
          <a:p>
            <a:pPr>
              <a:lnSpc>
                <a:spcPct val="108000"/>
              </a:lnSpc>
              <a:spcAft>
                <a:spcPts val="800"/>
              </a:spcAft>
              <a:defRPr sz="1600">
                <a:solidFill>
                  <a:srgbClr val="262626"/>
                </a:solidFill>
                <a:latin typeface="Arial"/>
              </a:defRPr>
            </a:pPr>
            <a:r>
              <a:t>• quantity=0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Fix, Reject, Quarantine hay Fail?</a:t>
            </a:r>
          </a:p>
        </p:txBody>
      </p:sp>
      <p:sp>
        <p:nvSpPr>
          <p:cNvPr id="5" name="Rounded Rectangle 4"/>
          <p:cNvSpPr/>
          <p:nvPr/>
        </p:nvSpPr>
        <p:spPr>
          <a:xfrm>
            <a:off x="822960" y="1417320"/>
            <a:ext cx="5202936" cy="438912"/>
          </a:xfrm>
          <a:prstGeom prst="roundRect">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HÀNH VI</a:t>
            </a:r>
          </a:p>
        </p:txBody>
      </p:sp>
      <p:sp>
        <p:nvSpPr>
          <p:cNvPr id="6" name="Rounded Rectangle 5"/>
          <p:cNvSpPr/>
          <p:nvPr/>
        </p:nvSpPr>
        <p:spPr>
          <a:xfrm>
            <a:off x="822960"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Fix/normalize</a:t>
            </a:r>
          </a:p>
        </p:txBody>
      </p:sp>
      <p:sp>
        <p:nvSpPr>
          <p:cNvPr id="7" name="Rounded Rectangle 6"/>
          <p:cNvSpPr/>
          <p:nvPr/>
        </p:nvSpPr>
        <p:spPr>
          <a:xfrm>
            <a:off x="822960"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Reject row</a:t>
            </a:r>
          </a:p>
        </p:txBody>
      </p:sp>
      <p:sp>
        <p:nvSpPr>
          <p:cNvPr id="8" name="Rounded Rectangle 7"/>
          <p:cNvSpPr/>
          <p:nvPr/>
        </p:nvSpPr>
        <p:spPr>
          <a:xfrm>
            <a:off x="822960"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Quarantine batch</a:t>
            </a:r>
          </a:p>
        </p:txBody>
      </p:sp>
      <p:sp>
        <p:nvSpPr>
          <p:cNvPr id="9" name="Rounded Rectangle 8"/>
          <p:cNvSpPr/>
          <p:nvPr/>
        </p:nvSpPr>
        <p:spPr>
          <a:xfrm>
            <a:off x="822960"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Fail pipeline</a:t>
            </a:r>
          </a:p>
        </p:txBody>
      </p:sp>
      <p:sp>
        <p:nvSpPr>
          <p:cNvPr id="10" name="Rounded Rectangle 9"/>
          <p:cNvSpPr/>
          <p:nvPr/>
        </p:nvSpPr>
        <p:spPr>
          <a:xfrm>
            <a:off x="6135624" y="1417320"/>
            <a:ext cx="5202936" cy="438912"/>
          </a:xfrm>
          <a:prstGeom prst="roundRect">
            <a:avLst/>
          </a:prstGeom>
          <a:solidFill>
            <a:srgbClr val="5F63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rial"/>
              </a:defRPr>
            </a:pPr>
            <a:r>
              <a:t>KHI NÀO</a:t>
            </a:r>
          </a:p>
        </p:txBody>
      </p:sp>
      <p:sp>
        <p:nvSpPr>
          <p:cNvPr id="11" name="Rounded Rectangle 10"/>
          <p:cNvSpPr/>
          <p:nvPr/>
        </p:nvSpPr>
        <p:spPr>
          <a:xfrm>
            <a:off x="6135624" y="1938528"/>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Lỗi format xác định được</a:t>
            </a:r>
          </a:p>
        </p:txBody>
      </p:sp>
      <p:sp>
        <p:nvSpPr>
          <p:cNvPr id="12" name="Rounded Rectangle 11"/>
          <p:cNvSpPr/>
          <p:nvPr/>
        </p:nvSpPr>
        <p:spPr>
          <a:xfrm>
            <a:off x="6135624" y="2660904"/>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Record lỗi độc lập</a:t>
            </a:r>
          </a:p>
        </p:txBody>
      </p:sp>
      <p:sp>
        <p:nvSpPr>
          <p:cNvPr id="13" name="Rounded Rectangle 12"/>
          <p:cNvSpPr/>
          <p:nvPr/>
        </p:nvSpPr>
        <p:spPr>
          <a:xfrm>
            <a:off x="6135624" y="3383280"/>
            <a:ext cx="5202936" cy="658368"/>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Cần điều tra trước load</a:t>
            </a:r>
          </a:p>
        </p:txBody>
      </p:sp>
      <p:sp>
        <p:nvSpPr>
          <p:cNvPr id="14" name="Rounded Rectangle 13"/>
          <p:cNvSpPr/>
          <p:nvPr/>
        </p:nvSpPr>
        <p:spPr>
          <a:xfrm>
            <a:off x="6135624" y="4105656"/>
            <a:ext cx="5202936" cy="658368"/>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50">
                <a:solidFill>
                  <a:srgbClr val="262626"/>
                </a:solidFill>
                <a:latin typeface="Arial"/>
              </a:defRPr>
            </a:pPr>
            <a:r>
              <a:t>Schema/contract critical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Valid / Reject split</a:t>
            </a:r>
          </a:p>
        </p:txBody>
      </p:sp>
      <p:sp>
        <p:nvSpPr>
          <p:cNvPr id="5" name="Rounded Rectangle 4"/>
          <p:cNvSpPr/>
          <p:nvPr/>
        </p:nvSpPr>
        <p:spPr>
          <a:xfrm>
            <a:off x="777240" y="2240280"/>
            <a:ext cx="2539746"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INPUT</a:t>
            </a:r>
          </a:p>
          <a:p>
            <a:pPr algn="ctr">
              <a:defRPr sz="1150">
                <a:solidFill>
                  <a:srgbClr val="5F6368"/>
                </a:solidFill>
                <a:latin typeface="Arial"/>
              </a:defRPr>
            </a:pPr>
            <a:r>
              <a:t>100 rows</a:t>
            </a:r>
          </a:p>
        </p:txBody>
      </p:sp>
      <p:sp>
        <p:nvSpPr>
          <p:cNvPr id="6" name="Right Arrow 5"/>
          <p:cNvSpPr/>
          <p:nvPr/>
        </p:nvSpPr>
        <p:spPr>
          <a:xfrm>
            <a:off x="3344418"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481578" y="2240280"/>
            <a:ext cx="2539746"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VALIDATE</a:t>
            </a:r>
          </a:p>
          <a:p>
            <a:pPr algn="ctr">
              <a:defRPr sz="1150">
                <a:solidFill>
                  <a:srgbClr val="5F6368"/>
                </a:solidFill>
                <a:latin typeface="Arial"/>
              </a:defRPr>
            </a:pPr>
            <a:r>
              <a:t>rules</a:t>
            </a:r>
          </a:p>
        </p:txBody>
      </p:sp>
      <p:sp>
        <p:nvSpPr>
          <p:cNvPr id="8" name="Right Arrow 7"/>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85916" y="2240280"/>
            <a:ext cx="2539746"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VALID</a:t>
            </a:r>
          </a:p>
          <a:p>
            <a:pPr algn="ctr">
              <a:defRPr sz="1150">
                <a:solidFill>
                  <a:srgbClr val="5F6368"/>
                </a:solidFill>
                <a:latin typeface="Arial"/>
              </a:defRPr>
            </a:pPr>
            <a:r>
              <a:t>92</a:t>
            </a:r>
          </a:p>
        </p:txBody>
      </p:sp>
      <p:sp>
        <p:nvSpPr>
          <p:cNvPr id="10" name="Right Arrow 9"/>
          <p:cNvSpPr/>
          <p:nvPr/>
        </p:nvSpPr>
        <p:spPr>
          <a:xfrm>
            <a:off x="875309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890254" y="2240280"/>
            <a:ext cx="2539746"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REJECT</a:t>
            </a:r>
          </a:p>
          <a:p>
            <a:pPr algn="ctr">
              <a:defRPr sz="1150">
                <a:solidFill>
                  <a:srgbClr val="5F6368"/>
                </a:solidFill>
                <a:latin typeface="Arial"/>
              </a:defRPr>
            </a:pPr>
            <a:r>
              <a:t>8 + error_code</a:t>
            </a:r>
          </a:p>
        </p:txBody>
      </p:sp>
      <p:sp>
        <p:nvSpPr>
          <p:cNvPr id="12" name="TextBox 11"/>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Invariant quan trọng: Input = Valid + Rejected.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Error code phải ổn định và đọc được</a:t>
            </a:r>
          </a:p>
        </p:txBody>
      </p:sp>
      <p:sp>
        <p:nvSpPr>
          <p:cNvPr id="5" name="Rounded Rectangle 4"/>
          <p:cNvSpPr/>
          <p:nvPr/>
        </p:nvSpPr>
        <p:spPr>
          <a:xfrm>
            <a:off x="868680" y="1691640"/>
            <a:ext cx="3337560" cy="1965960"/>
          </a:xfrm>
          <a:prstGeom prst="roundRect">
            <a:avLst/>
          </a:prstGeom>
          <a:solidFill>
            <a:srgbClr val="FFFFFF"/>
          </a:solidFill>
          <a:ln>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INVALID_EMAIL</a:t>
            </a:r>
          </a:p>
          <a:p>
            <a:pPr>
              <a:defRPr sz="1150">
                <a:solidFill>
                  <a:srgbClr val="262626"/>
                </a:solidFill>
                <a:latin typeface="Arial"/>
              </a:defRPr>
            </a:pPr>
            <a:r>
              <a:t>Email sai format</a:t>
            </a:r>
          </a:p>
        </p:txBody>
      </p:sp>
      <p:sp>
        <p:nvSpPr>
          <p:cNvPr id="6" name="Rounded Rectangle 5"/>
          <p:cNvSpPr/>
          <p:nvPr/>
        </p:nvSpPr>
        <p:spPr>
          <a:xfrm>
            <a:off x="443484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DUPLICATE_ID</a:t>
            </a:r>
          </a:p>
          <a:p>
            <a:pPr>
              <a:defRPr sz="1150">
                <a:solidFill>
                  <a:srgbClr val="262626"/>
                </a:solidFill>
                <a:latin typeface="Arial"/>
              </a:defRPr>
            </a:pPr>
            <a:r>
              <a:t>PK trùng trong batch</a:t>
            </a:r>
          </a:p>
        </p:txBody>
      </p:sp>
      <p:sp>
        <p:nvSpPr>
          <p:cNvPr id="7" name="Rounded Rectangle 6"/>
          <p:cNvSpPr/>
          <p:nvPr/>
        </p:nvSpPr>
        <p:spPr>
          <a:xfrm>
            <a:off x="8001000" y="169164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NEGATIVE_PRICE</a:t>
            </a:r>
          </a:p>
          <a:p>
            <a:pPr>
              <a:defRPr sz="1150">
                <a:solidFill>
                  <a:srgbClr val="262626"/>
                </a:solidFill>
                <a:latin typeface="Arial"/>
              </a:defRPr>
            </a:pPr>
            <a:r>
              <a:t>Giá &lt; 0</a:t>
            </a:r>
          </a:p>
        </p:txBody>
      </p:sp>
      <p:sp>
        <p:nvSpPr>
          <p:cNvPr id="8" name="Rounded Rectangle 7"/>
          <p:cNvSpPr/>
          <p:nvPr/>
        </p:nvSpPr>
        <p:spPr>
          <a:xfrm>
            <a:off x="86868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INVALID_STATUS</a:t>
            </a:r>
          </a:p>
          <a:p>
            <a:pPr>
              <a:defRPr sz="1150">
                <a:solidFill>
                  <a:srgbClr val="262626"/>
                </a:solidFill>
                <a:latin typeface="Arial"/>
              </a:defRPr>
            </a:pPr>
            <a:r>
              <a:t>Ngoài enum</a:t>
            </a:r>
          </a:p>
        </p:txBody>
      </p:sp>
      <p:sp>
        <p:nvSpPr>
          <p:cNvPr id="9" name="Rounded Rectangle 8"/>
          <p:cNvSpPr/>
          <p:nvPr/>
        </p:nvSpPr>
        <p:spPr>
          <a:xfrm>
            <a:off x="443484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MISSING_REFERENCE</a:t>
            </a:r>
          </a:p>
          <a:p>
            <a:pPr>
              <a:defRPr sz="1150">
                <a:solidFill>
                  <a:srgbClr val="262626"/>
                </a:solidFill>
                <a:latin typeface="Arial"/>
              </a:defRPr>
            </a:pPr>
            <a:r>
              <a:t>FK không tồn tại</a:t>
            </a:r>
          </a:p>
        </p:txBody>
      </p:sp>
      <p:sp>
        <p:nvSpPr>
          <p:cNvPr id="10" name="Rounded Rectangle 9"/>
          <p:cNvSpPr/>
          <p:nvPr/>
        </p:nvSpPr>
        <p:spPr>
          <a:xfrm>
            <a:off x="8001000" y="3886200"/>
            <a:ext cx="3337560" cy="1965960"/>
          </a:xfrm>
          <a:prstGeom prst="roundRect">
            <a:avLst/>
          </a:prstGeom>
          <a:solidFill>
            <a:srgbClr val="FFFFFF"/>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C5272A"/>
                </a:solidFill>
                <a:latin typeface="Arial"/>
              </a:defRPr>
            </a:pPr>
            <a:r>
              <a:t>BAD_DATE</a:t>
            </a:r>
          </a:p>
          <a:p>
            <a:pPr>
              <a:defRPr sz="1150">
                <a:solidFill>
                  <a:srgbClr val="262626"/>
                </a:solidFill>
                <a:latin typeface="Arial"/>
              </a:defRPr>
            </a:pPr>
            <a:r>
              <a:t>Không parse được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Data Quality Report</a:t>
            </a:r>
          </a:p>
        </p:txBody>
      </p:sp>
      <p:sp>
        <p:nvSpPr>
          <p:cNvPr id="5" name="Rounded Rectangle 4"/>
          <p:cNvSpPr/>
          <p:nvPr/>
        </p:nvSpPr>
        <p:spPr>
          <a:xfrm>
            <a:off x="86868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INPUT</a:t>
            </a:r>
          </a:p>
          <a:p>
            <a:pPr>
              <a:defRPr sz="2000" b="1">
                <a:solidFill>
                  <a:srgbClr val="C5272A"/>
                </a:solidFill>
                <a:latin typeface="Arial"/>
              </a:defRPr>
            </a:pPr>
            <a:r>
              <a:t>N</a:t>
            </a:r>
          </a:p>
          <a:p>
            <a:pPr>
              <a:defRPr sz="1050">
                <a:solidFill>
                  <a:srgbClr val="5F6368"/>
                </a:solidFill>
                <a:latin typeface="Arial"/>
              </a:defRPr>
            </a:pPr>
            <a:r>
              <a:t>rows received</a:t>
            </a:r>
          </a:p>
        </p:txBody>
      </p:sp>
      <p:sp>
        <p:nvSpPr>
          <p:cNvPr id="6" name="Rounded Rectangle 5"/>
          <p:cNvSpPr/>
          <p:nvPr/>
        </p:nvSpPr>
        <p:spPr>
          <a:xfrm>
            <a:off x="443484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VALID</a:t>
            </a:r>
          </a:p>
          <a:p>
            <a:pPr>
              <a:defRPr sz="2000" b="1">
                <a:solidFill>
                  <a:srgbClr val="C5272A"/>
                </a:solidFill>
                <a:latin typeface="Arial"/>
              </a:defRPr>
            </a:pPr>
            <a:r>
              <a:t>V</a:t>
            </a:r>
          </a:p>
          <a:p>
            <a:pPr>
              <a:defRPr sz="1050">
                <a:solidFill>
                  <a:srgbClr val="5F6368"/>
                </a:solidFill>
                <a:latin typeface="Arial"/>
              </a:defRPr>
            </a:pPr>
            <a:r>
              <a:t>ready to load</a:t>
            </a:r>
          </a:p>
        </p:txBody>
      </p:sp>
      <p:sp>
        <p:nvSpPr>
          <p:cNvPr id="7" name="Rounded Rectangle 6"/>
          <p:cNvSpPr/>
          <p:nvPr/>
        </p:nvSpPr>
        <p:spPr>
          <a:xfrm>
            <a:off x="8001000" y="182880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REJECTED</a:t>
            </a:r>
          </a:p>
          <a:p>
            <a:pPr>
              <a:defRPr sz="2000" b="1">
                <a:solidFill>
                  <a:srgbClr val="C5272A"/>
                </a:solidFill>
                <a:latin typeface="Arial"/>
              </a:defRPr>
            </a:pPr>
            <a:r>
              <a:t>R</a:t>
            </a:r>
          </a:p>
          <a:p>
            <a:pPr>
              <a:defRPr sz="1050">
                <a:solidFill>
                  <a:srgbClr val="5F6368"/>
                </a:solidFill>
                <a:latin typeface="Arial"/>
              </a:defRPr>
            </a:pPr>
            <a:r>
              <a:t>quarantined</a:t>
            </a:r>
          </a:p>
        </p:txBody>
      </p:sp>
      <p:sp>
        <p:nvSpPr>
          <p:cNvPr id="8" name="Rounded Rectangle 7"/>
          <p:cNvSpPr/>
          <p:nvPr/>
        </p:nvSpPr>
        <p:spPr>
          <a:xfrm>
            <a:off x="86868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VALID RATE</a:t>
            </a:r>
          </a:p>
          <a:p>
            <a:pPr>
              <a:defRPr sz="2000" b="1">
                <a:solidFill>
                  <a:srgbClr val="C5272A"/>
                </a:solidFill>
                <a:latin typeface="Arial"/>
              </a:defRPr>
            </a:pPr>
            <a:r>
              <a:t>V/N</a:t>
            </a:r>
          </a:p>
          <a:p>
            <a:pPr>
              <a:defRPr sz="1050">
                <a:solidFill>
                  <a:srgbClr val="5F6368"/>
                </a:solidFill>
                <a:latin typeface="Arial"/>
              </a:defRPr>
            </a:pPr>
            <a:r>
              <a:t>quality KPI</a:t>
            </a:r>
          </a:p>
        </p:txBody>
      </p:sp>
      <p:sp>
        <p:nvSpPr>
          <p:cNvPr id="9" name="Rounded Rectangle 8"/>
          <p:cNvSpPr/>
          <p:nvPr/>
        </p:nvSpPr>
        <p:spPr>
          <a:xfrm>
            <a:off x="443484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ERROR TOP</a:t>
            </a:r>
          </a:p>
          <a:p>
            <a:pPr>
              <a:defRPr sz="2000" b="1">
                <a:solidFill>
                  <a:srgbClr val="C5272A"/>
                </a:solidFill>
                <a:latin typeface="Arial"/>
              </a:defRPr>
            </a:pPr>
            <a:r>
              <a:t>code</a:t>
            </a:r>
          </a:p>
          <a:p>
            <a:pPr>
              <a:defRPr sz="1050">
                <a:solidFill>
                  <a:srgbClr val="5F6368"/>
                </a:solidFill>
                <a:latin typeface="Arial"/>
              </a:defRPr>
            </a:pPr>
            <a:r>
              <a:t>root cause</a:t>
            </a:r>
          </a:p>
        </p:txBody>
      </p:sp>
      <p:sp>
        <p:nvSpPr>
          <p:cNvPr id="10" name="Rounded Rectangle 9"/>
          <p:cNvSpPr/>
          <p:nvPr/>
        </p:nvSpPr>
        <p:spPr>
          <a:xfrm>
            <a:off x="8001000" y="3246120"/>
            <a:ext cx="3246120" cy="1097280"/>
          </a:xfrm>
          <a:prstGeom prst="roundRect">
            <a:avLst/>
          </a:prstGeom>
          <a:solidFill>
            <a:srgbClr val="F5F6F8"/>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F6368"/>
                </a:solidFill>
                <a:latin typeface="Arial"/>
              </a:defRPr>
            </a:pPr>
            <a:r>
              <a:t>RUN_ID</a:t>
            </a:r>
          </a:p>
          <a:p>
            <a:pPr>
              <a:defRPr sz="2000" b="1">
                <a:solidFill>
                  <a:srgbClr val="C5272A"/>
                </a:solidFill>
                <a:latin typeface="Arial"/>
              </a:defRPr>
            </a:pPr>
            <a:r>
              <a:t>uuid</a:t>
            </a:r>
          </a:p>
          <a:p>
            <a:pPr>
              <a:defRPr sz="1050">
                <a:solidFill>
                  <a:srgbClr val="5F6368"/>
                </a:solidFill>
                <a:latin typeface="Arial"/>
              </a:defRPr>
            </a:pPr>
            <a:r>
              <a:t>traceability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DQ report dạng bảng</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run_id,dataset,input,valid,rejected,inserted_or_updated</a:t>
            </a:r>
            <a:br/>
            <a:r>
              <a:t>... ,customers,40,36,4,36</a:t>
            </a:r>
            <a:br/>
            <a:r>
              <a:t>... ,products,30,27,3,27</a:t>
            </a:r>
            <a:br/>
            <a:r>
              <a:t>... ,orders,100,96,4,96</a:t>
            </a:r>
            <a:br/>
            <a:r>
              <a:t>... ,order_items,220,216,4,216</a:t>
            </a:r>
            <a:br/>
            <a:r>
              <a:t>... ,payments,90,86,4,86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Automated test cho validation</a:t>
            </a:r>
          </a:p>
        </p:txBody>
      </p:sp>
      <p:sp>
        <p:nvSpPr>
          <p:cNvPr id="5" name="Rounded Rectangle 4"/>
          <p:cNvSpPr/>
          <p:nvPr/>
        </p:nvSpPr>
        <p:spPr>
          <a:xfrm>
            <a:off x="822960" y="1600200"/>
            <a:ext cx="10561320" cy="4160520"/>
          </a:xfrm>
          <a:prstGeom prst="roundRect">
            <a:avLst/>
          </a:prstGeom>
          <a:solidFill>
            <a:srgbClr val="F9F9F9"/>
          </a:solidFill>
          <a:ln>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28016"/>
          <a:lstStyle/>
          <a:p>
            <a:pPr algn="ctr">
              <a:lnSpc>
                <a:spcPct val="100000"/>
              </a:lnSpc>
              <a:defRPr sz="1250">
                <a:solidFill>
                  <a:srgbClr val="1E1E1E"/>
                </a:solidFill>
                <a:latin typeface="Courier New"/>
              </a:defRPr>
            </a:pPr>
            <a:r>
              <a:t>def test_bad_email_rejected():</a:t>
            </a:r>
            <a:br/>
            <a:r>
              <a:t>    df = pd.DataFrame([{</a:t>
            </a:r>
            <a:br/>
            <a:r>
              <a:t>      "customer_id":"CUS1", "full_name":"A",</a:t>
            </a:r>
            <a:br/>
            <a:r>
              <a:t>      "email":"bad", "status":"active"</a:t>
            </a:r>
            <a:br/>
            <a:r>
              <a:t>    }])</a:t>
            </a:r>
            <a:br/>
            <a:r>
              <a:t>    valid, reject = split_valid_invalid("customers", df)</a:t>
            </a:r>
            <a:br/>
            <a:r>
              <a:t>    assert len(valid) == 0</a:t>
            </a:r>
            <a:br/>
            <a:r>
              <a:t>    assert "INVALID_EMAIL" in reject.iloc[0].error_code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10 test cases tối thiểu</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Invalid email</a:t>
            </a:r>
          </a:p>
          <a:p>
            <a:pPr>
              <a:lnSpc>
                <a:spcPct val="108000"/>
              </a:lnSpc>
              <a:spcAft>
                <a:spcPts val="800"/>
              </a:spcAft>
              <a:defRPr sz="1800">
                <a:solidFill>
                  <a:srgbClr val="262626"/>
                </a:solidFill>
                <a:latin typeface="Arial"/>
              </a:defRPr>
            </a:pPr>
            <a:r>
              <a:t>• Missing required field</a:t>
            </a:r>
          </a:p>
          <a:p>
            <a:pPr>
              <a:lnSpc>
                <a:spcPct val="108000"/>
              </a:lnSpc>
              <a:spcAft>
                <a:spcPts val="800"/>
              </a:spcAft>
              <a:defRPr sz="1800">
                <a:solidFill>
                  <a:srgbClr val="262626"/>
                </a:solidFill>
                <a:latin typeface="Arial"/>
              </a:defRPr>
            </a:pPr>
            <a:r>
              <a:t>• Duplicate ID</a:t>
            </a:r>
          </a:p>
          <a:p>
            <a:pPr>
              <a:lnSpc>
                <a:spcPct val="108000"/>
              </a:lnSpc>
              <a:spcAft>
                <a:spcPts val="800"/>
              </a:spcAft>
              <a:defRPr sz="1800">
                <a:solidFill>
                  <a:srgbClr val="262626"/>
                </a:solidFill>
                <a:latin typeface="Arial"/>
              </a:defRPr>
            </a:pPr>
            <a:r>
              <a:t>• Negative price</a:t>
            </a:r>
          </a:p>
          <a:p>
            <a:pPr>
              <a:lnSpc>
                <a:spcPct val="108000"/>
              </a:lnSpc>
              <a:spcAft>
                <a:spcPts val="800"/>
              </a:spcAft>
              <a:defRPr sz="1800">
                <a:solidFill>
                  <a:srgbClr val="262626"/>
                </a:solidFill>
                <a:latin typeface="Arial"/>
              </a:defRPr>
            </a:pPr>
            <a:r>
              <a:t>• Quantity = 0</a:t>
            </a:r>
          </a:p>
          <a:p>
            <a:pPr>
              <a:lnSpc>
                <a:spcPct val="108000"/>
              </a:lnSpc>
              <a:spcAft>
                <a:spcPts val="800"/>
              </a:spcAft>
              <a:defRPr sz="1800">
                <a:solidFill>
                  <a:srgbClr val="262626"/>
                </a:solidFill>
                <a:latin typeface="Arial"/>
              </a:defRPr>
            </a:pPr>
            <a:r>
              <a:t>• Negative discount</a:t>
            </a:r>
          </a:p>
          <a:p>
            <a:pPr>
              <a:lnSpc>
                <a:spcPct val="108000"/>
              </a:lnSpc>
              <a:spcAft>
                <a:spcPts val="800"/>
              </a:spcAft>
              <a:defRPr sz="1800">
                <a:solidFill>
                  <a:srgbClr val="262626"/>
                </a:solidFill>
                <a:latin typeface="Arial"/>
              </a:defRPr>
            </a:pPr>
            <a:r>
              <a:t>• Invalid order status</a:t>
            </a:r>
          </a:p>
          <a:p>
            <a:pPr>
              <a:lnSpc>
                <a:spcPct val="108000"/>
              </a:lnSpc>
              <a:spcAft>
                <a:spcPts val="800"/>
              </a:spcAft>
              <a:defRPr sz="1800">
                <a:solidFill>
                  <a:srgbClr val="262626"/>
                </a:solidFill>
                <a:latin typeface="Arial"/>
              </a:defRPr>
            </a:pPr>
            <a:r>
              <a:t>• Invalid channel</a:t>
            </a:r>
          </a:p>
          <a:p>
            <a:pPr>
              <a:lnSpc>
                <a:spcPct val="108000"/>
              </a:lnSpc>
              <a:spcAft>
                <a:spcPts val="800"/>
              </a:spcAft>
              <a:defRPr sz="1800">
                <a:solidFill>
                  <a:srgbClr val="262626"/>
                </a:solidFill>
                <a:latin typeface="Arial"/>
              </a:defRPr>
            </a:pPr>
            <a:r>
              <a:t>• Negative payment amount</a:t>
            </a:r>
          </a:p>
          <a:p>
            <a:pPr>
              <a:lnSpc>
                <a:spcPct val="108000"/>
              </a:lnSpc>
              <a:spcAft>
                <a:spcPts val="800"/>
              </a:spcAft>
              <a:defRPr sz="1800">
                <a:solidFill>
                  <a:srgbClr val="262626"/>
                </a:solidFill>
                <a:latin typeface="Arial"/>
              </a:defRPr>
            </a:pPr>
            <a:r>
              <a:t>• Invalid payment status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Lab 7 – Dirty Data Challenge</a:t>
            </a:r>
          </a:p>
        </p:txBody>
      </p:sp>
      <p:sp>
        <p:nvSpPr>
          <p:cNvPr id="5" name="Rounded Rectangle 4"/>
          <p:cNvSpPr/>
          <p:nvPr/>
        </p:nvSpPr>
        <p:spPr>
          <a:xfrm>
            <a:off x="777240" y="2240280"/>
            <a:ext cx="1638300" cy="1417320"/>
          </a:xfrm>
          <a:prstGeom prst="roundRect">
            <a:avLst/>
          </a:prstGeom>
          <a:solidFill>
            <a:srgbClr val="FFFFFF"/>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1</a:t>
            </a:r>
          </a:p>
          <a:p>
            <a:pPr algn="ctr">
              <a:defRPr sz="1150">
                <a:solidFill>
                  <a:srgbClr val="5F6368"/>
                </a:solidFill>
                <a:latin typeface="Arial"/>
              </a:defRPr>
            </a:pPr>
            <a:r>
              <a:t>Profile</a:t>
            </a:r>
          </a:p>
        </p:txBody>
      </p:sp>
      <p:sp>
        <p:nvSpPr>
          <p:cNvPr id="6" name="Right Arrow 5"/>
          <p:cNvSpPr/>
          <p:nvPr/>
        </p:nvSpPr>
        <p:spPr>
          <a:xfrm>
            <a:off x="2442972"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580132"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2</a:t>
            </a:r>
          </a:p>
          <a:p>
            <a:pPr algn="ctr">
              <a:defRPr sz="1150">
                <a:solidFill>
                  <a:srgbClr val="5F6368"/>
                </a:solidFill>
                <a:latin typeface="Arial"/>
              </a:defRPr>
            </a:pPr>
            <a:r>
              <a:t>Validate schema</a:t>
            </a:r>
          </a:p>
        </p:txBody>
      </p:sp>
      <p:sp>
        <p:nvSpPr>
          <p:cNvPr id="8" name="Right Arrow 7"/>
          <p:cNvSpPr/>
          <p:nvPr/>
        </p:nvSpPr>
        <p:spPr>
          <a:xfrm>
            <a:off x="4245864"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83024"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3</a:t>
            </a:r>
          </a:p>
          <a:p>
            <a:pPr algn="ctr">
              <a:defRPr sz="1150">
                <a:solidFill>
                  <a:srgbClr val="5F6368"/>
                </a:solidFill>
                <a:latin typeface="Arial"/>
              </a:defRPr>
            </a:pPr>
            <a:r>
              <a:t>Business rules</a:t>
            </a:r>
          </a:p>
        </p:txBody>
      </p:sp>
      <p:sp>
        <p:nvSpPr>
          <p:cNvPr id="10" name="Right Arrow 9"/>
          <p:cNvSpPr/>
          <p:nvPr/>
        </p:nvSpPr>
        <p:spPr>
          <a:xfrm>
            <a:off x="6048756"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185916" y="2240280"/>
            <a:ext cx="1638300" cy="1417320"/>
          </a:xfrm>
          <a:prstGeom prst="roundRect">
            <a:avLst/>
          </a:prstGeom>
          <a:solidFill>
            <a:srgbClr val="F5F6F8"/>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4</a:t>
            </a:r>
          </a:p>
          <a:p>
            <a:pPr algn="ctr">
              <a:defRPr sz="1150">
                <a:solidFill>
                  <a:srgbClr val="5F6368"/>
                </a:solidFill>
                <a:latin typeface="Arial"/>
              </a:defRPr>
            </a:pPr>
            <a:r>
              <a:t>Cross-table</a:t>
            </a:r>
          </a:p>
        </p:txBody>
      </p:sp>
      <p:sp>
        <p:nvSpPr>
          <p:cNvPr id="12" name="Right Arrow 11"/>
          <p:cNvSpPr/>
          <p:nvPr/>
        </p:nvSpPr>
        <p:spPr>
          <a:xfrm>
            <a:off x="7851647"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988808" y="2240280"/>
            <a:ext cx="1638300" cy="1417320"/>
          </a:xfrm>
          <a:prstGeom prst="roundRect">
            <a:avLst/>
          </a:prstGeom>
          <a:solidFill>
            <a:srgbClr val="FFFFFF"/>
          </a:solidFill>
          <a:ln w="19050">
            <a:solidFill>
              <a:srgbClr val="E1E4E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262626"/>
                </a:solidFill>
                <a:latin typeface="Arial"/>
              </a:defRPr>
            </a:pPr>
            <a:r>
              <a:t>5</a:t>
            </a:r>
          </a:p>
          <a:p>
            <a:pPr algn="ctr">
              <a:defRPr sz="1150">
                <a:solidFill>
                  <a:srgbClr val="5F6368"/>
                </a:solidFill>
                <a:latin typeface="Arial"/>
              </a:defRPr>
            </a:pPr>
            <a:r>
              <a:t>Reject</a:t>
            </a:r>
          </a:p>
        </p:txBody>
      </p:sp>
      <p:sp>
        <p:nvSpPr>
          <p:cNvPr id="14" name="Right Arrow 13"/>
          <p:cNvSpPr/>
          <p:nvPr/>
        </p:nvSpPr>
        <p:spPr>
          <a:xfrm>
            <a:off x="9654539" y="2734056"/>
            <a:ext cx="146304" cy="411480"/>
          </a:xfrm>
          <a:prstGeom prst="rightArrow">
            <a:avLst/>
          </a:prstGeom>
          <a:solidFill>
            <a:srgbClr val="C52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91700" y="2240280"/>
            <a:ext cx="1638300" cy="1417320"/>
          </a:xfrm>
          <a:prstGeom prst="roundRect">
            <a:avLst/>
          </a:prstGeom>
          <a:solidFill>
            <a:srgbClr val="F5F6F8"/>
          </a:solidFill>
          <a:ln w="19050">
            <a:solidFill>
              <a:srgbClr val="C5272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C5272A"/>
                </a:solidFill>
                <a:latin typeface="Arial"/>
              </a:defRPr>
            </a:pPr>
            <a:r>
              <a:t>6</a:t>
            </a:r>
          </a:p>
          <a:p>
            <a:pPr algn="ctr">
              <a:defRPr sz="1150">
                <a:solidFill>
                  <a:srgbClr val="5F6368"/>
                </a:solidFill>
                <a:latin typeface="Arial"/>
              </a:defRPr>
            </a:pPr>
            <a:r>
              <a:t>DQ report</a:t>
            </a:r>
          </a:p>
        </p:txBody>
      </p:sp>
      <p:sp>
        <p:nvSpPr>
          <p:cNvPr id="16" name="TextBox 15"/>
          <p:cNvSpPr txBox="1"/>
          <p:nvPr/>
        </p:nvSpPr>
        <p:spPr>
          <a:xfrm>
            <a:off x="914400" y="4069080"/>
            <a:ext cx="10241280" cy="594360"/>
          </a:xfrm>
          <a:prstGeom prst="rect">
            <a:avLst/>
          </a:prstGeom>
          <a:noFill/>
        </p:spPr>
        <p:txBody>
          <a:bodyPr wrap="square" lIns="45720" rIns="45720" anchor="t">
            <a:spAutoFit/>
          </a:bodyPr>
          <a:lstStyle/>
          <a:p>
            <a:pPr algn="ctr"/>
            <a:r>
              <a:rPr sz="1400" b="0">
                <a:solidFill>
                  <a:srgbClr val="5F6368"/>
                </a:solidFill>
                <a:latin typeface="Arial"/>
              </a:rPr>
              <a:t>Không chỉnh sửa RAW bằng tay. Mọi xử lý phải nằm trong code/rule.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
          </p:nvPr>
        </p:nvSpPr>
        <p:spPr/>
        <p:txBody>
          <a:bodyPr/>
          <a:lstStyle/>
          <a:p/>
        </p:txBody>
      </p:sp>
      <p:sp>
        <p:nvSpPr>
          <p:cNvPr id="3" name="Text Placeholder 2"/>
          <p:cNvSpPr>
            <a:spLocks noGrp="1"/>
          </p:cNvSpPr>
          <p:nvPr>
            <p:ph type="body" idx="2"/>
          </p:nvPr>
        </p:nvSpPr>
        <p:spPr/>
        <p:txBody>
          <a:bodyPr/>
          <a:lstStyle/>
          <a:p/>
        </p:txBody>
      </p:sp>
      <p:sp>
        <p:nvSpPr>
          <p:cNvPr id="4" name="Title 3"/>
          <p:cNvSpPr>
            <a:spLocks noGrp="1"/>
          </p:cNvSpPr>
          <p:nvPr>
            <p:ph type="title"/>
          </p:nvPr>
        </p:nvSpPr>
        <p:spPr/>
        <p:txBody>
          <a:bodyPr wrap="square"/>
          <a:lstStyle/>
          <a:p>
            <a:pPr>
              <a:defRPr sz="2500" b="1">
                <a:solidFill>
                  <a:srgbClr val="C5272A"/>
                </a:solidFill>
                <a:latin typeface="Arial"/>
              </a:defRPr>
            </a:pPr>
            <a:r>
              <a:t>Checkpoint cuối Buổi 7</a:t>
            </a:r>
          </a:p>
        </p:txBody>
      </p:sp>
      <p:sp>
        <p:nvSpPr>
          <p:cNvPr id="5" name="TextBox 4"/>
          <p:cNvSpPr txBox="1"/>
          <p:nvPr/>
        </p:nvSpPr>
        <p:spPr>
          <a:xfrm>
            <a:off x="841248" y="1490472"/>
            <a:ext cx="10515600" cy="4526280"/>
          </a:xfrm>
          <a:prstGeom prst="rect">
            <a:avLst/>
          </a:prstGeom>
          <a:noFill/>
        </p:spPr>
        <p:txBody>
          <a:bodyPr wrap="square" lIns="45720" rIns="45720" tIns="18288">
            <a:spAutoFit/>
          </a:bodyPr>
          <a:lstStyle/>
          <a:p>
            <a:pPr>
              <a:lnSpc>
                <a:spcPct val="108000"/>
              </a:lnSpc>
              <a:spcAft>
                <a:spcPts val="800"/>
              </a:spcAft>
              <a:defRPr sz="1800">
                <a:solidFill>
                  <a:srgbClr val="262626"/>
                </a:solidFill>
                <a:latin typeface="Arial"/>
              </a:defRPr>
            </a:pPr>
            <a:r>
              <a:t>• Input = Valid + Rejected cho từng dataset</a:t>
            </a:r>
          </a:p>
          <a:p>
            <a:pPr>
              <a:lnSpc>
                <a:spcPct val="108000"/>
              </a:lnSpc>
              <a:spcAft>
                <a:spcPts val="800"/>
              </a:spcAft>
              <a:defRPr sz="1800">
                <a:solidFill>
                  <a:srgbClr val="262626"/>
                </a:solidFill>
                <a:latin typeface="Arial"/>
              </a:defRPr>
            </a:pPr>
            <a:r>
              <a:t>• Reject có error_code/error_message hoặc code rõ</a:t>
            </a:r>
          </a:p>
          <a:p>
            <a:pPr>
              <a:lnSpc>
                <a:spcPct val="108000"/>
              </a:lnSpc>
              <a:spcAft>
                <a:spcPts val="800"/>
              </a:spcAft>
              <a:defRPr sz="1800">
                <a:solidFill>
                  <a:srgbClr val="262626"/>
                </a:solidFill>
                <a:latin typeface="Arial"/>
              </a:defRPr>
            </a:pPr>
            <a:r>
              <a:t>• Không load invalid row vào CORE</a:t>
            </a:r>
          </a:p>
          <a:p>
            <a:pPr>
              <a:lnSpc>
                <a:spcPct val="108000"/>
              </a:lnSpc>
              <a:spcAft>
                <a:spcPts val="800"/>
              </a:spcAft>
              <a:defRPr sz="1800">
                <a:solidFill>
                  <a:srgbClr val="262626"/>
                </a:solidFill>
                <a:latin typeface="Arial"/>
              </a:defRPr>
            </a:pPr>
            <a:r>
              <a:t>• pytest pass ≥ 10 tests</a:t>
            </a:r>
          </a:p>
          <a:p>
            <a:pPr>
              <a:lnSpc>
                <a:spcPct val="108000"/>
              </a:lnSpc>
              <a:spcAft>
                <a:spcPts val="800"/>
              </a:spcAft>
              <a:defRPr sz="1800">
                <a:solidFill>
                  <a:srgbClr val="262626"/>
                </a:solidFill>
                <a:latin typeface="Arial"/>
              </a:defRPr>
            </a:pPr>
            <a:r>
              <a:t>• DQ report lưu theo run và có row counts</a:t>
            </a:r>
          </a:p>
        </p:txBody>
      </p:sp>
    </p:spTree>
  </p:cSld>
  <p:clrMapOvr>
    <a:masterClrMapping/>
  </p:clrMapOvr>
</p:sld>
</file>

<file path=ppt/theme/theme1.xml><?xml version="1.0" encoding="utf-8"?>
<a:theme xmlns:a="http://schemas.openxmlformats.org/drawingml/2006/main" name="Office Theme">
  <a:themeElements>
    <a:clrScheme name="Custom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40</Words>
  <Application>Microsoft Office PowerPoint</Application>
  <PresentationFormat>Widescreen</PresentationFormat>
  <Paragraphs>18</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Montserrat</vt:lpstr>
      <vt:lpstr>Trebuchet MS</vt:lpstr>
      <vt:lpstr>Montserrat Medium</vt:lpstr>
      <vt:lpstr>Montserrat Black</vt:lpstr>
      <vt:lpstr>Arial</vt:lpstr>
      <vt:lpstr>Calibri</vt:lpstr>
      <vt:lpstr>Montserrat ExtraBold</vt:lpstr>
      <vt:lpstr>Courier New</vt:lpstr>
      <vt:lpstr>Office Theme</vt:lpstr>
      <vt:lpstr>Tiêu Đề</vt:lpstr>
      <vt:lpstr> NỘI DUNG</vt:lpstr>
      <vt:lpstr>1. Lịch sử ra đời của Web</vt:lpstr>
      <vt:lpstr> TỔNG KẾT</vt:lpstr>
      <vt:lpstr>KẾT THÚC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Tiêu Đề</dc:title>
  <cp:lastModifiedBy>Media Rikkei Academy</cp:lastModifiedBy>
  <cp:revision>4</cp:revision>
  <dcterms:modified xsi:type="dcterms:W3CDTF">2024-01-09T03:56:22Z</dcterms:modified>
</cp:coreProperties>
</file>