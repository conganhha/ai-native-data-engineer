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79" r:id="rId51"/>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định vị</a:t>
            </a:r>
            <a:endParaRPr lang="vi-VN"/>
          </a:p>
          <a:p>
            <a:pPr marL="0" lvl="0" indent="0" algn="l">
              <a:buNone/>
            </a:pPr>
            <a:r>
              <a:rPr lang="vi-VN" dirty="0"/>
              <a:t>Lời giảng: Ba buổi đầu chúng ta làm OLTP và query trực tiếp. Hôm nay chuyển góc nhìn: thay vì bắt mỗi báo cáo join nhiều bảng, ta thiết kế một cấu trúc phục vụ analytics ổn định. Mục tiêu cuối buổi là có star schema Sales, DDL, load script và đối soát với OLTP. Từ khóa quan trọng nhất hôm nay là grain.</a:t>
            </a:r>
            <a:endParaRPr lang="vi-VN"/>
          </a:p>
          <a:p>
            <a:pPr marL="0" lvl="0" indent="0" algn="l">
              <a:buNone/>
            </a:pPr>
            <a:r>
              <a:rPr lang="vi-VN" dirty="0"/>
              <a:t>Tương tác / demo: Hỏi lại lớp: 'Một dòng order_items đại diện cho gì?' để nối với fact grain.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định vị</a:t>
            </a:r>
            <a:endParaRPr lang="vi-VN"/>
          </a:p>
          <a:p>
            <a:pPr marL="0" lvl="0" indent="0" algn="l">
              <a:buNone/>
            </a:pPr>
            <a:r>
              <a:rPr lang="vi-VN" dirty="0"/>
              <a:t>Lời giảng: Ba buổi đầu chúng ta làm OLTP và query trực tiếp. Hôm nay chuyển góc nhìn: thay vì bắt mỗi báo cáo join nhiều bảng, ta thiết kế một cấu trúc phục vụ analytics ổn định. Mục tiêu cuối buổi là có star schema Sales, DDL, load script và đối soát với OLTP. Từ khóa quan trọng nhất hôm nay là grain.</a:t>
            </a:r>
            <a:endParaRPr lang="vi-VN"/>
          </a:p>
          <a:p>
            <a:pPr marL="0" lvl="0" indent="0" algn="l">
              <a:buNone/>
            </a:pPr>
            <a:r>
              <a:rPr lang="vi-VN" dirty="0"/>
              <a:t>Tương tác / demo: Hỏi lại lớp: 'Một dòng order_items đại diện cho gì?' để nối với fact grain.</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 và định vị</a:t>
            </a:r>
            <a:endParaRPr lang="vi-VN"/>
          </a:p>
          <a:p>
            <a:pPr marL="0" lvl="0" indent="0" algn="l">
              <a:buNone/>
            </a:pPr>
            <a:r>
              <a:rPr lang="vi-VN" dirty="0"/>
              <a:t>Lời giảng: Ba buổi đầu chúng ta làm OLTP và query trực tiếp. Hôm nay chuyển góc nhìn: thay vì bắt mỗi báo cáo join nhiều bảng, ta thiết kế một cấu trúc phục vụ analytics ổn định. Mục tiêu cuối buổi là có star schema Sales, DDL, load script và đối soát với OLTP. Từ khóa quan trọng nhất hôm nay là grain.</a:t>
            </a:r>
            <a:endParaRPr lang="vi-VN"/>
          </a:p>
          <a:p>
            <a:pPr marL="0" lvl="0" indent="0" algn="l">
              <a:buNone/>
            </a:pPr>
            <a:r>
              <a:rPr lang="vi-VN" dirty="0"/>
              <a:t>Tương tác / demo: Hỏi lại lớp: 'Một dòng order_items đại diện cho gì?' để nối với fact grain.</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Vì sao cần Data Mart</a:t>
            </a:r>
            <a:endParaRPr lang="vi-VN"/>
          </a:p>
          <a:p>
            <a:pPr marL="0" lvl="0" indent="0" algn="l">
              <a:buNone/>
            </a:pPr>
            <a:r>
              <a:rPr lang="vi-VN" dirty="0"/>
              <a:t>Lời giảng: OLTP được normalized để update và giữ integrity, nhưng analytics thường cần join nhiều bảng, lịch sử và metric nhất quán. Denormalization không có nghĩa là thiết kế kém; nó là lựa chọn có chủ đích cho đọc/aggregate. Data Mart giúp query đơn giản hơn, grain rõ hơn và KPI tái sử dụng được.</a:t>
            </a:r>
            <a:endParaRPr lang="vi-VN"/>
          </a:p>
          <a:p>
            <a:pPr marL="0" lvl="0" indent="0" algn="l">
              <a:buNone/>
            </a:pPr>
            <a:r>
              <a:rPr lang="vi-VN" dirty="0"/>
              <a:t>Tương tác / demo: Cho lớp so sánh một query revenue theo category trên OLTP với mong muốn query đơn giản trên mart.</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Vì sao cần Data Mart</a:t>
            </a:r>
            <a:endParaRPr lang="vi-VN"/>
          </a:p>
          <a:p>
            <a:pPr marL="0" lvl="0" indent="0" algn="l">
              <a:buNone/>
            </a:pPr>
            <a:r>
              <a:rPr lang="vi-VN" dirty="0"/>
              <a:t>Lời giảng: OLTP được normalized để update và giữ integrity, nhưng analytics thường cần join nhiều bảng, lịch sử và metric nhất quán. Denormalization không có nghĩa là thiết kế kém; nó là lựa chọn có chủ đích cho đọc/aggregate. Data Mart giúp query đơn giản hơn, grain rõ hơn và KPI tái sử dụng được.</a:t>
            </a:r>
            <a:endParaRPr lang="vi-VN"/>
          </a:p>
          <a:p>
            <a:pPr marL="0" lvl="0" indent="0" algn="l">
              <a:buNone/>
            </a:pPr>
            <a:r>
              <a:rPr lang="vi-VN" dirty="0"/>
              <a:t>Tương tác / demo: Cho lớp so sánh một query revenue theo category trên OLTP với mong muốn query đơn giản trên mart.</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Business process và grain</a:t>
            </a:r>
            <a:endParaRPr lang="vi-VN"/>
          </a:p>
          <a:p>
            <a:pPr marL="0" lvl="0" indent="0" algn="l">
              <a:buNone/>
            </a:pPr>
            <a:r>
              <a:rPr lang="vi-VN" dirty="0"/>
              <a:t>Lời giảng: Kimball-style thinking bắt đầu từ business process, rồi grain, dimensions, facts. Business process của chúng ta là Sales. Grain được chọn là một dòng fact_sales cho một order_item, vì cần phân tích theo product/category. Nếu một order có ba items thì fact có ba dòng; vì vậy order-level metric phải dùng COUNT DISTINCT order_id. Chốt grain trước giúp tránh hầu hết lỗi fact table.</a:t>
            </a:r>
            <a:endParaRPr lang="vi-VN"/>
          </a:p>
          <a:p>
            <a:pPr marL="0" lvl="0" indent="0" algn="l">
              <a:buNone/>
            </a:pPr>
            <a:r>
              <a:rPr lang="vi-VN" dirty="0"/>
              <a:t>Tương tác / demo: Yêu cầu lớp nêu một grain khác có thể chọn và trade-off của nó, ví dụ 1 row/order.</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Business process và grain</a:t>
            </a:r>
            <a:endParaRPr lang="vi-VN"/>
          </a:p>
          <a:p>
            <a:pPr marL="0" lvl="0" indent="0" algn="l">
              <a:buNone/>
            </a:pPr>
            <a:r>
              <a:rPr lang="vi-VN" dirty="0"/>
              <a:t>Lời giảng: Kimball-style thinking bắt đầu từ business process, rồi grain, dimensions, facts. Business process của chúng ta là Sales. Grain được chọn là một dòng fact_sales cho một order_item, vì cần phân tích theo product/category. Nếu một order có ba items thì fact có ba dòng; vì vậy order-level metric phải dùng COUNT DISTINCT order_id. Chốt grain trước giúp tránh hầu hết lỗi fact table.</a:t>
            </a:r>
            <a:endParaRPr lang="vi-VN"/>
          </a:p>
          <a:p>
            <a:pPr marL="0" lvl="0" indent="0" algn="l">
              <a:buNone/>
            </a:pPr>
            <a:r>
              <a:rPr lang="vi-VN" dirty="0"/>
              <a:t>Tương tác / demo: Yêu cầu lớp nêu một grain khác có thể chọn và trade-off của nó, ví dụ 1 row/order.</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Business process và grain</a:t>
            </a:r>
            <a:endParaRPr lang="vi-VN"/>
          </a:p>
          <a:p>
            <a:pPr marL="0" lvl="0" indent="0" algn="l">
              <a:buNone/>
            </a:pPr>
            <a:r>
              <a:rPr lang="vi-VN" dirty="0"/>
              <a:t>Lời giảng: Kimball-style thinking bắt đầu từ business process, rồi grain, dimensions, facts. Business process của chúng ta là Sales. Grain được chọn là một dòng fact_sales cho một order_item, vì cần phân tích theo product/category. Nếu một order có ba items thì fact có ba dòng; vì vậy order-level metric phải dùng COUNT DISTINCT order_id. Chốt grain trước giúp tránh hầu hết lỗi fact table.</a:t>
            </a:r>
            <a:endParaRPr lang="vi-VN"/>
          </a:p>
          <a:p>
            <a:pPr marL="0" lvl="0" indent="0" algn="l">
              <a:buNone/>
            </a:pPr>
            <a:r>
              <a:rPr lang="vi-VN" dirty="0"/>
              <a:t>Tương tác / demo: Yêu cầu lớp nêu một grain khác có thể chọn và trade-off của nó, ví dụ 1 row/order.</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Business process và grain</a:t>
            </a:r>
            <a:endParaRPr lang="vi-VN"/>
          </a:p>
          <a:p>
            <a:pPr marL="0" lvl="0" indent="0" algn="l">
              <a:buNone/>
            </a:pPr>
            <a:r>
              <a:rPr lang="vi-VN" dirty="0"/>
              <a:t>Lời giảng: Kimball-style thinking bắt đầu từ business process, rồi grain, dimensions, facts. Business process của chúng ta là Sales. Grain được chọn là một dòng fact_sales cho một order_item, vì cần phân tích theo product/category. Nếu một order có ba items thì fact có ba dòng; vì vậy order-level metric phải dùng COUNT DISTINCT order_id. Chốt grain trước giúp tránh hầu hết lỗi fact table.</a:t>
            </a:r>
            <a:endParaRPr lang="vi-VN"/>
          </a:p>
          <a:p>
            <a:pPr marL="0" lvl="0" indent="0" algn="l">
              <a:buNone/>
            </a:pPr>
            <a:r>
              <a:rPr lang="vi-VN" dirty="0"/>
              <a:t>Tương tác / demo: Yêu cầu lớp nêu một grain khác có thể chọn và trade-off của nó, ví dụ 1 row/order.</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24–34 phút | Dimension, fact và surrogate key</a:t>
            </a:r>
            <a:endParaRPr lang="vi-VN"/>
          </a:p>
          <a:p>
            <a:pPr marL="0" lvl="0" indent="0" algn="l">
              <a:buNone/>
            </a:pPr>
            <a:r>
              <a:rPr lang="vi-VN" dirty="0"/>
              <a:t>Lời giảng: Dimension trả lời 'theo cái gì': date, customer, product, payment, status. Fact trả lời 'đo cái gì': quantity, gross, discount, net. Natural key đến từ source; surrogate key là khóa kỹ thuật ổn định dùng trong mart. Ở Foundation, dim_customer dùng Type 1 current-state để đơn giản, chưa đi sâu SCD Type 2.</a:t>
            </a:r>
            <a:endParaRPr lang="vi-VN"/>
          </a:p>
          <a:p>
            <a:pPr marL="0" lvl="0" indent="0" algn="l">
              <a:buNone/>
            </a:pPr>
            <a:r>
              <a:rPr lang="vi-VN" dirty="0"/>
              <a:t>Tương tác / demo: Hỏi: 'AOV có nên lưu trực tiếp như một fact additive không?' để nhấn mạnh derived measure.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24–34 phút | Dimension, fact và surrogate key</a:t>
            </a:r>
            <a:endParaRPr lang="vi-VN"/>
          </a:p>
          <a:p>
            <a:pPr marL="0" lvl="0" indent="0" algn="l">
              <a:buNone/>
            </a:pPr>
            <a:r>
              <a:rPr lang="vi-VN" dirty="0"/>
              <a:t>Lời giảng: Dimension trả lời 'theo cái gì': date, customer, product, payment, status. Fact trả lời 'đo cái gì': quantity, gross, discount, net. Natural key đến từ source; surrogate key là khóa kỹ thuật ổn định dùng trong mart. Ở Foundation, dim_customer dùng Type 1 current-state để đơn giản, chưa đi sâu SCD Type 2.</a:t>
            </a:r>
            <a:endParaRPr lang="vi-VN"/>
          </a:p>
          <a:p>
            <a:pPr marL="0" lvl="0" indent="0" algn="l">
              <a:buNone/>
            </a:pPr>
            <a:r>
              <a:rPr lang="vi-VN" dirty="0"/>
              <a:t>Tương tác / demo: Hỏi: 'AOV có nên lưu trực tiếp như một fact additive không?' để nhấn mạnh derived measure.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24–34 phút | Dimension, fact và surrogate key</a:t>
            </a:r>
            <a:endParaRPr lang="vi-VN"/>
          </a:p>
          <a:p>
            <a:pPr marL="0" lvl="0" indent="0" algn="l">
              <a:buNone/>
            </a:pPr>
            <a:r>
              <a:rPr lang="vi-VN" dirty="0"/>
              <a:t>Lời giảng: Dimension trả lời 'theo cái gì': date, customer, product, payment, status. Fact trả lời 'đo cái gì': quantity, gross, discount, net. Natural key đến từ source; surrogate key là khóa kỹ thuật ổn định dùng trong mart. Ở Foundation, dim_customer dùng Type 1 current-state để đơn giản, chưa đi sâu SCD Type 2.</a:t>
            </a:r>
            <a:endParaRPr lang="vi-VN"/>
          </a:p>
          <a:p>
            <a:pPr marL="0" lvl="0" indent="0" algn="l">
              <a:buNone/>
            </a:pPr>
            <a:r>
              <a:rPr lang="vi-VN" dirty="0"/>
              <a:t>Tương tác / demo: Hỏi: 'AOV có nên lưu trực tiếp như một fact additive không?' để nhấn mạnh derived measure.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34–44 phút | Star schema và DDL</a:t>
            </a:r>
            <a:endParaRPr lang="vi-VN"/>
          </a:p>
          <a:p>
            <a:pPr marL="0" lvl="0" indent="0" algn="l">
              <a:buNone/>
            </a:pPr>
            <a:r>
              <a:rPr lang="vi-VN" dirty="0"/>
              <a:t>Lời giảng: Star schema đặt fact ở trung tâm, dimensions xung quanh. dim_date được sinh độc lập source; dim_customer và dim_product có surrogate key và natural key. fact_sales giữ order_item_id unique để hỗ trợ rerun và các measures ở đúng grain. Khi đọc DDL, hãy nhìn không chỉ kiểu dữ liệu mà cả unique/FK vì chúng bảo vệ mô hình.</a:t>
            </a:r>
            <a:endParaRPr lang="vi-VN"/>
          </a:p>
          <a:p>
            <a:pPr marL="0" lvl="0" indent="0" algn="l">
              <a:buNone/>
            </a:pPr>
            <a:r>
              <a:rPr lang="vi-VN" dirty="0"/>
              <a:t>Tương tác / demo: Demo nhanh DDL fact_sales. Cho sinh viên chỉ ra cột nào là degenerate/business key và cột nào là surrogate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34–44 phút | Star schema và DDL</a:t>
            </a:r>
            <a:endParaRPr lang="vi-VN"/>
          </a:p>
          <a:p>
            <a:pPr marL="0" lvl="0" indent="0" algn="l">
              <a:buNone/>
            </a:pPr>
            <a:r>
              <a:rPr lang="vi-VN" dirty="0"/>
              <a:t>Lời giảng: Star schema đặt fact ở trung tâm, dimensions xung quanh. dim_date được sinh độc lập source; dim_customer và dim_product có surrogate key và natural key. fact_sales giữ order_item_id unique để hỗ trợ rerun và các measures ở đúng grain. Khi đọc DDL, hãy nhìn không chỉ kiểu dữ liệu mà cả unique/FK vì chúng bảo vệ mô hình.</a:t>
            </a:r>
            <a:endParaRPr lang="vi-VN"/>
          </a:p>
          <a:p>
            <a:pPr marL="0" lvl="0" indent="0" algn="l">
              <a:buNone/>
            </a:pPr>
            <a:r>
              <a:rPr lang="vi-VN" dirty="0"/>
              <a:t>Tương tác / demo: Demo nhanh DDL fact_sales. Cho sinh viên chỉ ra cột nào là degenerate/business key và cột nào là surrogate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34–44 phút | Star schema và DDL</a:t>
            </a:r>
            <a:endParaRPr lang="vi-VN"/>
          </a:p>
          <a:p>
            <a:pPr marL="0" lvl="0" indent="0" algn="l">
              <a:buNone/>
            </a:pPr>
            <a:r>
              <a:rPr lang="vi-VN" dirty="0"/>
              <a:t>Lời giảng: Star schema đặt fact ở trung tâm, dimensions xung quanh. dim_date được sinh độc lập source; dim_customer và dim_product có surrogate key và natural key. fact_sales giữ order_item_id unique để hỗ trợ rerun và các measures ở đúng grain. Khi đọc DDL, hãy nhìn không chỉ kiểu dữ liệu mà cả unique/FK vì chúng bảo vệ mô hình.</a:t>
            </a:r>
            <a:endParaRPr lang="vi-VN"/>
          </a:p>
          <a:p>
            <a:pPr marL="0" lvl="0" indent="0" algn="l">
              <a:buNone/>
            </a:pPr>
            <a:r>
              <a:rPr lang="vi-VN" dirty="0"/>
              <a:t>Tương tác / demo: Demo nhanh DDL fact_sales. Cho sinh viên chỉ ra cột nào là degenerate/business key và cột nào là surrogate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34–44 phút | Star schema và DDL</a:t>
            </a:r>
            <a:endParaRPr lang="vi-VN"/>
          </a:p>
          <a:p>
            <a:pPr marL="0" lvl="0" indent="0" algn="l">
              <a:buNone/>
            </a:pPr>
            <a:r>
              <a:rPr lang="vi-VN" dirty="0"/>
              <a:t>Lời giảng: Star schema đặt fact ở trung tâm, dimensions xung quanh. dim_date được sinh độc lập source; dim_customer và dim_product có surrogate key và natural key. fact_sales giữ order_item_id unique để hỗ trợ rerun và các measures ở đúng grain. Khi đọc DDL, hãy nhìn không chỉ kiểu dữ liệu mà cả unique/FK vì chúng bảo vệ mô hình.</a:t>
            </a:r>
            <a:endParaRPr lang="vi-VN"/>
          </a:p>
          <a:p>
            <a:pPr marL="0" lvl="0" indent="0" algn="l">
              <a:buNone/>
            </a:pPr>
            <a:r>
              <a:rPr lang="vi-VN" dirty="0"/>
              <a:t>Tương tác / demo: Demo nhanh DDL fact_sales. Cho sinh viên chỉ ra cột nào là degenerate/business key và cột nào là surrogate FK.</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44–52 phút | Load, surrogate lookup và reconciliation</a:t>
            </a:r>
            <a:endParaRPr lang="vi-VN"/>
          </a:p>
          <a:p>
            <a:pPr marL="0" lvl="0" indent="0" algn="l">
              <a:buNone/>
            </a:pPr>
            <a:r>
              <a:rPr lang="vi-VN" dirty="0"/>
              <a:t>Lời giảng: Load dimension trước fact vì fact cần surrogate keys. Khi load fact, join OLTP sang dimensions để map natural key → surrogate key. Sau load phải đối soát count, distinct entities, missing dimension key và tổng net_amount. Nếu KPI từ mart không khớp OLTP thì mart chưa đáng tin, dù star schema nhìn rất đẹp.</a:t>
            </a:r>
            <a:endParaRPr lang="vi-VN"/>
          </a:p>
          <a:p>
            <a:pPr marL="0" lvl="0" indent="0" algn="l">
              <a:buNone/>
            </a:pPr>
            <a:r>
              <a:rPr lang="vi-VN" dirty="0"/>
              <a:t>Tương tác / demo: Chiếu checklist reconciliation và hỏi lớp mục nào phát hiện orphan dimension key.</a:t>
            </a:r>
            <a:endParaRPr lang="vi-VN"/>
          </a:p>
          <a:p>
            <a:pPr marL="0" lvl="0" indent="0" algn="l">
              <a:buNone/>
            </a:pPr>
            <a:r>
              <a:rPr lang="vi-VN" dirty="0"/>
              <a:t>—</a:t>
            </a:r>
            <a:endParaRPr lang="vi-VN"/>
          </a:p>
          <a:p>
            <a:pPr marL="0" lvl="0" indent="0" algn="l">
              <a:buNone/>
            </a:pPr>
            <a:r>
              <a:rPr lang="vi-VN" dirty="0"/>
              <a:t>90–105 phút | Lab 4C – Load</a:t>
            </a:r>
            <a:endParaRPr lang="vi-VN"/>
          </a:p>
          <a:p>
            <a:pPr marL="0" lvl="0" indent="0" algn="l">
              <a:buNone/>
            </a:pPr>
            <a:r>
              <a:rPr lang="vi-VN" dirty="0"/>
              <a:t>Lời giảng: Load dimensions trước. Sau đó load fact bằng join orders, order_items và dimension lookup. Nếu một dimension lookup không tìm thấy, không nên im lặng tạo NULL rồi tiếp tục; phải phát hiện bằng reconciliation. Dùng ON CONFLICT phù hợp để rerun không tạo duplicate.</a:t>
            </a:r>
            <a:endParaRPr lang="vi-VN"/>
          </a:p>
          <a:p>
            <a:pPr marL="0" lvl="0" indent="0" algn="l">
              <a:buNone/>
            </a:pPr>
            <a:r>
              <a:rPr lang="vi-VN" dirty="0"/>
              <a:t>Tương tác / demo: Cho chạy load hai lần nếu thời gian cho phép để quan sát tính rerun-safe.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44–52 phút | Load, surrogate lookup và reconciliation</a:t>
            </a:r>
            <a:endParaRPr lang="vi-VN"/>
          </a:p>
          <a:p>
            <a:pPr marL="0" lvl="0" indent="0" algn="l">
              <a:buNone/>
            </a:pPr>
            <a:r>
              <a:rPr lang="vi-VN" dirty="0"/>
              <a:t>Lời giảng: Load dimension trước fact vì fact cần surrogate keys. Khi load fact, join OLTP sang dimensions để map natural key → surrogate key. Sau load phải đối soát count, distinct entities, missing dimension key và tổng net_amount. Nếu KPI từ mart không khớp OLTP thì mart chưa đáng tin, dù star schema nhìn rất đẹp.</a:t>
            </a:r>
            <a:endParaRPr lang="vi-VN"/>
          </a:p>
          <a:p>
            <a:pPr marL="0" lvl="0" indent="0" algn="l">
              <a:buNone/>
            </a:pPr>
            <a:r>
              <a:rPr lang="vi-VN" dirty="0"/>
              <a:t>Tương tác / demo: Chiếu checklist reconciliation và hỏi lớp mục nào phát hiện orphan dimension key.</a:t>
            </a:r>
            <a:endParaRPr lang="vi-VN"/>
          </a:p>
          <a:p>
            <a:pPr marL="0" lvl="0" indent="0" algn="l">
              <a:buNone/>
            </a:pPr>
            <a:r>
              <a:rPr lang="vi-VN" dirty="0"/>
              <a:t>—</a:t>
            </a:r>
            <a:endParaRPr lang="vi-VN"/>
          </a:p>
          <a:p>
            <a:pPr marL="0" lvl="0" indent="0" algn="l">
              <a:buNone/>
            </a:pPr>
            <a:r>
              <a:rPr lang="vi-VN" dirty="0"/>
              <a:t>90–105 phút | Lab 4C – Load</a:t>
            </a:r>
            <a:endParaRPr lang="vi-VN"/>
          </a:p>
          <a:p>
            <a:pPr marL="0" lvl="0" indent="0" algn="l">
              <a:buNone/>
            </a:pPr>
            <a:r>
              <a:rPr lang="vi-VN" dirty="0"/>
              <a:t>Lời giảng: Load dimensions trước. Sau đó load fact bằng join orders, order_items và dimension lookup. Nếu một dimension lookup không tìm thấy, không nên im lặng tạo NULL rồi tiếp tục; phải phát hiện bằng reconciliation. Dùng ON CONFLICT phù hợp để rerun không tạo duplicate.</a:t>
            </a:r>
            <a:endParaRPr lang="vi-VN"/>
          </a:p>
          <a:p>
            <a:pPr marL="0" lvl="0" indent="0" algn="l">
              <a:buNone/>
            </a:pPr>
            <a:r>
              <a:rPr lang="vi-VN" dirty="0"/>
              <a:t>Tương tác / demo: Cho chạy load hai lần nếu thời gian cho phép để quan sát tính rerun-safe.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44–52 phút | Load, surrogate lookup và reconciliation</a:t>
            </a:r>
            <a:endParaRPr lang="vi-VN"/>
          </a:p>
          <a:p>
            <a:pPr marL="0" lvl="0" indent="0" algn="l">
              <a:buNone/>
            </a:pPr>
            <a:r>
              <a:rPr lang="vi-VN" dirty="0"/>
              <a:t>Lời giảng: Load dimension trước fact vì fact cần surrogate keys. Khi load fact, join OLTP sang dimensions để map natural key → surrogate key. Sau load phải đối soát count, distinct entities, missing dimension key và tổng net_amount. Nếu KPI từ mart không khớp OLTP thì mart chưa đáng tin, dù star schema nhìn rất đẹp.</a:t>
            </a:r>
            <a:endParaRPr lang="vi-VN"/>
          </a:p>
          <a:p>
            <a:pPr marL="0" lvl="0" indent="0" algn="l">
              <a:buNone/>
            </a:pPr>
            <a:r>
              <a:rPr lang="vi-VN" dirty="0"/>
              <a:t>Tương tác / demo: Chiếu checklist reconciliation và hỏi lớp mục nào phát hiện orphan dimension key.</a:t>
            </a:r>
            <a:endParaRPr lang="vi-VN"/>
          </a:p>
          <a:p>
            <a:pPr marL="0" lvl="0" indent="0" algn="l">
              <a:buNone/>
            </a:pPr>
            <a:r>
              <a:rPr lang="vi-VN" dirty="0"/>
              <a:t>—</a:t>
            </a:r>
            <a:endParaRPr lang="vi-VN"/>
          </a:p>
          <a:p>
            <a:pPr marL="0" lvl="0" indent="0" algn="l">
              <a:buNone/>
            </a:pPr>
            <a:r>
              <a:rPr lang="vi-VN" dirty="0"/>
              <a:t>105–114 phút | Lab 4D – KPI + reconciliation</a:t>
            </a:r>
            <a:endParaRPr lang="vi-VN"/>
          </a:p>
          <a:p>
            <a:pPr marL="0" lvl="0" indent="0" algn="l">
              <a:buNone/>
            </a:pPr>
            <a:r>
              <a:rPr lang="vi-VN" dirty="0"/>
              <a:t>Lời giảng: Tạo revenue/orders theo tháng từ mart, rồi so với OLTP. Đối soát count fact với order_items, sum net, distinct order/customer/product và missing keys. Tolerance ở bài này là 0; nếu không khớp phải truy ra nguyên nhân.</a:t>
            </a:r>
            <a:endParaRPr lang="vi-VN"/>
          </a:p>
          <a:p>
            <a:pPr marL="0" lvl="0" indent="0" algn="l">
              <a:buNone/>
            </a:pPr>
            <a:r>
              <a:rPr lang="vi-VN" dirty="0"/>
              <a:t>Tương tác / demo: Mời một nhóm trình bày một mismatch nếu có và cách họ tìm nguyên nhân.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44–52 phút | Load, surrogate lookup và reconciliation</a:t>
            </a:r>
            <a:endParaRPr lang="vi-VN"/>
          </a:p>
          <a:p>
            <a:pPr marL="0" lvl="0" indent="0" algn="l">
              <a:buNone/>
            </a:pPr>
            <a:r>
              <a:rPr lang="vi-VN" dirty="0"/>
              <a:t>Lời giảng: Load dimension trước fact vì fact cần surrogate keys. Khi load fact, join OLTP sang dimensions để map natural key → surrogate key. Sau load phải đối soát count, distinct entities, missing dimension key và tổng net_amount. Nếu KPI từ mart không khớp OLTP thì mart chưa đáng tin, dù star schema nhìn rất đẹp.</a:t>
            </a:r>
            <a:endParaRPr lang="vi-VN"/>
          </a:p>
          <a:p>
            <a:pPr marL="0" lvl="0" indent="0" algn="l">
              <a:buNone/>
            </a:pPr>
            <a:r>
              <a:rPr lang="vi-VN" dirty="0"/>
              <a:t>Tương tác / demo: Chiếu checklist reconciliation và hỏi lớp mục nào phát hiện orphan dimension key.</a:t>
            </a:r>
            <a:endParaRPr lang="vi-VN"/>
          </a:p>
          <a:p>
            <a:pPr marL="0" lvl="0" indent="0" algn="l">
              <a:buNone/>
            </a:pPr>
            <a:r>
              <a:rPr lang="vi-VN" dirty="0"/>
              <a:t>—</a:t>
            </a:r>
            <a:endParaRPr lang="vi-VN"/>
          </a:p>
          <a:p>
            <a:pPr marL="0" lvl="0" indent="0" algn="l">
              <a:buNone/>
            </a:pPr>
            <a:r>
              <a:rPr lang="vi-VN" dirty="0"/>
              <a:t>105–114 phút | Lab 4D – KPI + reconciliation</a:t>
            </a:r>
            <a:endParaRPr lang="vi-VN"/>
          </a:p>
          <a:p>
            <a:pPr marL="0" lvl="0" indent="0" algn="l">
              <a:buNone/>
            </a:pPr>
            <a:r>
              <a:rPr lang="vi-VN" dirty="0"/>
              <a:t>Lời giảng: Tạo revenue/orders theo tháng từ mart, rồi so với OLTP. Đối soát count fact với order_items, sum net, distinct order/customer/product và missing keys. Tolerance ở bài này là 0; nếu không khớp phải truy ra nguyên nhân.</a:t>
            </a:r>
            <a:endParaRPr lang="vi-VN"/>
          </a:p>
          <a:p>
            <a:pPr marL="0" lvl="0" indent="0" algn="l">
              <a:buNone/>
            </a:pPr>
            <a:r>
              <a:rPr lang="vi-VN" dirty="0"/>
              <a:t>Tương tác / demo: Mời một nhóm trình bày một mismatch nếu có và cách họ tìm nguyên nhân.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52–60 phút | Giao lab</a:t>
            </a:r>
            <a:endParaRPr lang="vi-VN"/>
          </a:p>
          <a:p>
            <a:pPr marL="0" lvl="0" indent="0" algn="l">
              <a:buNone/>
            </a:pPr>
            <a:r>
              <a:rPr lang="vi-VN" dirty="0"/>
              <a:t>Lời giảng: Lab có năm bước: chốt process/grain, thiết kế dimensions, thiết kế fact, tạo/load, rồi KPI + reconciliation. Đầu ra phải gồm ERD mart, DDL, load script, KPI queries và ít nhất năm đối soát. Đừng bắt đầu viết DDL trước khi viết câu grain bằng tiếng Việt.</a:t>
            </a:r>
            <a:endParaRPr lang="vi-VN"/>
          </a:p>
          <a:p>
            <a:pPr marL="0" lvl="0" indent="0" algn="l">
              <a:buNone/>
            </a:pPr>
            <a:r>
              <a:rPr lang="vi-VN" dirty="0"/>
              <a:t>Tương tác / demo: Cho nhóm viết câu 'Một dòng fact_sales đại diện cho...' ngay đầu file SQL.</a:t>
            </a:r>
            <a:endParaRPr lang="vi-VN"/>
          </a:p>
          <a:p>
            <a:pPr marL="0" lvl="0" indent="0" algn="l">
              <a:buNone/>
            </a:pPr>
            <a:r>
              <a:rPr lang="vi-VN" dirty="0"/>
              <a:t>—</a:t>
            </a:r>
            <a:endParaRPr lang="vi-VN"/>
          </a:p>
          <a:p>
            <a:pPr marL="0" lvl="0" indent="0" algn="l">
              <a:buNone/>
            </a:pPr>
            <a:r>
              <a:rPr lang="vi-VN" dirty="0"/>
              <a:t>60–74 phút | Lab 4A – Thiết kế star schema</a:t>
            </a:r>
            <a:endParaRPr lang="vi-VN"/>
          </a:p>
          <a:p>
            <a:pPr marL="0" lvl="0" indent="0" algn="l">
              <a:buNone/>
            </a:pPr>
            <a:r>
              <a:rPr lang="vi-VN" dirty="0"/>
              <a:t>Lời giảng: Các nhóm phác star schema. Mỗi dimension phải trả lời được câu hỏi phân tích nào. Nếu thêm một dimension chỉ vì 'có dữ liệu', hãy tự hỏi nó có phục vụ slice/filter/group hay không. Với payment/status, có thể dùng small dimensions.</a:t>
            </a:r>
            <a:endParaRPr lang="vi-VN"/>
          </a:p>
          <a:p>
            <a:pPr marL="0" lvl="0" indent="0" algn="l">
              <a:buNone/>
            </a:pPr>
            <a:r>
              <a:rPr lang="vi-VN" dirty="0"/>
              <a:t>Tương tác / demo: GV review grain và dimension list trước khi cho viết DDL.</a:t>
            </a:r>
            <a:endParaRPr lang="vi-VN"/>
          </a:p>
          <a:p>
            <a:pPr marL="0" lvl="0" indent="0" algn="l">
              <a:buNone/>
            </a:pPr>
            <a:r>
              <a:rPr lang="vi-VN" dirty="0"/>
              <a:t>—</a:t>
            </a:r>
            <a:endParaRPr lang="vi-VN"/>
          </a:p>
          <a:p>
            <a:pPr marL="0" lvl="0" indent="0" algn="l">
              <a:buNone/>
            </a:pPr>
            <a:r>
              <a:rPr lang="vi-VN" dirty="0"/>
              <a:t>74–90 phút | Lab 4B – DDL dimensions/fact</a:t>
            </a:r>
            <a:endParaRPr lang="vi-VN"/>
          </a:p>
          <a:p>
            <a:pPr marL="0" lvl="0" indent="0" algn="l">
              <a:buNone/>
            </a:pPr>
            <a:r>
              <a:rPr lang="vi-VN" dirty="0"/>
              <a:t>Lời giảng: Tạo schema mart, dim_date, dim_customer, dim_product và các small dimensions; sau đó tạo fact_sales. Chú ý natural key UNIQUE và order_item_id UNIQUE. Nếu fact dùng surrogate FK, hãy xác định rõ mapping từ source key.</a:t>
            </a:r>
            <a:endParaRPr lang="vi-VN"/>
          </a:p>
          <a:p>
            <a:pPr marL="0" lvl="0" indent="0" algn="l">
              <a:buNone/>
            </a:pPr>
            <a:r>
              <a:rPr lang="vi-VN" dirty="0"/>
              <a:t>Tương tác / demo: GV kiểm tra DDL theo checklist, không đưa solution nguyên file.</a:t>
            </a:r>
            <a:endParaRPr lang="vi-VN"/>
          </a:p>
          <a:p>
            <a:pPr marL="0" lvl="0" indent="0" algn="l">
              <a:buNone/>
            </a:pPr>
            <a:r>
              <a:rPr lang="vi-VN" dirty="0"/>
              <a:t>—</a:t>
            </a:r>
            <a:endParaRPr lang="vi-VN"/>
          </a:p>
          <a:p>
            <a:pPr marL="0" lvl="0" indent="0" algn="l">
              <a:buNone/>
            </a:pPr>
            <a:r>
              <a:rPr lang="vi-VN" dirty="0"/>
              <a:t>90–105 phút | Lab 4C – Load</a:t>
            </a:r>
            <a:endParaRPr lang="vi-VN"/>
          </a:p>
          <a:p>
            <a:pPr marL="0" lvl="0" indent="0" algn="l">
              <a:buNone/>
            </a:pPr>
            <a:r>
              <a:rPr lang="vi-VN" dirty="0"/>
              <a:t>Lời giảng: Load dimensions trước. Sau đó load fact bằng join orders, order_items và dimension lookup. Nếu một dimension lookup không tìm thấy, không nên im lặng tạo NULL rồi tiếp tục; phải phát hiện bằng reconciliation. Dùng ON CONFLICT phù hợp để rerun không tạo duplicate.</a:t>
            </a:r>
            <a:endParaRPr lang="vi-VN"/>
          </a:p>
          <a:p>
            <a:pPr marL="0" lvl="0" indent="0" algn="l">
              <a:buNone/>
            </a:pPr>
            <a:r>
              <a:rPr lang="vi-VN" dirty="0"/>
              <a:t>Tương tác / demo: Cho chạy load hai lần nếu thời gian cho phép để quan sát tính rerun-safe.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114–120 phút | Checkpoint và chốt Module SQL</a:t>
            </a:r>
            <a:endParaRPr lang="vi-VN"/>
          </a:p>
          <a:p>
            <a:pPr marL="0" lvl="0" indent="0" algn="l">
              <a:buNone/>
            </a:pPr>
            <a:r>
              <a:rPr lang="vi-VN" dirty="0"/>
              <a:t>Lời giảng: Cuối phần SQL, hệ thống phải tái tạo OLTP và mart từ script, fact đúng grain, KPI khớp, không orphan key và có refresh sequence. Nhớ bốn ý: chốt process/grain trước; dimension là góc nhìn, fact là measures; load dimension trước fact; reconciliation là bắt buộc.</a:t>
            </a:r>
            <a:endParaRPr lang="vi-VN"/>
          </a:p>
          <a:p>
            <a:pPr marL="0" lvl="0" indent="0" algn="l">
              <a:buNone/>
            </a:pPr>
            <a:r>
              <a:rPr lang="vi-VN" dirty="0"/>
              <a:t>Tương tác / demo: Nhắc đây là cầu nối sang Python pipeline: từ Buổi 5, dữ liệu mới sẽ được ingest rồi mart phải phản ánh thay đổi.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114–120 phút | Checkpoint và chốt Module SQL</a:t>
            </a:r>
            <a:endParaRPr lang="vi-VN"/>
          </a:p>
          <a:p>
            <a:pPr marL="0" lvl="0" indent="0" algn="l">
              <a:buNone/>
            </a:pPr>
            <a:r>
              <a:rPr lang="vi-VN" dirty="0"/>
              <a:t>Lời giảng: Cuối phần SQL, hệ thống phải tái tạo OLTP và mart từ script, fact đúng grain, KPI khớp, không orphan key và có refresh sequence. Nhớ bốn ý: chốt process/grain trước; dimension là góc nhìn, fact là measures; load dimension trước fact; reconciliation là bắt buộc.</a:t>
            </a:r>
            <a:endParaRPr lang="vi-VN"/>
          </a:p>
          <a:p>
            <a:pPr marL="0" lvl="0" indent="0" algn="l">
              <a:buNone/>
            </a:pPr>
            <a:r>
              <a:rPr lang="vi-VN" dirty="0"/>
              <a:t>Tương tác / demo: Nhắc đây là cầu nối sang Python pipeline: từ Buổi 5, dữ liệu mới sẽ được ingest rồi mart phải phản ánh thay đổi.</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Chuyển tiếp / kết thúc</a:t>
            </a:r>
            <a:endParaRPr lang="vi-VN"/>
          </a:p>
          <a:p>
            <a:pPr marL="0" lvl="0" indent="0" algn="l">
              <a:buNone/>
            </a:pPr>
            <a:r>
              <a:rPr lang="vi-VN" dirty="0"/>
              <a:t>Lời giảng: Dùng slide này để chuyển ý hoặc kết thúc phần trình bày. Nhắc lại thông điệp chính của buổi và chỉ rõ đầu ra/bài tập học viên cần hoàn thành trước buổi tiếp theo.</a:t>
            </a:r>
            <a:endParaRPr lang="vi-VN"/>
          </a:p>
          <a:p>
            <a:pPr marL="0" lvl="0" indent="0" algn="l">
              <a:buNone/>
            </a:pPr>
            <a:r>
              <a:rPr lang="vi-VN" dirty="0"/>
              <a:t>Tương tác / demo: Dành 1–2 phút nhận câu hỏi ngắn; nhắc học viên lưu/commit artifact của buổi học.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Thiết kế Sales Data Mart cho hệ thống E-commerce</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4:</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Dimensional modeling</a:t>
            </a:r>
          </a:p>
          <a:p>
            <a:pPr>
              <a:spcAft>
                <a:spcPts val="1200"/>
              </a:spcAft>
              <a:defRPr sz="2200">
                <a:solidFill>
                  <a:srgbClr val="262626"/>
                </a:solidFill>
                <a:latin typeface="Arial"/>
              </a:defRPr>
            </a:pPr>
            <a:r>
              <a:t>2. Star Schema</a:t>
            </a:r>
          </a:p>
          <a:p>
            <a:pPr>
              <a:spcAft>
                <a:spcPts val="1200"/>
              </a:spcAft>
              <a:defRPr sz="2200">
                <a:solidFill>
                  <a:srgbClr val="262626"/>
                </a:solidFill>
                <a:latin typeface="Arial"/>
              </a:defRPr>
            </a:pPr>
            <a:r>
              <a:t>3. Load &amp; reconcile</a:t>
            </a:r>
          </a:p>
          <a:p>
            <a:pPr>
              <a:spcAft>
                <a:spcPts val="1200"/>
              </a:spcAft>
              <a:defRPr sz="2200">
                <a:solidFill>
                  <a:srgbClr val="262626"/>
                </a:solidFill>
                <a:latin typeface="Arial"/>
              </a:defRPr>
            </a:pPr>
            <a:r>
              <a:t>4. Data Mart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4</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Thiết kế</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Thực hành</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Normalization vs denormalization</a:t>
            </a:r>
          </a:p>
          <a:p>
            <a:pPr>
              <a:lnSpc>
                <a:spcPct val="108000"/>
              </a:lnSpc>
              <a:spcAft>
                <a:spcPts val="800"/>
              </a:spcAft>
              <a:defRPr sz="1600">
                <a:solidFill>
                  <a:srgbClr val="262626"/>
                </a:solidFill>
                <a:latin typeface="Arial"/>
              </a:defRPr>
            </a:pPr>
            <a:r>
              <a:t>• Business process + grain</a:t>
            </a:r>
          </a:p>
          <a:p>
            <a:pPr>
              <a:lnSpc>
                <a:spcPct val="108000"/>
              </a:lnSpc>
              <a:spcAft>
                <a:spcPts val="800"/>
              </a:spcAft>
              <a:defRPr sz="1600">
                <a:solidFill>
                  <a:srgbClr val="262626"/>
                </a:solidFill>
                <a:latin typeface="Arial"/>
              </a:defRPr>
            </a:pPr>
            <a:r>
              <a:t>• Dimensions + facts</a:t>
            </a:r>
          </a:p>
          <a:p>
            <a:pPr>
              <a:lnSpc>
                <a:spcPct val="108000"/>
              </a:lnSpc>
              <a:spcAft>
                <a:spcPts val="800"/>
              </a:spcAft>
              <a:defRPr sz="1600">
                <a:solidFill>
                  <a:srgbClr val="262626"/>
                </a:solidFill>
                <a:latin typeface="Arial"/>
              </a:defRPr>
            </a:pPr>
            <a:r>
              <a:t>• Surrogate vs natural key</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Star Schema Sales</a:t>
            </a:r>
          </a:p>
          <a:p>
            <a:pPr>
              <a:lnSpc>
                <a:spcPct val="108000"/>
              </a:lnSpc>
              <a:spcAft>
                <a:spcPts val="800"/>
              </a:spcAft>
              <a:defRPr sz="1600">
                <a:solidFill>
                  <a:srgbClr val="262626"/>
                </a:solidFill>
                <a:latin typeface="Arial"/>
              </a:defRPr>
            </a:pPr>
            <a:r>
              <a:t>• DDL dim/fact</a:t>
            </a:r>
          </a:p>
          <a:p>
            <a:pPr>
              <a:lnSpc>
                <a:spcPct val="108000"/>
              </a:lnSpc>
              <a:spcAft>
                <a:spcPts val="800"/>
              </a:spcAft>
              <a:defRPr sz="1600">
                <a:solidFill>
                  <a:srgbClr val="262626"/>
                </a:solidFill>
                <a:latin typeface="Arial"/>
              </a:defRPr>
            </a:pPr>
            <a:r>
              <a:t>• Load từ OLTP</a:t>
            </a:r>
          </a:p>
          <a:p>
            <a:pPr>
              <a:lnSpc>
                <a:spcPct val="108000"/>
              </a:lnSpc>
              <a:spcAft>
                <a:spcPts val="800"/>
              </a:spcAft>
              <a:defRPr sz="1600">
                <a:solidFill>
                  <a:srgbClr val="262626"/>
                </a:solidFill>
                <a:latin typeface="Arial"/>
              </a:defRPr>
            </a:pPr>
            <a:r>
              <a:t>• KPI + reconciliation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Chốt process và grain trước</a:t>
            </a:r>
          </a:p>
          <a:p>
            <a:pPr>
              <a:spcAft>
                <a:spcPts val="1200"/>
              </a:spcAft>
              <a:defRPr sz="2100">
                <a:solidFill>
                  <a:srgbClr val="262626"/>
                </a:solidFill>
                <a:latin typeface="Arial"/>
              </a:defRPr>
            </a:pPr>
            <a:r>
              <a:t>2. Dimension = góc nhìn; Fact = measures</a:t>
            </a:r>
          </a:p>
          <a:p>
            <a:pPr>
              <a:spcAft>
                <a:spcPts val="1200"/>
              </a:spcAft>
              <a:defRPr sz="2100">
                <a:solidFill>
                  <a:srgbClr val="262626"/>
                </a:solidFill>
                <a:latin typeface="Arial"/>
              </a:defRPr>
            </a:pPr>
            <a:r>
              <a:t>3. Load dimension trước fact</a:t>
            </a:r>
          </a:p>
          <a:p>
            <a:pPr>
              <a:spcAft>
                <a:spcPts val="1200"/>
              </a:spcAft>
              <a:defRPr sz="2100">
                <a:solidFill>
                  <a:srgbClr val="262626"/>
                </a:solidFill>
                <a:latin typeface="Arial"/>
              </a:defRPr>
            </a:pPr>
            <a:r>
              <a:t>4. Reconcile OLTP ↔ Mart là bắt buộc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Vì sao không dùng OLTP trực tiếp cho mọi báo cáo?</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OLTP</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Analytics need</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Nhiều bảng normalized</a:t>
            </a:r>
          </a:p>
          <a:p>
            <a:pPr>
              <a:lnSpc>
                <a:spcPct val="108000"/>
              </a:lnSpc>
              <a:spcAft>
                <a:spcPts val="800"/>
              </a:spcAft>
              <a:defRPr sz="1600">
                <a:solidFill>
                  <a:srgbClr val="262626"/>
                </a:solidFill>
                <a:latin typeface="Arial"/>
              </a:defRPr>
            </a:pPr>
            <a:r>
              <a:t>• Join phức tạp</a:t>
            </a:r>
          </a:p>
          <a:p>
            <a:pPr>
              <a:lnSpc>
                <a:spcPct val="108000"/>
              </a:lnSpc>
              <a:spcAft>
                <a:spcPts val="800"/>
              </a:spcAft>
              <a:defRPr sz="1600">
                <a:solidFill>
                  <a:srgbClr val="262626"/>
                </a:solidFill>
                <a:latin typeface="Arial"/>
              </a:defRPr>
            </a:pPr>
            <a:r>
              <a:t>• Tối ưu transaction</a:t>
            </a:r>
          </a:p>
          <a:p>
            <a:pPr>
              <a:lnSpc>
                <a:spcPct val="108000"/>
              </a:lnSpc>
              <a:spcAft>
                <a:spcPts val="800"/>
              </a:spcAft>
              <a:defRPr sz="1600">
                <a:solidFill>
                  <a:srgbClr val="262626"/>
                </a:solidFill>
                <a:latin typeface="Arial"/>
              </a:defRPr>
            </a:pPr>
            <a:r>
              <a:t>• Business history khó biểu diễn</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Query đơn giản hơn</a:t>
            </a:r>
          </a:p>
          <a:p>
            <a:pPr>
              <a:lnSpc>
                <a:spcPct val="108000"/>
              </a:lnSpc>
              <a:spcAft>
                <a:spcPts val="800"/>
              </a:spcAft>
              <a:defRPr sz="1600">
                <a:solidFill>
                  <a:srgbClr val="262626"/>
                </a:solidFill>
                <a:latin typeface="Arial"/>
              </a:defRPr>
            </a:pPr>
            <a:r>
              <a:t>• Grain rõ ràng</a:t>
            </a:r>
          </a:p>
          <a:p>
            <a:pPr>
              <a:lnSpc>
                <a:spcPct val="108000"/>
              </a:lnSpc>
              <a:spcAft>
                <a:spcPts val="800"/>
              </a:spcAft>
              <a:defRPr sz="1600">
                <a:solidFill>
                  <a:srgbClr val="262626"/>
                </a:solidFill>
                <a:latin typeface="Arial"/>
              </a:defRPr>
            </a:pPr>
            <a:r>
              <a:t>• Measures nhất quán</a:t>
            </a:r>
          </a:p>
          <a:p>
            <a:pPr>
              <a:lnSpc>
                <a:spcPct val="108000"/>
              </a:lnSpc>
              <a:spcAft>
                <a:spcPts val="800"/>
              </a:spcAft>
              <a:defRPr sz="1600">
                <a:solidFill>
                  <a:srgbClr val="262626"/>
                </a:solidFill>
                <a:latin typeface="Arial"/>
              </a:defRPr>
            </a:pPr>
            <a:r>
              <a:t>• Tái sử dụng KPI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Normalization vs Denormalization</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NORMALIZED</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Giảm lặp dữ liệu</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Tốt cho update</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Nhiều join</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OLTP</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DENORMALIZED</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Chủ động lặp để đọc nhanh</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Tốt cho analytics</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Ít join hơn</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Data Mart / DW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Warehouse mindset</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BUSINESS PROCESS</a:t>
            </a:r>
          </a:p>
          <a:p>
            <a:pPr algn="ctr">
              <a:defRPr sz="1150">
                <a:solidFill>
                  <a:srgbClr val="5F6368"/>
                </a:solidFill>
                <a:latin typeface="Arial"/>
              </a:defRPr>
            </a:pPr>
            <a:r>
              <a:t>Sales</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GRAIN</a:t>
            </a:r>
          </a:p>
          <a:p>
            <a:pPr algn="ctr">
              <a:defRPr sz="1150">
                <a:solidFill>
                  <a:srgbClr val="5F6368"/>
                </a:solidFill>
                <a:latin typeface="Arial"/>
              </a:defRPr>
            </a:pPr>
            <a:r>
              <a:t>1 order_item</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DIMENSIONS</a:t>
            </a:r>
          </a:p>
          <a:p>
            <a:pPr algn="ctr">
              <a:defRPr sz="1150">
                <a:solidFill>
                  <a:srgbClr val="5F6368"/>
                </a:solidFill>
                <a:latin typeface="Arial"/>
              </a:defRPr>
            </a:pPr>
            <a:r>
              <a:t>who/what/when/how</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FACTS</a:t>
            </a:r>
          </a:p>
          <a:p>
            <a:pPr algn="ctr">
              <a:defRPr sz="1150">
                <a:solidFill>
                  <a:srgbClr val="5F6368"/>
                </a:solidFill>
                <a:latin typeface="Arial"/>
              </a:defRPr>
            </a:pPr>
            <a:r>
              <a:t>quantity/revenue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Kimball-style thinking: luôn chốt grain trước khi chọn measures.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Bốn bước dimensional modeling</a:t>
            </a:r>
          </a:p>
        </p:txBody>
      </p:sp>
      <p:sp>
        <p:nvSpPr>
          <p:cNvPr id="5" name="Rounded Rectangle 4"/>
          <p:cNvSpPr/>
          <p:nvPr/>
        </p:nvSpPr>
        <p:spPr>
          <a:xfrm>
            <a:off x="868680" y="1691640"/>
            <a:ext cx="512064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1. PROCESS</a:t>
            </a:r>
          </a:p>
          <a:p>
            <a:pPr>
              <a:defRPr sz="1150">
                <a:solidFill>
                  <a:srgbClr val="262626"/>
                </a:solidFill>
                <a:latin typeface="Arial"/>
              </a:defRPr>
            </a:pPr>
            <a:r>
              <a:t>Chọn business process cần đo.</a:t>
            </a:r>
          </a:p>
        </p:txBody>
      </p:sp>
      <p:sp>
        <p:nvSpPr>
          <p:cNvPr id="6" name="Rounded Rectangle 5"/>
          <p:cNvSpPr/>
          <p:nvPr/>
        </p:nvSpPr>
        <p:spPr>
          <a:xfrm>
            <a:off x="6217920" y="1691640"/>
            <a:ext cx="512064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2. GRAIN</a:t>
            </a:r>
          </a:p>
          <a:p>
            <a:pPr>
              <a:defRPr sz="1150">
                <a:solidFill>
                  <a:srgbClr val="262626"/>
                </a:solidFill>
                <a:latin typeface="Arial"/>
              </a:defRPr>
            </a:pPr>
            <a:r>
              <a:t>Một dòng fact đại diện điều gì?</a:t>
            </a:r>
          </a:p>
        </p:txBody>
      </p:sp>
      <p:sp>
        <p:nvSpPr>
          <p:cNvPr id="7" name="Rounded Rectangle 6"/>
          <p:cNvSpPr/>
          <p:nvPr/>
        </p:nvSpPr>
        <p:spPr>
          <a:xfrm>
            <a:off x="868680" y="3886200"/>
            <a:ext cx="512064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3. DIMENSIONS</a:t>
            </a:r>
          </a:p>
          <a:p>
            <a:pPr>
              <a:defRPr sz="1150">
                <a:solidFill>
                  <a:srgbClr val="262626"/>
                </a:solidFill>
                <a:latin typeface="Arial"/>
              </a:defRPr>
            </a:pPr>
            <a:r>
              <a:t>Các góc nhìn phân tích.</a:t>
            </a:r>
          </a:p>
        </p:txBody>
      </p:sp>
      <p:sp>
        <p:nvSpPr>
          <p:cNvPr id="8" name="Rounded Rectangle 7"/>
          <p:cNvSpPr/>
          <p:nvPr/>
        </p:nvSpPr>
        <p:spPr>
          <a:xfrm>
            <a:off x="6217920" y="3886200"/>
            <a:ext cx="512064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4. FACTS</a:t>
            </a:r>
          </a:p>
          <a:p>
            <a:pPr>
              <a:defRPr sz="1150">
                <a:solidFill>
                  <a:srgbClr val="262626"/>
                </a:solidFill>
                <a:latin typeface="Arial"/>
              </a:defRPr>
            </a:pPr>
            <a:r>
              <a:t>Measures số học ở grain đó.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Business process của khóa: SALES</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Sự kiện: một sản phẩm xuất hiện trong một order</a:t>
            </a:r>
          </a:p>
          <a:p>
            <a:pPr>
              <a:lnSpc>
                <a:spcPct val="108000"/>
              </a:lnSpc>
              <a:spcAft>
                <a:spcPts val="800"/>
              </a:spcAft>
              <a:defRPr sz="1800">
                <a:solidFill>
                  <a:srgbClr val="262626"/>
                </a:solidFill>
                <a:latin typeface="Arial"/>
              </a:defRPr>
            </a:pPr>
            <a:r>
              <a:t>• Nguồn: orders + order_items + customer + product + payment</a:t>
            </a:r>
          </a:p>
          <a:p>
            <a:pPr>
              <a:lnSpc>
                <a:spcPct val="108000"/>
              </a:lnSpc>
              <a:spcAft>
                <a:spcPts val="800"/>
              </a:spcAft>
              <a:defRPr sz="1800">
                <a:solidFill>
                  <a:srgbClr val="262626"/>
                </a:solidFill>
                <a:latin typeface="Arial"/>
              </a:defRPr>
            </a:pPr>
            <a:r>
              <a:t>• Mục tiêu: revenue theo date/customer/product/payment/status</a:t>
            </a:r>
          </a:p>
          <a:p>
            <a:pPr>
              <a:lnSpc>
                <a:spcPct val="108000"/>
              </a:lnSpc>
              <a:spcAft>
                <a:spcPts val="800"/>
              </a:spcAft>
              <a:defRPr sz="1800">
                <a:solidFill>
                  <a:srgbClr val="262626"/>
                </a:solidFill>
                <a:latin typeface="Arial"/>
              </a:defRPr>
            </a:pPr>
            <a:r>
              <a:t>• Chỉ số: quantity, gross_amount, discount_amount, net_amount</a:t>
            </a:r>
          </a:p>
          <a:p>
            <a:pPr>
              <a:lnSpc>
                <a:spcPct val="108000"/>
              </a:lnSpc>
              <a:spcAft>
                <a:spcPts val="800"/>
              </a:spcAft>
              <a:defRPr sz="1800">
                <a:solidFill>
                  <a:srgbClr val="262626"/>
                </a:solidFill>
                <a:latin typeface="Arial"/>
              </a:defRPr>
            </a:pPr>
            <a:r>
              <a:t>• Grain phải không đổi trong fact_sales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Grain: một dòng fact_sales = một order_item</a:t>
            </a:r>
          </a:p>
        </p:txBody>
      </p:sp>
      <p:sp>
        <p:nvSpPr>
          <p:cNvPr id="5" name="Rounded Rectangle 4"/>
          <p:cNvSpPr/>
          <p:nvPr/>
        </p:nvSpPr>
        <p:spPr>
          <a:xfrm>
            <a:off x="777240"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ORDER</a:t>
            </a:r>
          </a:p>
          <a:p>
            <a:pPr algn="ctr">
              <a:defRPr sz="1150">
                <a:solidFill>
                  <a:srgbClr val="5F6368"/>
                </a:solidFill>
                <a:latin typeface="Arial"/>
              </a:defRPr>
            </a:pPr>
            <a:r>
              <a:t>1</a:t>
            </a:r>
          </a:p>
        </p:txBody>
      </p:sp>
      <p:sp>
        <p:nvSpPr>
          <p:cNvPr id="6" name="Right Arrow 5"/>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3024" y="2240280"/>
            <a:ext cx="3441192"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ORDER ITEM</a:t>
            </a:r>
          </a:p>
          <a:p>
            <a:pPr algn="ctr">
              <a:defRPr sz="1150">
                <a:solidFill>
                  <a:srgbClr val="5F6368"/>
                </a:solidFill>
                <a:latin typeface="Arial"/>
              </a:defRPr>
            </a:pPr>
            <a:r>
              <a:t>N</a:t>
            </a:r>
          </a:p>
        </p:txBody>
      </p:sp>
      <p:sp>
        <p:nvSpPr>
          <p:cNvPr id="8" name="Right Arrow 7"/>
          <p:cNvSpPr/>
          <p:nvPr/>
        </p:nvSpPr>
        <p:spPr>
          <a:xfrm>
            <a:off x="785164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88808" y="2240280"/>
            <a:ext cx="3441192"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FACT_SALES</a:t>
            </a:r>
          </a:p>
          <a:p>
            <a:pPr algn="ctr">
              <a:defRPr sz="1150">
                <a:solidFill>
                  <a:srgbClr val="5F6368"/>
                </a:solidFill>
                <a:latin typeface="Arial"/>
              </a:defRPr>
            </a:pPr>
            <a:r>
              <a:t>1 row / item</a:t>
            </a:r>
          </a:p>
        </p:txBody>
      </p:sp>
      <p:sp>
        <p:nvSpPr>
          <p:cNvPr id="10" name="TextBox 9"/>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Nếu order có 3 items → 3 dòng fact. Order-level metric phải dùng COUNT DISTINCT order_id.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Dimension trả lời câu hỏi “theo cái gì?”</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DATE</a:t>
            </a:r>
          </a:p>
          <a:p>
            <a:pPr>
              <a:defRPr sz="1150">
                <a:solidFill>
                  <a:srgbClr val="262626"/>
                </a:solidFill>
                <a:latin typeface="Arial"/>
              </a:defRPr>
            </a:pPr>
            <a:r>
              <a:t>Ngày / tháng / quý / năm</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CUSTOMER</a:t>
            </a:r>
          </a:p>
          <a:p>
            <a:pPr>
              <a:defRPr sz="1150">
                <a:solidFill>
                  <a:srgbClr val="262626"/>
                </a:solidFill>
                <a:latin typeface="Arial"/>
              </a:defRPr>
            </a:pPr>
            <a:r>
              <a:t>City / segment / status</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PRODUCT</a:t>
            </a:r>
          </a:p>
          <a:p>
            <a:pPr>
              <a:defRPr sz="1150">
                <a:solidFill>
                  <a:srgbClr val="262626"/>
                </a:solidFill>
                <a:latin typeface="Arial"/>
              </a:defRPr>
            </a:pPr>
            <a:r>
              <a:t>Product / category</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PAYMENT</a:t>
            </a:r>
          </a:p>
          <a:p>
            <a:pPr>
              <a:defRPr sz="1150">
                <a:solidFill>
                  <a:srgbClr val="262626"/>
                </a:solidFill>
                <a:latin typeface="Arial"/>
              </a:defRPr>
            </a:pPr>
            <a:r>
              <a:t>Method</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ORDER STATUS</a:t>
            </a:r>
          </a:p>
          <a:p>
            <a:pPr>
              <a:defRPr sz="1150">
                <a:solidFill>
                  <a:srgbClr val="262626"/>
                </a:solidFill>
                <a:latin typeface="Arial"/>
              </a:defRPr>
            </a:pPr>
            <a:r>
              <a:t>completed/cancelled/...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Fact trả lời câu hỏi “đo cái gì?”</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QUANTITY</a:t>
            </a:r>
          </a:p>
          <a:p>
            <a:pPr>
              <a:defRPr sz="2000" b="1">
                <a:solidFill>
                  <a:srgbClr val="C5272A"/>
                </a:solidFill>
                <a:latin typeface="Arial"/>
              </a:defRPr>
            </a:pPr>
            <a:r>
              <a:t>Σ units</a:t>
            </a:r>
          </a:p>
          <a:p>
            <a:pPr>
              <a:defRPr sz="1050">
                <a:solidFill>
                  <a:srgbClr val="5F6368"/>
                </a:solidFill>
                <a:latin typeface="Arial"/>
              </a:defRPr>
            </a:pPr>
            <a:r>
              <a:t>additive</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GROSS</a:t>
            </a:r>
          </a:p>
          <a:p>
            <a:pPr>
              <a:defRPr sz="2000" b="1">
                <a:solidFill>
                  <a:srgbClr val="C5272A"/>
                </a:solidFill>
                <a:latin typeface="Arial"/>
              </a:defRPr>
            </a:pPr>
            <a:r>
              <a:t>qty × price</a:t>
            </a:r>
          </a:p>
          <a:p>
            <a:pPr>
              <a:defRPr sz="1050">
                <a:solidFill>
                  <a:srgbClr val="5F6368"/>
                </a:solidFill>
                <a:latin typeface="Arial"/>
              </a:defRPr>
            </a:pPr>
            <a:r>
              <a:t>additive</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DISCOUNT</a:t>
            </a:r>
          </a:p>
          <a:p>
            <a:pPr>
              <a:defRPr sz="2000" b="1">
                <a:solidFill>
                  <a:srgbClr val="C5272A"/>
                </a:solidFill>
                <a:latin typeface="Arial"/>
              </a:defRPr>
            </a:pPr>
            <a:r>
              <a:t>Σ discount</a:t>
            </a:r>
          </a:p>
          <a:p>
            <a:pPr>
              <a:defRPr sz="1050">
                <a:solidFill>
                  <a:srgbClr val="5F6368"/>
                </a:solidFill>
                <a:latin typeface="Arial"/>
              </a:defRPr>
            </a:pPr>
            <a:r>
              <a:t>additive</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NET</a:t>
            </a:r>
          </a:p>
          <a:p>
            <a:pPr>
              <a:defRPr sz="2000" b="1">
                <a:solidFill>
                  <a:srgbClr val="C5272A"/>
                </a:solidFill>
                <a:latin typeface="Arial"/>
              </a:defRPr>
            </a:pPr>
            <a:r>
              <a:t>gross - discount</a:t>
            </a:r>
          </a:p>
          <a:p>
            <a:pPr>
              <a:defRPr sz="1050">
                <a:solidFill>
                  <a:srgbClr val="5F6368"/>
                </a:solidFill>
                <a:latin typeface="Arial"/>
              </a:defRPr>
            </a:pPr>
            <a:r>
              <a:t>additive</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ORDERS</a:t>
            </a:r>
          </a:p>
          <a:p>
            <a:pPr>
              <a:defRPr sz="2000" b="1">
                <a:solidFill>
                  <a:srgbClr val="C5272A"/>
                </a:solidFill>
                <a:latin typeface="Arial"/>
              </a:defRPr>
            </a:pPr>
            <a:r>
              <a:t>COUNT DISTINCT</a:t>
            </a:r>
          </a:p>
          <a:p>
            <a:pPr>
              <a:defRPr sz="1050">
                <a:solidFill>
                  <a:srgbClr val="5F6368"/>
                </a:solidFill>
                <a:latin typeface="Arial"/>
              </a:defRPr>
            </a:pPr>
            <a:r>
              <a:t>semi-derived</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AOV</a:t>
            </a:r>
          </a:p>
          <a:p>
            <a:pPr>
              <a:defRPr sz="2000" b="1">
                <a:solidFill>
                  <a:srgbClr val="C5272A"/>
                </a:solidFill>
                <a:latin typeface="Arial"/>
              </a:defRPr>
            </a:pPr>
            <a:r>
              <a:t>Revenue / Orders</a:t>
            </a:r>
          </a:p>
          <a:p>
            <a:pPr>
              <a:defRPr sz="1050">
                <a:solidFill>
                  <a:srgbClr val="5F6368"/>
                </a:solidFill>
                <a:latin typeface="Arial"/>
              </a:defRPr>
            </a:pPr>
            <a:r>
              <a:t>derived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Surrogate key vs Natural key</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NATURAL KEY</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customer_id</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ý nghĩa nghiệp vụ</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Có thể thay đổi/chuỗi</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liên kết nguồn</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SURROGATE KEY</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customer_sk</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Khóa kỹ thuật</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Ổn định/số nguyên</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FK trong fact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Star Schema của Sales Data Mart</a:t>
            </a:r>
          </a:p>
        </p:txBody>
      </p:sp>
      <p:sp>
        <p:nvSpPr>
          <p:cNvPr id="5" name="Rounded Rectangle 4"/>
          <p:cNvSpPr/>
          <p:nvPr/>
        </p:nvSpPr>
        <p:spPr>
          <a:xfrm>
            <a:off x="4800600" y="2240280"/>
            <a:ext cx="2560320" cy="150876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rial"/>
              </a:defRPr>
            </a:pPr>
            <a:r>
              <a:t>FACT_SALES</a:t>
            </a:r>
          </a:p>
          <a:p>
            <a:pPr algn="ctr">
              <a:defRPr sz="1100">
                <a:solidFill>
                  <a:srgbClr val="FFFFFF"/>
                </a:solidFill>
                <a:latin typeface="Arial"/>
              </a:defRPr>
            </a:pPr>
            <a:r>
              <a:t>quantity • gross • discount • net</a:t>
            </a:r>
          </a:p>
        </p:txBody>
      </p:sp>
      <p:sp>
        <p:nvSpPr>
          <p:cNvPr id="6" name="Rounded Rectangle 5"/>
          <p:cNvSpPr/>
          <p:nvPr/>
        </p:nvSpPr>
        <p:spPr>
          <a:xfrm>
            <a:off x="914400" y="1371600"/>
            <a:ext cx="2057400" cy="822960"/>
          </a:xfrm>
          <a:prstGeom prst="roundRect">
            <a:avLst/>
          </a:prstGeom>
          <a:solidFill>
            <a:srgbClr val="F5F6F8"/>
          </a:solidFill>
          <a:ln>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2626"/>
                </a:solidFill>
                <a:latin typeface="Arial"/>
              </a:defRPr>
            </a:pPr>
            <a:r>
              <a:t>DIM_DATE</a:t>
            </a:r>
          </a:p>
        </p:txBody>
      </p:sp>
      <p:cxnSp>
        <p:nvCxnSpPr>
          <p:cNvPr id="7" name="Connector 6"/>
          <p:cNvCxnSpPr/>
          <p:nvPr/>
        </p:nvCxnSpPr>
        <p:spPr>
          <a:xfrm>
            <a:off x="1920240" y="1783080"/>
            <a:ext cx="4160520" cy="1211580"/>
          </a:xfrm>
          <a:prstGeom prst="line">
            <a:avLst/>
          </a:prstGeom>
          <a:ln w="15240">
            <a:solidFill>
              <a:srgbClr val="5F636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4400" y="4206240"/>
            <a:ext cx="2057400" cy="822960"/>
          </a:xfrm>
          <a:prstGeom prst="roundRect">
            <a:avLst/>
          </a:prstGeom>
          <a:solidFill>
            <a:srgbClr val="F5F6F8"/>
          </a:solidFill>
          <a:ln>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2626"/>
                </a:solidFill>
                <a:latin typeface="Arial"/>
              </a:defRPr>
            </a:pPr>
            <a:r>
              <a:t>DIM_CUSTOMER</a:t>
            </a:r>
          </a:p>
        </p:txBody>
      </p:sp>
      <p:cxnSp>
        <p:nvCxnSpPr>
          <p:cNvPr id="9" name="Connector 8"/>
          <p:cNvCxnSpPr/>
          <p:nvPr/>
        </p:nvCxnSpPr>
        <p:spPr>
          <a:xfrm flipV="1">
            <a:off x="1920240" y="2994660"/>
            <a:ext cx="4160520" cy="1623060"/>
          </a:xfrm>
          <a:prstGeom prst="line">
            <a:avLst/>
          </a:prstGeom>
          <a:ln w="15240">
            <a:solidFill>
              <a:srgbClr val="5F636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595360" y="1371600"/>
            <a:ext cx="2057400" cy="822960"/>
          </a:xfrm>
          <a:prstGeom prst="roundRect">
            <a:avLst/>
          </a:prstGeom>
          <a:solidFill>
            <a:srgbClr val="F5F6F8"/>
          </a:solidFill>
          <a:ln>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2626"/>
                </a:solidFill>
                <a:latin typeface="Arial"/>
              </a:defRPr>
            </a:pPr>
            <a:r>
              <a:t>DIM_PRODUCT</a:t>
            </a:r>
          </a:p>
        </p:txBody>
      </p:sp>
      <p:cxnSp>
        <p:nvCxnSpPr>
          <p:cNvPr id="11" name="Connector 10"/>
          <p:cNvCxnSpPr/>
          <p:nvPr/>
        </p:nvCxnSpPr>
        <p:spPr>
          <a:xfrm flipH="1">
            <a:off x="6080760" y="1783080"/>
            <a:ext cx="3520440" cy="1211580"/>
          </a:xfrm>
          <a:prstGeom prst="line">
            <a:avLst/>
          </a:prstGeom>
          <a:ln w="15240">
            <a:solidFill>
              <a:srgbClr val="5F636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595360" y="4206240"/>
            <a:ext cx="2057400" cy="822960"/>
          </a:xfrm>
          <a:prstGeom prst="roundRect">
            <a:avLst/>
          </a:prstGeom>
          <a:solidFill>
            <a:srgbClr val="F5F6F8"/>
          </a:solidFill>
          <a:ln>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2626"/>
                </a:solidFill>
                <a:latin typeface="Arial"/>
              </a:defRPr>
            </a:pPr>
            <a:r>
              <a:t>DIM_PAYMENT</a:t>
            </a:r>
          </a:p>
        </p:txBody>
      </p:sp>
      <p:cxnSp>
        <p:nvCxnSpPr>
          <p:cNvPr id="13" name="Connector 12"/>
          <p:cNvCxnSpPr/>
          <p:nvPr/>
        </p:nvCxnSpPr>
        <p:spPr>
          <a:xfrm flipH="1" flipV="1">
            <a:off x="6080760" y="2994660"/>
            <a:ext cx="3520440" cy="1623060"/>
          </a:xfrm>
          <a:prstGeom prst="line">
            <a:avLst/>
          </a:prstGeom>
          <a:ln w="15240">
            <a:solidFill>
              <a:srgbClr val="5F636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92040" y="4343400"/>
            <a:ext cx="2057400" cy="822960"/>
          </a:xfrm>
          <a:prstGeom prst="roundRect">
            <a:avLst/>
          </a:prstGeom>
          <a:solidFill>
            <a:srgbClr val="F5F6F8"/>
          </a:solidFill>
          <a:ln>
            <a:solidFill>
              <a:srgbClr val="5F636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62626"/>
                </a:solidFill>
                <a:latin typeface="Arial"/>
              </a:defRPr>
            </a:pPr>
            <a:r>
              <a:t>DIM_STATUS</a:t>
            </a:r>
          </a:p>
        </p:txBody>
      </p:sp>
      <p:cxnSp>
        <p:nvCxnSpPr>
          <p:cNvPr id="15" name="Connector 14"/>
          <p:cNvCxnSpPr/>
          <p:nvPr/>
        </p:nvCxnSpPr>
        <p:spPr>
          <a:xfrm flipV="1">
            <a:off x="5897879" y="2994660"/>
            <a:ext cx="182881" cy="1760220"/>
          </a:xfrm>
          <a:prstGeom prst="line">
            <a:avLst/>
          </a:prstGeom>
          <a:ln w="15240">
            <a:solidFill>
              <a:srgbClr val="5F636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dim_date: dimension được sinh, không phụ thuộc source</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date_key dạng YYYYMMDD để join đơn giản</a:t>
            </a:r>
          </a:p>
          <a:p>
            <a:pPr>
              <a:lnSpc>
                <a:spcPct val="108000"/>
              </a:lnSpc>
              <a:spcAft>
                <a:spcPts val="800"/>
              </a:spcAft>
              <a:defRPr sz="1800">
                <a:solidFill>
                  <a:srgbClr val="262626"/>
                </a:solidFill>
                <a:latin typeface="Arial"/>
              </a:defRPr>
            </a:pPr>
            <a:r>
              <a:t>• full_date, day, month, quarter, year</a:t>
            </a:r>
          </a:p>
          <a:p>
            <a:pPr>
              <a:lnSpc>
                <a:spcPct val="108000"/>
              </a:lnSpc>
              <a:spcAft>
                <a:spcPts val="800"/>
              </a:spcAft>
              <a:defRPr sz="1800">
                <a:solidFill>
                  <a:srgbClr val="262626"/>
                </a:solidFill>
                <a:latin typeface="Arial"/>
              </a:defRPr>
            </a:pPr>
            <a:r>
              <a:t>• is_weekend và thuộc tính lịch khác</a:t>
            </a:r>
          </a:p>
          <a:p>
            <a:pPr>
              <a:lnSpc>
                <a:spcPct val="108000"/>
              </a:lnSpc>
              <a:spcAft>
                <a:spcPts val="800"/>
              </a:spcAft>
              <a:defRPr sz="1800">
                <a:solidFill>
                  <a:srgbClr val="262626"/>
                </a:solidFill>
                <a:latin typeface="Arial"/>
              </a:defRPr>
            </a:pPr>
            <a:r>
              <a:t>• Sinh trước cho khoảng 2025–2027</a:t>
            </a:r>
          </a:p>
          <a:p>
            <a:pPr>
              <a:lnSpc>
                <a:spcPct val="108000"/>
              </a:lnSpc>
              <a:spcAft>
                <a:spcPts val="800"/>
              </a:spcAft>
              <a:defRPr sz="1800">
                <a:solidFill>
                  <a:srgbClr val="262626"/>
                </a:solidFill>
                <a:latin typeface="Arial"/>
              </a:defRPr>
            </a:pPr>
            <a:r>
              <a:t>• Một date xuất hiện một lần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dim_customer và dim_product</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DIM_CUSTOMER</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DIM_PRODUCT</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customer_sk – surrogate PK</a:t>
            </a:r>
          </a:p>
          <a:p>
            <a:pPr>
              <a:lnSpc>
                <a:spcPct val="108000"/>
              </a:lnSpc>
              <a:spcAft>
                <a:spcPts val="800"/>
              </a:spcAft>
              <a:defRPr sz="1600">
                <a:solidFill>
                  <a:srgbClr val="262626"/>
                </a:solidFill>
                <a:latin typeface="Arial"/>
              </a:defRPr>
            </a:pPr>
            <a:r>
              <a:t>• customer_id – natural key UNIQUE</a:t>
            </a:r>
          </a:p>
          <a:p>
            <a:pPr>
              <a:lnSpc>
                <a:spcPct val="108000"/>
              </a:lnSpc>
              <a:spcAft>
                <a:spcPts val="800"/>
              </a:spcAft>
              <a:defRPr sz="1600">
                <a:solidFill>
                  <a:srgbClr val="262626"/>
                </a:solidFill>
                <a:latin typeface="Arial"/>
              </a:defRPr>
            </a:pPr>
            <a:r>
              <a:t>• city, segment, status</a:t>
            </a:r>
          </a:p>
          <a:p>
            <a:pPr>
              <a:lnSpc>
                <a:spcPct val="108000"/>
              </a:lnSpc>
              <a:spcAft>
                <a:spcPts val="800"/>
              </a:spcAft>
              <a:defRPr sz="1600">
                <a:solidFill>
                  <a:srgbClr val="262626"/>
                </a:solidFill>
                <a:latin typeface="Arial"/>
              </a:defRPr>
            </a:pPr>
            <a:r>
              <a:t>• Foundation: Type 1 current-state</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product_sk – surrogate PK</a:t>
            </a:r>
          </a:p>
          <a:p>
            <a:pPr>
              <a:lnSpc>
                <a:spcPct val="108000"/>
              </a:lnSpc>
              <a:spcAft>
                <a:spcPts val="800"/>
              </a:spcAft>
              <a:defRPr sz="1600">
                <a:solidFill>
                  <a:srgbClr val="262626"/>
                </a:solidFill>
                <a:latin typeface="Arial"/>
              </a:defRPr>
            </a:pPr>
            <a:r>
              <a:t>• product_id – natural key UNIQUE</a:t>
            </a:r>
          </a:p>
          <a:p>
            <a:pPr>
              <a:lnSpc>
                <a:spcPct val="108000"/>
              </a:lnSpc>
              <a:spcAft>
                <a:spcPts val="800"/>
              </a:spcAft>
              <a:defRPr sz="1600">
                <a:solidFill>
                  <a:srgbClr val="262626"/>
                </a:solidFill>
                <a:latin typeface="Arial"/>
              </a:defRPr>
            </a:pPr>
            <a:r>
              <a:t>• product_name</a:t>
            </a:r>
          </a:p>
          <a:p>
            <a:pPr>
              <a:lnSpc>
                <a:spcPct val="108000"/>
              </a:lnSpc>
              <a:spcAft>
                <a:spcPts val="800"/>
              </a:spcAft>
              <a:defRPr sz="1600">
                <a:solidFill>
                  <a:srgbClr val="262626"/>
                </a:solidFill>
                <a:latin typeface="Arial"/>
              </a:defRPr>
            </a:pPr>
            <a:r>
              <a:t>• category_id + category_name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fact_sales DDL – các khóa &amp; measures</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CREATE TABLE mart.fact_sales (</a:t>
            </a:r>
            <a:br/>
            <a:r>
              <a:t>  sales_key BIGSERIAL PRIMARY KEY,</a:t>
            </a:r>
            <a:br/>
            <a:r>
              <a:t>  order_item_id VARCHAR(16) UNIQUE NOT NULL,</a:t>
            </a:r>
            <a:br/>
            <a:r>
              <a:t>  order_id VARCHAR(12) NOT NULL,</a:t>
            </a:r>
            <a:br/>
            <a:r>
              <a:t>  date_key INT REFERENCES mart.dim_date,</a:t>
            </a:r>
            <a:br/>
            <a:r>
              <a:t>  customer_sk BIGINT REFERENCES mart.dim_customer,</a:t>
            </a:r>
            <a:br/>
            <a:r>
              <a:t>  product_sk BIGINT REFERENCES mart.dim_product,</a:t>
            </a:r>
            <a:br/>
            <a:r>
              <a:t>  quantity INT NOT NULL,</a:t>
            </a:r>
            <a:br/>
            <a:r>
              <a:t>  gross_amount NUMERIC(14,2) NOT NULL,</a:t>
            </a:r>
            <a:br/>
            <a:r>
              <a:t>  discount_amount NUMERIC(14,2) NOT NULL,</a:t>
            </a:r>
            <a:br/>
            <a:r>
              <a:t>  net_amount NUMERIC(14,2) NOT NULL</a:t>
            </a:r>
            <a:b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Load sequence: dimension trước fact</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dim_date</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dim_customer</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dim_product</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small dims</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5</a:t>
            </a:r>
          </a:p>
          <a:p>
            <a:pPr algn="ctr">
              <a:defRPr sz="1150">
                <a:solidFill>
                  <a:srgbClr val="5F6368"/>
                </a:solidFill>
                <a:latin typeface="Arial"/>
              </a:defRPr>
            </a:pPr>
            <a:r>
              <a:t>fact_sales</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Fact cần surrogate keys từ dimensions; vì vậy load dimension trước.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Load fact: join OLTP → surrogate keys</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order_items cung cấp grain và price/discount</a:t>
            </a:r>
          </a:p>
          <a:p>
            <a:pPr>
              <a:lnSpc>
                <a:spcPct val="108000"/>
              </a:lnSpc>
              <a:spcAft>
                <a:spcPts val="800"/>
              </a:spcAft>
              <a:defRPr sz="1800">
                <a:solidFill>
                  <a:srgbClr val="262626"/>
                </a:solidFill>
                <a:latin typeface="Arial"/>
              </a:defRPr>
            </a:pPr>
            <a:r>
              <a:t>• orders cung cấp date/customer/status</a:t>
            </a:r>
          </a:p>
          <a:p>
            <a:pPr>
              <a:lnSpc>
                <a:spcPct val="108000"/>
              </a:lnSpc>
              <a:spcAft>
                <a:spcPts val="800"/>
              </a:spcAft>
              <a:defRPr sz="1800">
                <a:solidFill>
                  <a:srgbClr val="262626"/>
                </a:solidFill>
                <a:latin typeface="Arial"/>
              </a:defRPr>
            </a:pPr>
            <a:r>
              <a:t>• dim_customer map customer_id → customer_sk</a:t>
            </a:r>
          </a:p>
          <a:p>
            <a:pPr>
              <a:lnSpc>
                <a:spcPct val="108000"/>
              </a:lnSpc>
              <a:spcAft>
                <a:spcPts val="800"/>
              </a:spcAft>
              <a:defRPr sz="1800">
                <a:solidFill>
                  <a:srgbClr val="262626"/>
                </a:solidFill>
                <a:latin typeface="Arial"/>
              </a:defRPr>
            </a:pPr>
            <a:r>
              <a:t>• dim_product map product_id → product_sk</a:t>
            </a:r>
          </a:p>
          <a:p>
            <a:pPr>
              <a:lnSpc>
                <a:spcPct val="108000"/>
              </a:lnSpc>
              <a:spcAft>
                <a:spcPts val="800"/>
              </a:spcAft>
              <a:defRPr sz="1800">
                <a:solidFill>
                  <a:srgbClr val="262626"/>
                </a:solidFill>
                <a:latin typeface="Arial"/>
              </a:defRPr>
            </a:pPr>
            <a:r>
              <a:t>• payment method lấy từ payment gần nhất nếu có</a:t>
            </a:r>
          </a:p>
          <a:p>
            <a:pPr>
              <a:lnSpc>
                <a:spcPct val="108000"/>
              </a:lnSpc>
              <a:spcAft>
                <a:spcPts val="800"/>
              </a:spcAft>
              <a:defRPr sz="1800">
                <a:solidFill>
                  <a:srgbClr val="262626"/>
                </a:solidFill>
                <a:latin typeface="Arial"/>
              </a:defRPr>
            </a:pPr>
            <a:r>
              <a:t>• ON CONFLICT(order_item_id) để hỗ trợ rerun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Reconciliation OLTP ↔ Data Mart</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Kiểm tra số lượng</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Kiểm tra giá trị</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COUNT(order_items) ↔ COUNT(fact_sales)</a:t>
            </a:r>
          </a:p>
          <a:p>
            <a:pPr>
              <a:lnSpc>
                <a:spcPct val="108000"/>
              </a:lnSpc>
              <a:spcAft>
                <a:spcPts val="800"/>
              </a:spcAft>
              <a:defRPr sz="1600">
                <a:solidFill>
                  <a:srgbClr val="262626"/>
                </a:solidFill>
                <a:latin typeface="Arial"/>
              </a:defRPr>
            </a:pPr>
            <a:r>
              <a:t>• Distinct order_id</a:t>
            </a:r>
          </a:p>
          <a:p>
            <a:pPr>
              <a:lnSpc>
                <a:spcPct val="108000"/>
              </a:lnSpc>
              <a:spcAft>
                <a:spcPts val="800"/>
              </a:spcAft>
              <a:defRPr sz="1600">
                <a:solidFill>
                  <a:srgbClr val="262626"/>
                </a:solidFill>
                <a:latin typeface="Arial"/>
              </a:defRPr>
            </a:pPr>
            <a:r>
              <a:t>• Distinct customer/product</a:t>
            </a:r>
          </a:p>
          <a:p>
            <a:pPr>
              <a:lnSpc>
                <a:spcPct val="108000"/>
              </a:lnSpc>
              <a:spcAft>
                <a:spcPts val="800"/>
              </a:spcAft>
              <a:defRPr sz="1600">
                <a:solidFill>
                  <a:srgbClr val="262626"/>
                </a:solidFill>
                <a:latin typeface="Arial"/>
              </a:defRPr>
            </a:pPr>
            <a:r>
              <a:t>• Missing dimension key = 0</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SUM item net ↔ SUM fact net</a:t>
            </a:r>
          </a:p>
          <a:p>
            <a:pPr>
              <a:lnSpc>
                <a:spcPct val="108000"/>
              </a:lnSpc>
              <a:spcAft>
                <a:spcPts val="800"/>
              </a:spcAft>
              <a:defRPr sz="1600">
                <a:solidFill>
                  <a:srgbClr val="262626"/>
                </a:solidFill>
                <a:latin typeface="Arial"/>
              </a:defRPr>
            </a:pPr>
            <a:r>
              <a:t>• Revenue completed theo month</a:t>
            </a:r>
          </a:p>
          <a:p>
            <a:pPr>
              <a:lnSpc>
                <a:spcPct val="108000"/>
              </a:lnSpc>
              <a:spcAft>
                <a:spcPts val="800"/>
              </a:spcAft>
              <a:defRPr sz="1600">
                <a:solidFill>
                  <a:srgbClr val="262626"/>
                </a:solidFill>
                <a:latin typeface="Arial"/>
              </a:defRPr>
            </a:pPr>
            <a:r>
              <a:t>• Top category giống nhau</a:t>
            </a:r>
          </a:p>
          <a:p>
            <a:pPr>
              <a:lnSpc>
                <a:spcPct val="108000"/>
              </a:lnSpc>
              <a:spcAft>
                <a:spcPts val="800"/>
              </a:spcAft>
              <a:defRPr sz="1600">
                <a:solidFill>
                  <a:srgbClr val="262626"/>
                </a:solidFill>
                <a:latin typeface="Arial"/>
              </a:defRPr>
            </a:pPr>
            <a:r>
              <a:t>• Random sample order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KPI từ Data Mart</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SELECT d.year_num, d.month_num,</a:t>
            </a:r>
            <a:br/>
            <a:r>
              <a:t>       SUM(f.net_amount) FILTER (WHERE s.order_status='completed') AS revenue,</a:t>
            </a:r>
            <a:br/>
            <a:r>
              <a:t>       COUNT(DISTINCT f.order_id) FILTER (WHERE s.order_status='completed') AS orders</a:t>
            </a:r>
            <a:br/>
            <a:r>
              <a:t>FROM mart.fact_sales f</a:t>
            </a:r>
            <a:br/>
            <a:r>
              <a:t>JOIN mart.dim_date d USING(date_key)</a:t>
            </a:r>
            <a:br/>
            <a:r>
              <a:t>JOIN mart.dim_order_status s USING(order_status_sk)</a:t>
            </a:r>
            <a:br/>
            <a:r>
              <a:t>GROUP BY d.year_num,d.month_num</a:t>
            </a:r>
            <a:br/>
            <a:r>
              <a:t>ORDER BY 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4 – Xây Sales Data Mart</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Process + grain</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Design dimensions</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Design fact</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DDL + load</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5</a:t>
            </a:r>
          </a:p>
          <a:p>
            <a:pPr algn="ctr">
              <a:defRPr sz="1150">
                <a:solidFill>
                  <a:srgbClr val="5F6368"/>
                </a:solidFill>
                <a:latin typeface="Arial"/>
              </a:defRPr>
            </a:pPr>
            <a:r>
              <a:t>KPI + reconcile</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Đầu ra: ERD mart, DDL, load script, KPI queries và 5 đối soát.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Module SQL</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OLTP và mart được tạo hoàn toàn từ scripts</a:t>
            </a:r>
          </a:p>
          <a:p>
            <a:pPr>
              <a:lnSpc>
                <a:spcPct val="108000"/>
              </a:lnSpc>
              <a:spcAft>
                <a:spcPts val="800"/>
              </a:spcAft>
              <a:defRPr sz="1800">
                <a:solidFill>
                  <a:srgbClr val="262626"/>
                </a:solidFill>
                <a:latin typeface="Arial"/>
              </a:defRPr>
            </a:pPr>
            <a:r>
              <a:t>• fact_sales đúng grain 1 row/order_item</a:t>
            </a:r>
          </a:p>
          <a:p>
            <a:pPr>
              <a:lnSpc>
                <a:spcPct val="108000"/>
              </a:lnSpc>
              <a:spcAft>
                <a:spcPts val="800"/>
              </a:spcAft>
              <a:defRPr sz="1800">
                <a:solidFill>
                  <a:srgbClr val="262626"/>
                </a:solidFill>
                <a:latin typeface="Arial"/>
              </a:defRPr>
            </a:pPr>
            <a:r>
              <a:t>• KPI OLTP và mart khớp trong tolerance 0</a:t>
            </a:r>
          </a:p>
          <a:p>
            <a:pPr>
              <a:lnSpc>
                <a:spcPct val="108000"/>
              </a:lnSpc>
              <a:spcAft>
                <a:spcPts val="800"/>
              </a:spcAft>
              <a:defRPr sz="1800">
                <a:solidFill>
                  <a:srgbClr val="262626"/>
                </a:solidFill>
                <a:latin typeface="Arial"/>
              </a:defRPr>
            </a:pPr>
            <a:r>
              <a:t>• Không còn orphan dimension key</a:t>
            </a:r>
          </a:p>
          <a:p>
            <a:pPr>
              <a:lnSpc>
                <a:spcPct val="108000"/>
              </a:lnSpc>
              <a:spcAft>
                <a:spcPts val="800"/>
              </a:spcAft>
              <a:defRPr sz="1800">
                <a:solidFill>
                  <a:srgbClr val="262626"/>
                </a:solidFill>
                <a:latin typeface="Arial"/>
              </a:defRPr>
            </a:pPr>
            <a:r>
              <a:t>• Có script refresh dimension → fact</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