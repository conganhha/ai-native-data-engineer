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
  </p:notesMasterIdLst>
  <p:sldIdLst>
    <p:sldId id="256" r:id="rId2"/>
    <p:sldId id="257" r:id="rId3"/>
    <p:sldId id="258" r:id="rId4"/>
    <p:sldId id="261" r:id="rId33"/>
    <p:sldId id="262" r:id="rId34"/>
    <p:sldId id="263" r:id="rId35"/>
    <p:sldId id="264" r:id="rId36"/>
    <p:sldId id="265" r:id="rId37"/>
    <p:sldId id="266" r:id="rId38"/>
    <p:sldId id="267" r:id="rId39"/>
    <p:sldId id="268" r:id="rId40"/>
    <p:sldId id="269" r:id="rId41"/>
    <p:sldId id="270" r:id="rId42"/>
    <p:sldId id="271" r:id="rId43"/>
    <p:sldId id="272" r:id="rId44"/>
    <p:sldId id="273" r:id="rId45"/>
    <p:sldId id="274" r:id="rId46"/>
    <p:sldId id="275" r:id="rId47"/>
    <p:sldId id="276" r:id="rId48"/>
    <p:sldId id="277" r:id="rId49"/>
    <p:sldId id="278" r:id="rId50"/>
    <p:sldId id="259" r:id="rId5"/>
    <p:sldId id="260" r:id="rId6"/>
  </p:sldIdLst>
  <p:sldSz cx="12192000" cy="6858000"/>
  <p:notesSz cx="6858000" cy="9144000"/>
  <p:embeddedFontLst>
    <p:embeddedFont>
      <p:font typeface="Calibri" panose="020F0502020204030204" pitchFamily="34" charset="0"/>
      <p:regular r:id="rId8"/>
      <p:bold r:id="rId9"/>
      <p:italic r:id="rId10"/>
      <p:boldItalic r:id="rId11"/>
    </p:embeddedFont>
    <p:embeddedFont>
      <p:font typeface="Montserrat" panose="00000500000000000000" pitchFamily="2" charset="0"/>
      <p:regular r:id="rId12"/>
      <p:bold r:id="rId13"/>
      <p:italic r:id="rId14"/>
      <p:boldItalic r:id="rId15"/>
    </p:embeddedFont>
    <p:embeddedFont>
      <p:font typeface="Montserrat Black" panose="00000A00000000000000" pitchFamily="2" charset="0"/>
      <p:bold r:id="rId16"/>
      <p:boldItalic r:id="rId17"/>
    </p:embeddedFont>
    <p:embeddedFont>
      <p:font typeface="Montserrat ExtraBold" panose="00000900000000000000" pitchFamily="2" charset="0"/>
      <p:bold r:id="rId18"/>
      <p:boldItalic r:id="rId19"/>
    </p:embeddedFont>
    <p:embeddedFont>
      <p:font typeface="Montserrat Medium" panose="00000600000000000000" pitchFamily="2" charset="0"/>
      <p:regular r:id="rId20"/>
      <p:bold r:id="rId21"/>
      <p:italic r:id="rId22"/>
      <p:boldItalic r:id="rId23"/>
    </p:embeddedFont>
    <p:embeddedFont>
      <p:font typeface="Trebuchet MS" panose="020B060302020202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irXkCGjZF/d1qb7RGT2S1sXUuH6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56"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font" Target="fonts/font1.fntdata"/><Relationship Id="rId9" Type="http://schemas.openxmlformats.org/officeDocument/2006/relationships/font" Target="fonts/font2.fntdata"/><Relationship Id="rId10" Type="http://schemas.openxmlformats.org/officeDocument/2006/relationships/font" Target="fonts/font3.fntdata"/><Relationship Id="rId11" Type="http://schemas.openxmlformats.org/officeDocument/2006/relationships/font" Target="fonts/font4.fntdata"/><Relationship Id="rId12" Type="http://schemas.openxmlformats.org/officeDocument/2006/relationships/font" Target="fonts/font5.fntdata"/><Relationship Id="rId13" Type="http://schemas.openxmlformats.org/officeDocument/2006/relationships/font" Target="fonts/font6.fntdata"/><Relationship Id="rId14" Type="http://schemas.openxmlformats.org/officeDocument/2006/relationships/font" Target="fonts/font7.fntdata"/><Relationship Id="rId15" Type="http://schemas.openxmlformats.org/officeDocument/2006/relationships/font" Target="fonts/font8.fntdata"/><Relationship Id="rId16" Type="http://schemas.openxmlformats.org/officeDocument/2006/relationships/font" Target="fonts/font9.fntdata"/><Relationship Id="rId17" Type="http://schemas.openxmlformats.org/officeDocument/2006/relationships/font" Target="fonts/font10.fntdata"/><Relationship Id="rId18" Type="http://schemas.openxmlformats.org/officeDocument/2006/relationships/font" Target="fonts/font11.fntdata"/><Relationship Id="rId19" Type="http://schemas.openxmlformats.org/officeDocument/2006/relationships/font" Target="fonts/font12.fntdata"/><Relationship Id="rId20" Type="http://schemas.openxmlformats.org/officeDocument/2006/relationships/font" Target="fonts/font13.fntdata"/><Relationship Id="rId21" Type="http://schemas.openxmlformats.org/officeDocument/2006/relationships/font" Target="fonts/font14.fntdata"/><Relationship Id="rId22" Type="http://schemas.openxmlformats.org/officeDocument/2006/relationships/font" Target="fonts/font15.fntdata"/><Relationship Id="rId23" Type="http://schemas.openxmlformats.org/officeDocument/2006/relationships/font" Target="fonts/font16.fntdata"/><Relationship Id="rId24" Type="http://schemas.openxmlformats.org/officeDocument/2006/relationships/font" Target="fonts/font17.fntdata"/><Relationship Id="rId25" Type="http://schemas.openxmlformats.org/officeDocument/2006/relationships/font" Target="fonts/font18.fntdata"/><Relationship Id="rId26" Type="http://schemas.openxmlformats.org/officeDocument/2006/relationships/font" Target="fonts/font19.fntdata"/><Relationship Id="rId27" Type="http://schemas.openxmlformats.org/officeDocument/2006/relationships/font" Target="fonts/font20.fntdata"/><Relationship Id="rId28" Type="http://customschemas.google.com/relationships/presentationmetadata" Target="metadata"/><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6.xml"/><Relationship Id="rId34" Type="http://schemas.openxmlformats.org/officeDocument/2006/relationships/slide" Target="slides/slide7.xml"/><Relationship Id="rId35" Type="http://schemas.openxmlformats.org/officeDocument/2006/relationships/slide" Target="slides/slide8.xml"/><Relationship Id="rId36" Type="http://schemas.openxmlformats.org/officeDocument/2006/relationships/slide" Target="slides/slide9.xml"/><Relationship Id="rId37" Type="http://schemas.openxmlformats.org/officeDocument/2006/relationships/slide" Target="slides/slide10.xml"/><Relationship Id="rId38" Type="http://schemas.openxmlformats.org/officeDocument/2006/relationships/slide" Target="slides/slide11.xml"/><Relationship Id="rId39" Type="http://schemas.openxmlformats.org/officeDocument/2006/relationships/slide" Target="slides/slide12.xml"/><Relationship Id="rId40" Type="http://schemas.openxmlformats.org/officeDocument/2006/relationships/slide" Target="slides/slide13.xml"/><Relationship Id="rId41" Type="http://schemas.openxmlformats.org/officeDocument/2006/relationships/slide" Target="slides/slide14.xml"/><Relationship Id="rId42" Type="http://schemas.openxmlformats.org/officeDocument/2006/relationships/slide" Target="slides/slide15.xml"/><Relationship Id="rId43" Type="http://schemas.openxmlformats.org/officeDocument/2006/relationships/slide" Target="slides/slide16.xml"/><Relationship Id="rId44" Type="http://schemas.openxmlformats.org/officeDocument/2006/relationships/slide" Target="slides/slide17.xml"/><Relationship Id="rId45" Type="http://schemas.openxmlformats.org/officeDocument/2006/relationships/slide" Target="slides/slide18.xml"/><Relationship Id="rId46" Type="http://schemas.openxmlformats.org/officeDocument/2006/relationships/slide" Target="slides/slide19.xml"/><Relationship Id="rId47"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a:t>
            </a:r>
            <a:endParaRPr lang="vi-VN"/>
          </a:p>
          <a:p>
            <a:pPr marL="0" lvl="0" indent="0" algn="l">
              <a:buNone/>
            </a:pPr>
            <a:r>
              <a:rPr lang="vi-VN" dirty="0"/>
              <a:t>Lời giảng: Buổi 5 ta ingest từ file. Hôm nay source là REST API. Nguyên tắc pipeline không đổi: lấy dữ liệu, lưu RAW, transform, load và có state. Điểm mới là network có timeout, pagination, auth và lỗi tạm thời. Cuối buổi, pipeline phải ingest API vào PostgreSQL và chạy lại cùng batch mà không tạo duplicate.</a:t>
            </a:r>
            <a:endParaRPr lang="vi-VN"/>
          </a:p>
          <a:p>
            <a:pPr marL="0" lvl="0" indent="0" algn="l">
              <a:buNone/>
            </a:pPr>
            <a:r>
              <a:rPr lang="vi-VN" dirty="0"/>
              <a:t>Tương tác / demo: Hỏi: 'API khác file source ở rủi ro vận hành nào?'</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1bac9ab7f9_1_6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a:t>
            </a:r>
            <a:endParaRPr lang="vi-VN"/>
          </a:p>
          <a:p>
            <a:pPr marL="0" lvl="0" indent="0" algn="l">
              <a:buNone/>
            </a:pPr>
            <a:r>
              <a:rPr lang="vi-VN" dirty="0"/>
              <a:t>Lời giảng: Buổi 5 ta ingest từ file. Hôm nay source là REST API. Nguyên tắc pipeline không đổi: lấy dữ liệu, lưu RAW, transform, load và có state. Điểm mới là network có timeout, pagination, auth và lỗi tạm thời. Cuối buổi, pipeline phải ingest API vào PostgreSQL và chạy lại cùng batch mà không tạo duplicate.</a:t>
            </a:r>
            <a:endParaRPr lang="vi-VN"/>
          </a:p>
          <a:p>
            <a:pPr marL="0" lvl="0" indent="0" algn="l">
              <a:buNone/>
            </a:pPr>
            <a:r>
              <a:rPr lang="vi-VN" dirty="0"/>
              <a:t>Tương tác / demo: Hỏi: 'API khác file source ở rủi ro vận hành nào?'</a:t>
            </a:r>
            <a:endParaRPr lang="vi-VN"/>
          </a:p>
        </p:txBody>
      </p:sp>
      <p:sp>
        <p:nvSpPr>
          <p:cNvPr id="182" name="Google Shape;182;g11bac9ab7f9_1_6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1bac9ab7f9_1_8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a:t>
            </a:r>
            <a:endParaRPr lang="vi-VN"/>
          </a:p>
          <a:p>
            <a:pPr marL="0" lvl="0" indent="0" algn="l">
              <a:buNone/>
            </a:pPr>
            <a:r>
              <a:rPr lang="vi-VN" dirty="0"/>
              <a:t>Lời giảng: Buổi 5 ta ingest từ file. Hôm nay source là REST API. Nguyên tắc pipeline không đổi: lấy dữ liệu, lưu RAW, transform, load và có state. Điểm mới là network có timeout, pagination, auth và lỗi tạm thời. Cuối buổi, pipeline phải ingest API vào PostgreSQL và chạy lại cùng batch mà không tạo duplicate.</a:t>
            </a:r>
            <a:endParaRPr lang="vi-VN"/>
          </a:p>
          <a:p>
            <a:pPr marL="0" lvl="0" indent="0" algn="l">
              <a:buNone/>
            </a:pPr>
            <a:r>
              <a:rPr lang="vi-VN" dirty="0"/>
              <a:t>Tương tác / demo: Hỏi: 'API khác file source ở rủi ro vận hành nào?'</a:t>
            </a:r>
            <a:endParaRPr lang="vi-VN"/>
          </a:p>
        </p:txBody>
      </p:sp>
      <p:sp>
        <p:nvSpPr>
          <p:cNvPr id="189" name="Google Shape;189;g11bac9ab7f9_1_8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1bac9ab7f9_1_10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05–14 phút | REST resource, request/response, status, auth</a:t>
            </a:r>
            <a:endParaRPr lang="vi-VN"/>
          </a:p>
          <a:p>
            <a:pPr marL="0" lvl="0" indent="0" algn="l">
              <a:buNone/>
            </a:pPr>
            <a:r>
              <a:rPr lang="vi-VN" dirty="0"/>
              <a:t>Lời giảng: API là một source system. Resource có endpoint như /customers, /orders, /payments. Request gồm method, URL, params, headers, timeout; response có status, JSON body, pagination metadata hoặc error payload. API key phải lấy từ environment, không hard-code vào Git. Status code giúp quyết định xử lý: 200 OK, 401 auth, 429 rate limit, 5xx server/transient.</a:t>
            </a:r>
            <a:endParaRPr lang="vi-VN"/>
          </a:p>
          <a:p>
            <a:pPr marL="0" lvl="0" indent="0" algn="l">
              <a:buNone/>
            </a:pPr>
            <a:r>
              <a:rPr lang="vi-VN" dirty="0"/>
              <a:t>Tương tác / demo: Mở mock API và gọi một endpoint thành công, sau đó thử thiếu API key để quan sát 401.</a:t>
            </a:r>
            <a:endParaRPr lang="vi-VN"/>
          </a:p>
        </p:txBody>
      </p:sp>
      <p:sp>
        <p:nvSpPr>
          <p:cNvPr id="196" name="Google Shape;196;g11bac9ab7f9_1_10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1bb26f517d_0_1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05–14 phút | REST resource, request/response, status, auth</a:t>
            </a:r>
            <a:endParaRPr lang="vi-VN"/>
          </a:p>
          <a:p>
            <a:pPr marL="0" lvl="0" indent="0" algn="l">
              <a:buNone/>
            </a:pPr>
            <a:r>
              <a:rPr lang="vi-VN" dirty="0"/>
              <a:t>Lời giảng: API là một source system. Resource có endpoint như /customers, /orders, /payments. Request gồm method, URL, params, headers, timeout; response có status, JSON body, pagination metadata hoặc error payload. API key phải lấy từ environment, không hard-code vào Git. Status code giúp quyết định xử lý: 200 OK, 401 auth, 429 rate limit, 5xx server/transient.</a:t>
            </a:r>
            <a:endParaRPr lang="vi-VN"/>
          </a:p>
          <a:p>
            <a:pPr marL="0" lvl="0" indent="0" algn="l">
              <a:buNone/>
            </a:pPr>
            <a:r>
              <a:rPr lang="vi-VN" dirty="0"/>
              <a:t>Tương tác / demo: Mở mock API và gọi một endpoint thành công, sau đó thử thiếu API key để quan sát 401.</a:t>
            </a:r>
            <a:endParaRPr lang="vi-VN"/>
          </a:p>
        </p:txBody>
      </p:sp>
      <p:sp>
        <p:nvSpPr>
          <p:cNvPr id="203" name="Google Shape;203;g11bb26f517d_0_1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05–14 phút | REST resource, request/response, status, auth</a:t>
            </a:r>
            <a:endParaRPr lang="vi-VN"/>
          </a:p>
          <a:p>
            <a:pPr marL="0" lvl="0" indent="0" algn="l">
              <a:buNone/>
            </a:pPr>
            <a:r>
              <a:rPr lang="vi-VN" dirty="0"/>
              <a:t>Lời giảng: API là một source system. Resource có endpoint như /customers, /orders, /payments. Request gồm method, URL, params, headers, timeout; response có status, JSON body, pagination metadata hoặc error payload. API key phải lấy từ environment, không hard-code vào Git. Status code giúp quyết định xử lý: 200 OK, 401 auth, 429 rate limit, 5xx server/transient.</a:t>
            </a:r>
            <a:endParaRPr lang="vi-VN"/>
          </a:p>
          <a:p>
            <a:pPr marL="0" lvl="0" indent="0" algn="l">
              <a:buNone/>
            </a:pPr>
            <a:r>
              <a:rPr lang="vi-VN" dirty="0"/>
              <a:t>Tương tác / demo: Mở mock API và gọi một endpoint thành công, sau đó thử thiếu API key để quan sát 401.</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05–14 phút | REST resource, request/response, status, auth</a:t>
            </a:r>
            <a:endParaRPr lang="vi-VN"/>
          </a:p>
          <a:p>
            <a:pPr marL="0" lvl="0" indent="0" algn="l">
              <a:buNone/>
            </a:pPr>
            <a:r>
              <a:rPr lang="vi-VN" dirty="0"/>
              <a:t>Lời giảng: API là một source system. Resource có endpoint như /customers, /orders, /payments. Request gồm method, URL, params, headers, timeout; response có status, JSON body, pagination metadata hoặc error payload. API key phải lấy từ environment, không hard-code vào Git. Status code giúp quyết định xử lý: 200 OK, 401 auth, 429 rate limit, 5xx server/transient.</a:t>
            </a:r>
            <a:endParaRPr lang="vi-VN"/>
          </a:p>
          <a:p>
            <a:pPr marL="0" lvl="0" indent="0" algn="l">
              <a:buNone/>
            </a:pPr>
            <a:r>
              <a:rPr lang="vi-VN" dirty="0"/>
              <a:t>Tương tác / demo: Mở mock API và gọi một endpoint thành công, sau đó thử thiếu API key để quan sát 401.</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05–14 phút | REST resource, request/response, status, auth</a:t>
            </a:r>
            <a:endParaRPr lang="vi-VN"/>
          </a:p>
          <a:p>
            <a:pPr marL="0" lvl="0" indent="0" algn="l">
              <a:buNone/>
            </a:pPr>
            <a:r>
              <a:rPr lang="vi-VN" dirty="0"/>
              <a:t>Lời giảng: API là một source system. Resource có endpoint như /customers, /orders, /payments. Request gồm method, URL, params, headers, timeout; response có status, JSON body, pagination metadata hoặc error payload. API key phải lấy từ environment, không hard-code vào Git. Status code giúp quyết định xử lý: 200 OK, 401 auth, 429 rate limit, 5xx server/transient.</a:t>
            </a:r>
            <a:endParaRPr lang="vi-VN"/>
          </a:p>
          <a:p>
            <a:pPr marL="0" lvl="0" indent="0" algn="l">
              <a:buNone/>
            </a:pPr>
            <a:r>
              <a:rPr lang="vi-VN" dirty="0"/>
              <a:t>Tương tác / demo: Mở mock API và gọi một endpoint thành công, sau đó thử thiếu API key để quan sát 401.</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14–24 phút | Timeout, retry và pagination</a:t>
            </a:r>
            <a:endParaRPr lang="vi-VN"/>
          </a:p>
          <a:p>
            <a:pPr marL="0" lvl="0" indent="0" algn="l">
              <a:buNone/>
            </a:pPr>
            <a:r>
              <a:rPr lang="vi-VN" dirty="0"/>
              <a:t>Lời giảng: Network call luôn cần timeout để không treo vô hạn. Retry chỉ dành cho transient error như timeout/5xx/429 theo chính sách; không retry vô hạn lỗi 4xx nghiệp vụ. Pagination nghĩa là một response không chứa hết dữ liệu, vì vậy client phải loop đến `has_next=false` và log page/total rows. Đây là nơi bug 'đọc thiếu dữ liệu nhưng không báo lỗi' rất hay xảy ra.</a:t>
            </a:r>
            <a:endParaRPr lang="vi-VN"/>
          </a:p>
          <a:p>
            <a:pPr marL="0" lvl="0" indent="0" algn="l">
              <a:buNone/>
            </a:pPr>
            <a:r>
              <a:rPr lang="vi-VN" dirty="0"/>
              <a:t>Tương tác / demo: Cho lớp đọc pseudo-code fetch_all_pages và chỉ ra điều kiện dừng.</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14–24 phút | Timeout, retry và pagination</a:t>
            </a:r>
            <a:endParaRPr lang="vi-VN"/>
          </a:p>
          <a:p>
            <a:pPr marL="0" lvl="0" indent="0" algn="l">
              <a:buNone/>
            </a:pPr>
            <a:r>
              <a:rPr lang="vi-VN" dirty="0"/>
              <a:t>Lời giảng: Network call luôn cần timeout để không treo vô hạn. Retry chỉ dành cho transient error như timeout/5xx/429 theo chính sách; không retry vô hạn lỗi 4xx nghiệp vụ. Pagination nghĩa là một response không chứa hết dữ liệu, vì vậy client phải loop đến `has_next=false` và log page/total rows. Đây là nơi bug 'đọc thiếu dữ liệu nhưng không báo lỗi' rất hay xảy ra.</a:t>
            </a:r>
            <a:endParaRPr lang="vi-VN"/>
          </a:p>
          <a:p>
            <a:pPr marL="0" lvl="0" indent="0" algn="l">
              <a:buNone/>
            </a:pPr>
            <a:r>
              <a:rPr lang="vi-VN" dirty="0"/>
              <a:t>Tương tác / demo: Cho lớp đọc pseudo-code fetch_all_pages và chỉ ra điều kiện dừng.</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14–24 phút | Timeout, retry và pagination</a:t>
            </a:r>
            <a:endParaRPr lang="vi-VN"/>
          </a:p>
          <a:p>
            <a:pPr marL="0" lvl="0" indent="0" algn="l">
              <a:buNone/>
            </a:pPr>
            <a:r>
              <a:rPr lang="vi-VN" dirty="0"/>
              <a:t>Lời giảng: Network call luôn cần timeout để không treo vô hạn. Retry chỉ dành cho transient error như timeout/5xx/429 theo chính sách; không retry vô hạn lỗi 4xx nghiệp vụ. Pagination nghĩa là một response không chứa hết dữ liệu, vì vậy client phải loop đến `has_next=false` và log page/total rows. Đây là nơi bug 'đọc thiếu dữ liệu nhưng không báo lỗi' rất hay xảy ra.</a:t>
            </a:r>
            <a:endParaRPr lang="vi-VN"/>
          </a:p>
          <a:p>
            <a:pPr marL="0" lvl="0" indent="0" algn="l">
              <a:buNone/>
            </a:pPr>
            <a:r>
              <a:rPr lang="vi-VN" dirty="0"/>
              <a:t>Tương tác / demo: Cho lớp đọc pseudo-code fetch_all_pages và chỉ ra điều kiện dừng.</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24–34 phút | RAW, full vs incremental, watermark</a:t>
            </a:r>
            <a:endParaRPr lang="vi-VN"/>
          </a:p>
          <a:p>
            <a:pPr marL="0" lvl="0" indent="0" algn="l">
              <a:buNone/>
            </a:pPr>
            <a:r>
              <a:rPr lang="vi-VN" dirty="0"/>
              <a:t>Lời giảng: Response nên lưu RAW trước transform để replay/audit. Full load đọc tất cả và phù hợp bootstrap; incremental chỉ đọc phần mới/đổi và cần checkpoint. Watermark `updated_after` dựa trên `last_updated_at`. Quy tắc quan trọng: chỉ ghi checkpoint mới sau khi load thành công. Nếu ghi sớm rồi load fail, lần sau sẽ bỏ mất dữ liệu.</a:t>
            </a:r>
            <a:endParaRPr lang="vi-VN"/>
          </a:p>
          <a:p>
            <a:pPr marL="0" lvl="0" indent="0" algn="l">
              <a:buNone/>
            </a:pPr>
            <a:r>
              <a:rPr lang="vi-VN" dirty="0"/>
              <a:t>Tương tác / demo: Vẽ flow READ STATE → REQUEST → LOAD → COMMIT → SAVE STATE. Hỏi lớp checkpoint đặt trước hay sau transaction.</a:t>
            </a:r>
            <a:endParaRPr lang="vi-VN"/>
          </a:p>
          <a:p>
            <a:pPr marL="0" lvl="0" indent="0" algn="l">
              <a:buNone/>
            </a:pPr>
            <a:r>
              <a:rPr lang="vi-VN" dirty="0"/>
              <a:t>—</a:t>
            </a:r>
            <a:endParaRPr lang="vi-VN"/>
          </a:p>
          <a:p>
            <a:pPr marL="0" lvl="0" indent="0" algn="l">
              <a:buNone/>
            </a:pPr>
            <a:r>
              <a:rPr lang="vi-VN" dirty="0"/>
              <a:t>75–87 phút | Lab 6B – Lưu RAW</a:t>
            </a:r>
            <a:endParaRPr lang="vi-VN"/>
          </a:p>
          <a:p>
            <a:pPr marL="0" lvl="0" indent="0" algn="l">
              <a:buNone/>
            </a:pPr>
            <a:r>
              <a:rPr lang="vi-VN" dirty="0"/>
              <a:t>Lời giảng: Lưu JSON theo resource + run_id/timestamp trước khi transform. Không chỉnh payload RAW. Sau đó parse sang DataFrame/structure cho bước normalize. Mục tiêu là nếu transform code lỗi, ta vẫn có source snapshot để replay.</a:t>
            </a:r>
            <a:endParaRPr lang="vi-VN"/>
          </a:p>
          <a:p>
            <a:pPr marL="0" lvl="0" indent="0" algn="l">
              <a:buNone/>
            </a:pPr>
            <a:r>
              <a:rPr lang="vi-VN" dirty="0"/>
              <a:t>Tương tác / demo: Kiểm tra file RAW thực tế được sinh ra.</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24–34 phút | RAW, full vs incremental, watermark</a:t>
            </a:r>
            <a:endParaRPr lang="vi-VN"/>
          </a:p>
          <a:p>
            <a:pPr marL="0" lvl="0" indent="0" algn="l">
              <a:buNone/>
            </a:pPr>
            <a:r>
              <a:rPr lang="vi-VN" dirty="0"/>
              <a:t>Lời giảng: Response nên lưu RAW trước transform để replay/audit. Full load đọc tất cả và phù hợp bootstrap; incremental chỉ đọc phần mới/đổi và cần checkpoint. Watermark `updated_after` dựa trên `last_updated_at`. Quy tắc quan trọng: chỉ ghi checkpoint mới sau khi load thành công. Nếu ghi sớm rồi load fail, lần sau sẽ bỏ mất dữ liệu.</a:t>
            </a:r>
            <a:endParaRPr lang="vi-VN"/>
          </a:p>
          <a:p>
            <a:pPr marL="0" lvl="0" indent="0" algn="l">
              <a:buNone/>
            </a:pPr>
            <a:r>
              <a:rPr lang="vi-VN" dirty="0"/>
              <a:t>Tương tác / demo: Vẽ flow READ STATE → REQUEST → LOAD → COMMIT → SAVE STATE. Hỏi lớp checkpoint đặt trước hay sau transaction.</a:t>
            </a:r>
            <a:endParaRPr lang="vi-VN"/>
          </a:p>
          <a:p>
            <a:pPr marL="0" lvl="0" indent="0" algn="l">
              <a:buNone/>
            </a:pPr>
            <a:r>
              <a:rPr lang="vi-VN" dirty="0"/>
              <a:t>—</a:t>
            </a:r>
            <a:endParaRPr lang="vi-VN"/>
          </a:p>
          <a:p>
            <a:pPr marL="0" lvl="0" indent="0" algn="l">
              <a:buNone/>
            </a:pPr>
            <a:r>
              <a:rPr lang="vi-VN" dirty="0"/>
              <a:t>102–112 phút | Lab 6D – Checkpoint + rerun</a:t>
            </a:r>
            <a:endParaRPr lang="vi-VN"/>
          </a:p>
          <a:p>
            <a:pPr marL="0" lvl="0" indent="0" algn="l">
              <a:buNone/>
            </a:pPr>
            <a:r>
              <a:rPr lang="vi-VN" dirty="0"/>
              <a:t>Lời giảng: Lưu watermark chỉ sau success. Chạy lại cùng batch hoặc cùng updated_after và chứng minh không duplicate. Nếu count tăng, truy lại unique key, conflict target hoặc state logic. Nếu count không tăng nhưng update không áp dụng, kiểm tra SET clause.</a:t>
            </a:r>
            <a:endParaRPr lang="vi-VN"/>
          </a:p>
          <a:p>
            <a:pPr marL="0" lvl="0" indent="0" algn="l">
              <a:buNone/>
            </a:pPr>
            <a:r>
              <a:rPr lang="vi-VN" dirty="0"/>
              <a:t>Tương tác / demo: Yêu cầu nhóm chụp/ghi before/after counts và state.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24–34 phút | RAW, full vs incremental, watermark</a:t>
            </a:r>
            <a:endParaRPr lang="vi-VN"/>
          </a:p>
          <a:p>
            <a:pPr marL="0" lvl="0" indent="0" algn="l">
              <a:buNone/>
            </a:pPr>
            <a:r>
              <a:rPr lang="vi-VN" dirty="0"/>
              <a:t>Lời giảng: Response nên lưu RAW trước transform để replay/audit. Full load đọc tất cả và phù hợp bootstrap; incremental chỉ đọc phần mới/đổi và cần checkpoint. Watermark `updated_after` dựa trên `last_updated_at`. Quy tắc quan trọng: chỉ ghi checkpoint mới sau khi load thành công. Nếu ghi sớm rồi load fail, lần sau sẽ bỏ mất dữ liệu.</a:t>
            </a:r>
            <a:endParaRPr lang="vi-VN"/>
          </a:p>
          <a:p>
            <a:pPr marL="0" lvl="0" indent="0" algn="l">
              <a:buNone/>
            </a:pPr>
            <a:r>
              <a:rPr lang="vi-VN" dirty="0"/>
              <a:t>Tương tác / demo: Vẽ flow READ STATE → REQUEST → LOAD → COMMIT → SAVE STATE. Hỏi lớp checkpoint đặt trước hay sau transaction.</a:t>
            </a:r>
            <a:endParaRPr lang="vi-VN"/>
          </a:p>
          <a:p>
            <a:pPr marL="0" lvl="0" indent="0" algn="l">
              <a:buNone/>
            </a:pPr>
            <a:r>
              <a:rPr lang="vi-VN" dirty="0"/>
              <a:t>—</a:t>
            </a:r>
            <a:endParaRPr lang="vi-VN"/>
          </a:p>
          <a:p>
            <a:pPr marL="0" lvl="0" indent="0" algn="l">
              <a:buNone/>
            </a:pPr>
            <a:r>
              <a:rPr lang="vi-VN" dirty="0"/>
              <a:t>102–112 phút | Lab 6D – Checkpoint + rerun</a:t>
            </a:r>
            <a:endParaRPr lang="vi-VN"/>
          </a:p>
          <a:p>
            <a:pPr marL="0" lvl="0" indent="0" algn="l">
              <a:buNone/>
            </a:pPr>
            <a:r>
              <a:rPr lang="vi-VN" dirty="0"/>
              <a:t>Lời giảng: Lưu watermark chỉ sau success. Chạy lại cùng batch hoặc cùng updated_after và chứng minh không duplicate. Nếu count tăng, truy lại unique key, conflict target hoặc state logic. Nếu count không tăng nhưng update không áp dụng, kiểm tra SET clause.</a:t>
            </a:r>
            <a:endParaRPr lang="vi-VN"/>
          </a:p>
          <a:p>
            <a:pPr marL="0" lvl="0" indent="0" algn="l">
              <a:buNone/>
            </a:pPr>
            <a:r>
              <a:rPr lang="vi-VN" dirty="0"/>
              <a:t>Tương tác / demo: Yêu cầu nhóm chụp/ghi before/after counts và state.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34–46 phút | PostgreSQL, upsert, transaction, idempotency</a:t>
            </a:r>
            <a:endParaRPr lang="vi-VN"/>
          </a:p>
          <a:p>
            <a:pPr marL="0" lvl="0" indent="0" algn="l">
              <a:buNone/>
            </a:pPr>
            <a:r>
              <a:rPr lang="vi-VN" dirty="0"/>
              <a:t>Lời giảng: Kết nối DB qua SQLAlchemy/psycopg. Insert thuần có thể fail khi PK đã tồn tại; upsert dùng ON CONFLICT để update mutable entity và hỗ trợ rerun. Transaction bảo đảm batch all-or-nothing; nếu lỗi giữa chừng rollback tránh trạng thái nửa hoàn thành. Idempotency phải chứng minh bằng chạy lại: không duplicate, PK count không tăng ngoài dự kiến và KPI không đổi.</a:t>
            </a:r>
            <a:endParaRPr lang="vi-VN"/>
          </a:p>
          <a:p>
            <a:pPr marL="0" lvl="0" indent="0" algn="l">
              <a:buNone/>
            </a:pPr>
            <a:r>
              <a:rPr lang="vi-VN" dirty="0"/>
              <a:t>Tương tác / demo: Demo một UPSERT nhỏ và hỏi nếu chạy 2 lần cùng customer_id thì mong đợi điều gì.</a:t>
            </a:r>
            <a:endParaRPr lang="vi-VN"/>
          </a:p>
          <a:p>
            <a:pPr marL="0" lvl="0" indent="0" algn="l">
              <a:buNone/>
            </a:pPr>
            <a:r>
              <a:rPr lang="vi-VN" dirty="0"/>
              <a:t>—</a:t>
            </a:r>
            <a:endParaRPr lang="vi-VN"/>
          </a:p>
          <a:p>
            <a:pPr marL="0" lvl="0" indent="0" algn="l">
              <a:buNone/>
            </a:pPr>
            <a:r>
              <a:rPr lang="vi-VN" dirty="0"/>
              <a:t>87–102 phút | Lab 6C – Upsert + transaction</a:t>
            </a:r>
            <a:endParaRPr lang="vi-VN"/>
          </a:p>
          <a:p>
            <a:pPr marL="0" lvl="0" indent="0" algn="l">
              <a:buNone/>
            </a:pPr>
            <a:r>
              <a:rPr lang="vi-VN" dirty="0"/>
              <a:t>Lời giảng: Hoàn thiện load_postgres. Dùng unique/PK đúng conflict target. Gom load hợp lý trong transaction; khi một lỗi constraint xảy ra, kiểm tra rollback. Sau load, query row counts trực tiếp từ DB.</a:t>
            </a:r>
            <a:endParaRPr lang="vi-VN"/>
          </a:p>
          <a:p>
            <a:pPr marL="0" lvl="0" indent="0" algn="l">
              <a:buNone/>
            </a:pPr>
            <a:r>
              <a:rPr lang="vi-VN" dirty="0"/>
              <a:t>Tương tác / demo: GV chọn một entity mutable như customer/product để kiểm update thật.</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34–46 phút | PostgreSQL, upsert, transaction, idempotency</a:t>
            </a:r>
            <a:endParaRPr lang="vi-VN"/>
          </a:p>
          <a:p>
            <a:pPr marL="0" lvl="0" indent="0" algn="l">
              <a:buNone/>
            </a:pPr>
            <a:r>
              <a:rPr lang="vi-VN" dirty="0"/>
              <a:t>Lời giảng: Kết nối DB qua SQLAlchemy/psycopg. Insert thuần có thể fail khi PK đã tồn tại; upsert dùng ON CONFLICT để update mutable entity và hỗ trợ rerun. Transaction bảo đảm batch all-or-nothing; nếu lỗi giữa chừng rollback tránh trạng thái nửa hoàn thành. Idempotency phải chứng minh bằng chạy lại: không duplicate, PK count không tăng ngoài dự kiến và KPI không đổi.</a:t>
            </a:r>
            <a:endParaRPr lang="vi-VN"/>
          </a:p>
          <a:p>
            <a:pPr marL="0" lvl="0" indent="0" algn="l">
              <a:buNone/>
            </a:pPr>
            <a:r>
              <a:rPr lang="vi-VN" dirty="0"/>
              <a:t>Tương tác / demo: Demo một UPSERT nhỏ và hỏi nếu chạy 2 lần cùng customer_id thì mong đợi điều gì.</a:t>
            </a:r>
            <a:endParaRPr lang="vi-VN"/>
          </a:p>
          <a:p>
            <a:pPr marL="0" lvl="0" indent="0" algn="l">
              <a:buNone/>
            </a:pPr>
            <a:r>
              <a:rPr lang="vi-VN" dirty="0"/>
              <a:t>—</a:t>
            </a:r>
            <a:endParaRPr lang="vi-VN"/>
          </a:p>
          <a:p>
            <a:pPr marL="0" lvl="0" indent="0" algn="l">
              <a:buNone/>
            </a:pPr>
            <a:r>
              <a:rPr lang="vi-VN" dirty="0"/>
              <a:t>87–102 phút | Lab 6C – Upsert + transaction</a:t>
            </a:r>
            <a:endParaRPr lang="vi-VN"/>
          </a:p>
          <a:p>
            <a:pPr marL="0" lvl="0" indent="0" algn="l">
              <a:buNone/>
            </a:pPr>
            <a:r>
              <a:rPr lang="vi-VN" dirty="0"/>
              <a:t>Lời giảng: Hoàn thiện load_postgres. Dùng unique/PK đúng conflict target. Gom load hợp lý trong transaction; khi một lỗi constraint xảy ra, kiểm tra rollback. Sau load, query row counts trực tiếp từ DB.</a:t>
            </a:r>
            <a:endParaRPr lang="vi-VN"/>
          </a:p>
          <a:p>
            <a:pPr marL="0" lvl="0" indent="0" algn="l">
              <a:buNone/>
            </a:pPr>
            <a:r>
              <a:rPr lang="vi-VN" dirty="0"/>
              <a:t>Tương tác / demo: GV chọn một entity mutable như customer/product để kiểm update thật.</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34–46 phút | PostgreSQL, upsert, transaction, idempotency</a:t>
            </a:r>
            <a:endParaRPr lang="vi-VN"/>
          </a:p>
          <a:p>
            <a:pPr marL="0" lvl="0" indent="0" algn="l">
              <a:buNone/>
            </a:pPr>
            <a:r>
              <a:rPr lang="vi-VN" dirty="0"/>
              <a:t>Lời giảng: Kết nối DB qua SQLAlchemy/psycopg. Insert thuần có thể fail khi PK đã tồn tại; upsert dùng ON CONFLICT để update mutable entity và hỗ trợ rerun. Transaction bảo đảm batch all-or-nothing; nếu lỗi giữa chừng rollback tránh trạng thái nửa hoàn thành. Idempotency phải chứng minh bằng chạy lại: không duplicate, PK count không tăng ngoài dự kiến và KPI không đổi.</a:t>
            </a:r>
            <a:endParaRPr lang="vi-VN"/>
          </a:p>
          <a:p>
            <a:pPr marL="0" lvl="0" indent="0" algn="l">
              <a:buNone/>
            </a:pPr>
            <a:r>
              <a:rPr lang="vi-VN" dirty="0"/>
              <a:t>Tương tác / demo: Demo một UPSERT nhỏ và hỏi nếu chạy 2 lần cùng customer_id thì mong đợi điều gì.</a:t>
            </a:r>
            <a:endParaRPr lang="vi-VN"/>
          </a:p>
          <a:p>
            <a:pPr marL="0" lvl="0" indent="0" algn="l">
              <a:buNone/>
            </a:pPr>
            <a:r>
              <a:rPr lang="vi-VN" dirty="0"/>
              <a:t>—</a:t>
            </a:r>
            <a:endParaRPr lang="vi-VN"/>
          </a:p>
          <a:p>
            <a:pPr marL="0" lvl="0" indent="0" algn="l">
              <a:buNone/>
            </a:pPr>
            <a:r>
              <a:rPr lang="vi-VN" dirty="0"/>
              <a:t>87–102 phút | Lab 6C – Upsert + transaction</a:t>
            </a:r>
            <a:endParaRPr lang="vi-VN"/>
          </a:p>
          <a:p>
            <a:pPr marL="0" lvl="0" indent="0" algn="l">
              <a:buNone/>
            </a:pPr>
            <a:r>
              <a:rPr lang="vi-VN" dirty="0"/>
              <a:t>Lời giảng: Hoàn thiện load_postgres. Dùng unique/PK đúng conflict target. Gom load hợp lý trong transaction; khi một lỗi constraint xảy ra, kiểm tra rollback. Sau load, query row counts trực tiếp từ DB.</a:t>
            </a:r>
            <a:endParaRPr lang="vi-VN"/>
          </a:p>
          <a:p>
            <a:pPr marL="0" lvl="0" indent="0" algn="l">
              <a:buNone/>
            </a:pPr>
            <a:r>
              <a:rPr lang="vi-VN" dirty="0"/>
              <a:t>Tương tác / demo: GV chọn một entity mutable như customer/product để kiểm update thật.</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34–46 phút | PostgreSQL, upsert, transaction, idempotency</a:t>
            </a:r>
            <a:endParaRPr lang="vi-VN"/>
          </a:p>
          <a:p>
            <a:pPr marL="0" lvl="0" indent="0" algn="l">
              <a:buNone/>
            </a:pPr>
            <a:r>
              <a:rPr lang="vi-VN" dirty="0"/>
              <a:t>Lời giảng: Kết nối DB qua SQLAlchemy/psycopg. Insert thuần có thể fail khi PK đã tồn tại; upsert dùng ON CONFLICT để update mutable entity và hỗ trợ rerun. Transaction bảo đảm batch all-or-nothing; nếu lỗi giữa chừng rollback tránh trạng thái nửa hoàn thành. Idempotency phải chứng minh bằng chạy lại: không duplicate, PK count không tăng ngoài dự kiến và KPI không đổi.</a:t>
            </a:r>
            <a:endParaRPr lang="vi-VN"/>
          </a:p>
          <a:p>
            <a:pPr marL="0" lvl="0" indent="0" algn="l">
              <a:buNone/>
            </a:pPr>
            <a:r>
              <a:rPr lang="vi-VN" dirty="0"/>
              <a:t>Tương tác / demo: Demo một UPSERT nhỏ và hỏi nếu chạy 2 lần cùng customer_id thì mong đợi điều gì.</a:t>
            </a:r>
            <a:endParaRPr lang="vi-VN"/>
          </a:p>
          <a:p>
            <a:pPr marL="0" lvl="0" indent="0" algn="l">
              <a:buNone/>
            </a:pPr>
            <a:r>
              <a:rPr lang="vi-VN" dirty="0"/>
              <a:t>—</a:t>
            </a:r>
            <a:endParaRPr lang="vi-VN"/>
          </a:p>
          <a:p>
            <a:pPr marL="0" lvl="0" indent="0" algn="l">
              <a:buNone/>
            </a:pPr>
            <a:r>
              <a:rPr lang="vi-VN" dirty="0"/>
              <a:t>87–102 phút | Lab 6C – Upsert + transaction</a:t>
            </a:r>
            <a:endParaRPr lang="vi-VN"/>
          </a:p>
          <a:p>
            <a:pPr marL="0" lvl="0" indent="0" algn="l">
              <a:buNone/>
            </a:pPr>
            <a:r>
              <a:rPr lang="vi-VN" dirty="0"/>
              <a:t>Lời giảng: Hoàn thiện load_postgres. Dùng unique/PK đúng conflict target. Gom load hợp lý trong transaction; khi một lỗi constraint xảy ra, kiểm tra rollback. Sau load, query row counts trực tiếp từ DB.</a:t>
            </a:r>
            <a:endParaRPr lang="vi-VN"/>
          </a:p>
          <a:p>
            <a:pPr marL="0" lvl="0" indent="0" algn="l">
              <a:buNone/>
            </a:pPr>
            <a:r>
              <a:rPr lang="vi-VN" dirty="0"/>
              <a:t>Tương tác / demo: GV chọn một entity mutable như customer/product để kiểm update thật.</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34–46 phút | PostgreSQL, upsert, transaction, idempotency</a:t>
            </a:r>
            <a:endParaRPr lang="vi-VN"/>
          </a:p>
          <a:p>
            <a:pPr marL="0" lvl="0" indent="0" algn="l">
              <a:buNone/>
            </a:pPr>
            <a:r>
              <a:rPr lang="vi-VN" dirty="0"/>
              <a:t>Lời giảng: Kết nối DB qua SQLAlchemy/psycopg. Insert thuần có thể fail khi PK đã tồn tại; upsert dùng ON CONFLICT để update mutable entity và hỗ trợ rerun. Transaction bảo đảm batch all-or-nothing; nếu lỗi giữa chừng rollback tránh trạng thái nửa hoàn thành. Idempotency phải chứng minh bằng chạy lại: không duplicate, PK count không tăng ngoài dự kiến và KPI không đổi.</a:t>
            </a:r>
            <a:endParaRPr lang="vi-VN"/>
          </a:p>
          <a:p>
            <a:pPr marL="0" lvl="0" indent="0" algn="l">
              <a:buNone/>
            </a:pPr>
            <a:r>
              <a:rPr lang="vi-VN" dirty="0"/>
              <a:t>Tương tác / demo: Demo một UPSERT nhỏ và hỏi nếu chạy 2 lần cùng customer_id thì mong đợi điều gì.</a:t>
            </a:r>
            <a:endParaRPr lang="vi-VN"/>
          </a:p>
          <a:p>
            <a:pPr marL="0" lvl="0" indent="0" algn="l">
              <a:buNone/>
            </a:pPr>
            <a:r>
              <a:rPr lang="vi-VN" dirty="0"/>
              <a:t>—</a:t>
            </a:r>
            <a:endParaRPr lang="vi-VN"/>
          </a:p>
          <a:p>
            <a:pPr marL="0" lvl="0" indent="0" algn="l">
              <a:buNone/>
            </a:pPr>
            <a:r>
              <a:rPr lang="vi-VN" dirty="0"/>
              <a:t>102–112 phút | Lab 6D – Checkpoint + rerun</a:t>
            </a:r>
            <a:endParaRPr lang="vi-VN"/>
          </a:p>
          <a:p>
            <a:pPr marL="0" lvl="0" indent="0" algn="l">
              <a:buNone/>
            </a:pPr>
            <a:r>
              <a:rPr lang="vi-VN" dirty="0"/>
              <a:t>Lời giảng: Lưu watermark chỉ sau success. Chạy lại cùng batch hoặc cùng updated_after và chứng minh không duplicate. Nếu count tăng, truy lại unique key, conflict target hoặc state logic. Nếu count không tăng nhưng update không áp dụng, kiểm tra SET clause.</a:t>
            </a:r>
            <a:endParaRPr lang="vi-VN"/>
          </a:p>
          <a:p>
            <a:pPr marL="0" lvl="0" indent="0" algn="l">
              <a:buNone/>
            </a:pPr>
            <a:r>
              <a:rPr lang="vi-VN" dirty="0"/>
              <a:t>Tương tác / demo: Yêu cầu nhóm chụp/ghi before/after counts và state.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46–54 phút | Giao API → PostgreSQL Lab</a:t>
            </a:r>
            <a:endParaRPr lang="vi-VN"/>
          </a:p>
          <a:p>
            <a:pPr marL="0" lvl="0" indent="0" algn="l">
              <a:buNone/>
            </a:pPr>
            <a:r>
              <a:rPr lang="vi-VN" dirty="0"/>
              <a:t>Lời giảng: Lab gồm call API, pagination, lưu RAW, transform, upsert, checkpoint. Sau lần chạy đầu, các em chạy incremental lần hai với cùng state để chứng minh không duplicate. Đừng chỉ nói 'code có idempotency'; phải đưa bằng chứng row counts/checkpoint.</a:t>
            </a:r>
            <a:endParaRPr lang="vi-VN"/>
          </a:p>
          <a:p>
            <a:pPr marL="0" lvl="0" indent="0" algn="l">
              <a:buNone/>
            </a:pPr>
            <a:r>
              <a:rPr lang="vi-VN" dirty="0"/>
              <a:t>Tương tác / demo: Chỉ rõ file api_client.py, load_postgres.py và pipeline_state.json cần hoàn thiện.</a:t>
            </a:r>
            <a:endParaRPr lang="vi-VN"/>
          </a:p>
          <a:p>
            <a:pPr marL="0" lvl="0" indent="0" algn="l">
              <a:buNone/>
            </a:pPr>
            <a:r>
              <a:rPr lang="vi-VN" dirty="0"/>
              <a:t>—</a:t>
            </a:r>
            <a:endParaRPr lang="vi-VN"/>
          </a:p>
          <a:p>
            <a:pPr marL="0" lvl="0" indent="0" algn="l">
              <a:buNone/>
            </a:pPr>
            <a:r>
              <a:rPr lang="vi-VN" dirty="0"/>
              <a:t>60–75 phút | Lab 6A – API client + pagination</a:t>
            </a:r>
            <a:endParaRPr lang="vi-VN"/>
          </a:p>
          <a:p>
            <a:pPr marL="0" lvl="0" indent="0" algn="l">
              <a:buNone/>
            </a:pPr>
            <a:r>
              <a:rPr lang="vi-VN" dirty="0"/>
              <a:t>Lời giảng: Hoàn thiện request với timeout, headers và raise_for_status. Sau đó viết fetch_all_pages. Log page number và rows để biết có đọc đủ. So total trả về với số record client thu được.</a:t>
            </a:r>
            <a:endParaRPr lang="vi-VN"/>
          </a:p>
          <a:p>
            <a:pPr marL="0" lvl="0" indent="0" algn="l">
              <a:buNone/>
            </a:pPr>
            <a:r>
              <a:rPr lang="vi-VN" dirty="0"/>
              <a:t>Tương tác / demo: GV tạo câu hỏi 'Nếu page 2 timeout thì retry ở mức request hay restart toàn pipeline?' để thảo luận ngắn.</a:t>
            </a:r>
            <a:endParaRPr lang="vi-VN"/>
          </a:p>
          <a:p>
            <a:pPr marL="0" lvl="0" indent="0" algn="l">
              <a:buNone/>
            </a:pPr>
            <a:r>
              <a:rPr lang="vi-VN" dirty="0"/>
              <a:t>—</a:t>
            </a:r>
            <a:endParaRPr lang="vi-VN"/>
          </a:p>
          <a:p>
            <a:pPr marL="0" lvl="0" indent="0" algn="l">
              <a:buNone/>
            </a:pPr>
            <a:r>
              <a:rPr lang="vi-VN" dirty="0"/>
              <a:t>75–87 phút | Lab 6B – Lưu RAW</a:t>
            </a:r>
            <a:endParaRPr lang="vi-VN"/>
          </a:p>
          <a:p>
            <a:pPr marL="0" lvl="0" indent="0" algn="l">
              <a:buNone/>
            </a:pPr>
            <a:r>
              <a:rPr lang="vi-VN" dirty="0"/>
              <a:t>Lời giảng: Lưu JSON theo resource + run_id/timestamp trước khi transform. Không chỉnh payload RAW. Sau đó parse sang DataFrame/structure cho bước normalize. Mục tiêu là nếu transform code lỗi, ta vẫn có source snapshot để replay.</a:t>
            </a:r>
            <a:endParaRPr lang="vi-VN"/>
          </a:p>
          <a:p>
            <a:pPr marL="0" lvl="0" indent="0" algn="l">
              <a:buNone/>
            </a:pPr>
            <a:r>
              <a:rPr lang="vi-VN" dirty="0"/>
              <a:t>Tương tác / demo: Kiểm tra file RAW thực tế được sinh ra.</a:t>
            </a:r>
            <a:endParaRPr lang="vi-VN"/>
          </a:p>
          <a:p>
            <a:pPr marL="0" lvl="0" indent="0" algn="l">
              <a:buNone/>
            </a:pPr>
            <a:r>
              <a:rPr lang="vi-VN" dirty="0"/>
              <a:t>—</a:t>
            </a:r>
            <a:endParaRPr lang="vi-VN"/>
          </a:p>
          <a:p>
            <a:pPr marL="0" lvl="0" indent="0" algn="l">
              <a:buNone/>
            </a:pPr>
            <a:r>
              <a:rPr lang="vi-VN" dirty="0"/>
              <a:t>87–102 phút | Lab 6C – Upsert + transaction</a:t>
            </a:r>
            <a:endParaRPr lang="vi-VN"/>
          </a:p>
          <a:p>
            <a:pPr marL="0" lvl="0" indent="0" algn="l">
              <a:buNone/>
            </a:pPr>
            <a:r>
              <a:rPr lang="vi-VN" dirty="0"/>
              <a:t>Lời giảng: Hoàn thiện load_postgres. Dùng unique/PK đúng conflict target. Gom load hợp lý trong transaction; khi một lỗi constraint xảy ra, kiểm tra rollback. Sau load, query row counts trực tiếp từ DB.</a:t>
            </a:r>
            <a:endParaRPr lang="vi-VN"/>
          </a:p>
          <a:p>
            <a:pPr marL="0" lvl="0" indent="0" algn="l">
              <a:buNone/>
            </a:pPr>
            <a:r>
              <a:rPr lang="vi-VN" dirty="0"/>
              <a:t>Tương tác / demo: GV chọn một entity mutable như customer/product để kiểm update thật.</a:t>
            </a:r>
            <a:endParaRPr lang="vi-VN"/>
          </a:p>
          <a:p>
            <a:pPr marL="0" lvl="0" indent="0" algn="l">
              <a:buNone/>
            </a:pPr>
            <a:r>
              <a:rPr lang="vi-VN" dirty="0"/>
              <a:t>—</a:t>
            </a:r>
            <a:endParaRPr lang="vi-VN"/>
          </a:p>
          <a:p>
            <a:pPr marL="0" lvl="0" indent="0" algn="l">
              <a:buNone/>
            </a:pPr>
            <a:r>
              <a:rPr lang="vi-VN" dirty="0"/>
              <a:t>102–112 phút | Lab 6D – Checkpoint + rerun</a:t>
            </a:r>
            <a:endParaRPr lang="vi-VN"/>
          </a:p>
          <a:p>
            <a:pPr marL="0" lvl="0" indent="0" algn="l">
              <a:buNone/>
            </a:pPr>
            <a:r>
              <a:rPr lang="vi-VN" dirty="0"/>
              <a:t>Lời giảng: Lưu watermark chỉ sau success. Chạy lại cùng batch hoặc cùng updated_after và chứng minh không duplicate. Nếu count tăng, truy lại unique key, conflict target hoặc state logic. Nếu count không tăng nhưng update không áp dụng, kiểm tra SET clause.</a:t>
            </a:r>
            <a:endParaRPr lang="vi-VN"/>
          </a:p>
          <a:p>
            <a:pPr marL="0" lvl="0" indent="0" algn="l">
              <a:buNone/>
            </a:pPr>
            <a:r>
              <a:rPr lang="vi-VN" dirty="0"/>
              <a:t>Tương tác / demo: Yêu cầu nhóm chụp/ghi before/after counts và state.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112–118 phút | Checkpoint</a:t>
            </a:r>
            <a:endParaRPr lang="vi-VN"/>
          </a:p>
          <a:p>
            <a:pPr marL="0" lvl="0" indent="0" algn="l">
              <a:buNone/>
            </a:pPr>
            <a:r>
              <a:rPr lang="vi-VN" dirty="0"/>
              <a:t>Lời giảng: Đạt buổi 6 khi API key hoạt động, pagination đọc đủ, RAW có lưu, PostgreSQL nhận data qua upsert, pipeline_state tồn tại và rerun không tạo duplicate. Đây là sáu bằng chứng, không phải sáu ý lý thuyết.</a:t>
            </a:r>
            <a:endParaRPr lang="vi-VN"/>
          </a:p>
          <a:p>
            <a:pPr marL="0" lvl="0" indent="0" algn="l">
              <a:buNone/>
            </a:pPr>
            <a:r>
              <a:rPr lang="vi-VN" dirty="0"/>
              <a:t>Tương tác / demo: Review 1 nhóm có row count và state rõ.</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118–120 phút | Chốt buổi</a:t>
            </a:r>
            <a:endParaRPr lang="vi-VN"/>
          </a:p>
          <a:p>
            <a:pPr marL="0" lvl="0" indent="0" algn="l">
              <a:buNone/>
            </a:pPr>
            <a:r>
              <a:rPr lang="vi-VN" dirty="0"/>
              <a:t>Lời giảng: Nhớ: API ingestion cần timeout/pagination; incremental cần checkpoint; upsert + unique key hỗ trợ idempotency; rerun phải có bằng chứng. Buổi 7 sẽ đặt Data Quality trước bước load để ngăn dữ liệu lỗi vào CORE.</a:t>
            </a:r>
            <a:endParaRPr lang="vi-VN"/>
          </a:p>
          <a:p>
            <a:pPr marL="0" lvl="0" indent="0" algn="l">
              <a:buNone/>
            </a:pPr>
            <a:r>
              <a:rPr lang="vi-VN" dirty="0"/>
              <a:t>Tương tác / demo: Giao assignment.</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118–120 phút | Chốt buổi</a:t>
            </a:r>
            <a:endParaRPr lang="vi-VN"/>
          </a:p>
          <a:p>
            <a:pPr marL="0" lvl="0" indent="0" algn="l">
              <a:buNone/>
            </a:pPr>
            <a:r>
              <a:rPr lang="vi-VN" dirty="0"/>
              <a:t>Lời giảng: Nhớ: API ingestion cần timeout/pagination; incremental cần checkpoint; upsert + unique key hỗ trợ idempotency; rerun phải có bằng chứng. Buổi 7 sẽ đặt Data Quality trước bước load để ngăn dữ liệu lỗi vào CORE.</a:t>
            </a:r>
            <a:endParaRPr lang="vi-VN"/>
          </a:p>
          <a:p>
            <a:pPr marL="0" lvl="0" indent="0" algn="l">
              <a:buNone/>
            </a:pPr>
            <a:r>
              <a:rPr lang="vi-VN" dirty="0"/>
              <a:t>Tương tác / demo: Giao assignment.</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16"/>
        <p:cNvGrpSpPr/>
        <p:nvPr/>
      </p:nvGrpSpPr>
      <p:grpSpPr>
        <a:xfrm>
          <a:off x="0" y="0"/>
          <a:ext cx="0" cy="0"/>
          <a:chOff x="0" y="0"/>
          <a:chExt cx="0" cy="0"/>
        </a:xfrm>
      </p:grpSpPr>
      <p:sp>
        <p:nvSpPr>
          <p:cNvPr id="17" name="Google Shape;17;p32"/>
          <p:cNvSpPr txBox="1">
            <a:spLocks noGrp="1"/>
          </p:cNvSpPr>
          <p:nvPr>
            <p:ph type="title"/>
          </p:nvPr>
        </p:nvSpPr>
        <p:spPr>
          <a:xfrm rot="5400000">
            <a:off x="-1225840" y="1040275"/>
            <a:ext cx="4164099" cy="18454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6000"/>
              <a:buFont typeface="Montserrat Black"/>
              <a:buNone/>
              <a:defRPr sz="6000" b="1">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32"/>
          <p:cNvSpPr txBox="1">
            <a:spLocks noGrp="1"/>
          </p:cNvSpPr>
          <p:nvPr>
            <p:ph type="body" idx="1" hasCustomPrompt="1"/>
          </p:nvPr>
        </p:nvSpPr>
        <p:spPr>
          <a:xfrm>
            <a:off x="2394064" y="2759840"/>
            <a:ext cx="1122220"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dirty="0"/>
              <a:t>1</a:t>
            </a:r>
            <a:endParaRPr dirty="0"/>
          </a:p>
        </p:txBody>
      </p:sp>
      <p:sp>
        <p:nvSpPr>
          <p:cNvPr id="20" name="Google Shape;20;p32"/>
          <p:cNvSpPr txBox="1">
            <a:spLocks noGrp="1"/>
          </p:cNvSpPr>
          <p:nvPr>
            <p:ph type="body" idx="2"/>
          </p:nvPr>
        </p:nvSpPr>
        <p:spPr>
          <a:xfrm>
            <a:off x="3516284" y="28884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2"/>
          <p:cNvSpPr txBox="1">
            <a:spLocks noGrp="1"/>
          </p:cNvSpPr>
          <p:nvPr>
            <p:ph type="body" idx="3" hasCustomPrompt="1"/>
          </p:nvPr>
        </p:nvSpPr>
        <p:spPr>
          <a:xfrm>
            <a:off x="2310942" y="4349625"/>
            <a:ext cx="1205342"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dirty="0"/>
              <a:t>2</a:t>
            </a:r>
            <a:endParaRPr dirty="0"/>
          </a:p>
        </p:txBody>
      </p:sp>
      <p:sp>
        <p:nvSpPr>
          <p:cNvPr id="22" name="Google Shape;22;p32"/>
          <p:cNvSpPr txBox="1">
            <a:spLocks noGrp="1"/>
          </p:cNvSpPr>
          <p:nvPr>
            <p:ph type="body" idx="4"/>
          </p:nvPr>
        </p:nvSpPr>
        <p:spPr>
          <a:xfrm>
            <a:off x="3516284"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32"/>
          <p:cNvSpPr txBox="1">
            <a:spLocks noGrp="1"/>
          </p:cNvSpPr>
          <p:nvPr>
            <p:ph type="body" idx="5"/>
          </p:nvPr>
        </p:nvSpPr>
        <p:spPr>
          <a:xfrm>
            <a:off x="7245926" y="2759840"/>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2"/>
          <p:cNvSpPr txBox="1">
            <a:spLocks noGrp="1"/>
          </p:cNvSpPr>
          <p:nvPr>
            <p:ph type="body" idx="6"/>
          </p:nvPr>
        </p:nvSpPr>
        <p:spPr>
          <a:xfrm>
            <a:off x="8448502" y="2888427"/>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32"/>
          <p:cNvSpPr txBox="1">
            <a:spLocks noGrp="1"/>
          </p:cNvSpPr>
          <p:nvPr>
            <p:ph type="body" idx="7"/>
          </p:nvPr>
        </p:nvSpPr>
        <p:spPr>
          <a:xfrm>
            <a:off x="7245926" y="4349625"/>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32"/>
          <p:cNvSpPr txBox="1">
            <a:spLocks noGrp="1"/>
          </p:cNvSpPr>
          <p:nvPr>
            <p:ph type="body" idx="8"/>
          </p:nvPr>
        </p:nvSpPr>
        <p:spPr>
          <a:xfrm>
            <a:off x="8448502"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32"/>
          <p:cNvSpPr txBox="1">
            <a:spLocks noGrp="1"/>
          </p:cNvSpPr>
          <p:nvPr>
            <p:ph type="body" idx="9"/>
          </p:nvPr>
        </p:nvSpPr>
        <p:spPr>
          <a:xfrm>
            <a:off x="3516283" y="3284445"/>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32"/>
          <p:cNvSpPr txBox="1">
            <a:spLocks noGrp="1"/>
          </p:cNvSpPr>
          <p:nvPr>
            <p:ph type="body" idx="13"/>
          </p:nvPr>
        </p:nvSpPr>
        <p:spPr>
          <a:xfrm>
            <a:off x="3516283" y="4874231"/>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32"/>
          <p:cNvSpPr txBox="1">
            <a:spLocks noGrp="1"/>
          </p:cNvSpPr>
          <p:nvPr>
            <p:ph type="body" idx="14"/>
          </p:nvPr>
        </p:nvSpPr>
        <p:spPr>
          <a:xfrm>
            <a:off x="8448501" y="3284444"/>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32"/>
          <p:cNvSpPr txBox="1">
            <a:spLocks noGrp="1"/>
          </p:cNvSpPr>
          <p:nvPr>
            <p:ph type="body" idx="15"/>
          </p:nvPr>
        </p:nvSpPr>
        <p:spPr>
          <a:xfrm>
            <a:off x="8448500" y="48937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BEB9D187-055C-A20F-D630-69C136C329CF}"/>
              </a:ext>
            </a:extLst>
          </p:cNvPr>
          <p:cNvPicPr>
            <a:picLocks noChangeAspect="1"/>
          </p:cNvPicPr>
          <p:nvPr userDrawn="1"/>
        </p:nvPicPr>
        <p:blipFill>
          <a:blip r:embed="rId2"/>
          <a:stretch>
            <a:fillRect/>
          </a:stretch>
        </p:blipFill>
        <p:spPr>
          <a:xfrm>
            <a:off x="9584574" y="474131"/>
            <a:ext cx="2441171" cy="41765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2"/>
        <p:cNvGrpSpPr/>
        <p:nvPr/>
      </p:nvGrpSpPr>
      <p:grpSpPr>
        <a:xfrm>
          <a:off x="0" y="0"/>
          <a:ext cx="0" cy="0"/>
          <a:chOff x="0" y="0"/>
          <a:chExt cx="0" cy="0"/>
        </a:xfrm>
      </p:grpSpPr>
      <p:sp>
        <p:nvSpPr>
          <p:cNvPr id="33" name="Google Shape;33;p38"/>
          <p:cNvSpPr txBox="1">
            <a:spLocks noGrp="1"/>
          </p:cNvSpPr>
          <p:nvPr>
            <p:ph type="body" idx="1"/>
          </p:nvPr>
        </p:nvSpPr>
        <p:spPr>
          <a:xfrm>
            <a:off x="742507" y="1978428"/>
            <a:ext cx="5181600" cy="4019651"/>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4" name="Google Shape;34;p38"/>
          <p:cNvPicPr preferRelativeResize="0"/>
          <p:nvPr/>
        </p:nvPicPr>
        <p:blipFill rotWithShape="1">
          <a:blip r:embed="rId2">
            <a:alphaModFix/>
          </a:blip>
          <a:srcRect/>
          <a:stretch/>
        </p:blipFill>
        <p:spPr>
          <a:xfrm>
            <a:off x="11087100" y="5837237"/>
            <a:ext cx="1104900" cy="1038225"/>
          </a:xfrm>
          <a:prstGeom prst="rect">
            <a:avLst/>
          </a:prstGeom>
          <a:noFill/>
          <a:ln>
            <a:noFill/>
          </a:ln>
        </p:spPr>
      </p:pic>
      <p:pic>
        <p:nvPicPr>
          <p:cNvPr id="35" name="Google Shape;35;p38"/>
          <p:cNvPicPr preferRelativeResize="0"/>
          <p:nvPr/>
        </p:nvPicPr>
        <p:blipFill rotWithShape="1">
          <a:blip r:embed="rId3">
            <a:alphaModFix/>
          </a:blip>
          <a:srcRect/>
          <a:stretch/>
        </p:blipFill>
        <p:spPr>
          <a:xfrm>
            <a:off x="838200" y="0"/>
            <a:ext cx="2860964" cy="315884"/>
          </a:xfrm>
          <a:prstGeom prst="rect">
            <a:avLst/>
          </a:prstGeom>
          <a:noFill/>
          <a:ln>
            <a:noFill/>
          </a:ln>
        </p:spPr>
      </p:pic>
      <p:sp>
        <p:nvSpPr>
          <p:cNvPr id="36" name="Google Shape;36;p38"/>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37" name="Google Shape;37;p38"/>
          <p:cNvSpPr txBox="1">
            <a:spLocks noGrp="1"/>
          </p:cNvSpPr>
          <p:nvPr>
            <p:ph type="body" idx="2"/>
          </p:nvPr>
        </p:nvSpPr>
        <p:spPr>
          <a:xfrm>
            <a:off x="6267893" y="1978428"/>
            <a:ext cx="5181600" cy="4019652"/>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38"/>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40"/>
        <p:cNvGrpSpPr/>
        <p:nvPr/>
      </p:nvGrpSpPr>
      <p:grpSpPr>
        <a:xfrm>
          <a:off x="0" y="0"/>
          <a:ext cx="0" cy="0"/>
          <a:chOff x="0" y="0"/>
          <a:chExt cx="0" cy="0"/>
        </a:xfrm>
      </p:grpSpPr>
      <p:pic>
        <p:nvPicPr>
          <p:cNvPr id="41" name="Google Shape;41;p34"/>
          <p:cNvPicPr preferRelativeResize="0"/>
          <p:nvPr/>
        </p:nvPicPr>
        <p:blipFill rotWithShape="1">
          <a:blip r:embed="rId2">
            <a:alphaModFix/>
          </a:blip>
          <a:srcRect/>
          <a:stretch/>
        </p:blipFill>
        <p:spPr>
          <a:xfrm>
            <a:off x="559185" y="0"/>
            <a:ext cx="2860964" cy="315884"/>
          </a:xfrm>
          <a:prstGeom prst="rect">
            <a:avLst/>
          </a:prstGeom>
          <a:noFill/>
          <a:ln>
            <a:noFill/>
          </a:ln>
        </p:spPr>
      </p:pic>
      <p:sp>
        <p:nvSpPr>
          <p:cNvPr id="42" name="Google Shape;42;p34"/>
          <p:cNvSpPr txBox="1">
            <a:spLocks noGrp="1"/>
          </p:cNvSpPr>
          <p:nvPr>
            <p:ph type="ctrTitle"/>
          </p:nvPr>
        </p:nvSpPr>
        <p:spPr>
          <a:xfrm>
            <a:off x="1697669" y="3351966"/>
            <a:ext cx="7200000" cy="108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000000"/>
              </a:buClr>
              <a:buSzPts val="4000"/>
              <a:buFont typeface="Montserrat ExtraBold"/>
              <a:buNone/>
              <a:defRPr sz="4000">
                <a:solidFill>
                  <a:srgbClr val="000000"/>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Clr>
                <a:srgbClr val="000000"/>
              </a:buClr>
              <a:buSzPts val="5200"/>
              <a:buNone/>
              <a:defRPr sz="5200">
                <a:solidFill>
                  <a:srgbClr val="000000"/>
                </a:solidFill>
              </a:defRPr>
            </a:lvl2pPr>
            <a:lvl3pPr lvl="2" algn="ctr">
              <a:lnSpc>
                <a:spcPct val="100000"/>
              </a:lnSpc>
              <a:spcBef>
                <a:spcPts val="0"/>
              </a:spcBef>
              <a:spcAft>
                <a:spcPts val="0"/>
              </a:spcAft>
              <a:buClr>
                <a:srgbClr val="000000"/>
              </a:buClr>
              <a:buSzPts val="5200"/>
              <a:buNone/>
              <a:defRPr sz="5200">
                <a:solidFill>
                  <a:srgbClr val="000000"/>
                </a:solidFill>
              </a:defRPr>
            </a:lvl3pPr>
            <a:lvl4pPr lvl="3" algn="ctr">
              <a:lnSpc>
                <a:spcPct val="100000"/>
              </a:lnSpc>
              <a:spcBef>
                <a:spcPts val="0"/>
              </a:spcBef>
              <a:spcAft>
                <a:spcPts val="0"/>
              </a:spcAft>
              <a:buClr>
                <a:srgbClr val="000000"/>
              </a:buClr>
              <a:buSzPts val="5200"/>
              <a:buNone/>
              <a:defRPr sz="5200">
                <a:solidFill>
                  <a:srgbClr val="000000"/>
                </a:solidFill>
              </a:defRPr>
            </a:lvl4pPr>
            <a:lvl5pPr lvl="4" algn="ctr">
              <a:lnSpc>
                <a:spcPct val="100000"/>
              </a:lnSpc>
              <a:spcBef>
                <a:spcPts val="0"/>
              </a:spcBef>
              <a:spcAft>
                <a:spcPts val="0"/>
              </a:spcAft>
              <a:buClr>
                <a:srgbClr val="000000"/>
              </a:buClr>
              <a:buSzPts val="5200"/>
              <a:buNone/>
              <a:defRPr sz="5200">
                <a:solidFill>
                  <a:srgbClr val="000000"/>
                </a:solidFill>
              </a:defRPr>
            </a:lvl5pPr>
            <a:lvl6pPr lvl="5" algn="ctr">
              <a:lnSpc>
                <a:spcPct val="100000"/>
              </a:lnSpc>
              <a:spcBef>
                <a:spcPts val="0"/>
              </a:spcBef>
              <a:spcAft>
                <a:spcPts val="0"/>
              </a:spcAft>
              <a:buClr>
                <a:srgbClr val="000000"/>
              </a:buClr>
              <a:buSzPts val="5200"/>
              <a:buNone/>
              <a:defRPr sz="5200">
                <a:solidFill>
                  <a:srgbClr val="000000"/>
                </a:solidFill>
              </a:defRPr>
            </a:lvl6pPr>
            <a:lvl7pPr lvl="6" algn="ctr">
              <a:lnSpc>
                <a:spcPct val="100000"/>
              </a:lnSpc>
              <a:spcBef>
                <a:spcPts val="0"/>
              </a:spcBef>
              <a:spcAft>
                <a:spcPts val="0"/>
              </a:spcAft>
              <a:buClr>
                <a:srgbClr val="000000"/>
              </a:buClr>
              <a:buSzPts val="5200"/>
              <a:buNone/>
              <a:defRPr sz="5200">
                <a:solidFill>
                  <a:srgbClr val="000000"/>
                </a:solidFill>
              </a:defRPr>
            </a:lvl7pPr>
            <a:lvl8pPr lvl="7" algn="ctr">
              <a:lnSpc>
                <a:spcPct val="100000"/>
              </a:lnSpc>
              <a:spcBef>
                <a:spcPts val="0"/>
              </a:spcBef>
              <a:spcAft>
                <a:spcPts val="0"/>
              </a:spcAft>
              <a:buClr>
                <a:srgbClr val="000000"/>
              </a:buClr>
              <a:buSzPts val="5200"/>
              <a:buNone/>
              <a:defRPr sz="5200">
                <a:solidFill>
                  <a:srgbClr val="000000"/>
                </a:solidFill>
              </a:defRPr>
            </a:lvl8pPr>
            <a:lvl9pPr lvl="8" algn="ctr">
              <a:lnSpc>
                <a:spcPct val="100000"/>
              </a:lnSpc>
              <a:spcBef>
                <a:spcPts val="0"/>
              </a:spcBef>
              <a:spcAft>
                <a:spcPts val="0"/>
              </a:spcAft>
              <a:buClr>
                <a:srgbClr val="000000"/>
              </a:buClr>
              <a:buSzPts val="5200"/>
              <a:buNone/>
              <a:defRPr sz="5200">
                <a:solidFill>
                  <a:srgbClr val="000000"/>
                </a:solidFill>
              </a:defRPr>
            </a:lvl9pPr>
          </a:lstStyle>
          <a:p>
            <a:endParaRPr dirty="0"/>
          </a:p>
        </p:txBody>
      </p:sp>
      <p:sp>
        <p:nvSpPr>
          <p:cNvPr id="43" name="Google Shape;43;p34"/>
          <p:cNvSpPr txBox="1">
            <a:spLocks noGrp="1"/>
          </p:cNvSpPr>
          <p:nvPr>
            <p:ph type="subTitle" idx="1"/>
          </p:nvPr>
        </p:nvSpPr>
        <p:spPr>
          <a:xfrm>
            <a:off x="1697669" y="4071966"/>
            <a:ext cx="5041797" cy="36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AEABAB"/>
              </a:buClr>
              <a:buSzPts val="2800"/>
              <a:buNone/>
              <a:defRPr>
                <a:solidFill>
                  <a:srgbClr val="AEABAB"/>
                </a:solidFill>
                <a:latin typeface="Montserrat Medium"/>
                <a:ea typeface="Montserrat Medium"/>
                <a:cs typeface="Montserrat Medium"/>
                <a:sym typeface="Montserrat Medium"/>
              </a:defRPr>
            </a:lvl1pPr>
            <a:lvl2pPr lvl="1" algn="l">
              <a:lnSpc>
                <a:spcPct val="90000"/>
              </a:lnSpc>
              <a:spcBef>
                <a:spcPts val="1600"/>
              </a:spcBef>
              <a:spcAft>
                <a:spcPts val="0"/>
              </a:spcAft>
              <a:buClr>
                <a:schemeClr val="dk1"/>
              </a:buClr>
              <a:buSzPts val="2400"/>
              <a:buNone/>
              <a:defRPr/>
            </a:lvl2pPr>
            <a:lvl3pPr lvl="2" algn="l">
              <a:lnSpc>
                <a:spcPct val="90000"/>
              </a:lnSpc>
              <a:spcBef>
                <a:spcPts val="1600"/>
              </a:spcBef>
              <a:spcAft>
                <a:spcPts val="0"/>
              </a:spcAft>
              <a:buClr>
                <a:schemeClr val="dk1"/>
              </a:buClr>
              <a:buSzPts val="2000"/>
              <a:buNone/>
              <a:defRPr/>
            </a:lvl3pPr>
            <a:lvl4pPr lvl="3" algn="l">
              <a:lnSpc>
                <a:spcPct val="90000"/>
              </a:lnSpc>
              <a:spcBef>
                <a:spcPts val="1600"/>
              </a:spcBef>
              <a:spcAft>
                <a:spcPts val="0"/>
              </a:spcAft>
              <a:buClr>
                <a:schemeClr val="dk1"/>
              </a:buClr>
              <a:buSzPts val="1800"/>
              <a:buNone/>
              <a:defRPr/>
            </a:lvl4pPr>
            <a:lvl5pPr lvl="4" algn="l">
              <a:lnSpc>
                <a:spcPct val="90000"/>
              </a:lnSpc>
              <a:spcBef>
                <a:spcPts val="1600"/>
              </a:spcBef>
              <a:spcAft>
                <a:spcPts val="0"/>
              </a:spcAft>
              <a:buClr>
                <a:schemeClr val="dk1"/>
              </a:buClr>
              <a:buSzPts val="1800"/>
              <a:buNone/>
              <a:defRPr/>
            </a:lvl5pPr>
            <a:lvl6pPr lvl="5" algn="l">
              <a:lnSpc>
                <a:spcPct val="90000"/>
              </a:lnSpc>
              <a:spcBef>
                <a:spcPts val="1600"/>
              </a:spcBef>
              <a:spcAft>
                <a:spcPts val="0"/>
              </a:spcAft>
              <a:buClr>
                <a:schemeClr val="dk1"/>
              </a:buClr>
              <a:buSzPts val="1800"/>
              <a:buNone/>
              <a:defRPr/>
            </a:lvl6pPr>
            <a:lvl7pPr lvl="6" algn="l">
              <a:lnSpc>
                <a:spcPct val="90000"/>
              </a:lnSpc>
              <a:spcBef>
                <a:spcPts val="1600"/>
              </a:spcBef>
              <a:spcAft>
                <a:spcPts val="0"/>
              </a:spcAft>
              <a:buClr>
                <a:schemeClr val="dk1"/>
              </a:buClr>
              <a:buSzPts val="1800"/>
              <a:buNone/>
              <a:defRPr/>
            </a:lvl7pPr>
            <a:lvl8pPr lvl="7" algn="l">
              <a:lnSpc>
                <a:spcPct val="90000"/>
              </a:lnSpc>
              <a:spcBef>
                <a:spcPts val="1600"/>
              </a:spcBef>
              <a:spcAft>
                <a:spcPts val="0"/>
              </a:spcAft>
              <a:buClr>
                <a:schemeClr val="dk1"/>
              </a:buClr>
              <a:buSzPts val="1800"/>
              <a:buNone/>
              <a:defRPr/>
            </a:lvl8pPr>
            <a:lvl9pPr lvl="8" algn="l">
              <a:lnSpc>
                <a:spcPct val="90000"/>
              </a:lnSpc>
              <a:spcBef>
                <a:spcPts val="1600"/>
              </a:spcBef>
              <a:spcAft>
                <a:spcPts val="1600"/>
              </a:spcAft>
              <a:buClr>
                <a:schemeClr val="dk1"/>
              </a:buClr>
              <a:buSzPts val="1800"/>
              <a:buNone/>
              <a:defRPr/>
            </a:lvl9pPr>
          </a:lstStyle>
          <a:p>
            <a:endParaRPr/>
          </a:p>
        </p:txBody>
      </p:sp>
      <p:pic>
        <p:nvPicPr>
          <p:cNvPr id="44" name="Google Shape;44;p34"/>
          <p:cNvPicPr preferRelativeResize="0"/>
          <p:nvPr/>
        </p:nvPicPr>
        <p:blipFill rotWithShape="1">
          <a:blip r:embed="rId3">
            <a:alphaModFix/>
          </a:blip>
          <a:srcRect/>
          <a:stretch/>
        </p:blipFill>
        <p:spPr>
          <a:xfrm>
            <a:off x="9349810" y="1223962"/>
            <a:ext cx="4438650" cy="4410075"/>
          </a:xfrm>
          <a:prstGeom prst="rect">
            <a:avLst/>
          </a:prstGeom>
          <a:noFill/>
          <a:ln>
            <a:noFill/>
          </a:ln>
        </p:spPr>
      </p:pic>
      <p:sp>
        <p:nvSpPr>
          <p:cNvPr id="45" name="Google Shape;45;p34"/>
          <p:cNvSpPr/>
          <p:nvPr/>
        </p:nvSpPr>
        <p:spPr>
          <a:xfrm rot="5400000">
            <a:off x="-307571" y="2821864"/>
            <a:ext cx="1446414" cy="831272"/>
          </a:xfrm>
          <a:prstGeom prst="triangle">
            <a:avLst>
              <a:gd name="adj" fmla="val 50000"/>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46" name="Google Shape;46;p34"/>
          <p:cNvSpPr txBox="1">
            <a:spLocks noGrp="1"/>
          </p:cNvSpPr>
          <p:nvPr>
            <p:ph type="body" idx="2"/>
          </p:nvPr>
        </p:nvSpPr>
        <p:spPr>
          <a:xfrm>
            <a:off x="1562203" y="1974293"/>
            <a:ext cx="8966216" cy="10800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9600"/>
              <a:buNone/>
              <a:defRPr sz="96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pic>
        <p:nvPicPr>
          <p:cNvPr id="3" name="Picture 2" descr="A black and red logo&#10;&#10;Description automatically generated">
            <a:extLst>
              <a:ext uri="{FF2B5EF4-FFF2-40B4-BE49-F238E27FC236}">
                <a16:creationId xmlns:a16="http://schemas.microsoft.com/office/drawing/2014/main" id="{BB66C473-4843-563E-A229-3E43A4883405}"/>
              </a:ext>
            </a:extLst>
          </p:cNvPr>
          <p:cNvPicPr>
            <a:picLocks noChangeAspect="1"/>
          </p:cNvPicPr>
          <p:nvPr userDrawn="1"/>
        </p:nvPicPr>
        <p:blipFill>
          <a:blip r:embed="rId4"/>
          <a:stretch>
            <a:fillRect/>
          </a:stretch>
        </p:blipFill>
        <p:spPr>
          <a:xfrm>
            <a:off x="4218567" y="5362823"/>
            <a:ext cx="3170490" cy="542427"/>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8"/>
        <p:cNvGrpSpPr/>
        <p:nvPr/>
      </p:nvGrpSpPr>
      <p:grpSpPr>
        <a:xfrm>
          <a:off x="0" y="0"/>
          <a:ext cx="0" cy="0"/>
          <a:chOff x="0" y="0"/>
          <a:chExt cx="0" cy="0"/>
        </a:xfrm>
      </p:grpSpPr>
      <p:sp>
        <p:nvSpPr>
          <p:cNvPr id="49" name="Google Shape;49;p35"/>
          <p:cNvSpPr txBox="1">
            <a:spLocks noGrp="1"/>
          </p:cNvSpPr>
          <p:nvPr>
            <p:ph type="title"/>
          </p:nvPr>
        </p:nvSpPr>
        <p:spPr>
          <a:xfrm>
            <a:off x="1974966" y="2521987"/>
            <a:ext cx="8076353"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C00000"/>
              </a:buClr>
              <a:buSzPts val="6000"/>
              <a:buFont typeface="Montserrat Black"/>
              <a:buNone/>
              <a:defRPr sz="6000" b="1">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0" name="Google Shape;50;p35"/>
          <p:cNvPicPr preferRelativeResize="0"/>
          <p:nvPr/>
        </p:nvPicPr>
        <p:blipFill rotWithShape="1">
          <a:blip r:embed="rId2">
            <a:alphaModFix/>
          </a:blip>
          <a:srcRect/>
          <a:stretch/>
        </p:blipFill>
        <p:spPr>
          <a:xfrm>
            <a:off x="559185" y="0"/>
            <a:ext cx="2860964" cy="315884"/>
          </a:xfrm>
          <a:prstGeom prst="rect">
            <a:avLst/>
          </a:prstGeom>
          <a:noFill/>
          <a:ln>
            <a:noFill/>
          </a:ln>
        </p:spPr>
      </p:pic>
      <p:sp>
        <p:nvSpPr>
          <p:cNvPr id="51" name="Google Shape;51;p35"/>
          <p:cNvSpPr txBox="1">
            <a:spLocks noGrp="1"/>
          </p:cNvSpPr>
          <p:nvPr>
            <p:ph type="body" idx="1"/>
          </p:nvPr>
        </p:nvSpPr>
        <p:spPr>
          <a:xfrm>
            <a:off x="1989667" y="3847550"/>
            <a:ext cx="8076353" cy="1450503"/>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3F3F3F"/>
              </a:buClr>
              <a:buSzPts val="3200"/>
              <a:buNone/>
              <a:defRPr sz="3200">
                <a:solidFill>
                  <a:srgbClr val="3F3F3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sp>
        <p:nvSpPr>
          <p:cNvPr id="52" name="Google Shape;52;p35"/>
          <p:cNvSpPr/>
          <p:nvPr/>
        </p:nvSpPr>
        <p:spPr>
          <a:xfrm rot="10800000">
            <a:off x="5289935" y="1559948"/>
            <a:ext cx="1446414" cy="831272"/>
          </a:xfrm>
          <a:prstGeom prst="triangle">
            <a:avLst>
              <a:gd name="adj" fmla="val 50000"/>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pic>
        <p:nvPicPr>
          <p:cNvPr id="3" name="Picture 2" descr="A black and red logo&#10;&#10;Description automatically generated">
            <a:extLst>
              <a:ext uri="{FF2B5EF4-FFF2-40B4-BE49-F238E27FC236}">
                <a16:creationId xmlns:a16="http://schemas.microsoft.com/office/drawing/2014/main" id="{F381582B-BF58-488D-444A-9B514DD58CEE}"/>
              </a:ext>
            </a:extLst>
          </p:cNvPr>
          <p:cNvPicPr>
            <a:picLocks noChangeAspect="1"/>
          </p:cNvPicPr>
          <p:nvPr userDrawn="1"/>
        </p:nvPicPr>
        <p:blipFill>
          <a:blip r:embed="rId3"/>
          <a:stretch>
            <a:fillRect/>
          </a:stretch>
        </p:blipFill>
        <p:spPr>
          <a:xfrm>
            <a:off x="4246556" y="5489273"/>
            <a:ext cx="3698887" cy="632829"/>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4"/>
        <p:cNvGrpSpPr/>
        <p:nvPr/>
      </p:nvGrpSpPr>
      <p:grpSpPr>
        <a:xfrm>
          <a:off x="0" y="0"/>
          <a:ext cx="0" cy="0"/>
          <a:chOff x="0" y="0"/>
          <a:chExt cx="0" cy="0"/>
        </a:xfrm>
      </p:grpSpPr>
      <p:pic>
        <p:nvPicPr>
          <p:cNvPr id="55" name="Google Shape;55;p36"/>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56" name="Google Shape;56;p36"/>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57" name="Google Shape;57;p36"/>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58" name="Google Shape;58;p36"/>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5EAD5742-1C6B-F857-A9B1-EEA8C00EED8B}"/>
              </a:ext>
            </a:extLst>
          </p:cNvPr>
          <p:cNvPicPr>
            <a:picLocks noChangeAspect="1"/>
          </p:cNvPicPr>
          <p:nvPr userDrawn="1"/>
        </p:nvPicPr>
        <p:blipFill>
          <a:blip r:embed="rId4"/>
          <a:stretch>
            <a:fillRect/>
          </a:stretch>
        </p:blipFill>
        <p:spPr>
          <a:xfrm>
            <a:off x="9729129" y="509145"/>
            <a:ext cx="2154931" cy="36867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Content with Caption">
  <p:cSld name="2_Content with Caption">
    <p:spTree>
      <p:nvGrpSpPr>
        <p:cNvPr id="1" name="Shape 60"/>
        <p:cNvGrpSpPr/>
        <p:nvPr/>
      </p:nvGrpSpPr>
      <p:grpSpPr>
        <a:xfrm>
          <a:off x="0" y="0"/>
          <a:ext cx="0" cy="0"/>
          <a:chOff x="0" y="0"/>
          <a:chExt cx="0" cy="0"/>
        </a:xfrm>
      </p:grpSpPr>
      <p:sp>
        <p:nvSpPr>
          <p:cNvPr id="61" name="Google Shape;61;p37"/>
          <p:cNvSpPr txBox="1">
            <a:spLocks noGrp="1"/>
          </p:cNvSpPr>
          <p:nvPr>
            <p:ph type="body" idx="1"/>
          </p:nvPr>
        </p:nvSpPr>
        <p:spPr>
          <a:xfrm>
            <a:off x="3818313" y="3901864"/>
            <a:ext cx="4555374" cy="21696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2" name="Google Shape;62;p37"/>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63" name="Google Shape;63;p37"/>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64" name="Google Shape;64;p37"/>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65" name="Google Shape;65;p37"/>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3200"/>
              <a:buNone/>
              <a:defRPr sz="32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6" name="Google Shape;66;p37"/>
          <p:cNvPicPr preferRelativeResize="0"/>
          <p:nvPr/>
        </p:nvPicPr>
        <p:blipFill rotWithShape="1">
          <a:blip r:embed="rId2">
            <a:alphaModFix/>
          </a:blip>
          <a:srcRect/>
          <a:stretch/>
        </p:blipFill>
        <p:spPr>
          <a:xfrm rot="10800000" flipH="1">
            <a:off x="838200" y="3858704"/>
            <a:ext cx="2860964" cy="45719"/>
          </a:xfrm>
          <a:prstGeom prst="rect">
            <a:avLst/>
          </a:prstGeom>
          <a:noFill/>
          <a:ln>
            <a:noFill/>
          </a:ln>
        </p:spPr>
      </p:pic>
      <p:pic>
        <p:nvPicPr>
          <p:cNvPr id="3" name="Picture 2" descr="A black and red logo&#10;&#10;Description automatically generated">
            <a:extLst>
              <a:ext uri="{FF2B5EF4-FFF2-40B4-BE49-F238E27FC236}">
                <a16:creationId xmlns:a16="http://schemas.microsoft.com/office/drawing/2014/main" id="{55AA4231-604B-BA65-0355-28FA72F30CD0}"/>
              </a:ext>
            </a:extLst>
          </p:cNvPr>
          <p:cNvPicPr>
            <a:picLocks noChangeAspect="1"/>
          </p:cNvPicPr>
          <p:nvPr userDrawn="1"/>
        </p:nvPicPr>
        <p:blipFill>
          <a:blip r:embed="rId4"/>
          <a:stretch>
            <a:fillRect/>
          </a:stretch>
        </p:blipFill>
        <p:spPr>
          <a:xfrm>
            <a:off x="9716655" y="315885"/>
            <a:ext cx="2152072" cy="36819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spTree>
      <p:nvGrpSpPr>
        <p:cNvPr id="1" name="Shape 68"/>
        <p:cNvGrpSpPr/>
        <p:nvPr/>
      </p:nvGrpSpPr>
      <p:grpSpPr>
        <a:xfrm>
          <a:off x="0" y="0"/>
          <a:ext cx="0" cy="0"/>
          <a:chOff x="0" y="0"/>
          <a:chExt cx="0" cy="0"/>
        </a:xfrm>
      </p:grpSpPr>
      <p:sp>
        <p:nvSpPr>
          <p:cNvPr id="69" name="Google Shape;69;p39"/>
          <p:cNvSpPr txBox="1">
            <a:spLocks noGrp="1"/>
          </p:cNvSpPr>
          <p:nvPr>
            <p:ph type="body" idx="1"/>
          </p:nvPr>
        </p:nvSpPr>
        <p:spPr>
          <a:xfrm>
            <a:off x="746918" y="3882043"/>
            <a:ext cx="3816769" cy="21696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600"/>
              <a:buNone/>
              <a:defRPr sz="16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70" name="Google Shape;70;p39"/>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71" name="Google Shape;71;p39"/>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72" name="Google Shape;72;p39"/>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dirty="0">
              <a:solidFill>
                <a:schemeClr val="lt1"/>
              </a:solidFill>
              <a:latin typeface="Montserrat"/>
              <a:ea typeface="Montserrat"/>
              <a:cs typeface="Montserrat"/>
              <a:sym typeface="Montserrat"/>
            </a:endParaRPr>
          </a:p>
        </p:txBody>
      </p:sp>
      <p:sp>
        <p:nvSpPr>
          <p:cNvPr id="73" name="Google Shape;73;p39"/>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2800"/>
              <a:buNone/>
              <a:defRPr sz="28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 name="Picture 2" descr="A black and red logo&#10;&#10;Description automatically generated">
            <a:extLst>
              <a:ext uri="{FF2B5EF4-FFF2-40B4-BE49-F238E27FC236}">
                <a16:creationId xmlns:a16="http://schemas.microsoft.com/office/drawing/2014/main" id="{43495D7B-6889-5FC5-B3E3-6995FEE87B6F}"/>
              </a:ext>
            </a:extLst>
          </p:cNvPr>
          <p:cNvPicPr>
            <a:picLocks noChangeAspect="1"/>
          </p:cNvPicPr>
          <p:nvPr userDrawn="1"/>
        </p:nvPicPr>
        <p:blipFill>
          <a:blip r:embed="rId4"/>
          <a:stretch>
            <a:fillRect/>
          </a:stretch>
        </p:blipFill>
        <p:spPr>
          <a:xfrm>
            <a:off x="9608344" y="315884"/>
            <a:ext cx="2301284" cy="39371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5"/>
        <p:cNvGrpSpPr/>
        <p:nvPr/>
      </p:nvGrpSpPr>
      <p:grpSpPr>
        <a:xfrm>
          <a:off x="0" y="0"/>
          <a:ext cx="0" cy="0"/>
          <a:chOff x="0" y="0"/>
          <a:chExt cx="0" cy="0"/>
        </a:xfrm>
      </p:grpSpPr>
      <p:pic>
        <p:nvPicPr>
          <p:cNvPr id="76" name="Google Shape;76;p40"/>
          <p:cNvPicPr preferRelativeResize="0"/>
          <p:nvPr/>
        </p:nvPicPr>
        <p:blipFill rotWithShape="1">
          <a:blip r:embed="rId2">
            <a:alphaModFix/>
          </a:blip>
          <a:srcRect/>
          <a:stretch/>
        </p:blipFill>
        <p:spPr>
          <a:xfrm>
            <a:off x="0" y="-59085"/>
            <a:ext cx="12534822" cy="6959104"/>
          </a:xfrm>
          <a:prstGeom prst="rect">
            <a:avLst/>
          </a:prstGeom>
          <a:noFill/>
          <a:ln>
            <a:noFill/>
          </a:ln>
        </p:spPr>
      </p:pic>
      <p:sp>
        <p:nvSpPr>
          <p:cNvPr id="77" name="Google Shape;77;p40"/>
          <p:cNvSpPr txBox="1">
            <a:spLocks noGrp="1"/>
          </p:cNvSpPr>
          <p:nvPr>
            <p:ph type="ctrTitle"/>
          </p:nvPr>
        </p:nvSpPr>
        <p:spPr>
          <a:xfrm>
            <a:off x="2594340" y="3145331"/>
            <a:ext cx="7558961" cy="151558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40"/>
          <p:cNvSpPr txBox="1">
            <a:spLocks noGrp="1"/>
          </p:cNvSpPr>
          <p:nvPr>
            <p:ph type="subTitle" idx="1"/>
          </p:nvPr>
        </p:nvSpPr>
        <p:spPr>
          <a:xfrm>
            <a:off x="2594340" y="4372481"/>
            <a:ext cx="7558961" cy="130083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79" name="Google Shape;79;p40"/>
          <p:cNvPicPr preferRelativeResize="0"/>
          <p:nvPr/>
        </p:nvPicPr>
        <p:blipFill rotWithShape="1">
          <a:blip r:embed="rId3">
            <a:alphaModFix/>
          </a:blip>
          <a:srcRect/>
          <a:stretch/>
        </p:blipFill>
        <p:spPr>
          <a:xfrm>
            <a:off x="10394571" y="1362499"/>
            <a:ext cx="4280502" cy="4258551"/>
          </a:xfrm>
          <a:prstGeom prst="rect">
            <a:avLst/>
          </a:prstGeom>
          <a:noFill/>
          <a:ln>
            <a:noFill/>
          </a:ln>
        </p:spPr>
      </p:pic>
      <p:pic>
        <p:nvPicPr>
          <p:cNvPr id="80" name="Google Shape;80;p40"/>
          <p:cNvPicPr preferRelativeResize="0"/>
          <p:nvPr/>
        </p:nvPicPr>
        <p:blipFill rotWithShape="1">
          <a:blip r:embed="rId3">
            <a:alphaModFix/>
          </a:blip>
          <a:srcRect/>
          <a:stretch/>
        </p:blipFill>
        <p:spPr>
          <a:xfrm>
            <a:off x="-2241803" y="1422897"/>
            <a:ext cx="4280502" cy="4258551"/>
          </a:xfrm>
          <a:prstGeom prst="rect">
            <a:avLst/>
          </a:prstGeom>
          <a:noFill/>
          <a:ln>
            <a:noFill/>
          </a:ln>
        </p:spPr>
      </p:pic>
      <p:pic>
        <p:nvPicPr>
          <p:cNvPr id="81" name="Google Shape;81;p40"/>
          <p:cNvPicPr preferRelativeResize="0"/>
          <p:nvPr/>
        </p:nvPicPr>
        <p:blipFill rotWithShape="1">
          <a:blip r:embed="rId4">
            <a:alphaModFix/>
          </a:blip>
          <a:srcRect/>
          <a:stretch/>
        </p:blipFill>
        <p:spPr>
          <a:xfrm>
            <a:off x="5261198" y="4951700"/>
            <a:ext cx="2012426" cy="9816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2"/>
        <p:cNvGrpSpPr/>
        <p:nvPr/>
      </p:nvGrpSpPr>
      <p:grpSpPr>
        <a:xfrm>
          <a:off x="0" y="0"/>
          <a:ext cx="0" cy="0"/>
          <a:chOff x="0" y="0"/>
          <a:chExt cx="0" cy="0"/>
        </a:xfrm>
      </p:grpSpPr>
      <p:pic>
        <p:nvPicPr>
          <p:cNvPr id="83" name="Google Shape;83;p30"/>
          <p:cNvPicPr preferRelativeResize="0"/>
          <p:nvPr/>
        </p:nvPicPr>
        <p:blipFill rotWithShape="1">
          <a:blip r:embed="rId2">
            <a:alphaModFix/>
          </a:blip>
          <a:srcRect/>
          <a:stretch/>
        </p:blipFill>
        <p:spPr>
          <a:xfrm>
            <a:off x="-211667" y="-83672"/>
            <a:ext cx="12640676" cy="7017872"/>
          </a:xfrm>
          <a:prstGeom prst="rect">
            <a:avLst/>
          </a:prstGeom>
          <a:noFill/>
          <a:ln>
            <a:noFill/>
          </a:ln>
        </p:spPr>
      </p:pic>
      <p:sp>
        <p:nvSpPr>
          <p:cNvPr id="84" name="Google Shape;84;p30"/>
          <p:cNvSpPr txBox="1">
            <a:spLocks noGrp="1"/>
          </p:cNvSpPr>
          <p:nvPr>
            <p:ph type="ctrTitle"/>
          </p:nvPr>
        </p:nvSpPr>
        <p:spPr>
          <a:xfrm>
            <a:off x="279991" y="3969209"/>
            <a:ext cx="9144000" cy="146441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0"/>
          <p:cNvSpPr txBox="1">
            <a:spLocks noGrp="1"/>
          </p:cNvSpPr>
          <p:nvPr>
            <p:ph type="subTitle" idx="1"/>
          </p:nvPr>
        </p:nvSpPr>
        <p:spPr>
          <a:xfrm>
            <a:off x="279991" y="5433627"/>
            <a:ext cx="9144000" cy="16557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86" name="Google Shape;86;p30"/>
          <p:cNvPicPr preferRelativeResize="0"/>
          <p:nvPr/>
        </p:nvPicPr>
        <p:blipFill rotWithShape="1">
          <a:blip r:embed="rId3">
            <a:alphaModFix/>
          </a:blip>
          <a:srcRect/>
          <a:stretch/>
        </p:blipFill>
        <p:spPr>
          <a:xfrm>
            <a:off x="9242381" y="-123349"/>
            <a:ext cx="7133810" cy="7097226"/>
          </a:xfrm>
          <a:prstGeom prst="rect">
            <a:avLst/>
          </a:prstGeom>
          <a:noFill/>
          <a:ln>
            <a:noFill/>
          </a:ln>
        </p:spPr>
      </p:pic>
      <p:pic>
        <p:nvPicPr>
          <p:cNvPr id="5" name="Picture 4" descr="A black and white logo with red letters&#10;&#10;Description automatically generated">
            <a:extLst>
              <a:ext uri="{FF2B5EF4-FFF2-40B4-BE49-F238E27FC236}">
                <a16:creationId xmlns:a16="http://schemas.microsoft.com/office/drawing/2014/main" id="{944B7BC4-09AD-B151-E7C8-E7171E587CD9}"/>
              </a:ext>
            </a:extLst>
          </p:cNvPr>
          <p:cNvPicPr>
            <a:picLocks noChangeAspect="1"/>
          </p:cNvPicPr>
          <p:nvPr userDrawn="1"/>
        </p:nvPicPr>
        <p:blipFill>
          <a:blip r:embed="rId4"/>
          <a:stretch>
            <a:fillRect/>
          </a:stretch>
        </p:blipFill>
        <p:spPr>
          <a:xfrm>
            <a:off x="279991" y="620658"/>
            <a:ext cx="4697722" cy="803716"/>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8"/>
        <p:cNvGrpSpPr/>
        <p:nvPr/>
      </p:nvGrpSpPr>
      <p:grpSpPr>
        <a:xfrm>
          <a:off x="0" y="0"/>
          <a:ext cx="0" cy="0"/>
          <a:chOff x="0" y="0"/>
          <a:chExt cx="0" cy="0"/>
        </a:xfrm>
      </p:grpSpPr>
      <p:pic>
        <p:nvPicPr>
          <p:cNvPr id="89" name="Google Shape;89;p41"/>
          <p:cNvPicPr preferRelativeResize="0"/>
          <p:nvPr/>
        </p:nvPicPr>
        <p:blipFill rotWithShape="1">
          <a:blip r:embed="rId2">
            <a:alphaModFix/>
          </a:blip>
          <a:srcRect/>
          <a:stretch/>
        </p:blipFill>
        <p:spPr>
          <a:xfrm>
            <a:off x="11087100" y="5837237"/>
            <a:ext cx="1104900" cy="1038225"/>
          </a:xfrm>
          <a:prstGeom prst="rect">
            <a:avLst/>
          </a:prstGeom>
          <a:noFill/>
          <a:ln>
            <a:noFill/>
          </a:ln>
        </p:spPr>
      </p:pic>
      <p:sp>
        <p:nvSpPr>
          <p:cNvPr id="90" name="Google Shape;90;p41"/>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pic>
        <p:nvPicPr>
          <p:cNvPr id="3" name="Picture 2" descr="A black and red logo&#10;&#10;Description automatically generated">
            <a:extLst>
              <a:ext uri="{FF2B5EF4-FFF2-40B4-BE49-F238E27FC236}">
                <a16:creationId xmlns:a16="http://schemas.microsoft.com/office/drawing/2014/main" id="{23531A56-D9C3-E1AF-F7D3-ADDFD7687D5B}"/>
              </a:ext>
            </a:extLst>
          </p:cNvPr>
          <p:cNvPicPr>
            <a:picLocks noChangeAspect="1"/>
          </p:cNvPicPr>
          <p:nvPr userDrawn="1"/>
        </p:nvPicPr>
        <p:blipFill>
          <a:blip r:embed="rId3"/>
          <a:stretch>
            <a:fillRect/>
          </a:stretch>
        </p:blipFill>
        <p:spPr>
          <a:xfrm>
            <a:off x="9453019" y="219653"/>
            <a:ext cx="2549174" cy="43612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93"/>
        <p:cNvGrpSpPr/>
        <p:nvPr/>
      </p:nvGrpSpPr>
      <p:grpSpPr>
        <a:xfrm>
          <a:off x="0" y="0"/>
          <a:ext cx="0" cy="0"/>
          <a:chOff x="0" y="0"/>
          <a:chExt cx="0" cy="0"/>
        </a:xfrm>
      </p:grpSpPr>
      <p:pic>
        <p:nvPicPr>
          <p:cNvPr id="94" name="Google Shape;94;p31"/>
          <p:cNvPicPr preferRelativeResize="0"/>
          <p:nvPr/>
        </p:nvPicPr>
        <p:blipFill rotWithShape="1">
          <a:blip r:embed="rId2">
            <a:alphaModFix/>
          </a:blip>
          <a:srcRect/>
          <a:stretch/>
        </p:blipFill>
        <p:spPr>
          <a:xfrm>
            <a:off x="0" y="-59085"/>
            <a:ext cx="12534822" cy="6959104"/>
          </a:xfrm>
          <a:prstGeom prst="rect">
            <a:avLst/>
          </a:prstGeom>
          <a:noFill/>
          <a:ln>
            <a:noFill/>
          </a:ln>
        </p:spPr>
      </p:pic>
      <p:sp>
        <p:nvSpPr>
          <p:cNvPr id="95" name="Google Shape;95;p31"/>
          <p:cNvSpPr txBox="1">
            <a:spLocks noGrp="1"/>
          </p:cNvSpPr>
          <p:nvPr>
            <p:ph type="ctrTitle"/>
          </p:nvPr>
        </p:nvSpPr>
        <p:spPr>
          <a:xfrm>
            <a:off x="2594340" y="3145331"/>
            <a:ext cx="7558961" cy="151558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31"/>
          <p:cNvSpPr txBox="1">
            <a:spLocks noGrp="1"/>
          </p:cNvSpPr>
          <p:nvPr>
            <p:ph type="subTitle" idx="1"/>
          </p:nvPr>
        </p:nvSpPr>
        <p:spPr>
          <a:xfrm>
            <a:off x="2594340" y="4372481"/>
            <a:ext cx="7558961" cy="130083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97" name="Google Shape;97;p31"/>
          <p:cNvPicPr preferRelativeResize="0"/>
          <p:nvPr/>
        </p:nvPicPr>
        <p:blipFill rotWithShape="1">
          <a:blip r:embed="rId3">
            <a:alphaModFix/>
          </a:blip>
          <a:srcRect/>
          <a:stretch/>
        </p:blipFill>
        <p:spPr>
          <a:xfrm>
            <a:off x="10394571" y="1362499"/>
            <a:ext cx="4280502" cy="4258551"/>
          </a:xfrm>
          <a:prstGeom prst="rect">
            <a:avLst/>
          </a:prstGeom>
          <a:noFill/>
          <a:ln>
            <a:noFill/>
          </a:ln>
        </p:spPr>
      </p:pic>
      <p:pic>
        <p:nvPicPr>
          <p:cNvPr id="98" name="Google Shape;98;p31"/>
          <p:cNvPicPr preferRelativeResize="0"/>
          <p:nvPr/>
        </p:nvPicPr>
        <p:blipFill rotWithShape="1">
          <a:blip r:embed="rId3">
            <a:alphaModFix/>
          </a:blip>
          <a:srcRect/>
          <a:stretch/>
        </p:blipFill>
        <p:spPr>
          <a:xfrm>
            <a:off x="-2241803" y="1422897"/>
            <a:ext cx="4280502" cy="4258551"/>
          </a:xfrm>
          <a:prstGeom prst="rect">
            <a:avLst/>
          </a:prstGeom>
          <a:noFill/>
          <a:ln>
            <a:noFill/>
          </a:ln>
        </p:spPr>
      </p:pic>
      <p:pic>
        <p:nvPicPr>
          <p:cNvPr id="3" name="Picture 2" descr="A black and white logo with red letters&#10;&#10;Description automatically generated">
            <a:extLst>
              <a:ext uri="{FF2B5EF4-FFF2-40B4-BE49-F238E27FC236}">
                <a16:creationId xmlns:a16="http://schemas.microsoft.com/office/drawing/2014/main" id="{D5439C6C-C6E6-A867-5355-0680D1B6AA06}"/>
              </a:ext>
            </a:extLst>
          </p:cNvPr>
          <p:cNvPicPr>
            <a:picLocks noChangeAspect="1"/>
          </p:cNvPicPr>
          <p:nvPr userDrawn="1"/>
        </p:nvPicPr>
        <p:blipFill>
          <a:blip r:embed="rId4"/>
          <a:stretch>
            <a:fillRect/>
          </a:stretch>
        </p:blipFill>
        <p:spPr>
          <a:xfrm>
            <a:off x="3232727" y="1184685"/>
            <a:ext cx="6577019" cy="1125237"/>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00"/>
        <p:cNvGrpSpPr/>
        <p:nvPr/>
      </p:nvGrpSpPr>
      <p:grpSpPr>
        <a:xfrm>
          <a:off x="0" y="0"/>
          <a:ext cx="0" cy="0"/>
          <a:chOff x="0" y="0"/>
          <a:chExt cx="0" cy="0"/>
        </a:xfrm>
      </p:grpSpPr>
      <p:pic>
        <p:nvPicPr>
          <p:cNvPr id="101" name="Google Shape;101;p33"/>
          <p:cNvPicPr preferRelativeResize="0"/>
          <p:nvPr/>
        </p:nvPicPr>
        <p:blipFill rotWithShape="1">
          <a:blip r:embed="rId2">
            <a:alphaModFix/>
          </a:blip>
          <a:srcRect/>
          <a:stretch/>
        </p:blipFill>
        <p:spPr>
          <a:xfrm>
            <a:off x="-160713" y="0"/>
            <a:ext cx="12352713" cy="6858000"/>
          </a:xfrm>
          <a:prstGeom prst="rect">
            <a:avLst/>
          </a:prstGeom>
          <a:noFill/>
          <a:ln>
            <a:noFill/>
          </a:ln>
        </p:spPr>
      </p:pic>
      <p:sp>
        <p:nvSpPr>
          <p:cNvPr id="102" name="Google Shape;102;p33"/>
          <p:cNvSpPr txBox="1">
            <a:spLocks noGrp="1"/>
          </p:cNvSpPr>
          <p:nvPr>
            <p:ph type="title"/>
          </p:nvPr>
        </p:nvSpPr>
        <p:spPr>
          <a:xfrm rot="5400000">
            <a:off x="-1225840" y="973773"/>
            <a:ext cx="4164099" cy="18454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Montserrat Black"/>
              <a:buNone/>
              <a:defRPr sz="6000" b="1">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04" name="Google Shape;104;p33"/>
          <p:cNvSpPr txBox="1">
            <a:spLocks noGrp="1"/>
          </p:cNvSpPr>
          <p:nvPr>
            <p:ph type="body" idx="1"/>
          </p:nvPr>
        </p:nvSpPr>
        <p:spPr>
          <a:xfrm>
            <a:off x="2394064" y="2759840"/>
            <a:ext cx="1122220"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33"/>
          <p:cNvSpPr txBox="1">
            <a:spLocks noGrp="1"/>
          </p:cNvSpPr>
          <p:nvPr>
            <p:ph type="body" idx="2"/>
          </p:nvPr>
        </p:nvSpPr>
        <p:spPr>
          <a:xfrm>
            <a:off x="3516284" y="28884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33"/>
          <p:cNvSpPr txBox="1">
            <a:spLocks noGrp="1"/>
          </p:cNvSpPr>
          <p:nvPr>
            <p:ph type="body" idx="3"/>
          </p:nvPr>
        </p:nvSpPr>
        <p:spPr>
          <a:xfrm>
            <a:off x="2310942" y="4349625"/>
            <a:ext cx="1205342"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33"/>
          <p:cNvSpPr txBox="1">
            <a:spLocks noGrp="1"/>
          </p:cNvSpPr>
          <p:nvPr>
            <p:ph type="body" idx="4"/>
          </p:nvPr>
        </p:nvSpPr>
        <p:spPr>
          <a:xfrm>
            <a:off x="3516284"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33"/>
          <p:cNvSpPr txBox="1">
            <a:spLocks noGrp="1"/>
          </p:cNvSpPr>
          <p:nvPr>
            <p:ph type="body" idx="5"/>
          </p:nvPr>
        </p:nvSpPr>
        <p:spPr>
          <a:xfrm>
            <a:off x="7245926" y="2759840"/>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33"/>
          <p:cNvSpPr txBox="1">
            <a:spLocks noGrp="1"/>
          </p:cNvSpPr>
          <p:nvPr>
            <p:ph type="body" idx="6"/>
          </p:nvPr>
        </p:nvSpPr>
        <p:spPr>
          <a:xfrm>
            <a:off x="8448502" y="2888427"/>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p33"/>
          <p:cNvSpPr txBox="1">
            <a:spLocks noGrp="1"/>
          </p:cNvSpPr>
          <p:nvPr>
            <p:ph type="body" idx="7"/>
          </p:nvPr>
        </p:nvSpPr>
        <p:spPr>
          <a:xfrm>
            <a:off x="7245926" y="4349625"/>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33"/>
          <p:cNvSpPr txBox="1">
            <a:spLocks noGrp="1"/>
          </p:cNvSpPr>
          <p:nvPr>
            <p:ph type="body" idx="8"/>
          </p:nvPr>
        </p:nvSpPr>
        <p:spPr>
          <a:xfrm>
            <a:off x="8448502"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33"/>
          <p:cNvSpPr txBox="1">
            <a:spLocks noGrp="1"/>
          </p:cNvSpPr>
          <p:nvPr>
            <p:ph type="body" idx="9"/>
          </p:nvPr>
        </p:nvSpPr>
        <p:spPr>
          <a:xfrm>
            <a:off x="3516283" y="3284445"/>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33"/>
          <p:cNvSpPr txBox="1">
            <a:spLocks noGrp="1"/>
          </p:cNvSpPr>
          <p:nvPr>
            <p:ph type="body" idx="13"/>
          </p:nvPr>
        </p:nvSpPr>
        <p:spPr>
          <a:xfrm>
            <a:off x="3516283" y="4874231"/>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33"/>
          <p:cNvSpPr txBox="1">
            <a:spLocks noGrp="1"/>
          </p:cNvSpPr>
          <p:nvPr>
            <p:ph type="body" idx="14"/>
          </p:nvPr>
        </p:nvSpPr>
        <p:spPr>
          <a:xfrm>
            <a:off x="8448501" y="3284444"/>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33"/>
          <p:cNvSpPr txBox="1">
            <a:spLocks noGrp="1"/>
          </p:cNvSpPr>
          <p:nvPr>
            <p:ph type="body" idx="15"/>
          </p:nvPr>
        </p:nvSpPr>
        <p:spPr>
          <a:xfrm>
            <a:off x="8448500" y="48937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white logo with red letters&#10;&#10;Description automatically generated">
            <a:extLst>
              <a:ext uri="{FF2B5EF4-FFF2-40B4-BE49-F238E27FC236}">
                <a16:creationId xmlns:a16="http://schemas.microsoft.com/office/drawing/2014/main" id="{90038E1B-6286-91BE-4584-B33E73761237}"/>
              </a:ext>
            </a:extLst>
          </p:cNvPr>
          <p:cNvPicPr>
            <a:picLocks noChangeAspect="1"/>
          </p:cNvPicPr>
          <p:nvPr userDrawn="1"/>
        </p:nvPicPr>
        <p:blipFill>
          <a:blip r:embed="rId3"/>
          <a:stretch>
            <a:fillRect/>
          </a:stretch>
        </p:blipFill>
        <p:spPr>
          <a:xfrm>
            <a:off x="8517542" y="261281"/>
            <a:ext cx="3504736" cy="599612"/>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17"/>
        <p:cNvGrpSpPr/>
        <p:nvPr/>
      </p:nvGrpSpPr>
      <p:grpSpPr>
        <a:xfrm>
          <a:off x="0" y="0"/>
          <a:ext cx="0" cy="0"/>
          <a:chOff x="0" y="0"/>
          <a:chExt cx="0" cy="0"/>
        </a:xfrm>
      </p:grpSpPr>
      <p:sp>
        <p:nvSpPr>
          <p:cNvPr id="118" name="Google Shape;118;p45"/>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19" name="Google Shape;119;p45"/>
          <p:cNvPicPr preferRelativeResize="0"/>
          <p:nvPr/>
        </p:nvPicPr>
        <p:blipFill rotWithShape="1">
          <a:blip r:embed="rId2">
            <a:alphaModFix/>
          </a:blip>
          <a:srcRect/>
          <a:stretch/>
        </p:blipFill>
        <p:spPr>
          <a:xfrm>
            <a:off x="11087100" y="5837237"/>
            <a:ext cx="1104900" cy="1038225"/>
          </a:xfrm>
          <a:prstGeom prst="rect">
            <a:avLst/>
          </a:prstGeom>
          <a:noFill/>
          <a:ln>
            <a:noFill/>
          </a:ln>
        </p:spPr>
      </p:pic>
      <p:pic>
        <p:nvPicPr>
          <p:cNvPr id="120" name="Google Shape;120;p45"/>
          <p:cNvPicPr preferRelativeResize="0"/>
          <p:nvPr/>
        </p:nvPicPr>
        <p:blipFill rotWithShape="1">
          <a:blip r:embed="rId3">
            <a:alphaModFix/>
          </a:blip>
          <a:srcRect/>
          <a:stretch/>
        </p:blipFill>
        <p:spPr>
          <a:xfrm>
            <a:off x="838200" y="0"/>
            <a:ext cx="2860964" cy="315884"/>
          </a:xfrm>
          <a:prstGeom prst="rect">
            <a:avLst/>
          </a:prstGeom>
          <a:noFill/>
          <a:ln>
            <a:noFill/>
          </a:ln>
        </p:spPr>
      </p:pic>
      <p:sp>
        <p:nvSpPr>
          <p:cNvPr id="121" name="Google Shape;121;p45"/>
          <p:cNvSpPr txBox="1">
            <a:spLocks noGrp="1"/>
          </p:cNvSpPr>
          <p:nvPr>
            <p:ph type="sldNum" idx="12"/>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22" name="Google Shape;122;p45"/>
          <p:cNvSpPr txBox="1">
            <a:spLocks noGrp="1"/>
          </p:cNvSpPr>
          <p:nvPr>
            <p:ph type="body" idx="1"/>
          </p:nvPr>
        </p:nvSpPr>
        <p:spPr>
          <a:xfrm>
            <a:off x="838200" y="1680599"/>
            <a:ext cx="10641676" cy="504087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Courier New"/>
              <a:buChar char="o"/>
              <a:defRPr sz="1600"/>
            </a:lvl2pPr>
            <a:lvl3pPr marL="1371600" lvl="2" indent="-330200" algn="l">
              <a:lnSpc>
                <a:spcPct val="90000"/>
              </a:lnSpc>
              <a:spcBef>
                <a:spcPts val="500"/>
              </a:spcBef>
              <a:spcAft>
                <a:spcPts val="0"/>
              </a:spcAft>
              <a:buClr>
                <a:srgbClr val="C00000"/>
              </a:buClr>
              <a:buSzPts val="1600"/>
              <a:buChar char="•"/>
              <a:defRPr sz="1600"/>
            </a:lvl3pPr>
            <a:lvl4pPr marL="1828800" lvl="3" indent="-330200" algn="l">
              <a:lnSpc>
                <a:spcPct val="90000"/>
              </a:lnSpc>
              <a:spcBef>
                <a:spcPts val="500"/>
              </a:spcBef>
              <a:spcAft>
                <a:spcPts val="0"/>
              </a:spcAft>
              <a:buClr>
                <a:srgbClr val="C00000"/>
              </a:buClr>
              <a:buSzPts val="1600"/>
              <a:buChar char="•"/>
              <a:defRPr sz="1600"/>
            </a:lvl4pPr>
            <a:lvl5pPr marL="2286000" lvl="4" indent="-330200" algn="l">
              <a:lnSpc>
                <a:spcPct val="90000"/>
              </a:lnSpc>
              <a:spcBef>
                <a:spcPts val="500"/>
              </a:spcBef>
              <a:spcAft>
                <a:spcPts val="0"/>
              </a:spcAft>
              <a:buClr>
                <a:srgbClr val="C00000"/>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551CDB11-DCEB-AD1C-988C-22C79E587A94}"/>
              </a:ext>
            </a:extLst>
          </p:cNvPr>
          <p:cNvPicPr>
            <a:picLocks noChangeAspect="1"/>
          </p:cNvPicPr>
          <p:nvPr userDrawn="1"/>
        </p:nvPicPr>
        <p:blipFill>
          <a:blip r:embed="rId4"/>
          <a:stretch>
            <a:fillRect/>
          </a:stretch>
        </p:blipFill>
        <p:spPr>
          <a:xfrm>
            <a:off x="9656157" y="308458"/>
            <a:ext cx="2346036" cy="4013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24"/>
        <p:cNvGrpSpPr/>
        <p:nvPr/>
      </p:nvGrpSpPr>
      <p:grpSpPr>
        <a:xfrm>
          <a:off x="0" y="0"/>
          <a:ext cx="0" cy="0"/>
          <a:chOff x="0" y="0"/>
          <a:chExt cx="0" cy="0"/>
        </a:xfrm>
      </p:grpSpPr>
      <p:sp>
        <p:nvSpPr>
          <p:cNvPr id="125" name="Google Shape;125;p46"/>
          <p:cNvSpPr txBox="1">
            <a:spLocks noGrp="1"/>
          </p:cNvSpPr>
          <p:nvPr>
            <p:ph type="body" idx="1"/>
          </p:nvPr>
        </p:nvSpPr>
        <p:spPr>
          <a:xfrm>
            <a:off x="1695999" y="1566639"/>
            <a:ext cx="3175259"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6" name="Google Shape;126;p46"/>
          <p:cNvSpPr txBox="1">
            <a:spLocks noGrp="1"/>
          </p:cNvSpPr>
          <p:nvPr>
            <p:ph type="body" idx="2"/>
          </p:nvPr>
        </p:nvSpPr>
        <p:spPr>
          <a:xfrm>
            <a:off x="7176164" y="1566639"/>
            <a:ext cx="3175260"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pic>
        <p:nvPicPr>
          <p:cNvPr id="127" name="Google Shape;127;p46"/>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128" name="Google Shape;128;p46"/>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129" name="Google Shape;129;p46"/>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130" name="Google Shape;130;p46"/>
          <p:cNvSpPr/>
          <p:nvPr/>
        </p:nvSpPr>
        <p:spPr>
          <a:xfrm>
            <a:off x="2199884" y="2284225"/>
            <a:ext cx="2307266" cy="53163"/>
          </a:xfrm>
          <a:prstGeom prst="rect">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31" name="Google Shape;131;p46"/>
          <p:cNvSpPr/>
          <p:nvPr/>
        </p:nvSpPr>
        <p:spPr>
          <a:xfrm>
            <a:off x="7610161" y="2337388"/>
            <a:ext cx="2307266" cy="53163"/>
          </a:xfrm>
          <a:prstGeom prst="rect">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32" name="Google Shape;132;p46"/>
          <p:cNvSpPr txBox="1">
            <a:spLocks noGrp="1"/>
          </p:cNvSpPr>
          <p:nvPr>
            <p:ph type="body" idx="3"/>
          </p:nvPr>
        </p:nvSpPr>
        <p:spPr>
          <a:xfrm>
            <a:off x="838200" y="2524124"/>
            <a:ext cx="5063836" cy="383222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3" name="Google Shape;133;p46"/>
          <p:cNvSpPr txBox="1">
            <a:spLocks noGrp="1"/>
          </p:cNvSpPr>
          <p:nvPr>
            <p:ph type="body" idx="4"/>
          </p:nvPr>
        </p:nvSpPr>
        <p:spPr>
          <a:xfrm>
            <a:off x="6137734" y="2524123"/>
            <a:ext cx="5063836" cy="383222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p46"/>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F22D559F-F5D7-697E-052B-2498695D66EE}"/>
              </a:ext>
            </a:extLst>
          </p:cNvPr>
          <p:cNvPicPr>
            <a:picLocks noChangeAspect="1"/>
          </p:cNvPicPr>
          <p:nvPr userDrawn="1"/>
        </p:nvPicPr>
        <p:blipFill>
          <a:blip r:embed="rId4"/>
          <a:stretch>
            <a:fillRect/>
          </a:stretch>
        </p:blipFill>
        <p:spPr>
          <a:xfrm>
            <a:off x="9770915" y="291683"/>
            <a:ext cx="2274573" cy="389148"/>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36"/>
        <p:cNvGrpSpPr/>
        <p:nvPr/>
      </p:nvGrpSpPr>
      <p:grpSpPr>
        <a:xfrm>
          <a:off x="0" y="0"/>
          <a:ext cx="0" cy="0"/>
          <a:chOff x="0" y="0"/>
          <a:chExt cx="0" cy="0"/>
        </a:xfrm>
      </p:grpSpPr>
      <p:sp>
        <p:nvSpPr>
          <p:cNvPr id="137" name="Google Shape;137;p47"/>
          <p:cNvSpPr txBox="1">
            <a:spLocks noGrp="1"/>
          </p:cNvSpPr>
          <p:nvPr>
            <p:ph type="body" idx="1"/>
          </p:nvPr>
        </p:nvSpPr>
        <p:spPr>
          <a:xfrm>
            <a:off x="838199" y="3672580"/>
            <a:ext cx="3932237" cy="140505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600"/>
              <a:buNone/>
              <a:defRPr sz="16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138" name="Google Shape;138;p47"/>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139" name="Google Shape;139;p47"/>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140" name="Google Shape;140;p47"/>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141" name="Google Shape;141;p47"/>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2800"/>
              <a:buNone/>
              <a:defRPr sz="28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2" name="Google Shape;142;p47"/>
          <p:cNvSpPr txBox="1">
            <a:spLocks noGrp="1"/>
          </p:cNvSpPr>
          <p:nvPr>
            <p:ph type="body" idx="3"/>
          </p:nvPr>
        </p:nvSpPr>
        <p:spPr>
          <a:xfrm>
            <a:off x="5170488" y="1346200"/>
            <a:ext cx="6375400" cy="488791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C00000"/>
              </a:buClr>
              <a:buSzPts val="2800"/>
              <a:buChar char="•"/>
              <a:defRPr/>
            </a:lvl1pPr>
            <a:lvl2pPr marL="914400" lvl="1" indent="-381000" algn="l">
              <a:lnSpc>
                <a:spcPct val="90000"/>
              </a:lnSpc>
              <a:spcBef>
                <a:spcPts val="500"/>
              </a:spcBef>
              <a:spcAft>
                <a:spcPts val="0"/>
              </a:spcAft>
              <a:buClr>
                <a:srgbClr val="C00000"/>
              </a:buClr>
              <a:buSzPts val="2400"/>
              <a:buChar char="•"/>
              <a:defRPr/>
            </a:lvl2pPr>
            <a:lvl3pPr marL="1371600" lvl="2" indent="-355600" algn="l">
              <a:lnSpc>
                <a:spcPct val="90000"/>
              </a:lnSpc>
              <a:spcBef>
                <a:spcPts val="500"/>
              </a:spcBef>
              <a:spcAft>
                <a:spcPts val="0"/>
              </a:spcAft>
              <a:buClr>
                <a:srgbClr val="C00000"/>
              </a:buClr>
              <a:buSzPts val="20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rgbClr val="C0000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E83F87B7-2ACC-D5DC-10AF-DFB19E33836A}"/>
              </a:ext>
            </a:extLst>
          </p:cNvPr>
          <p:cNvPicPr>
            <a:picLocks noChangeAspect="1"/>
          </p:cNvPicPr>
          <p:nvPr userDrawn="1"/>
        </p:nvPicPr>
        <p:blipFill>
          <a:blip r:embed="rId4"/>
          <a:stretch>
            <a:fillRect/>
          </a:stretch>
        </p:blipFill>
        <p:spPr>
          <a:xfrm>
            <a:off x="9914696" y="157942"/>
            <a:ext cx="2087497" cy="35714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44"/>
        <p:cNvGrpSpPr/>
        <p:nvPr/>
      </p:nvGrpSpPr>
      <p:grpSpPr>
        <a:xfrm>
          <a:off x="0" y="0"/>
          <a:ext cx="0" cy="0"/>
          <a:chOff x="0" y="0"/>
          <a:chExt cx="0" cy="0"/>
        </a:xfrm>
      </p:grpSpPr>
      <p:sp>
        <p:nvSpPr>
          <p:cNvPr id="145" name="Google Shape;145;p4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ontserrat"/>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8"/>
          <p:cNvSpPr>
            <a:spLocks noGrp="1"/>
          </p:cNvSpPr>
          <p:nvPr>
            <p:ph type="pic" idx="2"/>
          </p:nvPr>
        </p:nvSpPr>
        <p:spPr>
          <a:xfrm>
            <a:off x="5183188" y="987425"/>
            <a:ext cx="6172200" cy="4873625"/>
          </a:xfrm>
          <a:prstGeom prst="rect">
            <a:avLst/>
          </a:prstGeom>
          <a:noFill/>
          <a:ln>
            <a:noFill/>
          </a:ln>
        </p:spPr>
      </p:sp>
      <p:sp>
        <p:nvSpPr>
          <p:cNvPr id="147" name="Google Shape;147;p4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8" name="Google Shape;148;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50" name="Google Shape;15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1"/>
        <p:cNvGrpSpPr/>
        <p:nvPr/>
      </p:nvGrpSpPr>
      <p:grpSpPr>
        <a:xfrm>
          <a:off x="0" y="0"/>
          <a:ext cx="0" cy="0"/>
          <a:chOff x="0" y="0"/>
          <a:chExt cx="0" cy="0"/>
        </a:xfrm>
      </p:grpSpPr>
      <p:sp>
        <p:nvSpPr>
          <p:cNvPr id="152" name="Google Shape;152;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7"/>
        <p:cNvGrpSpPr/>
        <p:nvPr/>
      </p:nvGrpSpPr>
      <p:grpSpPr>
        <a:xfrm>
          <a:off x="0" y="0"/>
          <a:ext cx="0" cy="0"/>
          <a:chOff x="0" y="0"/>
          <a:chExt cx="0" cy="0"/>
        </a:xfrm>
      </p:grpSpPr>
      <p:sp>
        <p:nvSpPr>
          <p:cNvPr id="158" name="Google Shape;158;p5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5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3"/>
        <p:cNvGrpSpPr/>
        <p:nvPr/>
      </p:nvGrpSpPr>
      <p:grpSpPr>
        <a:xfrm>
          <a:off x="0" y="0"/>
          <a:ext cx="0" cy="0"/>
          <a:chOff x="0" y="0"/>
          <a:chExt cx="0" cy="0"/>
        </a:xfrm>
      </p:grpSpPr>
      <p:cxnSp>
        <p:nvCxnSpPr>
          <p:cNvPr id="164" name="Google Shape;164;g128e061f2de_0_109"/>
          <p:cNvCxnSpPr/>
          <p:nvPr/>
        </p:nvCxnSpPr>
        <p:spPr>
          <a:xfrm>
            <a:off x="575800" y="6322471"/>
            <a:ext cx="11040300" cy="0"/>
          </a:xfrm>
          <a:prstGeom prst="straightConnector1">
            <a:avLst/>
          </a:prstGeom>
          <a:noFill/>
          <a:ln w="9525" cap="flat" cmpd="sng">
            <a:solidFill>
              <a:srgbClr val="C6C5C5"/>
            </a:solidFill>
            <a:prstDash val="dot"/>
            <a:round/>
            <a:headEnd type="none" w="sm" len="sm"/>
            <a:tailEnd type="none" w="sm" len="sm"/>
          </a:ln>
        </p:spPr>
      </p:cxnSp>
      <p:sp>
        <p:nvSpPr>
          <p:cNvPr id="165" name="Google Shape;165;g128e061f2de_0_109"/>
          <p:cNvSpPr txBox="1">
            <a:spLocks noGrp="1"/>
          </p:cNvSpPr>
          <p:nvPr>
            <p:ph type="title"/>
          </p:nvPr>
        </p:nvSpPr>
        <p:spPr>
          <a:xfrm>
            <a:off x="415600" y="284933"/>
            <a:ext cx="11360700" cy="620700"/>
          </a:xfrm>
          <a:prstGeom prst="rect">
            <a:avLst/>
          </a:prstGeom>
          <a:noFill/>
          <a:ln>
            <a:noFill/>
          </a:ln>
        </p:spPr>
        <p:txBody>
          <a:bodyPr spcFirstLastPara="1" wrap="square" lIns="121900" tIns="121900" rIns="121900" bIns="121900" anchor="t" anchorCtr="0">
            <a:noAutofit/>
          </a:bodyPr>
          <a:lstStyle>
            <a:lvl1pPr lvl="0" algn="l" rtl="0">
              <a:lnSpc>
                <a:spcPct val="100000"/>
              </a:lnSpc>
              <a:spcBef>
                <a:spcPts val="0"/>
              </a:spcBef>
              <a:spcAft>
                <a:spcPts val="0"/>
              </a:spcAft>
              <a:buClr>
                <a:srgbClr val="566579"/>
              </a:buClr>
              <a:buSzPts val="3700"/>
              <a:buFont typeface="Trebuchet MS"/>
              <a:buNone/>
              <a:defRPr>
                <a:solidFill>
                  <a:srgbClr val="566579"/>
                </a:solidFill>
                <a:latin typeface="Trebuchet MS"/>
                <a:ea typeface="Trebuchet MS"/>
                <a:cs typeface="Trebuchet MS"/>
                <a:sym typeface="Trebuchet MS"/>
              </a:defRPr>
            </a:lvl1pPr>
            <a:lvl2pPr lvl="1" algn="l" rtl="0">
              <a:lnSpc>
                <a:spcPct val="100000"/>
              </a:lnSpc>
              <a:spcBef>
                <a:spcPts val="0"/>
              </a:spcBef>
              <a:spcAft>
                <a:spcPts val="0"/>
              </a:spcAft>
              <a:buSzPts val="3700"/>
              <a:buNone/>
              <a:defRPr/>
            </a:lvl2pPr>
            <a:lvl3pPr lvl="2" algn="l" rtl="0">
              <a:lnSpc>
                <a:spcPct val="100000"/>
              </a:lnSpc>
              <a:spcBef>
                <a:spcPts val="0"/>
              </a:spcBef>
              <a:spcAft>
                <a:spcPts val="0"/>
              </a:spcAft>
              <a:buSzPts val="3700"/>
              <a:buNone/>
              <a:defRPr/>
            </a:lvl3pPr>
            <a:lvl4pPr lvl="3" algn="l" rtl="0">
              <a:lnSpc>
                <a:spcPct val="100000"/>
              </a:lnSpc>
              <a:spcBef>
                <a:spcPts val="0"/>
              </a:spcBef>
              <a:spcAft>
                <a:spcPts val="0"/>
              </a:spcAft>
              <a:buSzPts val="3700"/>
              <a:buNone/>
              <a:defRPr/>
            </a:lvl4pPr>
            <a:lvl5pPr lvl="4" algn="l" rtl="0">
              <a:lnSpc>
                <a:spcPct val="100000"/>
              </a:lnSpc>
              <a:spcBef>
                <a:spcPts val="0"/>
              </a:spcBef>
              <a:spcAft>
                <a:spcPts val="0"/>
              </a:spcAft>
              <a:buSzPts val="3700"/>
              <a:buNone/>
              <a:defRPr/>
            </a:lvl5pPr>
            <a:lvl6pPr lvl="5" algn="l" rtl="0">
              <a:lnSpc>
                <a:spcPct val="100000"/>
              </a:lnSpc>
              <a:spcBef>
                <a:spcPts val="0"/>
              </a:spcBef>
              <a:spcAft>
                <a:spcPts val="0"/>
              </a:spcAft>
              <a:buSzPts val="3700"/>
              <a:buNone/>
              <a:defRPr/>
            </a:lvl6pPr>
            <a:lvl7pPr lvl="6" algn="l" rtl="0">
              <a:lnSpc>
                <a:spcPct val="100000"/>
              </a:lnSpc>
              <a:spcBef>
                <a:spcPts val="0"/>
              </a:spcBef>
              <a:spcAft>
                <a:spcPts val="0"/>
              </a:spcAft>
              <a:buSzPts val="3700"/>
              <a:buNone/>
              <a:defRPr/>
            </a:lvl7pPr>
            <a:lvl8pPr lvl="7" algn="l" rtl="0">
              <a:lnSpc>
                <a:spcPct val="100000"/>
              </a:lnSpc>
              <a:spcBef>
                <a:spcPts val="0"/>
              </a:spcBef>
              <a:spcAft>
                <a:spcPts val="0"/>
              </a:spcAft>
              <a:buSzPts val="3700"/>
              <a:buNone/>
              <a:defRPr/>
            </a:lvl8pPr>
            <a:lvl9pPr lvl="8" algn="l" rtl="0">
              <a:lnSpc>
                <a:spcPct val="100000"/>
              </a:lnSpc>
              <a:spcBef>
                <a:spcPts val="0"/>
              </a:spcBef>
              <a:spcAft>
                <a:spcPts val="0"/>
              </a:spcAft>
              <a:buSzPts val="3700"/>
              <a:buNone/>
              <a:defRPr/>
            </a:lvl9pPr>
          </a:lstStyle>
          <a:p>
            <a:endParaRPr/>
          </a:p>
        </p:txBody>
      </p:sp>
      <p:cxnSp>
        <p:nvCxnSpPr>
          <p:cNvPr id="166" name="Google Shape;166;g128e061f2de_0_109"/>
          <p:cNvCxnSpPr/>
          <p:nvPr/>
        </p:nvCxnSpPr>
        <p:spPr>
          <a:xfrm>
            <a:off x="575800" y="1002333"/>
            <a:ext cx="11040300" cy="0"/>
          </a:xfrm>
          <a:prstGeom prst="straightConnector1">
            <a:avLst/>
          </a:prstGeom>
          <a:noFill/>
          <a:ln w="9525" cap="flat" cmpd="sng">
            <a:solidFill>
              <a:srgbClr val="C6C5C5"/>
            </a:solidFill>
            <a:prstDash val="dot"/>
            <a:round/>
            <a:headEnd type="none" w="sm" len="sm"/>
            <a:tailEnd type="none" w="sm" len="sm"/>
          </a:ln>
        </p:spPr>
      </p:cxnSp>
      <p:sp>
        <p:nvSpPr>
          <p:cNvPr id="167" name="Google Shape;167;g128e061f2de_0_109">
            <a:hlinkClick r:id="" action="ppaction://hlinkshowjump?jump=previousslide"/>
          </p:cNvPr>
          <p:cNvSpPr/>
          <p:nvPr/>
        </p:nvSpPr>
        <p:spPr>
          <a:xfrm rot="2700000">
            <a:off x="11348840" y="6420393"/>
            <a:ext cx="113279" cy="113279"/>
          </a:xfrm>
          <a:prstGeom prst="rtTriangle">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8" name="Google Shape;168;g128e061f2de_0_109"/>
          <p:cNvSpPr/>
          <p:nvPr/>
        </p:nvSpPr>
        <p:spPr>
          <a:xfrm>
            <a:off x="579075" y="6315167"/>
            <a:ext cx="506400" cy="232800"/>
          </a:xfrm>
          <a:prstGeom prst="rect">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9" name="Google Shape;169;g128e061f2de_0_109">
            <a:hlinkClick r:id="" action="ppaction://hlinkshowjump?jump=nextslide"/>
          </p:cNvPr>
          <p:cNvSpPr/>
          <p:nvPr/>
        </p:nvSpPr>
        <p:spPr>
          <a:xfrm rot="-8100000">
            <a:off x="11508840" y="6420194"/>
            <a:ext cx="113279" cy="113279"/>
          </a:xfrm>
          <a:prstGeom prst="rtTriangle">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70" name="Google Shape;170;g128e061f2de_0_109"/>
          <p:cNvSpPr txBox="1">
            <a:spLocks noGrp="1"/>
          </p:cNvSpPr>
          <p:nvPr>
            <p:ph type="sldNum" idx="12"/>
          </p:nvPr>
        </p:nvSpPr>
        <p:spPr>
          <a:xfrm>
            <a:off x="579067" y="6315167"/>
            <a:ext cx="506400" cy="232800"/>
          </a:xfrm>
          <a:prstGeom prst="rect">
            <a:avLst/>
          </a:prstGeom>
          <a:noFill/>
          <a:ln>
            <a:noFill/>
          </a:ln>
        </p:spPr>
        <p:txBody>
          <a:bodyPr spcFirstLastPara="1" wrap="square" lIns="121900" tIns="121900" rIns="121900" bIns="121900" anchor="ctr" anchorCtr="0">
            <a:noAutofit/>
          </a:bodyPr>
          <a:lstStyle>
            <a:lvl1pPr marL="0" marR="0" lvl="0"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171" name="Google Shape;171;g128e061f2de_0_109"/>
          <p:cNvSpPr txBox="1"/>
          <p:nvPr/>
        </p:nvSpPr>
        <p:spPr>
          <a:xfrm>
            <a:off x="9204248" y="6246912"/>
            <a:ext cx="2043600" cy="2328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dirty="0">
                <a:solidFill>
                  <a:srgbClr val="C6C5C5"/>
                </a:solidFill>
                <a:latin typeface="Arial"/>
                <a:ea typeface="Arial"/>
                <a:cs typeface="Arial"/>
                <a:sym typeface="Arial"/>
              </a:rPr>
              <a:t>www.companyname.com</a:t>
            </a:r>
            <a:endParaRPr sz="1200" b="0" i="0" u="none" strike="noStrike" cap="none" dirty="0">
              <a:solidFill>
                <a:srgbClr val="C6C5C5"/>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ontserrat"/>
              <a:buNone/>
              <a:defRPr sz="4400" b="0"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ontserrat"/>
                <a:ea typeface="Montserrat"/>
                <a:cs typeface="Montserrat"/>
                <a:sym typeface="Montserra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dirty="0"/>
          </a:p>
        </p:txBody>
      </p:sp>
      <p:sp>
        <p:nvSpPr>
          <p:cNvPr id="12" name="Google Shape;1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9pPr>
          </a:lstStyle>
          <a:p>
            <a:endParaRPr/>
          </a:p>
        </p:txBody>
      </p:sp>
      <p:sp>
        <p:nvSpPr>
          <p:cNvPr id="13" name="Google Shape;1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9pPr>
          </a:lstStyle>
          <a:p>
            <a:endParaRPr/>
          </a:p>
        </p:txBody>
      </p:sp>
      <p:sp>
        <p:nvSpPr>
          <p:cNvPr id="14" name="Google Shape;1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29"/>
          <p:cNvSpPr txBox="1"/>
          <p:nvPr/>
        </p:nvSpPr>
        <p:spPr>
          <a:xfrm>
            <a:off x="1981200" y="6338813"/>
            <a:ext cx="7122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 2024 By BK Fintech- Rikkei Education - All rights reserved.</a:t>
            </a:r>
            <a:endParaRPr sz="1400" b="0" i="0" u="none" strike="noStrike" cap="none" dirty="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11bb26f517d_0_1"/>
          <p:cNvSpPr txBox="1">
            <a:spLocks noGrp="1"/>
          </p:cNvSpPr>
          <p:nvPr>
            <p:ph type="ctrTitle"/>
          </p:nvPr>
        </p:nvSpPr>
        <p:spPr>
          <a:xfrm>
            <a:off x="1691640" y="2423160"/>
            <a:ext cx="6858000" cy="1234440"/>
          </a:xfrm>
          <a:prstGeom prst="rect">
            <a:avLst/>
          </a:prstGeom>
          <a:noFill/>
          <a:ln>
            <a:noFill/>
          </a:ln>
        </p:spPr>
        <p:txBody>
          <a:bodyPr spcFirstLastPara="1" wrap="square" lIns="0" tIns="0" rIns="0" bIns="0" anchor="t" anchorCtr="0">
            <a:noAutofit/>
          </a:bodyPr>
          <a:lstStyle/>
          <a:p>
            <a:pPr>
              <a:spcAft>
                <a:spcPts val="0"/>
              </a:spcAft>
              <a:defRPr sz="2400" b="0">
                <a:solidFill>
                  <a:srgbClr val="000000"/>
                </a:solidFill>
                <a:latin typeface="Arial"/>
              </a:defRPr>
            </a:pPr>
            <a:r>
              <a:t>Xây dựng Data Ingestion từ REST API</a:t>
            </a:r>
          </a:p>
        </p:txBody>
      </p:sp>
      <p:sp>
        <p:nvSpPr>
          <p:cNvPr id="177" name="Google Shape;177;g11bb26f517d_0_1"/>
          <p:cNvSpPr txBox="1">
            <a:spLocks noGrp="1"/>
          </p:cNvSpPr>
          <p:nvPr>
            <p:ph type="subTitle" idx="1"/>
          </p:nvPr>
        </p:nvSpPr>
        <p:spPr>
          <a:xfrm>
            <a:off x="1691640" y="4160520"/>
            <a:ext cx="4389120" cy="292608"/>
          </a:xfrm>
          <a:prstGeom prst="rect">
            <a:avLst/>
          </a:prstGeom>
          <a:noFill/>
          <a:ln>
            <a:noFill/>
          </a:ln>
        </p:spPr>
        <p:txBody>
          <a:bodyPr spcFirstLastPara="1" wrap="square" lIns="0" tIns="0" rIns="0" bIns="0" anchor="t" anchorCtr="0">
            <a:noAutofit/>
          </a:bodyPr>
          <a:lstStyle/>
          <a:p>
            <a:pPr>
              <a:defRPr sz="1350">
                <a:solidFill>
                  <a:srgbClr val="5F6368"/>
                </a:solidFill>
                <a:latin typeface="Arial"/>
              </a:defRPr>
            </a:pPr>
            <a:r>
              <a:t>Phiên bản: 1.0</a:t>
            </a:r>
          </a:p>
        </p:txBody>
      </p:sp>
      <p:sp>
        <p:nvSpPr>
          <p:cNvPr id="178" name="Google Shape;178;g11bb26f517d_0_1"/>
          <p:cNvSpPr txBox="1">
            <a:spLocks noGrp="1"/>
          </p:cNvSpPr>
          <p:nvPr>
            <p:ph type="body" idx="2"/>
          </p:nvPr>
        </p:nvSpPr>
        <p:spPr>
          <a:xfrm>
            <a:off x="1691640" y="1874519"/>
            <a:ext cx="5120640" cy="411480"/>
          </a:xfrm>
          <a:prstGeom prst="rect">
            <a:avLst/>
          </a:prstGeom>
          <a:noFill/>
          <a:ln>
            <a:noFill/>
          </a:ln>
        </p:spPr>
        <p:txBody>
          <a:bodyPr spcFirstLastPara="1" wrap="square" lIns="91425" tIns="45700" rIns="91425" bIns="45700" anchor="t" anchorCtr="0">
            <a:noAutofit/>
          </a:bodyPr>
          <a:lstStyle/>
          <a:p>
            <a:pPr>
              <a:defRPr sz="2300" b="0">
                <a:solidFill>
                  <a:srgbClr val="C5272A"/>
                </a:solidFill>
                <a:latin typeface="Arial"/>
              </a:defRPr>
            </a:pPr>
            <a:r>
              <a:t>BÀI 6:</a:t>
            </a:r>
          </a:p>
        </p:txBody>
      </p:sp>
      <p:sp>
        <p:nvSpPr>
          <p:cNvPr id="179" name="Google Shape;179;g11bb26f517d_0_1"/>
          <p:cNvSpPr txBox="1"/>
          <p:nvPr/>
        </p:nvSpPr>
        <p:spPr>
          <a:xfrm>
            <a:off x="1691640" y="3767328"/>
            <a:ext cx="6492240" cy="329184"/>
          </a:xfrm>
          <a:prstGeom prst="rect">
            <a:avLst/>
          </a:prstGeom>
          <a:noFill/>
          <a:ln>
            <a:noFill/>
          </a:ln>
        </p:spPr>
        <p:txBody>
          <a:bodyPr spcFirstLastPara="1" wrap="square" lIns="0" tIns="0" rIns="0" bIns="0" anchor="t" anchorCtr="0">
            <a:noAutofit/>
          </a:bodyPr>
          <a:lstStyle/>
          <a:p>
            <a:pPr>
              <a:defRPr sz="1350">
                <a:solidFill>
                  <a:srgbClr val="5F6368"/>
                </a:solidFill>
                <a:latin typeface="Arial"/>
              </a:defRPr>
            </a:pPr>
            <a:r>
              <a:t>Module: AI-Native Data Engineering – Data Engineering Foundation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11bac9ab7f9_1_682"/>
          <p:cNvSpPr txBox="1">
            <a:spLocks noGrp="1"/>
          </p:cNvSpPr>
          <p:nvPr>
            <p:ph type="body" idx="1"/>
          </p:nvPr>
        </p:nvSpPr>
        <p:spPr>
          <a:xfrm>
            <a:off x="1651450" y="1261300"/>
            <a:ext cx="9767400" cy="4935600"/>
          </a:xfrm>
          <a:prstGeom prst="rect">
            <a:avLst/>
          </a:prstGeom>
          <a:noFill/>
          <a:ln>
            <a:noFill/>
          </a:ln>
        </p:spPr>
        <p:txBody>
          <a:bodyPr spcFirstLastPara="1" wrap="square" lIns="91425" tIns="45700" rIns="91425" bIns="45700" anchor="t" anchorCtr="0">
            <a:normAutofit/>
          </a:bodyPr>
          <a:lstStyle/>
          <a:p>
            <a:pPr>
              <a:spcAft>
                <a:spcPts val="1200"/>
              </a:spcAft>
              <a:defRPr sz="2200">
                <a:solidFill>
                  <a:srgbClr val="262626"/>
                </a:solidFill>
                <a:latin typeface="Arial"/>
              </a:defRPr>
            </a:pPr>
            <a:r>
              <a:t>1. REST API</a:t>
            </a:r>
          </a:p>
          <a:p>
            <a:pPr>
              <a:spcAft>
                <a:spcPts val="1200"/>
              </a:spcAft>
              <a:defRPr sz="2200">
                <a:solidFill>
                  <a:srgbClr val="262626"/>
                </a:solidFill>
                <a:latin typeface="Arial"/>
              </a:defRPr>
            </a:pPr>
            <a:r>
              <a:t>2. Pagination/incremental</a:t>
            </a:r>
          </a:p>
          <a:p>
            <a:pPr>
              <a:spcAft>
                <a:spcPts val="1200"/>
              </a:spcAft>
              <a:defRPr sz="2200">
                <a:solidFill>
                  <a:srgbClr val="262626"/>
                </a:solidFill>
                <a:latin typeface="Arial"/>
              </a:defRPr>
            </a:pPr>
            <a:r>
              <a:t>3. Upsert/idempotency</a:t>
            </a:r>
          </a:p>
          <a:p>
            <a:pPr>
              <a:spcAft>
                <a:spcPts val="1200"/>
              </a:spcAft>
              <a:defRPr sz="2200">
                <a:solidFill>
                  <a:srgbClr val="262626"/>
                </a:solidFill>
                <a:latin typeface="Arial"/>
              </a:defRPr>
            </a:pPr>
            <a:r>
              <a:t>4. API Ingestion Lab</a:t>
            </a:r>
          </a:p>
        </p:txBody>
      </p:sp>
      <p:sp>
        <p:nvSpPr>
          <p:cNvPr id="185" name="Google Shape;185;g11bac9ab7f9_1_682"/>
          <p:cNvSpPr txBox="1">
            <a:spLocks noGrp="1"/>
          </p:cNvSpPr>
          <p:nvPr>
            <p:ph type="title"/>
          </p:nvPr>
        </p:nvSpPr>
        <p:spPr>
          <a:xfrm rot="5400000">
            <a:off x="-1686375" y="1500953"/>
            <a:ext cx="5085300" cy="1845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6000"/>
              <a:buFont typeface="Montserrat Black"/>
              <a:buNone/>
            </a:pPr>
            <a:r>
              <a:rPr lang="en-US"/>
              <a:t> NỘI DUNG</a:t>
            </a:r>
            <a:endParaRPr/>
          </a:p>
        </p:txBody>
      </p:sp>
      <p:pic>
        <p:nvPicPr>
          <p:cNvPr id="186" name="Google Shape;186;g11bac9ab7f9_1_682"/>
          <p:cNvPicPr preferRelativeResize="0"/>
          <p:nvPr/>
        </p:nvPicPr>
        <p:blipFill rotWithShape="1">
          <a:blip r:embed="rId3">
            <a:alphaModFix/>
          </a:blip>
          <a:srcRect/>
          <a:stretch/>
        </p:blipFill>
        <p:spPr>
          <a:xfrm>
            <a:off x="-1863816" y="5111676"/>
            <a:ext cx="3515280" cy="349264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11bac9ab7f9_1_876"/>
          <p:cNvSpPr txBox="1">
            <a:spLocks noGrp="1"/>
          </p:cNvSpPr>
          <p:nvPr>
            <p:ph type="title"/>
          </p:nvPr>
        </p:nvSpPr>
        <p:spPr>
          <a:xfrm>
            <a:off x="838200" y="509145"/>
            <a:ext cx="8463600" cy="945600"/>
          </a:xfrm>
          <a:prstGeom prst="rect">
            <a:avLst/>
          </a:prstGeom>
          <a:noFill/>
          <a:ln>
            <a:noFill/>
          </a:ln>
        </p:spPr>
        <p:txBody>
          <a:bodyPr spcFirstLastPara="1" wrap="square" lIns="91425" tIns="45700" rIns="91425" bIns="45700" anchor="ctr" anchorCtr="0">
            <a:normAutofit/>
          </a:bodyPr>
          <a:lstStyle/>
          <a:p>
            <a:pPr>
              <a:defRPr sz="2500" b="1">
                <a:solidFill>
                  <a:srgbClr val="C5272A"/>
                </a:solidFill>
                <a:latin typeface="Arial"/>
              </a:defRPr>
            </a:pPr>
            <a:r>
              <a:t>Mục tiêu Buổi 6</a:t>
            </a:r>
          </a:p>
        </p:txBody>
      </p:sp>
      <p:sp>
        <p:nvSpPr>
          <p:cNvPr id="192" name="Google Shape;192;g11bac9ab7f9_1_876"/>
          <p:cNvSpPr txBox="1"/>
          <p:nvPr/>
        </p:nvSpPr>
        <p:spPr>
          <a:xfrm>
            <a:off x="742492" y="1978425"/>
            <a:ext cx="10792200" cy="4019700"/>
          </a:xfrm>
          <a:prstGeom prst="rect">
            <a:avLst/>
          </a:prstGeom>
          <a:noFill/>
          <a:ln>
            <a:noFill/>
          </a:ln>
        </p:spPr>
        <p:txBody>
          <a:bodyPr spcFirstLastPara="1" wrap="square" lIns="91425" tIns="45700" rIns="91425" bIns="45700" anchor="t" anchorCtr="0">
            <a:normAutofit/>
          </a:bodyPr>
          <a:lstStyle/>
          <a:p/>
        </p:txBody>
      </p:sp>
      <p:sp>
        <p:nvSpPr>
          <p:cNvPr id="193" name="Google Shape;193;g11bac9ab7f9_1_876"/>
          <p:cNvSpPr txBox="1"/>
          <p:nvPr/>
        </p:nvSpPr>
        <p:spPr>
          <a:xfrm>
            <a:off x="742500" y="1454750"/>
            <a:ext cx="10671300" cy="461700"/>
          </a:xfrm>
          <a:prstGeom prst="rect">
            <a:avLst/>
          </a:prstGeom>
          <a:noFill/>
          <a:ln>
            <a:noFill/>
          </a:ln>
        </p:spPr>
        <p:txBody>
          <a:bodyPr spcFirstLastPara="1" wrap="square" lIns="91425" tIns="91425" rIns="91425" bIns="91425" anchor="t" anchorCtr="0">
            <a:spAutoFit/>
          </a:bodyPr>
          <a:lstStyle/>
          <a:p/>
        </p:txBody>
      </p:sp>
      <p:sp>
        <p:nvSpPr>
          <p:cNvPr id="194" name="Rounded Rectangle 193"/>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API ingestion</a:t>
            </a:r>
          </a:p>
        </p:txBody>
      </p:sp>
      <p:sp>
        <p:nvSpPr>
          <p:cNvPr id="195" name="Rounded Rectangle 194"/>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Load DB</a:t>
            </a:r>
          </a:p>
        </p:txBody>
      </p:sp>
      <p:sp>
        <p:nvSpPr>
          <p:cNvPr id="196" name="TextBox 195"/>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REST / endpoint / request/response</a:t>
            </a:r>
          </a:p>
          <a:p>
            <a:pPr>
              <a:lnSpc>
                <a:spcPct val="108000"/>
              </a:lnSpc>
              <a:spcAft>
                <a:spcPts val="800"/>
              </a:spcAft>
              <a:defRPr sz="1600">
                <a:solidFill>
                  <a:srgbClr val="262626"/>
                </a:solidFill>
                <a:latin typeface="Arial"/>
              </a:defRPr>
            </a:pPr>
            <a:r>
              <a:t>• Auth / status / timeout</a:t>
            </a:r>
          </a:p>
          <a:p>
            <a:pPr>
              <a:lnSpc>
                <a:spcPct val="108000"/>
              </a:lnSpc>
              <a:spcAft>
                <a:spcPts val="800"/>
              </a:spcAft>
              <a:defRPr sz="1600">
                <a:solidFill>
                  <a:srgbClr val="262626"/>
                </a:solidFill>
                <a:latin typeface="Arial"/>
              </a:defRPr>
            </a:pPr>
            <a:r>
              <a:t>• Pagination</a:t>
            </a:r>
          </a:p>
          <a:p>
            <a:pPr>
              <a:lnSpc>
                <a:spcPct val="108000"/>
              </a:lnSpc>
              <a:spcAft>
                <a:spcPts val="800"/>
              </a:spcAft>
              <a:defRPr sz="1600">
                <a:solidFill>
                  <a:srgbClr val="262626"/>
                </a:solidFill>
                <a:latin typeface="Arial"/>
              </a:defRPr>
            </a:pPr>
            <a:r>
              <a:t>• Full vs incremental</a:t>
            </a:r>
          </a:p>
        </p:txBody>
      </p:sp>
      <p:sp>
        <p:nvSpPr>
          <p:cNvPr id="197" name="TextBox 196"/>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SQLAlchemy / psycopg</a:t>
            </a:r>
          </a:p>
          <a:p>
            <a:pPr>
              <a:lnSpc>
                <a:spcPct val="108000"/>
              </a:lnSpc>
              <a:spcAft>
                <a:spcPts val="800"/>
              </a:spcAft>
              <a:defRPr sz="1600">
                <a:solidFill>
                  <a:srgbClr val="262626"/>
                </a:solidFill>
                <a:latin typeface="Arial"/>
              </a:defRPr>
            </a:pPr>
            <a:r>
              <a:t>• Upsert</a:t>
            </a:r>
          </a:p>
          <a:p>
            <a:pPr>
              <a:lnSpc>
                <a:spcPct val="108000"/>
              </a:lnSpc>
              <a:spcAft>
                <a:spcPts val="800"/>
              </a:spcAft>
              <a:defRPr sz="1600">
                <a:solidFill>
                  <a:srgbClr val="262626"/>
                </a:solidFill>
                <a:latin typeface="Arial"/>
              </a:defRPr>
            </a:pPr>
            <a:r>
              <a:t>• Transaction</a:t>
            </a:r>
          </a:p>
          <a:p>
            <a:pPr>
              <a:lnSpc>
                <a:spcPct val="108000"/>
              </a:lnSpc>
              <a:spcAft>
                <a:spcPts val="800"/>
              </a:spcAft>
              <a:defRPr sz="1600">
                <a:solidFill>
                  <a:srgbClr val="262626"/>
                </a:solidFill>
                <a:latin typeface="Arial"/>
              </a:defRPr>
            </a:pPr>
            <a:r>
              <a:t>• Checkpoint + idempotency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11bac9ab7f9_1_1035"/>
          <p:cNvSpPr txBox="1">
            <a:spLocks noGrp="1"/>
          </p:cNvSpPr>
          <p:nvPr>
            <p:ph type="title"/>
          </p:nvPr>
        </p:nvSpPr>
        <p:spPr>
          <a:xfrm rot="5400000">
            <a:off x="-1686375" y="1500953"/>
            <a:ext cx="5085300" cy="1845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6000"/>
              <a:buFont typeface="Montserrat Black"/>
              <a:buNone/>
            </a:pPr>
            <a:r>
              <a:rPr lang="en-US"/>
              <a:t> TỔNG KẾT</a:t>
            </a:r>
            <a:endParaRPr/>
          </a:p>
        </p:txBody>
      </p:sp>
      <p:pic>
        <p:nvPicPr>
          <p:cNvPr id="199" name="Google Shape;199;g11bac9ab7f9_1_1035"/>
          <p:cNvPicPr preferRelativeResize="0"/>
          <p:nvPr/>
        </p:nvPicPr>
        <p:blipFill rotWithShape="1">
          <a:blip r:embed="rId3">
            <a:alphaModFix/>
          </a:blip>
          <a:srcRect/>
          <a:stretch/>
        </p:blipFill>
        <p:spPr>
          <a:xfrm>
            <a:off x="-1863816" y="5111676"/>
            <a:ext cx="3515280" cy="3492645"/>
          </a:xfrm>
          <a:prstGeom prst="rect">
            <a:avLst/>
          </a:prstGeom>
          <a:noFill/>
          <a:ln>
            <a:noFill/>
          </a:ln>
        </p:spPr>
      </p:pic>
      <p:sp>
        <p:nvSpPr>
          <p:cNvPr id="200" name="Google Shape;200;g11bac9ab7f9_1_1035"/>
          <p:cNvSpPr txBox="1">
            <a:spLocks noGrp="1"/>
          </p:cNvSpPr>
          <p:nvPr>
            <p:ph type="body" idx="1"/>
          </p:nvPr>
        </p:nvSpPr>
        <p:spPr>
          <a:xfrm>
            <a:off x="1651450" y="1261300"/>
            <a:ext cx="9767400" cy="4935600"/>
          </a:xfrm>
          <a:prstGeom prst="rect">
            <a:avLst/>
          </a:prstGeom>
          <a:noFill/>
          <a:ln>
            <a:noFill/>
          </a:ln>
        </p:spPr>
        <p:txBody>
          <a:bodyPr spcFirstLastPara="1" wrap="square" lIns="91425" tIns="45700" rIns="91425" bIns="45700" anchor="t" anchorCtr="0">
            <a:normAutofit/>
          </a:bodyPr>
          <a:lstStyle/>
          <a:p>
            <a:pPr>
              <a:spcAft>
                <a:spcPts val="1200"/>
              </a:spcAft>
              <a:defRPr sz="2100">
                <a:solidFill>
                  <a:srgbClr val="262626"/>
                </a:solidFill>
                <a:latin typeface="Arial"/>
              </a:defRPr>
            </a:pPr>
            <a:r>
              <a:t>1. API ingestion cần timeout/pagination</a:t>
            </a:r>
          </a:p>
          <a:p>
            <a:pPr>
              <a:spcAft>
                <a:spcPts val="1200"/>
              </a:spcAft>
              <a:defRPr sz="2100">
                <a:solidFill>
                  <a:srgbClr val="262626"/>
                </a:solidFill>
                <a:latin typeface="Arial"/>
              </a:defRPr>
            </a:pPr>
            <a:r>
              <a:t>2. Incremental cần checkpoint</a:t>
            </a:r>
          </a:p>
          <a:p>
            <a:pPr>
              <a:spcAft>
                <a:spcPts val="1200"/>
              </a:spcAft>
              <a:defRPr sz="2100">
                <a:solidFill>
                  <a:srgbClr val="262626"/>
                </a:solidFill>
                <a:latin typeface="Arial"/>
              </a:defRPr>
            </a:pPr>
            <a:r>
              <a:t>3. Upsert + unique key hỗ trợ idempotency</a:t>
            </a:r>
          </a:p>
          <a:p>
            <a:pPr>
              <a:spcAft>
                <a:spcPts val="1200"/>
              </a:spcAft>
              <a:defRPr sz="2100">
                <a:solidFill>
                  <a:srgbClr val="262626"/>
                </a:solidFill>
                <a:latin typeface="Arial"/>
              </a:defRPr>
            </a:pPr>
            <a:r>
              <a:t>4. Rerun phải có bằng chứng không duplicate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11bb26f517d_0_162"/>
          <p:cNvSpPr txBox="1">
            <a:spLocks noGrp="1"/>
          </p:cNvSpPr>
          <p:nvPr>
            <p:ph type="ctrTitle"/>
          </p:nvPr>
        </p:nvSpPr>
        <p:spPr>
          <a:xfrm>
            <a:off x="279991" y="3969209"/>
            <a:ext cx="9144000" cy="1464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600"/>
              <a:buFont typeface="Montserrat Black"/>
              <a:buNone/>
            </a:pPr>
            <a:r>
              <a:rPr lang="en-US" dirty="0"/>
              <a:t>KẾT THÚC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API trong Data Engineering</a:t>
            </a:r>
          </a:p>
        </p:txBody>
      </p:sp>
      <p:sp>
        <p:nvSpPr>
          <p:cNvPr id="5" name="Rounded Rectangle 4"/>
          <p:cNvSpPr/>
          <p:nvPr/>
        </p:nvSpPr>
        <p:spPr>
          <a:xfrm>
            <a:off x="777240" y="2240280"/>
            <a:ext cx="1998878"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SOURCE SYSTEM</a:t>
            </a:r>
          </a:p>
          <a:p>
            <a:pPr algn="ctr">
              <a:defRPr sz="1150">
                <a:solidFill>
                  <a:srgbClr val="5F6368"/>
                </a:solidFill>
                <a:latin typeface="Arial"/>
              </a:defRPr>
            </a:pPr>
            <a:r>
              <a:t>E-commerce service</a:t>
            </a:r>
          </a:p>
        </p:txBody>
      </p:sp>
      <p:sp>
        <p:nvSpPr>
          <p:cNvPr id="6" name="Right Arrow 5"/>
          <p:cNvSpPr/>
          <p:nvPr/>
        </p:nvSpPr>
        <p:spPr>
          <a:xfrm>
            <a:off x="2803550"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40710" y="2240280"/>
            <a:ext cx="1998878"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REST API</a:t>
            </a:r>
          </a:p>
          <a:p>
            <a:pPr algn="ctr">
              <a:defRPr sz="1150">
                <a:solidFill>
                  <a:srgbClr val="5F6368"/>
                </a:solidFill>
                <a:latin typeface="Arial"/>
              </a:defRPr>
            </a:pPr>
            <a:r>
              <a:t>JSON pages</a:t>
            </a:r>
          </a:p>
        </p:txBody>
      </p:sp>
      <p:sp>
        <p:nvSpPr>
          <p:cNvPr id="8" name="Right Arrow 7"/>
          <p:cNvSpPr/>
          <p:nvPr/>
        </p:nvSpPr>
        <p:spPr>
          <a:xfrm>
            <a:off x="4967020"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04180" y="2240280"/>
            <a:ext cx="1998878"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PYTHON CLIENT</a:t>
            </a:r>
          </a:p>
          <a:p>
            <a:pPr algn="ctr">
              <a:defRPr sz="1150">
                <a:solidFill>
                  <a:srgbClr val="5F6368"/>
                </a:solidFill>
                <a:latin typeface="Arial"/>
              </a:defRPr>
            </a:pPr>
            <a:r>
              <a:t>requests</a:t>
            </a:r>
          </a:p>
        </p:txBody>
      </p:sp>
      <p:sp>
        <p:nvSpPr>
          <p:cNvPr id="10" name="Right Arrow 9"/>
          <p:cNvSpPr/>
          <p:nvPr/>
        </p:nvSpPr>
        <p:spPr>
          <a:xfrm>
            <a:off x="7130491"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67651" y="2240280"/>
            <a:ext cx="1998878"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RAW</a:t>
            </a:r>
          </a:p>
          <a:p>
            <a:pPr algn="ctr">
              <a:defRPr sz="1150">
                <a:solidFill>
                  <a:srgbClr val="5F6368"/>
                </a:solidFill>
                <a:latin typeface="Arial"/>
              </a:defRPr>
            </a:pPr>
            <a:r>
              <a:t>save response</a:t>
            </a:r>
          </a:p>
        </p:txBody>
      </p:sp>
      <p:sp>
        <p:nvSpPr>
          <p:cNvPr id="12" name="Right Arrow 11"/>
          <p:cNvSpPr/>
          <p:nvPr/>
        </p:nvSpPr>
        <p:spPr>
          <a:xfrm>
            <a:off x="9293961"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31121" y="2240280"/>
            <a:ext cx="1998878"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POSTGRES</a:t>
            </a:r>
          </a:p>
          <a:p>
            <a:pPr algn="ctr">
              <a:defRPr sz="1150">
                <a:solidFill>
                  <a:srgbClr val="5F6368"/>
                </a:solidFill>
                <a:latin typeface="Arial"/>
              </a:defRPr>
            </a:pPr>
            <a:r>
              <a:t>upsert</a:t>
            </a:r>
          </a:p>
        </p:txBody>
      </p:sp>
      <p:sp>
        <p:nvSpPr>
          <p:cNvPr id="14" name="TextBox 13"/>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API là một source; nguyên tắc RAW/STAGING/Data Contract vẫn giữ nguyên.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REST resource &amp; endpoint</a:t>
            </a:r>
          </a:p>
        </p:txBody>
      </p:sp>
      <p:sp>
        <p:nvSpPr>
          <p:cNvPr id="5" name="Rounded Rectangle 4"/>
          <p:cNvSpPr/>
          <p:nvPr/>
        </p:nvSpPr>
        <p:spPr>
          <a:xfrm>
            <a:off x="868680" y="1691640"/>
            <a:ext cx="3337560" cy="1965960"/>
          </a:xfrm>
          <a:prstGeom prst="roundRect">
            <a:avLst/>
          </a:prstGeom>
          <a:solidFill>
            <a:srgbClr val="FFFFFF"/>
          </a:solidFill>
          <a:ln>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GET /customers</a:t>
            </a:r>
          </a:p>
          <a:p>
            <a:pPr>
              <a:defRPr sz="1150">
                <a:solidFill>
                  <a:srgbClr val="262626"/>
                </a:solidFill>
                <a:latin typeface="Arial"/>
              </a:defRPr>
            </a:pPr>
            <a:r>
              <a:t>Customer changes</a:t>
            </a:r>
          </a:p>
        </p:txBody>
      </p:sp>
      <p:sp>
        <p:nvSpPr>
          <p:cNvPr id="6" name="Rounded Rectangle 5"/>
          <p:cNvSpPr/>
          <p:nvPr/>
        </p:nvSpPr>
        <p:spPr>
          <a:xfrm>
            <a:off x="443484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GET /products</a:t>
            </a:r>
          </a:p>
          <a:p>
            <a:pPr>
              <a:defRPr sz="1150">
                <a:solidFill>
                  <a:srgbClr val="262626"/>
                </a:solidFill>
                <a:latin typeface="Arial"/>
              </a:defRPr>
            </a:pPr>
            <a:r>
              <a:t>Catalog changes</a:t>
            </a:r>
          </a:p>
        </p:txBody>
      </p:sp>
      <p:sp>
        <p:nvSpPr>
          <p:cNvPr id="7" name="Rounded Rectangle 6"/>
          <p:cNvSpPr/>
          <p:nvPr/>
        </p:nvSpPr>
        <p:spPr>
          <a:xfrm>
            <a:off x="800100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GET /orders</a:t>
            </a:r>
          </a:p>
          <a:p>
            <a:pPr>
              <a:defRPr sz="1150">
                <a:solidFill>
                  <a:srgbClr val="262626"/>
                </a:solidFill>
                <a:latin typeface="Arial"/>
              </a:defRPr>
            </a:pPr>
            <a:r>
              <a:t>Order events</a:t>
            </a:r>
          </a:p>
        </p:txBody>
      </p:sp>
      <p:sp>
        <p:nvSpPr>
          <p:cNvPr id="8" name="Rounded Rectangle 7"/>
          <p:cNvSpPr/>
          <p:nvPr/>
        </p:nvSpPr>
        <p:spPr>
          <a:xfrm>
            <a:off x="86868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GET /order-items</a:t>
            </a:r>
          </a:p>
          <a:p>
            <a:pPr>
              <a:defRPr sz="1150">
                <a:solidFill>
                  <a:srgbClr val="262626"/>
                </a:solidFill>
                <a:latin typeface="Arial"/>
              </a:defRPr>
            </a:pPr>
            <a:r>
              <a:t>Order lines</a:t>
            </a:r>
          </a:p>
        </p:txBody>
      </p:sp>
      <p:sp>
        <p:nvSpPr>
          <p:cNvPr id="9" name="Rounded Rectangle 8"/>
          <p:cNvSpPr/>
          <p:nvPr/>
        </p:nvSpPr>
        <p:spPr>
          <a:xfrm>
            <a:off x="443484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GET /payments</a:t>
            </a:r>
          </a:p>
          <a:p>
            <a:pPr>
              <a:defRPr sz="1150">
                <a:solidFill>
                  <a:srgbClr val="262626"/>
                </a:solidFill>
                <a:latin typeface="Arial"/>
              </a:defRPr>
            </a:pPr>
            <a:r>
              <a:t>Payment events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Request và Response</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REQUEST</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RESPONSE</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Method: GET</a:t>
            </a:r>
          </a:p>
          <a:p>
            <a:pPr>
              <a:lnSpc>
                <a:spcPct val="108000"/>
              </a:lnSpc>
              <a:spcAft>
                <a:spcPts val="800"/>
              </a:spcAft>
              <a:defRPr sz="1600">
                <a:solidFill>
                  <a:srgbClr val="262626"/>
                </a:solidFill>
                <a:latin typeface="Arial"/>
              </a:defRPr>
            </a:pPr>
            <a:r>
              <a:t>• URL + query params</a:t>
            </a:r>
          </a:p>
          <a:p>
            <a:pPr>
              <a:lnSpc>
                <a:spcPct val="108000"/>
              </a:lnSpc>
              <a:spcAft>
                <a:spcPts val="800"/>
              </a:spcAft>
              <a:defRPr sz="1600">
                <a:solidFill>
                  <a:srgbClr val="262626"/>
                </a:solidFill>
                <a:latin typeface="Arial"/>
              </a:defRPr>
            </a:pPr>
            <a:r>
              <a:t>• Headers: X-API-Key</a:t>
            </a:r>
          </a:p>
          <a:p>
            <a:pPr>
              <a:lnSpc>
                <a:spcPct val="108000"/>
              </a:lnSpc>
              <a:spcAft>
                <a:spcPts val="800"/>
              </a:spcAft>
              <a:defRPr sz="1600">
                <a:solidFill>
                  <a:srgbClr val="262626"/>
                </a:solidFill>
                <a:latin typeface="Arial"/>
              </a:defRPr>
            </a:pPr>
            <a:r>
              <a:t>• Timeout</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HTTP status</a:t>
            </a:r>
          </a:p>
          <a:p>
            <a:pPr>
              <a:lnSpc>
                <a:spcPct val="108000"/>
              </a:lnSpc>
              <a:spcAft>
                <a:spcPts val="800"/>
              </a:spcAft>
              <a:defRPr sz="1600">
                <a:solidFill>
                  <a:srgbClr val="262626"/>
                </a:solidFill>
                <a:latin typeface="Arial"/>
              </a:defRPr>
            </a:pPr>
            <a:r>
              <a:t>• JSON body</a:t>
            </a:r>
          </a:p>
          <a:p>
            <a:pPr>
              <a:lnSpc>
                <a:spcPct val="108000"/>
              </a:lnSpc>
              <a:spcAft>
                <a:spcPts val="800"/>
              </a:spcAft>
              <a:defRPr sz="1600">
                <a:solidFill>
                  <a:srgbClr val="262626"/>
                </a:solidFill>
                <a:latin typeface="Arial"/>
              </a:defRPr>
            </a:pPr>
            <a:r>
              <a:t>• Pagination metadata</a:t>
            </a:r>
          </a:p>
          <a:p>
            <a:pPr>
              <a:lnSpc>
                <a:spcPct val="108000"/>
              </a:lnSpc>
              <a:spcAft>
                <a:spcPts val="800"/>
              </a:spcAft>
              <a:defRPr sz="1600">
                <a:solidFill>
                  <a:srgbClr val="262626"/>
                </a:solidFill>
                <a:latin typeface="Arial"/>
              </a:defRPr>
            </a:pPr>
            <a:r>
              <a:t>• Error payload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HTTP status code cần nhớ</a:t>
            </a:r>
          </a:p>
        </p:txBody>
      </p:sp>
      <p:sp>
        <p:nvSpPr>
          <p:cNvPr id="5" name="Rounded Rectangle 4"/>
          <p:cNvSpPr/>
          <p:nvPr/>
        </p:nvSpPr>
        <p:spPr>
          <a:xfrm>
            <a:off x="868680" y="1691640"/>
            <a:ext cx="3337560" cy="1965960"/>
          </a:xfrm>
          <a:prstGeom prst="roundRect">
            <a:avLst/>
          </a:prstGeom>
          <a:solidFill>
            <a:srgbClr val="FFFFFF"/>
          </a:solidFill>
          <a:ln>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200</a:t>
            </a:r>
          </a:p>
          <a:p>
            <a:pPr>
              <a:defRPr sz="1150">
                <a:solidFill>
                  <a:srgbClr val="262626"/>
                </a:solidFill>
                <a:latin typeface="Arial"/>
              </a:defRPr>
            </a:pPr>
            <a:r>
              <a:t>OK</a:t>
            </a:r>
          </a:p>
        </p:txBody>
      </p:sp>
      <p:sp>
        <p:nvSpPr>
          <p:cNvPr id="6" name="Rounded Rectangle 5"/>
          <p:cNvSpPr/>
          <p:nvPr/>
        </p:nvSpPr>
        <p:spPr>
          <a:xfrm>
            <a:off x="443484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400</a:t>
            </a:r>
          </a:p>
          <a:p>
            <a:pPr>
              <a:defRPr sz="1150">
                <a:solidFill>
                  <a:srgbClr val="262626"/>
                </a:solidFill>
                <a:latin typeface="Arial"/>
              </a:defRPr>
            </a:pPr>
            <a:r>
              <a:t>Bad Request</a:t>
            </a:r>
          </a:p>
        </p:txBody>
      </p:sp>
      <p:sp>
        <p:nvSpPr>
          <p:cNvPr id="7" name="Rounded Rectangle 6"/>
          <p:cNvSpPr/>
          <p:nvPr/>
        </p:nvSpPr>
        <p:spPr>
          <a:xfrm>
            <a:off x="800100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401</a:t>
            </a:r>
          </a:p>
          <a:p>
            <a:pPr>
              <a:defRPr sz="1150">
                <a:solidFill>
                  <a:srgbClr val="262626"/>
                </a:solidFill>
                <a:latin typeface="Arial"/>
              </a:defRPr>
            </a:pPr>
            <a:r>
              <a:t>Unauthorized</a:t>
            </a:r>
          </a:p>
        </p:txBody>
      </p:sp>
      <p:sp>
        <p:nvSpPr>
          <p:cNvPr id="8" name="Rounded Rectangle 7"/>
          <p:cNvSpPr/>
          <p:nvPr/>
        </p:nvSpPr>
        <p:spPr>
          <a:xfrm>
            <a:off x="86868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404</a:t>
            </a:r>
          </a:p>
          <a:p>
            <a:pPr>
              <a:defRPr sz="1150">
                <a:solidFill>
                  <a:srgbClr val="262626"/>
                </a:solidFill>
                <a:latin typeface="Arial"/>
              </a:defRPr>
            </a:pPr>
            <a:r>
              <a:t>Not Found</a:t>
            </a:r>
          </a:p>
        </p:txBody>
      </p:sp>
      <p:sp>
        <p:nvSpPr>
          <p:cNvPr id="9" name="Rounded Rectangle 8"/>
          <p:cNvSpPr/>
          <p:nvPr/>
        </p:nvSpPr>
        <p:spPr>
          <a:xfrm>
            <a:off x="443484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429</a:t>
            </a:r>
          </a:p>
          <a:p>
            <a:pPr>
              <a:defRPr sz="1150">
                <a:solidFill>
                  <a:srgbClr val="262626"/>
                </a:solidFill>
                <a:latin typeface="Arial"/>
              </a:defRPr>
            </a:pPr>
            <a:r>
              <a:t>Rate Limit</a:t>
            </a:r>
          </a:p>
        </p:txBody>
      </p:sp>
      <p:sp>
        <p:nvSpPr>
          <p:cNvPr id="10" name="Rounded Rectangle 9"/>
          <p:cNvSpPr/>
          <p:nvPr/>
        </p:nvSpPr>
        <p:spPr>
          <a:xfrm>
            <a:off x="800100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5xx</a:t>
            </a:r>
          </a:p>
          <a:p>
            <a:pPr>
              <a:defRPr sz="1150">
                <a:solidFill>
                  <a:srgbClr val="262626"/>
                </a:solidFill>
                <a:latin typeface="Arial"/>
              </a:defRPr>
            </a:pPr>
            <a:r>
              <a:t>Server/Transient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Authentication &amp; secret</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headers = {"X-API-Key": os.environ["MOCK_API_KEY"]}</a:t>
            </a:r>
            <a:br/>
            <a:r>
              <a:t>r = requests.get(url, headers=headers, timeout=10)</a:t>
            </a:r>
            <a:br/>
            <a:r>
              <a:t>r.raise_for_status()</a:t>
            </a:r>
            <a:br/>
            <a:br/>
            <a:r>
              <a:t># Không hard-code API key trong Git.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Timeout &amp; Retry</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Timeout</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Retry</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Không chờ vô hạn</a:t>
            </a:r>
          </a:p>
          <a:p>
            <a:pPr>
              <a:lnSpc>
                <a:spcPct val="108000"/>
              </a:lnSpc>
              <a:spcAft>
                <a:spcPts val="800"/>
              </a:spcAft>
              <a:defRPr sz="1600">
                <a:solidFill>
                  <a:srgbClr val="262626"/>
                </a:solidFill>
                <a:latin typeface="Arial"/>
              </a:defRPr>
            </a:pPr>
            <a:r>
              <a:t>• Connect/read có thể khác</a:t>
            </a:r>
          </a:p>
          <a:p>
            <a:pPr>
              <a:lnSpc>
                <a:spcPct val="108000"/>
              </a:lnSpc>
              <a:spcAft>
                <a:spcPts val="800"/>
              </a:spcAft>
              <a:defRPr sz="1600">
                <a:solidFill>
                  <a:srgbClr val="262626"/>
                </a:solidFill>
                <a:latin typeface="Arial"/>
              </a:defRPr>
            </a:pPr>
            <a:r>
              <a:t>• Bắt buộc cho network call</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Chỉ retry transient error</a:t>
            </a:r>
          </a:p>
          <a:p>
            <a:pPr>
              <a:lnSpc>
                <a:spcPct val="108000"/>
              </a:lnSpc>
              <a:spcAft>
                <a:spcPts val="800"/>
              </a:spcAft>
              <a:defRPr sz="1600">
                <a:solidFill>
                  <a:srgbClr val="262626"/>
                </a:solidFill>
                <a:latin typeface="Arial"/>
              </a:defRPr>
            </a:pPr>
            <a:r>
              <a:t>• Exponential backoff</a:t>
            </a:r>
          </a:p>
          <a:p>
            <a:pPr>
              <a:lnSpc>
                <a:spcPct val="108000"/>
              </a:lnSpc>
              <a:spcAft>
                <a:spcPts val="800"/>
              </a:spcAft>
              <a:defRPr sz="1600">
                <a:solidFill>
                  <a:srgbClr val="262626"/>
                </a:solidFill>
                <a:latin typeface="Arial"/>
              </a:defRPr>
            </a:pPr>
            <a:r>
              <a:t>• Giới hạn số lần</a:t>
            </a:r>
          </a:p>
          <a:p>
            <a:pPr>
              <a:lnSpc>
                <a:spcPct val="108000"/>
              </a:lnSpc>
              <a:spcAft>
                <a:spcPts val="800"/>
              </a:spcAft>
              <a:defRPr sz="1600">
                <a:solidFill>
                  <a:srgbClr val="262626"/>
                </a:solidFill>
                <a:latin typeface="Arial"/>
              </a:defRPr>
            </a:pPr>
            <a:r>
              <a:t>• Không retry lỗi 4xx nghiệp vụ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Pagination: dữ liệu nhiều trang</a:t>
            </a:r>
          </a:p>
        </p:txBody>
      </p:sp>
      <p:sp>
        <p:nvSpPr>
          <p:cNvPr id="5" name="Rounded Rectangle 4"/>
          <p:cNvSpPr/>
          <p:nvPr/>
        </p:nvSpPr>
        <p:spPr>
          <a:xfrm>
            <a:off x="777240" y="2240280"/>
            <a:ext cx="2539746"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PAGE 1</a:t>
            </a:r>
          </a:p>
          <a:p>
            <a:pPr algn="ctr">
              <a:defRPr sz="1150">
                <a:solidFill>
                  <a:srgbClr val="5F6368"/>
                </a:solidFill>
                <a:latin typeface="Arial"/>
              </a:defRPr>
            </a:pPr>
            <a:r>
              <a:t>100 rows</a:t>
            </a:r>
          </a:p>
        </p:txBody>
      </p:sp>
      <p:sp>
        <p:nvSpPr>
          <p:cNvPr id="6" name="Right Arrow 5"/>
          <p:cNvSpPr/>
          <p:nvPr/>
        </p:nvSpPr>
        <p:spPr>
          <a:xfrm>
            <a:off x="334441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81578" y="2240280"/>
            <a:ext cx="2539746"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PAGE 2</a:t>
            </a:r>
          </a:p>
          <a:p>
            <a:pPr algn="ctr">
              <a:defRPr sz="1150">
                <a:solidFill>
                  <a:srgbClr val="5F6368"/>
                </a:solidFill>
                <a:latin typeface="Arial"/>
              </a:defRPr>
            </a:pPr>
            <a:r>
              <a:t>100 rows</a:t>
            </a:r>
          </a:p>
        </p:txBody>
      </p:sp>
      <p:sp>
        <p:nvSpPr>
          <p:cNvPr id="8" name="Right Arrow 7"/>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5916" y="2240280"/>
            <a:ext cx="2539746"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a:t>
            </a:r>
          </a:p>
          <a:p>
            <a:pPr algn="ctr">
              <a:defRPr sz="1150">
                <a:solidFill>
                  <a:srgbClr val="5F6368"/>
                </a:solidFill>
                <a:latin typeface="Arial"/>
              </a:defRPr>
            </a:pPr>
            <a:r>
              <a:t>...</a:t>
            </a:r>
          </a:p>
        </p:txBody>
      </p:sp>
      <p:sp>
        <p:nvSpPr>
          <p:cNvPr id="10" name="Right Arrow 9"/>
          <p:cNvSpPr/>
          <p:nvPr/>
        </p:nvSpPr>
        <p:spPr>
          <a:xfrm>
            <a:off x="875309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254" y="2240280"/>
            <a:ext cx="2539746"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LAST</a:t>
            </a:r>
          </a:p>
          <a:p>
            <a:pPr algn="ctr">
              <a:defRPr sz="1150">
                <a:solidFill>
                  <a:srgbClr val="5F6368"/>
                </a:solidFill>
                <a:latin typeface="Arial"/>
              </a:defRPr>
            </a:pPr>
            <a:r>
              <a:t>has_next=false</a:t>
            </a:r>
          </a:p>
        </p:txBody>
      </p:sp>
      <p:sp>
        <p:nvSpPr>
          <p:cNvPr id="12" name="TextBox 11"/>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Loop đến khi hết trang; log số page và tổng record.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fetch_all_pages()</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def fetch_all_pages(resource, page_size=100):</a:t>
            </a:r>
            <a:br/>
            <a:r>
              <a:t>    page, rows = 1, []</a:t>
            </a:r>
            <a:br/>
            <a:r>
              <a:t>    while True:</a:t>
            </a:r>
            <a:br/>
            <a:r>
              <a:t>        payload = get(resource, page=page, page_size=page_size)</a:t>
            </a:r>
            <a:br/>
            <a:r>
              <a:t>        rows.extend(payload["data"])</a:t>
            </a:r>
            <a:br/>
            <a:r>
              <a:t>        if not payload["has_next"]:</a:t>
            </a:r>
            <a:br/>
            <a:r>
              <a:t>            break</a:t>
            </a:r>
            <a:br/>
            <a:r>
              <a:t>        page += 1</a:t>
            </a:r>
            <a:br/>
            <a:r>
              <a:t>    return rows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Lưu RAW trước khi transform</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Ghi response JSON theo resource + run_id/timestamp</a:t>
            </a:r>
          </a:p>
          <a:p>
            <a:pPr>
              <a:lnSpc>
                <a:spcPct val="108000"/>
              </a:lnSpc>
              <a:spcAft>
                <a:spcPts val="800"/>
              </a:spcAft>
              <a:defRPr sz="1800">
                <a:solidFill>
                  <a:srgbClr val="262626"/>
                </a:solidFill>
                <a:latin typeface="Arial"/>
              </a:defRPr>
            </a:pPr>
            <a:r>
              <a:t>• Không sửa payload RAW</a:t>
            </a:r>
          </a:p>
          <a:p>
            <a:pPr>
              <a:lnSpc>
                <a:spcPct val="108000"/>
              </a:lnSpc>
              <a:spcAft>
                <a:spcPts val="800"/>
              </a:spcAft>
              <a:defRPr sz="1800">
                <a:solidFill>
                  <a:srgbClr val="262626"/>
                </a:solidFill>
                <a:latin typeface="Arial"/>
              </a:defRPr>
            </a:pPr>
            <a:r>
              <a:t>• Cho phép replay khi transform code thay đổi</a:t>
            </a:r>
          </a:p>
          <a:p>
            <a:pPr>
              <a:lnSpc>
                <a:spcPct val="108000"/>
              </a:lnSpc>
              <a:spcAft>
                <a:spcPts val="800"/>
              </a:spcAft>
              <a:defRPr sz="1800">
                <a:solidFill>
                  <a:srgbClr val="262626"/>
                </a:solidFill>
                <a:latin typeface="Arial"/>
              </a:defRPr>
            </a:pPr>
            <a:r>
              <a:t>• Dùng cho audit/debug khi số liệu lệch</a:t>
            </a:r>
          </a:p>
          <a:p>
            <a:pPr>
              <a:lnSpc>
                <a:spcPct val="108000"/>
              </a:lnSpc>
              <a:spcAft>
                <a:spcPts val="800"/>
              </a:spcAft>
              <a:defRPr sz="1800">
                <a:solidFill>
                  <a:srgbClr val="262626"/>
                </a:solidFill>
                <a:latin typeface="Arial"/>
              </a:defRPr>
            </a:pPr>
            <a:r>
              <a:t>• Trong lab package, mock_api/data là source reference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Full load vs Incremental load</a:t>
            </a:r>
          </a:p>
        </p:txBody>
      </p:sp>
      <p:sp>
        <p:nvSpPr>
          <p:cNvPr id="5" name="Rounded Rectangle 4"/>
          <p:cNvSpPr/>
          <p:nvPr/>
        </p:nvSpPr>
        <p:spPr>
          <a:xfrm>
            <a:off x="822960" y="1417320"/>
            <a:ext cx="5202936" cy="438912"/>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FULL</a:t>
            </a:r>
          </a:p>
        </p:txBody>
      </p:sp>
      <p:sp>
        <p:nvSpPr>
          <p:cNvPr id="6" name="Rounded Rectangle 5"/>
          <p:cNvSpPr/>
          <p:nvPr/>
        </p:nvSpPr>
        <p:spPr>
          <a:xfrm>
            <a:off x="822960"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Đọc tất cả</a:t>
            </a:r>
          </a:p>
        </p:txBody>
      </p:sp>
      <p:sp>
        <p:nvSpPr>
          <p:cNvPr id="7" name="Rounded Rectangle 6"/>
          <p:cNvSpPr/>
          <p:nvPr/>
        </p:nvSpPr>
        <p:spPr>
          <a:xfrm>
            <a:off x="822960"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Đơn giản</a:t>
            </a:r>
          </a:p>
        </p:txBody>
      </p:sp>
      <p:sp>
        <p:nvSpPr>
          <p:cNvPr id="8" name="Rounded Rectangle 7"/>
          <p:cNvSpPr/>
          <p:nvPr/>
        </p:nvSpPr>
        <p:spPr>
          <a:xfrm>
            <a:off x="822960"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Tốn I/O</a:t>
            </a:r>
          </a:p>
        </p:txBody>
      </p:sp>
      <p:sp>
        <p:nvSpPr>
          <p:cNvPr id="9" name="Rounded Rectangle 8"/>
          <p:cNvSpPr/>
          <p:nvPr/>
        </p:nvSpPr>
        <p:spPr>
          <a:xfrm>
            <a:off x="822960"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Dùng bootstrap</a:t>
            </a:r>
          </a:p>
        </p:txBody>
      </p:sp>
      <p:sp>
        <p:nvSpPr>
          <p:cNvPr id="10" name="Rounded Rectangle 9"/>
          <p:cNvSpPr/>
          <p:nvPr/>
        </p:nvSpPr>
        <p:spPr>
          <a:xfrm>
            <a:off x="6135624" y="1417320"/>
            <a:ext cx="5202936" cy="438912"/>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INCREMENTAL</a:t>
            </a:r>
          </a:p>
        </p:txBody>
      </p:sp>
      <p:sp>
        <p:nvSpPr>
          <p:cNvPr id="11" name="Rounded Rectangle 10"/>
          <p:cNvSpPr/>
          <p:nvPr/>
        </p:nvSpPr>
        <p:spPr>
          <a:xfrm>
            <a:off x="6135624"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Chỉ phần mới/đổi</a:t>
            </a:r>
          </a:p>
        </p:txBody>
      </p:sp>
      <p:sp>
        <p:nvSpPr>
          <p:cNvPr id="12" name="Rounded Rectangle 11"/>
          <p:cNvSpPr/>
          <p:nvPr/>
        </p:nvSpPr>
        <p:spPr>
          <a:xfrm>
            <a:off x="6135624"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Cần checkpoint</a:t>
            </a:r>
          </a:p>
        </p:txBody>
      </p:sp>
      <p:sp>
        <p:nvSpPr>
          <p:cNvPr id="13" name="Rounded Rectangle 12"/>
          <p:cNvSpPr/>
          <p:nvPr/>
        </p:nvSpPr>
        <p:spPr>
          <a:xfrm>
            <a:off x="6135624"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Hiệu quả hơn</a:t>
            </a:r>
          </a:p>
        </p:txBody>
      </p:sp>
      <p:sp>
        <p:nvSpPr>
          <p:cNvPr id="14" name="Rounded Rectangle 13"/>
          <p:cNvSpPr/>
          <p:nvPr/>
        </p:nvSpPr>
        <p:spPr>
          <a:xfrm>
            <a:off x="6135624"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Dùng daily pipeline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updated_after là watermark đơn giản</a:t>
            </a:r>
          </a:p>
        </p:txBody>
      </p:sp>
      <p:sp>
        <p:nvSpPr>
          <p:cNvPr id="5" name="Rounded Rectangle 4"/>
          <p:cNvSpPr/>
          <p:nvPr/>
        </p:nvSpPr>
        <p:spPr>
          <a:xfrm>
            <a:off x="777240" y="2240280"/>
            <a:ext cx="2539746"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STATE</a:t>
            </a:r>
          </a:p>
          <a:p>
            <a:pPr algn="ctr">
              <a:defRPr sz="1150">
                <a:solidFill>
                  <a:srgbClr val="5F6368"/>
                </a:solidFill>
                <a:latin typeface="Arial"/>
              </a:defRPr>
            </a:pPr>
            <a:r>
              <a:t>last_updated_at</a:t>
            </a:r>
          </a:p>
        </p:txBody>
      </p:sp>
      <p:sp>
        <p:nvSpPr>
          <p:cNvPr id="6" name="Right Arrow 5"/>
          <p:cNvSpPr/>
          <p:nvPr/>
        </p:nvSpPr>
        <p:spPr>
          <a:xfrm>
            <a:off x="334441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81578" y="2240280"/>
            <a:ext cx="2539746"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REQUEST</a:t>
            </a:r>
          </a:p>
          <a:p>
            <a:pPr algn="ctr">
              <a:defRPr sz="1150">
                <a:solidFill>
                  <a:srgbClr val="5F6368"/>
                </a:solidFill>
                <a:latin typeface="Arial"/>
              </a:defRPr>
            </a:pPr>
            <a:r>
              <a:t>updated_after=...</a:t>
            </a:r>
          </a:p>
        </p:txBody>
      </p:sp>
      <p:sp>
        <p:nvSpPr>
          <p:cNvPr id="8" name="Right Arrow 7"/>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5916" y="2240280"/>
            <a:ext cx="2539746"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LOAD</a:t>
            </a:r>
          </a:p>
          <a:p>
            <a:pPr algn="ctr">
              <a:defRPr sz="1150">
                <a:solidFill>
                  <a:srgbClr val="5F6368"/>
                </a:solidFill>
                <a:latin typeface="Arial"/>
              </a:defRPr>
            </a:pPr>
            <a:r>
              <a:t>upsert changes</a:t>
            </a:r>
          </a:p>
        </p:txBody>
      </p:sp>
      <p:sp>
        <p:nvSpPr>
          <p:cNvPr id="10" name="Right Arrow 9"/>
          <p:cNvSpPr/>
          <p:nvPr/>
        </p:nvSpPr>
        <p:spPr>
          <a:xfrm>
            <a:off x="875309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254" y="2240280"/>
            <a:ext cx="2539746"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COMMIT</a:t>
            </a:r>
          </a:p>
          <a:p>
            <a:pPr algn="ctr">
              <a:defRPr sz="1150">
                <a:solidFill>
                  <a:srgbClr val="5F6368"/>
                </a:solidFill>
                <a:latin typeface="Arial"/>
              </a:defRPr>
            </a:pPr>
            <a:r>
              <a:t>save new state</a:t>
            </a:r>
          </a:p>
        </p:txBody>
      </p:sp>
      <p:sp>
        <p:nvSpPr>
          <p:cNvPr id="12" name="TextBox 11"/>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Chỉ cập nhật checkpoint sau khi load thành công.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Kết nối PostgreSQL bằng SQLAlchemy</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engine = create_engine(</a:t>
            </a:r>
            <a:br/>
            <a:r>
              <a:t>  "postgresql+psycopg://de_user:de_password@localhost:5432/ecommerce",</a:t>
            </a:r>
            <a:br/>
            <a:r>
              <a:t>  pool_pre_ping=True</a:t>
            </a:r>
            <a:br/>
            <a:r>
              <a:t>)</a:t>
            </a:r>
            <a:br/>
            <a:r>
              <a:t>with engine.connect() as conn:</a:t>
            </a:r>
            <a:br/>
            <a:r>
              <a:t>    print(conn.execute(text("SELECT 1")).scalar_one())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Insert vs Upsert</a:t>
            </a:r>
          </a:p>
        </p:txBody>
      </p:sp>
      <p:sp>
        <p:nvSpPr>
          <p:cNvPr id="5" name="Rounded Rectangle 4"/>
          <p:cNvSpPr/>
          <p:nvPr/>
        </p:nvSpPr>
        <p:spPr>
          <a:xfrm>
            <a:off x="822960" y="1417320"/>
            <a:ext cx="5202936" cy="438912"/>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INSERT</a:t>
            </a:r>
          </a:p>
        </p:txBody>
      </p:sp>
      <p:sp>
        <p:nvSpPr>
          <p:cNvPr id="6" name="Rounded Rectangle 5"/>
          <p:cNvSpPr/>
          <p:nvPr/>
        </p:nvSpPr>
        <p:spPr>
          <a:xfrm>
            <a:off x="822960"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Fail khi PK tồn tại</a:t>
            </a:r>
          </a:p>
        </p:txBody>
      </p:sp>
      <p:sp>
        <p:nvSpPr>
          <p:cNvPr id="7" name="Rounded Rectangle 6"/>
          <p:cNvSpPr/>
          <p:nvPr/>
        </p:nvSpPr>
        <p:spPr>
          <a:xfrm>
            <a:off x="822960"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Tốt cho append-only</a:t>
            </a:r>
          </a:p>
        </p:txBody>
      </p:sp>
      <p:sp>
        <p:nvSpPr>
          <p:cNvPr id="8" name="Rounded Rectangle 7"/>
          <p:cNvSpPr/>
          <p:nvPr/>
        </p:nvSpPr>
        <p:spPr>
          <a:xfrm>
            <a:off x="822960"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Rerun có thể lỗi</a:t>
            </a:r>
          </a:p>
        </p:txBody>
      </p:sp>
      <p:sp>
        <p:nvSpPr>
          <p:cNvPr id="9" name="Rounded Rectangle 8"/>
          <p:cNvSpPr/>
          <p:nvPr/>
        </p:nvSpPr>
        <p:spPr>
          <a:xfrm>
            <a:off x="822960"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SQL INSERT</a:t>
            </a:r>
          </a:p>
        </p:txBody>
      </p:sp>
      <p:sp>
        <p:nvSpPr>
          <p:cNvPr id="10" name="Rounded Rectangle 9"/>
          <p:cNvSpPr/>
          <p:nvPr/>
        </p:nvSpPr>
        <p:spPr>
          <a:xfrm>
            <a:off x="6135624" y="1417320"/>
            <a:ext cx="5202936" cy="438912"/>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UPSERT</a:t>
            </a:r>
          </a:p>
        </p:txBody>
      </p:sp>
      <p:sp>
        <p:nvSpPr>
          <p:cNvPr id="11" name="Rounded Rectangle 10"/>
          <p:cNvSpPr/>
          <p:nvPr/>
        </p:nvSpPr>
        <p:spPr>
          <a:xfrm>
            <a:off x="6135624"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Update khi conflict</a:t>
            </a:r>
          </a:p>
        </p:txBody>
      </p:sp>
      <p:sp>
        <p:nvSpPr>
          <p:cNvPr id="12" name="Rounded Rectangle 11"/>
          <p:cNvSpPr/>
          <p:nvPr/>
        </p:nvSpPr>
        <p:spPr>
          <a:xfrm>
            <a:off x="6135624"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Tốt cho mutable entities</a:t>
            </a:r>
          </a:p>
        </p:txBody>
      </p:sp>
      <p:sp>
        <p:nvSpPr>
          <p:cNvPr id="13" name="Rounded Rectangle 12"/>
          <p:cNvSpPr/>
          <p:nvPr/>
        </p:nvSpPr>
        <p:spPr>
          <a:xfrm>
            <a:off x="6135624"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Hỗ trợ idempotency</a:t>
            </a:r>
          </a:p>
        </p:txBody>
      </p:sp>
      <p:sp>
        <p:nvSpPr>
          <p:cNvPr id="14" name="Rounded Rectangle 13"/>
          <p:cNvSpPr/>
          <p:nvPr/>
        </p:nvSpPr>
        <p:spPr>
          <a:xfrm>
            <a:off x="6135624"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ON CONFLICT DO UPDATE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UPSERT PostgreSQL</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INSERT INTO core.customers (...)</a:t>
            </a:r>
            <a:br/>
            <a:r>
              <a:t>VALUES (...)</a:t>
            </a:r>
            <a:br/>
            <a:r>
              <a:t>ON CONFLICT (customer_id) DO UPDATE SET</a:t>
            </a:r>
            <a:br/>
            <a:r>
              <a:t>  full_name = EXCLUDED.full_name,</a:t>
            </a:r>
            <a:br/>
            <a:r>
              <a:t>  city = EXCLUDED.city,</a:t>
            </a:r>
            <a:br/>
            <a:r>
              <a:t>  status = EXCLUDED.status,</a:t>
            </a:r>
            <a:br/>
            <a:r>
              <a:t>  updated_at = EXCLUDED.updated_at;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Transaction boundary</a:t>
            </a:r>
          </a:p>
        </p:txBody>
      </p:sp>
      <p:sp>
        <p:nvSpPr>
          <p:cNvPr id="5" name="Rounded Rectangle 4"/>
          <p:cNvSpPr/>
          <p:nvPr/>
        </p:nvSpPr>
        <p:spPr>
          <a:xfrm>
            <a:off x="777240" y="2240280"/>
            <a:ext cx="2539746"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BEGIN</a:t>
            </a:r>
          </a:p>
          <a:p>
            <a:pPr algn="ctr">
              <a:defRPr sz="1150">
                <a:solidFill>
                  <a:srgbClr val="5F6368"/>
                </a:solidFill>
                <a:latin typeface="Arial"/>
              </a:defRPr>
            </a:pPr>
            <a:r>
              <a:t>dataset batch</a:t>
            </a:r>
          </a:p>
        </p:txBody>
      </p:sp>
      <p:sp>
        <p:nvSpPr>
          <p:cNvPr id="6" name="Right Arrow 5"/>
          <p:cNvSpPr/>
          <p:nvPr/>
        </p:nvSpPr>
        <p:spPr>
          <a:xfrm>
            <a:off x="334441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81578" y="2240280"/>
            <a:ext cx="2539746"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UPSERT</a:t>
            </a:r>
          </a:p>
          <a:p>
            <a:pPr algn="ctr">
              <a:defRPr sz="1150">
                <a:solidFill>
                  <a:srgbClr val="5F6368"/>
                </a:solidFill>
                <a:latin typeface="Arial"/>
              </a:defRPr>
            </a:pPr>
            <a:r>
              <a:t>rows</a:t>
            </a:r>
          </a:p>
        </p:txBody>
      </p:sp>
      <p:sp>
        <p:nvSpPr>
          <p:cNvPr id="8" name="Right Arrow 7"/>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5916" y="2240280"/>
            <a:ext cx="2539746"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CHECK</a:t>
            </a:r>
          </a:p>
          <a:p>
            <a:pPr algn="ctr">
              <a:defRPr sz="1150">
                <a:solidFill>
                  <a:srgbClr val="5F6368"/>
                </a:solidFill>
                <a:latin typeface="Arial"/>
              </a:defRPr>
            </a:pPr>
            <a:r>
              <a:t>constraints</a:t>
            </a:r>
          </a:p>
        </p:txBody>
      </p:sp>
      <p:sp>
        <p:nvSpPr>
          <p:cNvPr id="10" name="Right Arrow 9"/>
          <p:cNvSpPr/>
          <p:nvPr/>
        </p:nvSpPr>
        <p:spPr>
          <a:xfrm>
            <a:off x="875309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254" y="2240280"/>
            <a:ext cx="2539746"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COMMIT</a:t>
            </a:r>
          </a:p>
          <a:p>
            <a:pPr algn="ctr">
              <a:defRPr sz="1150">
                <a:solidFill>
                  <a:srgbClr val="5F6368"/>
                </a:solidFill>
                <a:latin typeface="Arial"/>
              </a:defRPr>
            </a:pPr>
            <a:r>
              <a:t>success</a:t>
            </a:r>
          </a:p>
        </p:txBody>
      </p:sp>
      <p:sp>
        <p:nvSpPr>
          <p:cNvPr id="12" name="TextBox 11"/>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Nếu batch lỗi giữa chừng, rollback giúp tránh trạng thái nửa hoàn thành.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Idempotency: bằng chứng phải kiểm tra được</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Run 1</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Run 2 cùng batch</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Input N rows</a:t>
            </a:r>
          </a:p>
          <a:p>
            <a:pPr>
              <a:lnSpc>
                <a:spcPct val="108000"/>
              </a:lnSpc>
              <a:spcAft>
                <a:spcPts val="800"/>
              </a:spcAft>
              <a:defRPr sz="1600">
                <a:solidFill>
                  <a:srgbClr val="262626"/>
                </a:solidFill>
                <a:latin typeface="Arial"/>
              </a:defRPr>
            </a:pPr>
            <a:r>
              <a:t>• Insert/update N</a:t>
            </a:r>
          </a:p>
          <a:p>
            <a:pPr>
              <a:lnSpc>
                <a:spcPct val="108000"/>
              </a:lnSpc>
              <a:spcAft>
                <a:spcPts val="800"/>
              </a:spcAft>
              <a:defRPr sz="1600">
                <a:solidFill>
                  <a:srgbClr val="262626"/>
                </a:solidFill>
                <a:latin typeface="Arial"/>
              </a:defRPr>
            </a:pPr>
            <a:r>
              <a:t>• Record counts tăng hợp lý</a:t>
            </a:r>
          </a:p>
          <a:p>
            <a:pPr>
              <a:lnSpc>
                <a:spcPct val="108000"/>
              </a:lnSpc>
              <a:spcAft>
                <a:spcPts val="800"/>
              </a:spcAft>
              <a:defRPr sz="1600">
                <a:solidFill>
                  <a:srgbClr val="262626"/>
                </a:solidFill>
                <a:latin typeface="Arial"/>
              </a:defRPr>
            </a:pPr>
            <a:r>
              <a:t>• Save checkpoint</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Không thêm duplicate</a:t>
            </a:r>
          </a:p>
          <a:p>
            <a:pPr>
              <a:lnSpc>
                <a:spcPct val="108000"/>
              </a:lnSpc>
              <a:spcAft>
                <a:spcPts val="800"/>
              </a:spcAft>
              <a:defRPr sz="1600">
                <a:solidFill>
                  <a:srgbClr val="262626"/>
                </a:solidFill>
                <a:latin typeface="Arial"/>
              </a:defRPr>
            </a:pPr>
            <a:r>
              <a:t>• PK counts không tăng ngoài dự kiến</a:t>
            </a:r>
          </a:p>
          <a:p>
            <a:pPr>
              <a:lnSpc>
                <a:spcPct val="108000"/>
              </a:lnSpc>
              <a:spcAft>
                <a:spcPts val="800"/>
              </a:spcAft>
              <a:defRPr sz="1600">
                <a:solidFill>
                  <a:srgbClr val="262626"/>
                </a:solidFill>
                <a:latin typeface="Arial"/>
              </a:defRPr>
            </a:pPr>
            <a:r>
              <a:t>• Upsert có thể update 0/N</a:t>
            </a:r>
          </a:p>
          <a:p>
            <a:pPr>
              <a:lnSpc>
                <a:spcPct val="108000"/>
              </a:lnSpc>
              <a:spcAft>
                <a:spcPts val="800"/>
              </a:spcAft>
              <a:defRPr sz="1600">
                <a:solidFill>
                  <a:srgbClr val="262626"/>
                </a:solidFill>
                <a:latin typeface="Arial"/>
              </a:defRPr>
            </a:pPr>
            <a:r>
              <a:t>• KPI không đổi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Lab 6 – API → PostgreSQL</a:t>
            </a:r>
          </a:p>
        </p:txBody>
      </p:sp>
      <p:sp>
        <p:nvSpPr>
          <p:cNvPr id="5" name="Rounded Rectangle 4"/>
          <p:cNvSpPr/>
          <p:nvPr/>
        </p:nvSpPr>
        <p:spPr>
          <a:xfrm>
            <a:off x="777240" y="2240280"/>
            <a:ext cx="1638300"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1</a:t>
            </a:r>
          </a:p>
          <a:p>
            <a:pPr algn="ctr">
              <a:defRPr sz="1150">
                <a:solidFill>
                  <a:srgbClr val="5F6368"/>
                </a:solidFill>
                <a:latin typeface="Arial"/>
              </a:defRPr>
            </a:pPr>
            <a:r>
              <a:t>Call API</a:t>
            </a:r>
          </a:p>
        </p:txBody>
      </p:sp>
      <p:sp>
        <p:nvSpPr>
          <p:cNvPr id="6" name="Right Arrow 5"/>
          <p:cNvSpPr/>
          <p:nvPr/>
        </p:nvSpPr>
        <p:spPr>
          <a:xfrm>
            <a:off x="2442972"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580132" y="2240280"/>
            <a:ext cx="1638300"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2</a:t>
            </a:r>
          </a:p>
          <a:p>
            <a:pPr algn="ctr">
              <a:defRPr sz="1150">
                <a:solidFill>
                  <a:srgbClr val="5F6368"/>
                </a:solidFill>
                <a:latin typeface="Arial"/>
              </a:defRPr>
            </a:pPr>
            <a:r>
              <a:t>Pagination</a:t>
            </a:r>
          </a:p>
        </p:txBody>
      </p:sp>
      <p:sp>
        <p:nvSpPr>
          <p:cNvPr id="8" name="Right Arrow 7"/>
          <p:cNvSpPr/>
          <p:nvPr/>
        </p:nvSpPr>
        <p:spPr>
          <a:xfrm>
            <a:off x="424586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3024" y="2240280"/>
            <a:ext cx="1638300"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3</a:t>
            </a:r>
          </a:p>
          <a:p>
            <a:pPr algn="ctr">
              <a:defRPr sz="1150">
                <a:solidFill>
                  <a:srgbClr val="5F6368"/>
                </a:solidFill>
                <a:latin typeface="Arial"/>
              </a:defRPr>
            </a:pPr>
            <a:r>
              <a:t>RAW</a:t>
            </a:r>
          </a:p>
        </p:txBody>
      </p:sp>
      <p:sp>
        <p:nvSpPr>
          <p:cNvPr id="10" name="Right Arrow 9"/>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85916" y="2240280"/>
            <a:ext cx="1638300"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4</a:t>
            </a:r>
          </a:p>
          <a:p>
            <a:pPr algn="ctr">
              <a:defRPr sz="1150">
                <a:solidFill>
                  <a:srgbClr val="5F6368"/>
                </a:solidFill>
                <a:latin typeface="Arial"/>
              </a:defRPr>
            </a:pPr>
            <a:r>
              <a:t>Transform</a:t>
            </a:r>
          </a:p>
        </p:txBody>
      </p:sp>
      <p:sp>
        <p:nvSpPr>
          <p:cNvPr id="12" name="Right Arrow 11"/>
          <p:cNvSpPr/>
          <p:nvPr/>
        </p:nvSpPr>
        <p:spPr>
          <a:xfrm>
            <a:off x="7851647"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88808" y="2240280"/>
            <a:ext cx="1638300"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5</a:t>
            </a:r>
          </a:p>
          <a:p>
            <a:pPr algn="ctr">
              <a:defRPr sz="1150">
                <a:solidFill>
                  <a:srgbClr val="5F6368"/>
                </a:solidFill>
                <a:latin typeface="Arial"/>
              </a:defRPr>
            </a:pPr>
            <a:r>
              <a:t>Upsert</a:t>
            </a:r>
          </a:p>
        </p:txBody>
      </p:sp>
      <p:sp>
        <p:nvSpPr>
          <p:cNvPr id="14" name="Right Arrow 13"/>
          <p:cNvSpPr/>
          <p:nvPr/>
        </p:nvSpPr>
        <p:spPr>
          <a:xfrm>
            <a:off x="9654539"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91700" y="2240280"/>
            <a:ext cx="1638300"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6</a:t>
            </a:r>
          </a:p>
          <a:p>
            <a:pPr algn="ctr">
              <a:defRPr sz="1150">
                <a:solidFill>
                  <a:srgbClr val="5F6368"/>
                </a:solidFill>
                <a:latin typeface="Arial"/>
              </a:defRPr>
            </a:pPr>
            <a:r>
              <a:t>Checkpoint</a:t>
            </a:r>
          </a:p>
        </p:txBody>
      </p:sp>
      <p:sp>
        <p:nvSpPr>
          <p:cNvPr id="16" name="TextBox 15"/>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Chạy incremental lần 2 và chụp/ghi row counts chứng minh idempotency.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Checkpoint cuối Buổi 6</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Mock API trả dữ liệu với API key</a:t>
            </a:r>
          </a:p>
          <a:p>
            <a:pPr>
              <a:lnSpc>
                <a:spcPct val="108000"/>
              </a:lnSpc>
              <a:spcAft>
                <a:spcPts val="800"/>
              </a:spcAft>
              <a:defRPr sz="1800">
                <a:solidFill>
                  <a:srgbClr val="262626"/>
                </a:solidFill>
                <a:latin typeface="Arial"/>
              </a:defRPr>
            </a:pPr>
            <a:r>
              <a:t>• fetch_all_pages đọc đủ total</a:t>
            </a:r>
          </a:p>
          <a:p>
            <a:pPr>
              <a:lnSpc>
                <a:spcPct val="108000"/>
              </a:lnSpc>
              <a:spcAft>
                <a:spcPts val="800"/>
              </a:spcAft>
              <a:defRPr sz="1800">
                <a:solidFill>
                  <a:srgbClr val="262626"/>
                </a:solidFill>
                <a:latin typeface="Arial"/>
              </a:defRPr>
            </a:pPr>
            <a:r>
              <a:t>• RAW response được lưu</a:t>
            </a:r>
          </a:p>
          <a:p>
            <a:pPr>
              <a:lnSpc>
                <a:spcPct val="108000"/>
              </a:lnSpc>
              <a:spcAft>
                <a:spcPts val="800"/>
              </a:spcAft>
              <a:defRPr sz="1800">
                <a:solidFill>
                  <a:srgbClr val="262626"/>
                </a:solidFill>
                <a:latin typeface="Arial"/>
              </a:defRPr>
            </a:pPr>
            <a:r>
              <a:t>• PostgreSQL nhận data qua upsert</a:t>
            </a:r>
          </a:p>
          <a:p>
            <a:pPr>
              <a:lnSpc>
                <a:spcPct val="108000"/>
              </a:lnSpc>
              <a:spcAft>
                <a:spcPts val="800"/>
              </a:spcAft>
              <a:defRPr sz="1800">
                <a:solidFill>
                  <a:srgbClr val="262626"/>
                </a:solidFill>
                <a:latin typeface="Arial"/>
              </a:defRPr>
            </a:pPr>
            <a:r>
              <a:t>• pipeline_state.json tồn tại</a:t>
            </a:r>
          </a:p>
          <a:p>
            <a:pPr>
              <a:lnSpc>
                <a:spcPct val="108000"/>
              </a:lnSpc>
              <a:spcAft>
                <a:spcPts val="800"/>
              </a:spcAft>
              <a:defRPr sz="1800">
                <a:solidFill>
                  <a:srgbClr val="262626"/>
                </a:solidFill>
                <a:latin typeface="Arial"/>
              </a:defRPr>
            </a:pPr>
            <a:r>
              <a:t>• Rerun không tăng duplicate</a:t>
            </a:r>
          </a:p>
        </p:txBody>
      </p:sp>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40</Words>
  <Application>Microsoft Office PowerPoint</Application>
  <PresentationFormat>Widescreen</PresentationFormat>
  <Paragraphs>18</Paragraphs>
  <Slides>5</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Montserrat</vt:lpstr>
      <vt:lpstr>Trebuchet MS</vt:lpstr>
      <vt:lpstr>Montserrat Medium</vt:lpstr>
      <vt:lpstr>Montserrat Black</vt:lpstr>
      <vt:lpstr>Arial</vt:lpstr>
      <vt:lpstr>Calibri</vt:lpstr>
      <vt:lpstr>Montserrat ExtraBold</vt:lpstr>
      <vt:lpstr>Courier New</vt:lpstr>
      <vt:lpstr>Office Theme</vt:lpstr>
      <vt:lpstr>Tiêu Đề</vt:lpstr>
      <vt:lpstr> NỘI DUNG</vt:lpstr>
      <vt:lpstr>1. Lịch sử ra đời của Web</vt:lpstr>
      <vt:lpstr> TỔNG KẾT</vt:lpstr>
      <vt:lpstr>KẾT THÚC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Tiêu Đề</dc:title>
  <cp:lastModifiedBy>Media Rikkei Academy</cp:lastModifiedBy>
  <cp:revision>4</cp:revision>
  <dcterms:modified xsi:type="dcterms:W3CDTF">2024-01-09T03:56:22Z</dcterms:modified>
</cp:coreProperties>
</file>