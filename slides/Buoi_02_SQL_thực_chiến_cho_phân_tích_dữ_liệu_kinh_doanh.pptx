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79" r:id="rId51"/>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nối lại Buổi 1</a:t>
            </a:r>
            <a:endParaRPr lang="vi-VN"/>
          </a:p>
          <a:p>
            <a:pPr marL="0" lvl="0" indent="0" algn="l">
              <a:buNone/>
            </a:pPr>
            <a:r>
              <a:rPr lang="vi-VN" dirty="0"/>
              <a:t>Lời giảng: Buổi trước chúng ta xây nơi dữ liệu sống. Hôm nay ta bắt đầu khai thác nó. SQL không chỉ là cú pháp; điều khó là biến câu hỏi kinh doanh thành metric đúng. Dataset hôm nay có customers, products, orders, order_items và payments đủ lớn để các lỗi về grain và JOIN xuất hiện thật. Mục tiêu cuối buổi là các em trả lời được 10 câu hỏi business và có query kiểm chứng.</a:t>
            </a:r>
            <a:endParaRPr lang="vi-VN"/>
          </a:p>
          <a:p>
            <a:pPr marL="0" lvl="0" indent="0" algn="l">
              <a:buNone/>
            </a:pPr>
            <a:r>
              <a:rPr lang="vi-VN" dirty="0"/>
              <a:t>Tương tác / demo: Hỏi lại: 'Một dòng của orders đại diện cho gì? Một dòng của order_items đại diện cho gì?'</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nối lại Buổi 1</a:t>
            </a:r>
            <a:endParaRPr lang="vi-VN"/>
          </a:p>
          <a:p>
            <a:pPr marL="0" lvl="0" indent="0" algn="l">
              <a:buNone/>
            </a:pPr>
            <a:r>
              <a:rPr lang="vi-VN" dirty="0"/>
              <a:t>Lời giảng: Buổi trước chúng ta xây nơi dữ liệu sống. Hôm nay ta bắt đầu khai thác nó. SQL không chỉ là cú pháp; điều khó là biến câu hỏi kinh doanh thành metric đúng. Dataset hôm nay có customers, products, orders, order_items và payments đủ lớn để các lỗi về grain và JOIN xuất hiện thật. Mục tiêu cuối buổi là các em trả lời được 10 câu hỏi business và có query kiểm chứng.</a:t>
            </a:r>
            <a:endParaRPr lang="vi-VN"/>
          </a:p>
          <a:p>
            <a:pPr marL="0" lvl="0" indent="0" algn="l">
              <a:buNone/>
            </a:pPr>
            <a:r>
              <a:rPr lang="vi-VN" dirty="0"/>
              <a:t>Tương tác / demo: Hỏi lại: 'Một dòng của orders đại diện cho gì? Một dòng của order_items đại diện cho gì?'</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nối lại Buổi 1</a:t>
            </a:r>
            <a:endParaRPr lang="vi-VN"/>
          </a:p>
          <a:p>
            <a:pPr marL="0" lvl="0" indent="0" algn="l">
              <a:buNone/>
            </a:pPr>
            <a:r>
              <a:rPr lang="vi-VN" dirty="0"/>
              <a:t>Lời giảng: Buổi trước chúng ta xây nơi dữ liệu sống. Hôm nay ta bắt đầu khai thác nó. SQL không chỉ là cú pháp; điều khó là biến câu hỏi kinh doanh thành metric đúng. Dataset hôm nay có customers, products, orders, order_items và payments đủ lớn để các lỗi về grain và JOIN xuất hiện thật. Mục tiêu cuối buổi là các em trả lời được 10 câu hỏi business và có query kiểm chứng.</a:t>
            </a:r>
            <a:endParaRPr lang="vi-VN"/>
          </a:p>
          <a:p>
            <a:pPr marL="0" lvl="0" indent="0" algn="l">
              <a:buNone/>
            </a:pPr>
            <a:r>
              <a:rPr lang="vi-VN" dirty="0"/>
              <a:t>Tương tác / demo: Hỏi lại: 'Một dòng của orders đại diện cho gì? Một dòng của order_items đại diện cho gì?'</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05–12 phút | Business question → metric → grain</a:t>
            </a:r>
            <a:endParaRPr lang="vi-VN"/>
          </a:p>
          <a:p>
            <a:pPr marL="0" lvl="0" indent="0" algn="l">
              <a:buNone/>
            </a:pPr>
            <a:r>
              <a:rPr lang="vi-VN" dirty="0"/>
              <a:t>Lời giảng: Trước khi viết SELECT, hãy viết ra câu hỏi, metric, source, filter, group và cách validate. Ví dụ doanh thu theo tháng: metric là SUM order_total, source là orders, chỉ lấy completed, group theo tháng. Nếu chưa chốt grain đầu ra, rất dễ join sai và nhân số. Từ hôm nay, mỗi query quan trọng nên nói được 'một dòng output đại diện cho gì'.</a:t>
            </a:r>
            <a:endParaRPr lang="vi-VN"/>
          </a:p>
          <a:p>
            <a:pPr marL="0" lvl="0" indent="0" algn="l">
              <a:buNone/>
            </a:pPr>
            <a:r>
              <a:rPr lang="vi-VN" dirty="0"/>
              <a:t>Tương tác / demo: Cho lớp chuyển câu hỏi 'Top 10 khách hàng theo doanh thu' thành metric/source/filter/grain bằng lời trước khi code.</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12–22 phút | SELECT, WHERE và NULL</a:t>
            </a:r>
            <a:endParaRPr lang="vi-VN"/>
          </a:p>
          <a:p>
            <a:pPr marL="0" lvl="0" indent="0" algn="l">
              <a:buNone/>
            </a:pPr>
            <a:r>
              <a:rPr lang="vi-VN" dirty="0"/>
              <a:t>Lời giảng: SELECT chọn cột và định hình grain đầu ra; WHERE lọc row trước aggregate. Với NULL, tuyệt đối không coi nó là 0 hay chuỗi rỗng. NULL mang nghĩa thiếu/không biết và dùng logic ba giá trị. Câu `column = NULL` là sai cách nghĩ; phải dùng IS NULL. COALESCE chỉ dùng khi business meaning cho phép, không phải để che mất missing data.</a:t>
            </a:r>
            <a:endParaRPr lang="vi-VN"/>
          </a:p>
          <a:p>
            <a:pPr marL="0" lvl="0" indent="0" algn="l">
              <a:buNone/>
            </a:pPr>
            <a:r>
              <a:rPr lang="vi-VN" dirty="0"/>
              <a:t>Tương tác / demo: Demo 2 query ngắn: completed orders &gt; 1 triệu và customer/payment có NULL. Hỏi vì sao COUNT(column) khác COUNT(*).</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12–22 phút | SELECT, WHERE và NULL</a:t>
            </a:r>
            <a:endParaRPr lang="vi-VN"/>
          </a:p>
          <a:p>
            <a:pPr marL="0" lvl="0" indent="0" algn="l">
              <a:buNone/>
            </a:pPr>
            <a:r>
              <a:rPr lang="vi-VN" dirty="0"/>
              <a:t>Lời giảng: SELECT chọn cột và định hình grain đầu ra; WHERE lọc row trước aggregate. Với NULL, tuyệt đối không coi nó là 0 hay chuỗi rỗng. NULL mang nghĩa thiếu/không biết và dùng logic ba giá trị. Câu `column = NULL` là sai cách nghĩ; phải dùng IS NULL. COALESCE chỉ dùng khi business meaning cho phép, không phải để che mất missing data.</a:t>
            </a:r>
            <a:endParaRPr lang="vi-VN"/>
          </a:p>
          <a:p>
            <a:pPr marL="0" lvl="0" indent="0" algn="l">
              <a:buNone/>
            </a:pPr>
            <a:r>
              <a:rPr lang="vi-VN" dirty="0"/>
              <a:t>Tương tác / demo: Demo 2 query ngắn: completed orders &gt; 1 triệu và customer/payment có NULL. Hỏi vì sao COUNT(column) khác COUNT(*).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12–22 phút | SELECT, WHERE và NULL</a:t>
            </a:r>
            <a:endParaRPr lang="vi-VN"/>
          </a:p>
          <a:p>
            <a:pPr marL="0" lvl="0" indent="0" algn="l">
              <a:buNone/>
            </a:pPr>
            <a:r>
              <a:rPr lang="vi-VN" dirty="0"/>
              <a:t>Lời giảng: SELECT chọn cột và định hình grain đầu ra; WHERE lọc row trước aggregate. Với NULL, tuyệt đối không coi nó là 0 hay chuỗi rỗng. NULL mang nghĩa thiếu/không biết và dùng logic ba giá trị. Câu `column = NULL` là sai cách nghĩ; phải dùng IS NULL. COALESCE chỉ dùng khi business meaning cho phép, không phải để che mất missing data.</a:t>
            </a:r>
            <a:endParaRPr lang="vi-VN"/>
          </a:p>
          <a:p>
            <a:pPr marL="0" lvl="0" indent="0" algn="l">
              <a:buNone/>
            </a:pPr>
            <a:r>
              <a:rPr lang="vi-VN" dirty="0"/>
              <a:t>Tương tác / demo: Demo 2 query ngắn: completed orders &gt; 1 triệu và customer/payment có NULL. Hỏi vì sao COUNT(column) khác COUNT(*).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22–31 phút | Aggregate, GROUP BY, HAVING</a:t>
            </a:r>
            <a:endParaRPr lang="vi-VN"/>
          </a:p>
          <a:p>
            <a:pPr marL="0" lvl="0" indent="0" algn="l">
              <a:buNone/>
            </a:pPr>
            <a:r>
              <a:rPr lang="vi-VN" dirty="0"/>
              <a:t>Lời giảng: Aggregate biến nhiều dòng thành metric. GROUP BY thay đổi grain: từ 1 row/order thành 1 row/month hoặc 1 row/category. WHERE lọc trước nhóm; HAVING lọc sau khi đã có metric nhóm. Khi gặp lỗi GROUP BY, hãy quay lại hỏi grain output thay vì sửa cú pháp mò. Đây là cách tư duy giúp SQL dễ kiểm soát hơn.</a:t>
            </a:r>
            <a:endParaRPr lang="vi-VN"/>
          </a:p>
          <a:p>
            <a:pPr marL="0" lvl="0" indent="0" algn="l">
              <a:buNone/>
            </a:pPr>
            <a:r>
              <a:rPr lang="vi-VN" dirty="0"/>
              <a:t>Tương tác / demo: Cho sinh viên dự đoán số dòng output khi group orders theo tháng và status.</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22–31 phút | Aggregate, GROUP BY, HAVING</a:t>
            </a:r>
            <a:endParaRPr lang="vi-VN"/>
          </a:p>
          <a:p>
            <a:pPr marL="0" lvl="0" indent="0" algn="l">
              <a:buNone/>
            </a:pPr>
            <a:r>
              <a:rPr lang="vi-VN" dirty="0"/>
              <a:t>Lời giảng: Aggregate biến nhiều dòng thành metric. GROUP BY thay đổi grain: từ 1 row/order thành 1 row/month hoặc 1 row/category. WHERE lọc trước nhóm; HAVING lọc sau khi đã có metric nhóm. Khi gặp lỗi GROUP BY, hãy quay lại hỏi grain output thay vì sửa cú pháp mò. Đây là cách tư duy giúp SQL dễ kiểm soát hơn.</a:t>
            </a:r>
            <a:endParaRPr lang="vi-VN"/>
          </a:p>
          <a:p>
            <a:pPr marL="0" lvl="0" indent="0" algn="l">
              <a:buNone/>
            </a:pPr>
            <a:r>
              <a:rPr lang="vi-VN" dirty="0"/>
              <a:t>Tương tác / demo: Cho sinh viên dự đoán số dòng output khi group orders theo tháng và status.</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22–31 phút | Aggregate, GROUP BY, HAVING</a:t>
            </a:r>
            <a:endParaRPr lang="vi-VN"/>
          </a:p>
          <a:p>
            <a:pPr marL="0" lvl="0" indent="0" algn="l">
              <a:buNone/>
            </a:pPr>
            <a:r>
              <a:rPr lang="vi-VN" dirty="0"/>
              <a:t>Lời giảng: Aggregate biến nhiều dòng thành metric. GROUP BY thay đổi grain: từ 1 row/order thành 1 row/month hoặc 1 row/category. WHERE lọc trước nhóm; HAVING lọc sau khi đã có metric nhóm. Khi gặp lỗi GROUP BY, hãy quay lại hỏi grain output thay vì sửa cú pháp mò. Đây là cách tư duy giúp SQL dễ kiểm soát hơn.</a:t>
            </a:r>
            <a:endParaRPr lang="vi-VN"/>
          </a:p>
          <a:p>
            <a:pPr marL="0" lvl="0" indent="0" algn="l">
              <a:buNone/>
            </a:pPr>
            <a:r>
              <a:rPr lang="vi-VN" dirty="0"/>
              <a:t>Tương tác / demo: Cho sinh viên dự đoán số dòng output khi group orders theo tháng và status.</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31–41 phút | JOIN và nguy cơ nhân bản dòng</a:t>
            </a:r>
            <a:endParaRPr lang="vi-VN"/>
          </a:p>
          <a:p>
            <a:pPr marL="0" lvl="0" indent="0" algn="l">
              <a:buNone/>
            </a:pPr>
            <a:r>
              <a:rPr lang="vi-VN" dirty="0"/>
              <a:t>Lời giảng: INNER JOIN chỉ giữ khóa khớp; LEFT JOIN giữ toàn bộ bên trái. Nhưng nguy hiểm lớn nhất là join 1:N. Một order có ba items sẽ biến thành ba dòng sau join. Nếu lúc đó SUM lại order_total, doanh thu bị nhân ba. Vì thế phải biết grain của từng bảng trước khi join. Logical query processing FROM/JOIN → WHERE → GROUP BY → HAVING → SELECT giúp giải thích phần lớn lỗi SQL analytics.</a:t>
            </a:r>
            <a:endParaRPr lang="vi-VN"/>
          </a:p>
          <a:p>
            <a:pPr marL="0" lvl="0" indent="0" algn="l">
              <a:buNone/>
            </a:pPr>
            <a:r>
              <a:rPr lang="vi-VN" dirty="0"/>
              <a:t>Tương tác / demo: Vẽ một order 100k có 3 items, hỏi lớp SUM(order_total) sau join ra bao nhiêu nếu không xử lý.</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31–41 phút | JOIN và nguy cơ nhân bản dòng</a:t>
            </a:r>
            <a:endParaRPr lang="vi-VN"/>
          </a:p>
          <a:p>
            <a:pPr marL="0" lvl="0" indent="0" algn="l">
              <a:buNone/>
            </a:pPr>
            <a:r>
              <a:rPr lang="vi-VN" dirty="0"/>
              <a:t>Lời giảng: INNER JOIN chỉ giữ khóa khớp; LEFT JOIN giữ toàn bộ bên trái. Nhưng nguy hiểm lớn nhất là join 1:N. Một order có ba items sẽ biến thành ba dòng sau join. Nếu lúc đó SUM lại order_total, doanh thu bị nhân ba. Vì thế phải biết grain của từng bảng trước khi join. Logical query processing FROM/JOIN → WHERE → GROUP BY → HAVING → SELECT giúp giải thích phần lớn lỗi SQL analytics.</a:t>
            </a:r>
            <a:endParaRPr lang="vi-VN"/>
          </a:p>
          <a:p>
            <a:pPr marL="0" lvl="0" indent="0" algn="l">
              <a:buNone/>
            </a:pPr>
            <a:r>
              <a:rPr lang="vi-VN" dirty="0"/>
              <a:t>Tương tác / demo: Vẽ một order 100k có 3 items, hỏi lớp SUM(order_total) sau join ra bao nhiêu nếu không xử lý.</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31–41 phút | JOIN và nguy cơ nhân bản dòng</a:t>
            </a:r>
            <a:endParaRPr lang="vi-VN"/>
          </a:p>
          <a:p>
            <a:pPr marL="0" lvl="0" indent="0" algn="l">
              <a:buNone/>
            </a:pPr>
            <a:r>
              <a:rPr lang="vi-VN" dirty="0"/>
              <a:t>Lời giảng: INNER JOIN chỉ giữ khóa khớp; LEFT JOIN giữ toàn bộ bên trái. Nhưng nguy hiểm lớn nhất là join 1:N. Một order có ba items sẽ biến thành ba dòng sau join. Nếu lúc đó SUM lại order_total, doanh thu bị nhân ba. Vì thế phải biết grain của từng bảng trước khi join. Logical query processing FROM/JOIN → WHERE → GROUP BY → HAVING → SELECT giúp giải thích phần lớn lỗi SQL analytics.</a:t>
            </a:r>
            <a:endParaRPr lang="vi-VN"/>
          </a:p>
          <a:p>
            <a:pPr marL="0" lvl="0" indent="0" algn="l">
              <a:buNone/>
            </a:pPr>
            <a:r>
              <a:rPr lang="vi-VN" dirty="0"/>
              <a:t>Tương tác / demo: Vẽ một order 100k có 3 items, hỏi lớp SUM(order_total) sau join ra bao nhiêu nếu không xử lý.</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31–41 phút | JOIN và nguy cơ nhân bản dòng</a:t>
            </a:r>
            <a:endParaRPr lang="vi-VN"/>
          </a:p>
          <a:p>
            <a:pPr marL="0" lvl="0" indent="0" algn="l">
              <a:buNone/>
            </a:pPr>
            <a:r>
              <a:rPr lang="vi-VN" dirty="0"/>
              <a:t>Lời giảng: INNER JOIN chỉ giữ khóa khớp; LEFT JOIN giữ toàn bộ bên trái. Nhưng nguy hiểm lớn nhất là join 1:N. Một order có ba items sẽ biến thành ba dòng sau join. Nếu lúc đó SUM lại order_total, doanh thu bị nhân ba. Vì thế phải biết grain của từng bảng trước khi join. Logical query processing FROM/JOIN → WHERE → GROUP BY → HAVING → SELECT giúp giải thích phần lớn lỗi SQL analytics.</a:t>
            </a:r>
            <a:endParaRPr lang="vi-VN"/>
          </a:p>
          <a:p>
            <a:pPr marL="0" lvl="0" indent="0" algn="l">
              <a:buNone/>
            </a:pPr>
            <a:r>
              <a:rPr lang="vi-VN" dirty="0"/>
              <a:t>Tương tác / demo: Vẽ một order 100k có 3 items, hỏi lớp SUM(order_total) sau join ra bao nhiêu nếu không xử lý.</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41–52 phút | KPI thật và reconciliation</a:t>
            </a:r>
            <a:endParaRPr lang="vi-VN"/>
          </a:p>
          <a:p>
            <a:pPr marL="0" lvl="0" indent="0" algn="l">
              <a:buNone/>
            </a:pPr>
            <a:r>
              <a:rPr lang="vi-VN" dirty="0"/>
              <a:t>Lời giảng: Ta áp dụng vào các KPI: revenue, orders, AOV, active customers, payment success và top product. Mỗi KPI cần định nghĩa rõ status nào được tính và grain nào an toàn. Sau đó phải đối soát: count trước/sau join, sum item net so với order_total, kiểm tra duplicate PK, sample vài order bằng tay. Câu quan trọng nhất của buổi hôm nay là: SQL chạy được chưa có nghĩa là SQL đúng.</a:t>
            </a:r>
            <a:endParaRPr lang="vi-VN"/>
          </a:p>
          <a:p>
            <a:pPr marL="0" lvl="0" indent="0" algn="l">
              <a:buNone/>
            </a:pPr>
            <a:r>
              <a:rPr lang="vi-VN" dirty="0"/>
              <a:t>Tương tác / demo: Demo một query revenue theo category và một query cố tình sai vì join 1:N; cho lớp tìm lỗi.</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41–52 phút | KPI thật và reconciliation</a:t>
            </a:r>
            <a:endParaRPr lang="vi-VN"/>
          </a:p>
          <a:p>
            <a:pPr marL="0" lvl="0" indent="0" algn="l">
              <a:buNone/>
            </a:pPr>
            <a:r>
              <a:rPr lang="vi-VN" dirty="0"/>
              <a:t>Lời giảng: Ta áp dụng vào các KPI: revenue, orders, AOV, active customers, payment success và top product. Mỗi KPI cần định nghĩa rõ status nào được tính và grain nào an toàn. Sau đó phải đối soát: count trước/sau join, sum item net so với order_total, kiểm tra duplicate PK, sample vài order bằng tay. Câu quan trọng nhất của buổi hôm nay là: SQL chạy được chưa có nghĩa là SQL đúng.</a:t>
            </a:r>
            <a:endParaRPr lang="vi-VN"/>
          </a:p>
          <a:p>
            <a:pPr marL="0" lvl="0" indent="0" algn="l">
              <a:buNone/>
            </a:pPr>
            <a:r>
              <a:rPr lang="vi-VN" dirty="0"/>
              <a:t>Tương tác / demo: Demo một query revenue theo category và một query cố tình sai vì join 1:N; cho lớp tìm lỗi.</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41–52 phút | KPI thật và reconciliation</a:t>
            </a:r>
            <a:endParaRPr lang="vi-VN"/>
          </a:p>
          <a:p>
            <a:pPr marL="0" lvl="0" indent="0" algn="l">
              <a:buNone/>
            </a:pPr>
            <a:r>
              <a:rPr lang="vi-VN" dirty="0"/>
              <a:t>Lời giảng: Ta áp dụng vào các KPI: revenue, orders, AOV, active customers, payment success và top product. Mỗi KPI cần định nghĩa rõ status nào được tính và grain nào an toàn. Sau đó phải đối soát: count trước/sau join, sum item net so với order_total, kiểm tra duplicate PK, sample vài order bằng tay. Câu quan trọng nhất của buổi hôm nay là: SQL chạy được chưa có nghĩa là SQL đúng.</a:t>
            </a:r>
            <a:endParaRPr lang="vi-VN"/>
          </a:p>
          <a:p>
            <a:pPr marL="0" lvl="0" indent="0" algn="l">
              <a:buNone/>
            </a:pPr>
            <a:r>
              <a:rPr lang="vi-VN" dirty="0"/>
              <a:t>Tương tác / demo: Demo một query revenue theo category và một query cố tình sai vì join 1:N; cho lớp tìm lỗi.</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41–52 phút | KPI thật và reconciliation</a:t>
            </a:r>
            <a:endParaRPr lang="vi-VN"/>
          </a:p>
          <a:p>
            <a:pPr marL="0" lvl="0" indent="0" algn="l">
              <a:buNone/>
            </a:pPr>
            <a:r>
              <a:rPr lang="vi-VN" dirty="0"/>
              <a:t>Lời giảng: Ta áp dụng vào các KPI: revenue, orders, AOV, active customers, payment success và top product. Mỗi KPI cần định nghĩa rõ status nào được tính và grain nào an toàn. Sau đó phải đối soát: count trước/sau join, sum item net so với order_total, kiểm tra duplicate PK, sample vài order bằng tay. Câu quan trọng nhất của buổi hôm nay là: SQL chạy được chưa có nghĩa là SQL đúng.</a:t>
            </a:r>
            <a:endParaRPr lang="vi-VN"/>
          </a:p>
          <a:p>
            <a:pPr marL="0" lvl="0" indent="0" algn="l">
              <a:buNone/>
            </a:pPr>
            <a:r>
              <a:rPr lang="vi-VN" dirty="0"/>
              <a:t>Tương tác / demo: Demo một query revenue theo category và một query cố tình sai vì join 1:N; cho lớp tìm lỗi.</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41–52 phút | KPI thật và reconciliation</a:t>
            </a:r>
            <a:endParaRPr lang="vi-VN"/>
          </a:p>
          <a:p>
            <a:pPr marL="0" lvl="0" indent="0" algn="l">
              <a:buNone/>
            </a:pPr>
            <a:r>
              <a:rPr lang="vi-VN" dirty="0"/>
              <a:t>Lời giảng: Ta áp dụng vào các KPI: revenue, orders, AOV, active customers, payment success và top product. Mỗi KPI cần định nghĩa rõ status nào được tính và grain nào an toàn. Sau đó phải đối soát: count trước/sau join, sum item net so với order_total, kiểm tra duplicate PK, sample vài order bằng tay. Câu quan trọng nhất của buổi hôm nay là: SQL chạy được chưa có nghĩa là SQL đúng.</a:t>
            </a:r>
            <a:endParaRPr lang="vi-VN"/>
          </a:p>
          <a:p>
            <a:pPr marL="0" lvl="0" indent="0" algn="l">
              <a:buNone/>
            </a:pPr>
            <a:r>
              <a:rPr lang="vi-VN" dirty="0"/>
              <a:t>Tương tác / demo: Demo một query revenue theo category và một query cố tình sai vì join 1:N; cho lớp tìm lỗi.</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41–52 phút | KPI thật và reconciliation</a:t>
            </a:r>
            <a:endParaRPr lang="vi-VN"/>
          </a:p>
          <a:p>
            <a:pPr marL="0" lvl="0" indent="0" algn="l">
              <a:buNone/>
            </a:pPr>
            <a:r>
              <a:rPr lang="vi-VN" dirty="0"/>
              <a:t>Lời giảng: Ta áp dụng vào các KPI: revenue, orders, AOV, active customers, payment success và top product. Mỗi KPI cần định nghĩa rõ status nào được tính và grain nào an toàn. Sau đó phải đối soát: count trước/sau join, sum item net so với order_total, kiểm tra duplicate PK, sample vài order bằng tay. Câu quan trọng nhất của buổi hôm nay là: SQL chạy được chưa có nghĩa là SQL đúng.</a:t>
            </a:r>
            <a:endParaRPr lang="vi-VN"/>
          </a:p>
          <a:p>
            <a:pPr marL="0" lvl="0" indent="0" algn="l">
              <a:buNone/>
            </a:pPr>
            <a:r>
              <a:rPr lang="vi-VN" dirty="0"/>
              <a:t>Tương tác / demo: Demo một query revenue theo category và một query cố tình sai vì join 1:N; cho lớp tìm lỗi.</a:t>
            </a:r>
            <a:endParaRPr lang="vi-VN"/>
          </a:p>
          <a:p>
            <a:pPr marL="0" lvl="0" indent="0" algn="l">
              <a:buNone/>
            </a:pPr>
            <a:r>
              <a:rPr lang="vi-VN" dirty="0"/>
              <a:t>—</a:t>
            </a:r>
            <a:endParaRPr lang="vi-VN"/>
          </a:p>
          <a:p>
            <a:pPr marL="0" lvl="0" indent="0" algn="l">
              <a:buNone/>
            </a:pPr>
            <a:r>
              <a:rPr lang="vi-VN" dirty="0"/>
              <a:t>108–115 phút | Lab 2D – Reconcile</a:t>
            </a:r>
            <a:endParaRPr lang="vi-VN"/>
          </a:p>
          <a:p>
            <a:pPr marL="0" lvl="0" indent="0" algn="l">
              <a:buNone/>
            </a:pPr>
            <a:r>
              <a:rPr lang="vi-VN" dirty="0"/>
              <a:t>Lời giảng: Câu cuối hãy đối soát ít nhất hai hướng: order_total với item net và row count trước/sau join. Chọn ngẫu nhiên vài order để kiểm bằng tay. Nếu số không khớp, đừng chỉnh số cho giống; truy lại grain và filter.</a:t>
            </a:r>
            <a:endParaRPr lang="vi-VN"/>
          </a:p>
          <a:p>
            <a:pPr marL="0" lvl="0" indent="0" algn="l">
              <a:buNone/>
            </a:pPr>
            <a:r>
              <a:rPr lang="vi-VN" dirty="0"/>
              <a:t>Tương tác / demo: Mời một nhóm chiếu query validation, không chiếu query report trước.</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52–55 phút | Giao lab 10 business questions</a:t>
            </a:r>
            <a:endParaRPr lang="vi-VN"/>
          </a:p>
          <a:p>
            <a:pPr marL="0" lvl="0" indent="0" algn="l">
              <a:buNone/>
            </a:pPr>
            <a:r>
              <a:rPr lang="vi-VN" dirty="0"/>
              <a:t>Lời giảng: Trong lab, mỗi câu phải ghi bốn dòng trước SQL: metric, grain, bảng nguồn và query kiểm chứng. Các em không cần tối ưu tốc độ ở dataset nhỏ; ưu tiên logic đúng và giải thích được. Câu 10 là reconciliation và bắt buộc phải làm.</a:t>
            </a:r>
            <a:endParaRPr lang="vi-VN"/>
          </a:p>
          <a:p>
            <a:pPr marL="0" lvl="0" indent="0" algn="l">
              <a:buNone/>
            </a:pPr>
            <a:r>
              <a:rPr lang="vi-VN" dirty="0"/>
              <a:t>Tương tác / demo: Chia 10 câu thành 3 nhóm: basic aggregate, join reports, reconciliation. Sinh viên làm tuần tự.</a:t>
            </a:r>
            <a:endParaRPr lang="vi-VN"/>
          </a:p>
          <a:p>
            <a:pPr marL="0" lvl="0" indent="0" algn="l">
              <a:buNone/>
            </a:pPr>
            <a:r>
              <a:rPr lang="vi-VN" dirty="0"/>
              <a:t>—</a:t>
            </a:r>
            <a:endParaRPr lang="vi-VN"/>
          </a:p>
          <a:p>
            <a:pPr marL="0" lvl="0" indent="0" algn="l">
              <a:buNone/>
            </a:pPr>
            <a:r>
              <a:rPr lang="vi-VN" dirty="0"/>
              <a:t>60–78 phút | Lab 2A – Filter &amp; aggregate</a:t>
            </a:r>
            <a:endParaRPr lang="vi-VN"/>
          </a:p>
          <a:p>
            <a:pPr marL="0" lvl="0" indent="0" algn="l">
              <a:buNone/>
            </a:pPr>
            <a:r>
              <a:rPr lang="vi-VN" dirty="0"/>
              <a:t>Lời giảng: Làm các câu 1–3. Sau mỗi query, đừng chỉ nhìn kết quả; hãy đọc lại grain. Nếu output là theo tháng thì một dòng phải là một tháng. Nếu output là theo customer thì một dòng phải là một customer. Hãy dùng alias rõ ràng để người khác đọc biết metric.</a:t>
            </a:r>
            <a:endParaRPr lang="vi-VN"/>
          </a:p>
          <a:p>
            <a:pPr marL="0" lvl="0" indent="0" algn="l">
              <a:buNone/>
            </a:pPr>
            <a:r>
              <a:rPr lang="vi-VN" dirty="0"/>
              <a:t>Tương tác / demo: GV ưu tiên sửa tư duy grain, không viết hộ câu lệnh.</a:t>
            </a:r>
            <a:endParaRPr lang="vi-VN"/>
          </a:p>
          <a:p>
            <a:pPr marL="0" lvl="0" indent="0" algn="l">
              <a:buNone/>
            </a:pPr>
            <a:r>
              <a:rPr lang="vi-VN" dirty="0"/>
              <a:t>—</a:t>
            </a:r>
            <a:endParaRPr lang="vi-VN"/>
          </a:p>
          <a:p>
            <a:pPr marL="0" lvl="0" indent="0" algn="l">
              <a:buNone/>
            </a:pPr>
            <a:r>
              <a:rPr lang="vi-VN" dirty="0"/>
              <a:t>78–96 phút | Lab 2B – JOIN reports</a:t>
            </a:r>
            <a:endParaRPr lang="vi-VN"/>
          </a:p>
          <a:p>
            <a:pPr marL="0" lvl="0" indent="0" algn="l">
              <a:buNone/>
            </a:pPr>
            <a:r>
              <a:rPr lang="vi-VN" dirty="0"/>
              <a:t>Lời giảng: Chuyển sang các câu 4–6. Trước mỗi JOIN, hãy viết cardinality 1:1, 1:N hay N:M ở comment. Nếu row count tăng, phải biết tăng vì business grain hay vì join sai. Với LEFT JOIN, để ý filter ở WHERE có thể vô tình biến thành INNER JOIN.</a:t>
            </a:r>
            <a:endParaRPr lang="vi-VN"/>
          </a:p>
          <a:p>
            <a:pPr marL="0" lvl="0" indent="0" algn="l">
              <a:buNone/>
            </a:pPr>
            <a:r>
              <a:rPr lang="vi-VN" dirty="0"/>
              <a:t>Tương tác / demo: Yêu cầu một nhóm giải thích query category revenue và tại sao SUM item net an toàn hơn SUM order_total sau join items.</a:t>
            </a:r>
            <a:endParaRPr lang="vi-VN"/>
          </a:p>
          <a:p>
            <a:pPr marL="0" lvl="0" indent="0" algn="l">
              <a:buNone/>
            </a:pPr>
            <a:r>
              <a:rPr lang="vi-VN" dirty="0"/>
              <a:t>—</a:t>
            </a:r>
            <a:endParaRPr lang="vi-VN"/>
          </a:p>
          <a:p>
            <a:pPr marL="0" lvl="0" indent="0" algn="l">
              <a:buNone/>
            </a:pPr>
            <a:r>
              <a:rPr lang="vi-VN" dirty="0"/>
              <a:t>96–108 phút | Lab 2C – Top, payment, channel</a:t>
            </a:r>
            <a:endParaRPr lang="vi-VN"/>
          </a:p>
          <a:p>
            <a:pPr marL="0" lvl="0" indent="0" algn="l">
              <a:buNone/>
            </a:pPr>
            <a:r>
              <a:rPr lang="vi-VN" dirty="0"/>
              <a:t>Lời giảng: Làm top customers, payment success và channel. Với top list, xử lý tie và dùng COUNT DISTINCT khi cần. Với tỷ lệ, nhớ mẫu số có thể bằng 0 nên dùng NULLIF. Mục tiêu không phải nhớ hàm mà là làm metric có định nghĩa đủ chặt để người khác tái sử dụng.</a:t>
            </a:r>
            <a:endParaRPr lang="vi-VN"/>
          </a:p>
          <a:p>
            <a:pPr marL="0" lvl="0" indent="0" algn="l">
              <a:buNone/>
            </a:pPr>
            <a:r>
              <a:rPr lang="vi-VN" dirty="0"/>
              <a:t>Tương tác / demo: GV hỏi từng nhóm 'mẫu số của payment success là gì?' để phát hiện định nghĩa mơ hồ.</a:t>
            </a:r>
            <a:endParaRPr lang="vi-VN"/>
          </a:p>
          <a:p>
            <a:pPr marL="0" lvl="0" indent="0" algn="l">
              <a:buNone/>
            </a:pPr>
            <a:r>
              <a:rPr lang="vi-VN" dirty="0"/>
              <a:t>—</a:t>
            </a:r>
            <a:endParaRPr lang="vi-VN"/>
          </a:p>
          <a:p>
            <a:pPr marL="0" lvl="0" indent="0" algn="l">
              <a:buNone/>
            </a:pPr>
            <a:r>
              <a:rPr lang="vi-VN" dirty="0"/>
              <a:t>108–115 phút | Lab 2D – Reconcile</a:t>
            </a:r>
            <a:endParaRPr lang="vi-VN"/>
          </a:p>
          <a:p>
            <a:pPr marL="0" lvl="0" indent="0" algn="l">
              <a:buNone/>
            </a:pPr>
            <a:r>
              <a:rPr lang="vi-VN" dirty="0"/>
              <a:t>Lời giảng: Câu cuối hãy đối soát ít nhất hai hướng: order_total với item net và row count trước/sau join. Chọn ngẫu nhiên vài order để kiểm bằng tay. Nếu số không khớp, đừng chỉnh số cho giống; truy lại grain và filter.</a:t>
            </a:r>
            <a:endParaRPr lang="vi-VN"/>
          </a:p>
          <a:p>
            <a:pPr marL="0" lvl="0" indent="0" algn="l">
              <a:buNone/>
            </a:pPr>
            <a:r>
              <a:rPr lang="vi-VN" dirty="0"/>
              <a:t>Tương tác / demo: Mời một nhóm chiếu query validation, không chiếu query report trước.</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115–120 phút | Checkpoint và chốt buổi</a:t>
            </a:r>
            <a:endParaRPr lang="vi-VN"/>
          </a:p>
          <a:p>
            <a:pPr marL="0" lvl="0" indent="0" algn="l">
              <a:buNone/>
            </a:pPr>
            <a:r>
              <a:rPr lang="vi-VN" dirty="0"/>
              <a:t>Lời giảng: Cuối buổi cần đạt: seed đúng, 10 business questions, ít nhất ba multi-table JOIN và có reconciliation cho revenue/AOV. Nhớ bốn ý: bắt đầu từ metric và grain; JOIN có thể nhân bản dòng; WHERE khác HAVING; KPI luôn cần đối soát.</a:t>
            </a:r>
            <a:endParaRPr lang="vi-VN"/>
          </a:p>
          <a:p>
            <a:pPr marL="0" lvl="0" indent="0" algn="l">
              <a:buNone/>
            </a:pPr>
            <a:r>
              <a:rPr lang="vi-VN" dirty="0"/>
              <a:t>Tương tác / demo: Giao assignment và nhắc commit `session-02` theo hướng dẫn.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115–120 phút | Checkpoint và chốt buổi</a:t>
            </a:r>
            <a:endParaRPr lang="vi-VN"/>
          </a:p>
          <a:p>
            <a:pPr marL="0" lvl="0" indent="0" algn="l">
              <a:buNone/>
            </a:pPr>
            <a:r>
              <a:rPr lang="vi-VN" dirty="0"/>
              <a:t>Lời giảng: Cuối buổi cần đạt: seed đúng, 10 business questions, ít nhất ba multi-table JOIN và có reconciliation cho revenue/AOV. Nhớ bốn ý: bắt đầu từ metric và grain; JOIN có thể nhân bản dòng; WHERE khác HAVING; KPI luôn cần đối soát.</a:t>
            </a:r>
            <a:endParaRPr lang="vi-VN"/>
          </a:p>
          <a:p>
            <a:pPr marL="0" lvl="0" indent="0" algn="l">
              <a:buNone/>
            </a:pPr>
            <a:r>
              <a:rPr lang="vi-VN" dirty="0"/>
              <a:t>Tương tác / demo: Giao assignment và nhắc commit `session-02` theo hướng dẫn.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Chuyển tiếp / kết thúc</a:t>
            </a:r>
            <a:endParaRPr lang="vi-VN"/>
          </a:p>
          <a:p>
            <a:pPr marL="0" lvl="0" indent="0" algn="l">
              <a:buNone/>
            </a:pPr>
            <a:r>
              <a:rPr lang="vi-VN" dirty="0"/>
              <a:t>Lời giảng: Dùng slide này để chuyển ý hoặc kết thúc phần trình bày. Nhắc lại thông điệp chính của buổi và chỉ rõ đầu ra/bài tập học viên cần hoàn thành trước buổi tiếp theo.</a:t>
            </a:r>
            <a:endParaRPr lang="vi-VN"/>
          </a:p>
          <a:p>
            <a:pPr marL="0" lvl="0" indent="0" algn="l">
              <a:buNone/>
            </a:pPr>
            <a:r>
              <a:rPr lang="vi-VN" dirty="0"/>
              <a:t>Tương tác / demo: Dành 1–2 phút nhận câu hỏi ngắn; nhắc học viên lưu/commit artifact của buổi học.</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400" b="0">
                <a:solidFill>
                  <a:srgbClr val="000000"/>
                </a:solidFill>
                <a:latin typeface="Arial"/>
              </a:defRPr>
            </a:pPr>
            <a:r>
              <a:t>SQL thực chiến cho phân tích dữ liệu kinh doanh</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2:</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SELECT/filter/aggregate</a:t>
            </a:r>
          </a:p>
          <a:p>
            <a:pPr>
              <a:spcAft>
                <a:spcPts val="1200"/>
              </a:spcAft>
              <a:defRPr sz="2200">
                <a:solidFill>
                  <a:srgbClr val="262626"/>
                </a:solidFill>
                <a:latin typeface="Arial"/>
              </a:defRPr>
            </a:pPr>
            <a:r>
              <a:t>2. GROUP BY/HAVING</a:t>
            </a:r>
          </a:p>
          <a:p>
            <a:pPr>
              <a:spcAft>
                <a:spcPts val="1200"/>
              </a:spcAft>
              <a:defRPr sz="2200">
                <a:solidFill>
                  <a:srgbClr val="262626"/>
                </a:solidFill>
                <a:latin typeface="Arial"/>
              </a:defRPr>
            </a:pPr>
            <a:r>
              <a:t>3. JOIN</a:t>
            </a:r>
          </a:p>
          <a:p>
            <a:pPr>
              <a:spcAft>
                <a:spcPts val="1200"/>
              </a:spcAft>
              <a:defRPr sz="2200">
                <a:solidFill>
                  <a:srgbClr val="262626"/>
                </a:solidFill>
                <a:latin typeface="Arial"/>
              </a:defRPr>
            </a:pPr>
            <a:r>
              <a:t>4. Business Analytics Lab</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&amp; dữ liệu thực hành</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Kỹ năng</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Dataset seed</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SELECT / WHERE / NULL</a:t>
            </a:r>
          </a:p>
          <a:p>
            <a:pPr>
              <a:lnSpc>
                <a:spcPct val="108000"/>
              </a:lnSpc>
              <a:spcAft>
                <a:spcPts val="800"/>
              </a:spcAft>
              <a:defRPr sz="1600">
                <a:solidFill>
                  <a:srgbClr val="262626"/>
                </a:solidFill>
                <a:latin typeface="Arial"/>
              </a:defRPr>
            </a:pPr>
            <a:r>
              <a:t>• Aggregate + GROUP BY/HAVING</a:t>
            </a:r>
          </a:p>
          <a:p>
            <a:pPr>
              <a:lnSpc>
                <a:spcPct val="108000"/>
              </a:lnSpc>
              <a:spcAft>
                <a:spcPts val="800"/>
              </a:spcAft>
              <a:defRPr sz="1600">
                <a:solidFill>
                  <a:srgbClr val="262626"/>
                </a:solidFill>
                <a:latin typeface="Arial"/>
              </a:defRPr>
            </a:pPr>
            <a:r>
              <a:t>• INNER JOIN / LEFT JOIN</a:t>
            </a:r>
          </a:p>
          <a:p>
            <a:pPr>
              <a:lnSpc>
                <a:spcPct val="108000"/>
              </a:lnSpc>
              <a:spcAft>
                <a:spcPts val="800"/>
              </a:spcAft>
              <a:defRPr sz="1600">
                <a:solidFill>
                  <a:srgbClr val="262626"/>
                </a:solidFill>
                <a:latin typeface="Arial"/>
              </a:defRPr>
            </a:pPr>
            <a:r>
              <a:t>• Business question → SQL → validation</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1,000 customers</a:t>
            </a:r>
          </a:p>
          <a:p>
            <a:pPr>
              <a:lnSpc>
                <a:spcPct val="108000"/>
              </a:lnSpc>
              <a:spcAft>
                <a:spcPts val="800"/>
              </a:spcAft>
              <a:defRPr sz="1600">
                <a:solidFill>
                  <a:srgbClr val="262626"/>
                </a:solidFill>
                <a:latin typeface="Arial"/>
              </a:defRPr>
            </a:pPr>
            <a:r>
              <a:t>• 500 products</a:t>
            </a:r>
          </a:p>
          <a:p>
            <a:pPr>
              <a:lnSpc>
                <a:spcPct val="108000"/>
              </a:lnSpc>
              <a:spcAft>
                <a:spcPts val="800"/>
              </a:spcAft>
              <a:defRPr sz="1600">
                <a:solidFill>
                  <a:srgbClr val="262626"/>
                </a:solidFill>
                <a:latin typeface="Arial"/>
              </a:defRPr>
            </a:pPr>
            <a:r>
              <a:t>• 5,000 orders</a:t>
            </a:r>
          </a:p>
          <a:p>
            <a:pPr>
              <a:lnSpc>
                <a:spcPct val="108000"/>
              </a:lnSpc>
              <a:spcAft>
                <a:spcPts val="800"/>
              </a:spcAft>
              <a:defRPr sz="1600">
                <a:solidFill>
                  <a:srgbClr val="262626"/>
                </a:solidFill>
                <a:latin typeface="Arial"/>
              </a:defRPr>
            </a:pPr>
            <a:r>
              <a:t>• 12,717 order_items</a:t>
            </a:r>
          </a:p>
          <a:p>
            <a:pPr>
              <a:lnSpc>
                <a:spcPct val="108000"/>
              </a:lnSpc>
              <a:spcAft>
                <a:spcPts val="800"/>
              </a:spcAft>
              <a:defRPr sz="1600">
                <a:solidFill>
                  <a:srgbClr val="262626"/>
                </a:solidFill>
                <a:latin typeface="Arial"/>
              </a:defRPr>
            </a:pPr>
            <a:r>
              <a:t>• 4,517 payments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Bắt đầu từ metric và grain</a:t>
            </a:r>
          </a:p>
          <a:p>
            <a:pPr>
              <a:spcAft>
                <a:spcPts val="1200"/>
              </a:spcAft>
              <a:defRPr sz="2100">
                <a:solidFill>
                  <a:srgbClr val="262626"/>
                </a:solidFill>
                <a:latin typeface="Arial"/>
              </a:defRPr>
            </a:pPr>
            <a:r>
              <a:t>2. JOIN có thể làm nhân bản dòng</a:t>
            </a:r>
          </a:p>
          <a:p>
            <a:pPr>
              <a:spcAft>
                <a:spcPts val="1200"/>
              </a:spcAft>
              <a:defRPr sz="2100">
                <a:solidFill>
                  <a:srgbClr val="262626"/>
                </a:solidFill>
                <a:latin typeface="Arial"/>
              </a:defRPr>
            </a:pPr>
            <a:r>
              <a:t>3. WHERE và HAVING khác thời điểm</a:t>
            </a:r>
          </a:p>
          <a:p>
            <a:pPr>
              <a:spcAft>
                <a:spcPts val="1200"/>
              </a:spcAft>
              <a:defRPr sz="2100">
                <a:solidFill>
                  <a:srgbClr val="262626"/>
                </a:solidFill>
                <a:latin typeface="Arial"/>
              </a:defRPr>
            </a:pPr>
            <a:r>
              <a:t>4. Mọi KPI phải có truy vấn đối soát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Tư duy SQL: từ câu hỏi kinh doanh đến truy vấn</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QUESTION</a:t>
            </a:r>
          </a:p>
          <a:p>
            <a:pPr algn="ctr">
              <a:defRPr sz="1150">
                <a:solidFill>
                  <a:srgbClr val="5F6368"/>
                </a:solidFill>
                <a:latin typeface="Arial"/>
              </a:defRPr>
            </a:pPr>
            <a:r>
              <a:t>Doanh thu theo tháng?</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METRIC</a:t>
            </a:r>
          </a:p>
          <a:p>
            <a:pPr algn="ctr">
              <a:defRPr sz="1150">
                <a:solidFill>
                  <a:srgbClr val="5F6368"/>
                </a:solidFill>
                <a:latin typeface="Arial"/>
              </a:defRPr>
            </a:pPr>
            <a:r>
              <a:t>SUM order_total</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SOURCE</a:t>
            </a:r>
          </a:p>
          <a:p>
            <a:pPr algn="ctr">
              <a:defRPr sz="1150">
                <a:solidFill>
                  <a:srgbClr val="5F6368"/>
                </a:solidFill>
                <a:latin typeface="Arial"/>
              </a:defRPr>
            </a:pPr>
            <a:r>
              <a:t>orders</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FILTER</a:t>
            </a:r>
          </a:p>
          <a:p>
            <a:pPr algn="ctr">
              <a:defRPr sz="1150">
                <a:solidFill>
                  <a:srgbClr val="5F6368"/>
                </a:solidFill>
                <a:latin typeface="Arial"/>
              </a:defRPr>
            </a:pPr>
            <a:r>
              <a:t>completed</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GROUP</a:t>
            </a:r>
          </a:p>
          <a:p>
            <a:pPr algn="ctr">
              <a:defRPr sz="1150">
                <a:solidFill>
                  <a:srgbClr val="5F6368"/>
                </a:solidFill>
                <a:latin typeface="Arial"/>
              </a:defRPr>
            </a:pPr>
            <a:r>
              <a:t>month</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VALIDATE</a:t>
            </a:r>
          </a:p>
          <a:p>
            <a:pPr algn="ctr">
              <a:defRPr sz="1150">
                <a:solidFill>
                  <a:srgbClr val="5F6368"/>
                </a:solidFill>
                <a:latin typeface="Arial"/>
              </a:defRPr>
            </a:pPr>
            <a:r>
              <a:t>đối soát</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Đừng bắt đầu bằng cú pháp; bắt đầu bằng metric và grain.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SELECT và alias: chọn đúng grain đầu ra</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a:t>
            </a:r>
            <a:br/>
            <a:r>
              <a:t>  order_id,</a:t>
            </a:r>
            <a:br/>
            <a:r>
              <a:t>  customer_id,</a:t>
            </a:r>
            <a:br/>
            <a:r>
              <a:t>  order_date::date AS order_day,</a:t>
            </a:r>
            <a:br/>
            <a:r>
              <a:t>  order_total AS revenue</a:t>
            </a:r>
            <a:br/>
            <a:r>
              <a:t>FROM core.orders</a:t>
            </a:r>
            <a:br/>
            <a:r>
              <a:t>LIMIT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WHERE: filter trước khi aggregate</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order_id, customer_id, order_total</a:t>
            </a:r>
            <a:br/>
            <a:r>
              <a:t>FROM core.orders</a:t>
            </a:r>
            <a:br/>
            <a:r>
              <a:t>WHERE status = 'completed'</a:t>
            </a:r>
            <a:br/>
            <a:r>
              <a:t>  AND order_date &gt;= '2026-05-01'</a:t>
            </a:r>
            <a:br/>
            <a:r>
              <a:t>  AND order_total &gt;= 1000000</a:t>
            </a:r>
            <a:br/>
            <a:r>
              <a:t>ORDER BY order_total DESC;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NULL: không phải 0 và không phải chuỗi rỗng</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Đúng</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Sai phổ biến</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IS NULL / IS NOT NULL</a:t>
            </a:r>
          </a:p>
          <a:p>
            <a:pPr>
              <a:lnSpc>
                <a:spcPct val="108000"/>
              </a:lnSpc>
              <a:spcAft>
                <a:spcPts val="800"/>
              </a:spcAft>
              <a:defRPr sz="1600">
                <a:solidFill>
                  <a:srgbClr val="262626"/>
                </a:solidFill>
                <a:latin typeface="Arial"/>
              </a:defRPr>
            </a:pPr>
            <a:r>
              <a:t>• COALESCE(x, default)</a:t>
            </a:r>
          </a:p>
          <a:p>
            <a:pPr>
              <a:lnSpc>
                <a:spcPct val="108000"/>
              </a:lnSpc>
              <a:spcAft>
                <a:spcPts val="800"/>
              </a:spcAft>
              <a:defRPr sz="1600">
                <a:solidFill>
                  <a:srgbClr val="262626"/>
                </a:solidFill>
                <a:latin typeface="Arial"/>
              </a:defRPr>
            </a:pPr>
            <a:r>
              <a:t>• COUNT(column) bỏ qua NULL</a:t>
            </a:r>
          </a:p>
          <a:p>
            <a:pPr>
              <a:lnSpc>
                <a:spcPct val="108000"/>
              </a:lnSpc>
              <a:spcAft>
                <a:spcPts val="800"/>
              </a:spcAft>
              <a:defRPr sz="1600">
                <a:solidFill>
                  <a:srgbClr val="262626"/>
                </a:solidFill>
                <a:latin typeface="Arial"/>
              </a:defRPr>
            </a:pPr>
            <a:r>
              <a:t>• NULL cần logic 3-valued</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column = NULL</a:t>
            </a:r>
          </a:p>
          <a:p>
            <a:pPr>
              <a:lnSpc>
                <a:spcPct val="108000"/>
              </a:lnSpc>
              <a:spcAft>
                <a:spcPts val="800"/>
              </a:spcAft>
              <a:defRPr sz="1600">
                <a:solidFill>
                  <a:srgbClr val="262626"/>
                </a:solidFill>
                <a:latin typeface="Arial"/>
              </a:defRPr>
            </a:pPr>
            <a:r>
              <a:t>• COALESCE mọi thứ thành 0</a:t>
            </a:r>
          </a:p>
          <a:p>
            <a:pPr>
              <a:lnSpc>
                <a:spcPct val="108000"/>
              </a:lnSpc>
              <a:spcAft>
                <a:spcPts val="800"/>
              </a:spcAft>
              <a:defRPr sz="1600">
                <a:solidFill>
                  <a:srgbClr val="262626"/>
                </a:solidFill>
                <a:latin typeface="Arial"/>
              </a:defRPr>
            </a:pPr>
            <a:r>
              <a:t>• Quên NULL từ LEFT JOIN</a:t>
            </a:r>
          </a:p>
          <a:p>
            <a:pPr>
              <a:lnSpc>
                <a:spcPct val="108000"/>
              </a:lnSpc>
              <a:spcAft>
                <a:spcPts val="800"/>
              </a:spcAft>
              <a:defRPr sz="1600">
                <a:solidFill>
                  <a:srgbClr val="262626"/>
                </a:solidFill>
                <a:latin typeface="Arial"/>
              </a:defRPr>
            </a:pPr>
            <a:r>
              <a:t>• Nhầm missing với giá trị thật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Aggregate functions</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COUNT</a:t>
            </a:r>
          </a:p>
          <a:p>
            <a:pPr>
              <a:defRPr sz="1150">
                <a:solidFill>
                  <a:srgbClr val="262626"/>
                </a:solidFill>
                <a:latin typeface="Arial"/>
              </a:defRPr>
            </a:pPr>
            <a:r>
              <a:t>Số dòng / số giá trị</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SUM</a:t>
            </a:r>
          </a:p>
          <a:p>
            <a:pPr>
              <a:defRPr sz="1150">
                <a:solidFill>
                  <a:srgbClr val="262626"/>
                </a:solidFill>
                <a:latin typeface="Arial"/>
              </a:defRPr>
            </a:pPr>
            <a:r>
              <a:t>Tổng metric</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AVG</a:t>
            </a:r>
          </a:p>
          <a:p>
            <a:pPr>
              <a:defRPr sz="1150">
                <a:solidFill>
                  <a:srgbClr val="262626"/>
                </a:solidFill>
                <a:latin typeface="Arial"/>
              </a:defRPr>
            </a:pPr>
            <a:r>
              <a:t>Giá trị trung bình</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MIN / MAX</a:t>
            </a:r>
          </a:p>
          <a:p>
            <a:pPr>
              <a:defRPr sz="1150">
                <a:solidFill>
                  <a:srgbClr val="262626"/>
                </a:solidFill>
                <a:latin typeface="Arial"/>
              </a:defRPr>
            </a:pPr>
            <a:r>
              <a:t>Biên dưới / trên</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COUNT DISTINCT</a:t>
            </a:r>
          </a:p>
          <a:p>
            <a:pPr>
              <a:defRPr sz="1150">
                <a:solidFill>
                  <a:srgbClr val="262626"/>
                </a:solidFill>
                <a:latin typeface="Arial"/>
              </a:defRPr>
            </a:pPr>
            <a:r>
              <a:t>Số entity duy nhất</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FILTER</a:t>
            </a:r>
          </a:p>
          <a:p>
            <a:pPr>
              <a:defRPr sz="1150">
                <a:solidFill>
                  <a:srgbClr val="262626"/>
                </a:solidFill>
                <a:latin typeface="Arial"/>
              </a:defRPr>
            </a:pPr>
            <a:r>
              <a:t>Aggregate có điều kiện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GROUP BY: thay đổi grain của kết quả</a:t>
            </a:r>
          </a:p>
        </p:txBody>
      </p:sp>
      <p:sp>
        <p:nvSpPr>
          <p:cNvPr id="5" name="Rounded Rectangle 4"/>
          <p:cNvSpPr/>
          <p:nvPr/>
        </p:nvSpPr>
        <p:spPr>
          <a:xfrm>
            <a:off x="777240"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ORDERS</a:t>
            </a:r>
          </a:p>
          <a:p>
            <a:pPr algn="ctr">
              <a:defRPr sz="1150">
                <a:solidFill>
                  <a:srgbClr val="5F6368"/>
                </a:solidFill>
                <a:latin typeface="Arial"/>
              </a:defRPr>
            </a:pPr>
            <a:r>
              <a:t>1 dòng / order</a:t>
            </a:r>
          </a:p>
        </p:txBody>
      </p:sp>
      <p:sp>
        <p:nvSpPr>
          <p:cNvPr id="6" name="Right Arrow 5"/>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3024" y="2240280"/>
            <a:ext cx="3441192"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GROUP BY MONTH</a:t>
            </a:r>
          </a:p>
          <a:p>
            <a:pPr algn="ctr">
              <a:defRPr sz="1150">
                <a:solidFill>
                  <a:srgbClr val="5F6368"/>
                </a:solidFill>
                <a:latin typeface="Arial"/>
              </a:defRPr>
            </a:pPr>
            <a:r>
              <a:t>gom theo tháng</a:t>
            </a:r>
          </a:p>
        </p:txBody>
      </p:sp>
      <p:sp>
        <p:nvSpPr>
          <p:cNvPr id="8" name="Right Arrow 7"/>
          <p:cNvSpPr/>
          <p:nvPr/>
        </p:nvSpPr>
        <p:spPr>
          <a:xfrm>
            <a:off x="785164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88808"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OUTPUT</a:t>
            </a:r>
          </a:p>
          <a:p>
            <a:pPr algn="ctr">
              <a:defRPr sz="1150">
                <a:solidFill>
                  <a:srgbClr val="5F6368"/>
                </a:solidFill>
                <a:latin typeface="Arial"/>
              </a:defRPr>
            </a:pPr>
            <a:r>
              <a:t>1 dòng / tháng</a:t>
            </a:r>
          </a:p>
        </p:txBody>
      </p:sp>
      <p:sp>
        <p:nvSpPr>
          <p:cNvPr id="10" name="TextBox 9"/>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Mọi cột SELECT không aggregate phải phù hợp với GROUP BY.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WHERE khác HAVING</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WHERE</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Lọc dòng nguồn</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Trước GROUP BY</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status = completed</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Thường giảm dữ liệu sớm</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HAVING</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Lọc nhóm sau aggregate</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Sau GROUP BY</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SUM(revenue) &gt; ...</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Dựa trên metric nhóm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INNER JOIN: chỉ giữ khóa khớp</a:t>
            </a:r>
          </a:p>
        </p:txBody>
      </p:sp>
      <p:sp>
        <p:nvSpPr>
          <p:cNvPr id="5" name="Rounded Rectangle 4"/>
          <p:cNvSpPr/>
          <p:nvPr/>
        </p:nvSpPr>
        <p:spPr>
          <a:xfrm>
            <a:off x="777240"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CUSTOMERS</a:t>
            </a:r>
          </a:p>
          <a:p>
            <a:pPr algn="ctr">
              <a:defRPr sz="1150">
                <a:solidFill>
                  <a:srgbClr val="5F6368"/>
                </a:solidFill>
                <a:latin typeface="Arial"/>
              </a:defRPr>
            </a:pPr>
            <a:r>
              <a:t>customer_id</a:t>
            </a:r>
          </a:p>
        </p:txBody>
      </p:sp>
      <p:sp>
        <p:nvSpPr>
          <p:cNvPr id="6" name="Right Arrow 5"/>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3024" y="2240280"/>
            <a:ext cx="3441192"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INNER JOIN</a:t>
            </a:r>
          </a:p>
          <a:p>
            <a:pPr algn="ctr">
              <a:defRPr sz="1150">
                <a:solidFill>
                  <a:srgbClr val="5F6368"/>
                </a:solidFill>
                <a:latin typeface="Arial"/>
              </a:defRPr>
            </a:pPr>
            <a:r>
              <a:t>=</a:t>
            </a:r>
          </a:p>
        </p:txBody>
      </p:sp>
      <p:sp>
        <p:nvSpPr>
          <p:cNvPr id="8" name="Right Arrow 7"/>
          <p:cNvSpPr/>
          <p:nvPr/>
        </p:nvSpPr>
        <p:spPr>
          <a:xfrm>
            <a:off x="785164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88808"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ORDERS</a:t>
            </a:r>
          </a:p>
          <a:p>
            <a:pPr algn="ctr">
              <a:defRPr sz="1150">
                <a:solidFill>
                  <a:srgbClr val="5F6368"/>
                </a:solidFill>
                <a:latin typeface="Arial"/>
              </a:defRPr>
            </a:pPr>
            <a:r>
              <a:t>customer_id</a:t>
            </a:r>
          </a:p>
        </p:txBody>
      </p:sp>
      <p:sp>
        <p:nvSpPr>
          <p:cNvPr id="10" name="TextBox 9"/>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Nếu order tham chiếu customer hợp lệ, mỗi order sẽ ghép đúng một customer.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LEFT JOIN: giữ toàn bộ bảng bên trái</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Use case</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Lưu ý</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Tìm customer chưa mua hàng</a:t>
            </a:r>
          </a:p>
          <a:p>
            <a:pPr>
              <a:lnSpc>
                <a:spcPct val="108000"/>
              </a:lnSpc>
              <a:spcAft>
                <a:spcPts val="800"/>
              </a:spcAft>
              <a:defRPr sz="1600">
                <a:solidFill>
                  <a:srgbClr val="262626"/>
                </a:solidFill>
                <a:latin typeface="Arial"/>
              </a:defRPr>
            </a:pPr>
            <a:r>
              <a:t>• Giữ product chưa bán</a:t>
            </a:r>
          </a:p>
          <a:p>
            <a:pPr>
              <a:lnSpc>
                <a:spcPct val="108000"/>
              </a:lnSpc>
              <a:spcAft>
                <a:spcPts val="800"/>
              </a:spcAft>
              <a:defRPr sz="1600">
                <a:solidFill>
                  <a:srgbClr val="262626"/>
                </a:solidFill>
                <a:latin typeface="Arial"/>
              </a:defRPr>
            </a:pPr>
            <a:r>
              <a:t>• Kiểm tra payment missing</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Cột bảng phải có thể NULL</a:t>
            </a:r>
          </a:p>
          <a:p>
            <a:pPr>
              <a:lnSpc>
                <a:spcPct val="108000"/>
              </a:lnSpc>
              <a:spcAft>
                <a:spcPts val="800"/>
              </a:spcAft>
              <a:defRPr sz="1600">
                <a:solidFill>
                  <a:srgbClr val="262626"/>
                </a:solidFill>
                <a:latin typeface="Arial"/>
              </a:defRPr>
            </a:pPr>
            <a:r>
              <a:t>• Filter bảng phải trong WHERE có thể biến thành INNER JOIN</a:t>
            </a:r>
          </a:p>
          <a:p>
            <a:pPr>
              <a:lnSpc>
                <a:spcPct val="108000"/>
              </a:lnSpc>
              <a:spcAft>
                <a:spcPts val="800"/>
              </a:spcAft>
              <a:defRPr sz="1600">
                <a:solidFill>
                  <a:srgbClr val="262626"/>
                </a:solidFill>
                <a:latin typeface="Arial"/>
              </a:defRPr>
            </a:pPr>
            <a:r>
              <a:t>• COUNT(*) và COUNT(right.id) khác nhau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Join 1:N và nguy cơ nhân bản dòng</a:t>
            </a:r>
          </a:p>
        </p:txBody>
      </p:sp>
      <p:sp>
        <p:nvSpPr>
          <p:cNvPr id="5" name="Rounded Rectangle 4"/>
          <p:cNvSpPr/>
          <p:nvPr/>
        </p:nvSpPr>
        <p:spPr>
          <a:xfrm>
            <a:off x="777240"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 ORDER</a:t>
            </a:r>
          </a:p>
          <a:p>
            <a:pPr algn="ctr">
              <a:defRPr sz="1150">
                <a:solidFill>
                  <a:srgbClr val="5F6368"/>
                </a:solidFill>
                <a:latin typeface="Arial"/>
              </a:defRPr>
            </a:pPr>
            <a:r>
              <a:t>ORD000001</a:t>
            </a:r>
          </a:p>
        </p:txBody>
      </p:sp>
      <p:sp>
        <p:nvSpPr>
          <p:cNvPr id="6" name="Right Arrow 5"/>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3024" y="2240280"/>
            <a:ext cx="3441192"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JOIN ITEMS</a:t>
            </a:r>
          </a:p>
          <a:p>
            <a:pPr algn="ctr">
              <a:defRPr sz="1150">
                <a:solidFill>
                  <a:srgbClr val="5F6368"/>
                </a:solidFill>
                <a:latin typeface="Arial"/>
              </a:defRPr>
            </a:pPr>
            <a:r>
              <a:t>3 order_items</a:t>
            </a:r>
          </a:p>
        </p:txBody>
      </p:sp>
      <p:sp>
        <p:nvSpPr>
          <p:cNvPr id="8" name="Right Arrow 7"/>
          <p:cNvSpPr/>
          <p:nvPr/>
        </p:nvSpPr>
        <p:spPr>
          <a:xfrm>
            <a:off x="785164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88808"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RESULT</a:t>
            </a:r>
          </a:p>
          <a:p>
            <a:pPr algn="ctr">
              <a:defRPr sz="1150">
                <a:solidFill>
                  <a:srgbClr val="5F6368"/>
                </a:solidFill>
                <a:latin typeface="Arial"/>
              </a:defRPr>
            </a:pPr>
            <a:r>
              <a:t>3 rows</a:t>
            </a:r>
          </a:p>
        </p:txBody>
      </p:sp>
      <p:sp>
        <p:nvSpPr>
          <p:cNvPr id="10" name="TextBox 9"/>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Không SUM(order_total) sau khi join order_items nếu chưa xử lý grain; giá trị order sẽ bị lặp.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Logical query processing – cách nghĩ</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FROM/JOIN</a:t>
            </a:r>
          </a:p>
          <a:p>
            <a:pPr algn="ctr">
              <a:defRPr sz="1150">
                <a:solidFill>
                  <a:srgbClr val="5F6368"/>
                </a:solidFill>
                <a:latin typeface="Arial"/>
              </a:defRPr>
            </a:pPr>
            <a:r>
              <a:t>Nguồn</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WHERE</a:t>
            </a:r>
          </a:p>
          <a:p>
            <a:pPr algn="ctr">
              <a:defRPr sz="1150">
                <a:solidFill>
                  <a:srgbClr val="5F6368"/>
                </a:solidFill>
                <a:latin typeface="Arial"/>
              </a:defRPr>
            </a:pPr>
            <a:r>
              <a:t>Lọc dòng</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GROUP BY</a:t>
            </a:r>
          </a:p>
          <a:p>
            <a:pPr algn="ctr">
              <a:defRPr sz="1150">
                <a:solidFill>
                  <a:srgbClr val="5F6368"/>
                </a:solidFill>
                <a:latin typeface="Arial"/>
              </a:defRPr>
            </a:pPr>
            <a:r>
              <a:t>Tạo nhóm</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HAVING</a:t>
            </a:r>
          </a:p>
          <a:p>
            <a:pPr algn="ctr">
              <a:defRPr sz="1150">
                <a:solidFill>
                  <a:srgbClr val="5F6368"/>
                </a:solidFill>
                <a:latin typeface="Arial"/>
              </a:defRPr>
            </a:pPr>
            <a:r>
              <a:t>Lọc nhóm</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SELECT</a:t>
            </a:r>
          </a:p>
          <a:p>
            <a:pPr algn="ctr">
              <a:defRPr sz="1150">
                <a:solidFill>
                  <a:srgbClr val="5F6368"/>
                </a:solidFill>
                <a:latin typeface="Arial"/>
              </a:defRPr>
            </a:pPr>
            <a:r>
              <a:t>Chọn biểu thức</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ORDER/LIMIT</a:t>
            </a:r>
          </a:p>
          <a:p>
            <a:pPr algn="ctr">
              <a:defRPr sz="1150">
                <a:solidFill>
                  <a:srgbClr val="5F6368"/>
                </a:solidFill>
                <a:latin typeface="Arial"/>
              </a:defRPr>
            </a:pPr>
            <a:r>
              <a:t>Trình bày</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Thứ tự logic giúp giải thích nhiều lỗi SQL hơn việc học thuộc cú pháp.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KPI cơ bản của khóa học</a:t>
            </a:r>
          </a:p>
        </p:txBody>
      </p:sp>
      <p:sp>
        <p:nvSpPr>
          <p:cNvPr id="5" name="Rounded Rectangle 4"/>
          <p:cNvSpPr/>
          <p:nvPr/>
        </p:nvSpPr>
        <p:spPr>
          <a:xfrm>
            <a:off x="86868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TOTAL REVENUE</a:t>
            </a:r>
          </a:p>
          <a:p>
            <a:pPr>
              <a:defRPr sz="2000" b="1">
                <a:solidFill>
                  <a:srgbClr val="C5272A"/>
                </a:solidFill>
                <a:latin typeface="Arial"/>
              </a:defRPr>
            </a:pPr>
            <a:r>
              <a:t>SUM(order_total)</a:t>
            </a:r>
          </a:p>
          <a:p>
            <a:pPr>
              <a:defRPr sz="1050">
                <a:solidFill>
                  <a:srgbClr val="5F6368"/>
                </a:solidFill>
                <a:latin typeface="Arial"/>
              </a:defRPr>
            </a:pPr>
            <a:r>
              <a:t>completed orders</a:t>
            </a:r>
          </a:p>
        </p:txBody>
      </p:sp>
      <p:sp>
        <p:nvSpPr>
          <p:cNvPr id="6" name="Rounded Rectangle 5"/>
          <p:cNvSpPr/>
          <p:nvPr/>
        </p:nvSpPr>
        <p:spPr>
          <a:xfrm>
            <a:off x="443484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TOTAL ORDERS</a:t>
            </a:r>
          </a:p>
          <a:p>
            <a:pPr>
              <a:defRPr sz="2000" b="1">
                <a:solidFill>
                  <a:srgbClr val="C5272A"/>
                </a:solidFill>
                <a:latin typeface="Arial"/>
              </a:defRPr>
            </a:pPr>
            <a:r>
              <a:t>COUNT(*)</a:t>
            </a:r>
          </a:p>
          <a:p>
            <a:pPr>
              <a:defRPr sz="1050">
                <a:solidFill>
                  <a:srgbClr val="5F6368"/>
                </a:solidFill>
                <a:latin typeface="Arial"/>
              </a:defRPr>
            </a:pPr>
            <a:r>
              <a:t>completed orders</a:t>
            </a:r>
          </a:p>
        </p:txBody>
      </p:sp>
      <p:sp>
        <p:nvSpPr>
          <p:cNvPr id="7" name="Rounded Rectangle 6"/>
          <p:cNvSpPr/>
          <p:nvPr/>
        </p:nvSpPr>
        <p:spPr>
          <a:xfrm>
            <a:off x="800100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AOV</a:t>
            </a:r>
          </a:p>
          <a:p>
            <a:pPr>
              <a:defRPr sz="2000" b="1">
                <a:solidFill>
                  <a:srgbClr val="C5272A"/>
                </a:solidFill>
                <a:latin typeface="Arial"/>
              </a:defRPr>
            </a:pPr>
            <a:r>
              <a:t>Revenue / Orders</a:t>
            </a:r>
          </a:p>
          <a:p>
            <a:pPr>
              <a:defRPr sz="1050">
                <a:solidFill>
                  <a:srgbClr val="5F6368"/>
                </a:solidFill>
                <a:latin typeface="Arial"/>
              </a:defRPr>
            </a:pPr>
            <a:r>
              <a:t>giá trị đơn TB</a:t>
            </a:r>
          </a:p>
        </p:txBody>
      </p:sp>
      <p:sp>
        <p:nvSpPr>
          <p:cNvPr id="8" name="Rounded Rectangle 7"/>
          <p:cNvSpPr/>
          <p:nvPr/>
        </p:nvSpPr>
        <p:spPr>
          <a:xfrm>
            <a:off x="86868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ACTIVE CUSTOMERS</a:t>
            </a:r>
          </a:p>
          <a:p>
            <a:pPr>
              <a:defRPr sz="2000" b="1">
                <a:solidFill>
                  <a:srgbClr val="C5272A"/>
                </a:solidFill>
                <a:latin typeface="Arial"/>
              </a:defRPr>
            </a:pPr>
            <a:r>
              <a:t>COUNT DISTINCT</a:t>
            </a:r>
          </a:p>
          <a:p>
            <a:pPr>
              <a:defRPr sz="1050">
                <a:solidFill>
                  <a:srgbClr val="5F6368"/>
                </a:solidFill>
                <a:latin typeface="Arial"/>
              </a:defRPr>
            </a:pPr>
            <a:r>
              <a:t>customer_id</a:t>
            </a:r>
          </a:p>
        </p:txBody>
      </p:sp>
      <p:sp>
        <p:nvSpPr>
          <p:cNvPr id="9" name="Rounded Rectangle 8"/>
          <p:cNvSpPr/>
          <p:nvPr/>
        </p:nvSpPr>
        <p:spPr>
          <a:xfrm>
            <a:off x="443484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PAYMENT SUCCESS</a:t>
            </a:r>
          </a:p>
          <a:p>
            <a:pPr>
              <a:defRPr sz="2000" b="1">
                <a:solidFill>
                  <a:srgbClr val="C5272A"/>
                </a:solidFill>
                <a:latin typeface="Arial"/>
              </a:defRPr>
            </a:pPr>
            <a:r>
              <a:t>success / payments</a:t>
            </a:r>
          </a:p>
          <a:p>
            <a:pPr>
              <a:defRPr sz="1050">
                <a:solidFill>
                  <a:srgbClr val="5F6368"/>
                </a:solidFill>
                <a:latin typeface="Arial"/>
              </a:defRPr>
            </a:pPr>
            <a:r>
              <a:t>tỷ lệ %</a:t>
            </a:r>
          </a:p>
        </p:txBody>
      </p:sp>
      <p:sp>
        <p:nvSpPr>
          <p:cNvPr id="10" name="Rounded Rectangle 9"/>
          <p:cNvSpPr/>
          <p:nvPr/>
        </p:nvSpPr>
        <p:spPr>
          <a:xfrm>
            <a:off x="800100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TOP PRODUCT</a:t>
            </a:r>
          </a:p>
          <a:p>
            <a:pPr>
              <a:defRPr sz="2000" b="1">
                <a:solidFill>
                  <a:srgbClr val="C5272A"/>
                </a:solidFill>
                <a:latin typeface="Arial"/>
              </a:defRPr>
            </a:pPr>
            <a:r>
              <a:t>SUM quantity/net</a:t>
            </a:r>
          </a:p>
          <a:p>
            <a:pPr>
              <a:defRPr sz="1050">
                <a:solidFill>
                  <a:srgbClr val="5F6368"/>
                </a:solidFill>
                <a:latin typeface="Arial"/>
              </a:defRPr>
            </a:pPr>
            <a:r>
              <a:t>theo product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Revenue &amp; AOV theo tháng</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date_trunc('month', order_date)::date AS month,</a:t>
            </a:r>
            <a:br/>
            <a:r>
              <a:t>       COUNT(*) AS orders,</a:t>
            </a:r>
            <a:br/>
            <a:r>
              <a:t>       SUM(order_total) AS revenue,</a:t>
            </a:r>
            <a:br/>
            <a:r>
              <a:t>       AVG(order_total) AS aov</a:t>
            </a:r>
            <a:br/>
            <a:r>
              <a:t>FROM core.orders</a:t>
            </a:r>
            <a:br/>
            <a:r>
              <a:t>WHERE status = 'completed'</a:t>
            </a:r>
            <a:br/>
            <a:r>
              <a:t>GROUP BY 1</a:t>
            </a:r>
            <a:br/>
            <a:r>
              <a:t>ORDER BY 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Revenue theo category – join nhiều bảng</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c.category_name,</a:t>
            </a:r>
            <a:br/>
            <a:r>
              <a:t>       SUM(oi.quantity * oi.unit_price</a:t>
            </a:r>
            <a:br/>
            <a:r>
              <a:t>           - oi.discount_amount) AS revenue</a:t>
            </a:r>
            <a:br/>
            <a:r>
              <a:t>FROM core.orders o</a:t>
            </a:r>
            <a:br/>
            <a:r>
              <a:t>JOIN core.order_items oi USING(order_id)</a:t>
            </a:r>
            <a:br/>
            <a:r>
              <a:t>JOIN core.products p USING(product_id)</a:t>
            </a:r>
            <a:br/>
            <a:r>
              <a:t>JOIN core.categories c USING(category_id)</a:t>
            </a:r>
            <a:br/>
            <a:r>
              <a:t>WHERE o.status='completed'</a:t>
            </a:r>
            <a:br/>
            <a:r>
              <a:t>GROUP BY c.category_name</a:t>
            </a:r>
            <a:br/>
            <a:r>
              <a:t>ORDER BY revenue DESC;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Top customers: metric + grain + tie</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Grain đầu ra: 1 dòng / customer</a:t>
            </a:r>
          </a:p>
          <a:p>
            <a:pPr>
              <a:lnSpc>
                <a:spcPct val="108000"/>
              </a:lnSpc>
              <a:spcAft>
                <a:spcPts val="800"/>
              </a:spcAft>
              <a:defRPr sz="1800">
                <a:solidFill>
                  <a:srgbClr val="262626"/>
                </a:solidFill>
                <a:latin typeface="Arial"/>
              </a:defRPr>
            </a:pPr>
            <a:r>
              <a:t>• COUNT(DISTINCT order_id) để đếm order</a:t>
            </a:r>
          </a:p>
          <a:p>
            <a:pPr>
              <a:lnSpc>
                <a:spcPct val="108000"/>
              </a:lnSpc>
              <a:spcAft>
                <a:spcPts val="800"/>
              </a:spcAft>
              <a:defRPr sz="1800">
                <a:solidFill>
                  <a:srgbClr val="262626"/>
                </a:solidFill>
                <a:latin typeface="Arial"/>
              </a:defRPr>
            </a:pPr>
            <a:r>
              <a:t>• SUM(order_total) chỉ an toàn trước khi join order_items hoặc sau khi deduplicate</a:t>
            </a:r>
          </a:p>
          <a:p>
            <a:pPr>
              <a:lnSpc>
                <a:spcPct val="108000"/>
              </a:lnSpc>
              <a:spcAft>
                <a:spcPts val="800"/>
              </a:spcAft>
              <a:defRPr sz="1800">
                <a:solidFill>
                  <a:srgbClr val="262626"/>
                </a:solidFill>
                <a:latin typeface="Arial"/>
              </a:defRPr>
            </a:pPr>
            <a:r>
              <a:t>• ORDER BY revenue DESC LIMIT 10</a:t>
            </a:r>
          </a:p>
          <a:p>
            <a:pPr>
              <a:lnSpc>
                <a:spcPct val="108000"/>
              </a:lnSpc>
              <a:spcAft>
                <a:spcPts val="800"/>
              </a:spcAft>
              <a:defRPr sz="1800">
                <a:solidFill>
                  <a:srgbClr val="262626"/>
                </a:solidFill>
                <a:latin typeface="Arial"/>
              </a:defRPr>
            </a:pPr>
            <a:r>
              <a:t>• Luôn kiểm tra customer có nhiều orders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Payment Success Rate</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ROUND(</a:t>
            </a:r>
            <a:br/>
            <a:r>
              <a:t>  100.0 * COUNT(*) FILTER (WHERE payment_status='success')</a:t>
            </a:r>
            <a:br/>
            <a:r>
              <a:t>  / NULLIF(COUNT(*), 0), 2</a:t>
            </a:r>
            <a:br/>
            <a:r>
              <a:t>) AS payment_success_rate_pct</a:t>
            </a:r>
            <a:br/>
            <a:r>
              <a:t>FROM core.payments;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Đối soát: SQL đúng cú pháp chưa chắc đúng số</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Validation</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Dấu hiệu sai</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COUNT order trước/sau JOIN</a:t>
            </a:r>
          </a:p>
          <a:p>
            <a:pPr>
              <a:lnSpc>
                <a:spcPct val="108000"/>
              </a:lnSpc>
              <a:spcAft>
                <a:spcPts val="800"/>
              </a:spcAft>
              <a:defRPr sz="1600">
                <a:solidFill>
                  <a:srgbClr val="262626"/>
                </a:solidFill>
                <a:latin typeface="Arial"/>
              </a:defRPr>
            </a:pPr>
            <a:r>
              <a:t>• SUM item net ↔ order_total</a:t>
            </a:r>
          </a:p>
          <a:p>
            <a:pPr>
              <a:lnSpc>
                <a:spcPct val="108000"/>
              </a:lnSpc>
              <a:spcAft>
                <a:spcPts val="800"/>
              </a:spcAft>
              <a:defRPr sz="1600">
                <a:solidFill>
                  <a:srgbClr val="262626"/>
                </a:solidFill>
                <a:latin typeface="Arial"/>
              </a:defRPr>
            </a:pPr>
            <a:r>
              <a:t>• Check duplicate PK</a:t>
            </a:r>
          </a:p>
          <a:p>
            <a:pPr>
              <a:lnSpc>
                <a:spcPct val="108000"/>
              </a:lnSpc>
              <a:spcAft>
                <a:spcPts val="800"/>
              </a:spcAft>
              <a:defRPr sz="1600">
                <a:solidFill>
                  <a:srgbClr val="262626"/>
                </a:solidFill>
                <a:latin typeface="Arial"/>
              </a:defRPr>
            </a:pPr>
            <a:r>
              <a:t>• Check NULL từ LEFT JOIN</a:t>
            </a:r>
          </a:p>
          <a:p>
            <a:pPr>
              <a:lnSpc>
                <a:spcPct val="108000"/>
              </a:lnSpc>
              <a:spcAft>
                <a:spcPts val="800"/>
              </a:spcAft>
              <a:defRPr sz="1600">
                <a:solidFill>
                  <a:srgbClr val="262626"/>
                </a:solidFill>
                <a:latin typeface="Arial"/>
              </a:defRPr>
            </a:pPr>
            <a:r>
              <a:t>• Sample 5–10 orders bằng tay</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Revenue tăng bất thường</a:t>
            </a:r>
          </a:p>
          <a:p>
            <a:pPr>
              <a:lnSpc>
                <a:spcPct val="108000"/>
              </a:lnSpc>
              <a:spcAft>
                <a:spcPts val="800"/>
              </a:spcAft>
              <a:defRPr sz="1600">
                <a:solidFill>
                  <a:srgbClr val="262626"/>
                </a:solidFill>
                <a:latin typeface="Arial"/>
              </a:defRPr>
            </a:pPr>
            <a:r>
              <a:t>• Số rows tăng theo N-side</a:t>
            </a:r>
          </a:p>
          <a:p>
            <a:pPr>
              <a:lnSpc>
                <a:spcPct val="108000"/>
              </a:lnSpc>
              <a:spcAft>
                <a:spcPts val="800"/>
              </a:spcAft>
              <a:defRPr sz="1600">
                <a:solidFill>
                  <a:srgbClr val="262626"/>
                </a:solidFill>
                <a:latin typeface="Arial"/>
              </a:defRPr>
            </a:pPr>
            <a:r>
              <a:t>• AOV quá lớn/nhỏ</a:t>
            </a:r>
          </a:p>
          <a:p>
            <a:pPr>
              <a:lnSpc>
                <a:spcPct val="108000"/>
              </a:lnSpc>
              <a:spcAft>
                <a:spcPts val="800"/>
              </a:spcAft>
              <a:defRPr sz="1600">
                <a:solidFill>
                  <a:srgbClr val="262626"/>
                </a:solidFill>
                <a:latin typeface="Arial"/>
              </a:defRPr>
            </a:pPr>
            <a:r>
              <a:t>• Top list lặp entity</a:t>
            </a:r>
          </a:p>
          <a:p>
            <a:pPr>
              <a:lnSpc>
                <a:spcPct val="108000"/>
              </a:lnSpc>
              <a:spcAft>
                <a:spcPts val="800"/>
              </a:spcAft>
              <a:defRPr sz="1600">
                <a:solidFill>
                  <a:srgbClr val="262626"/>
                </a:solidFill>
                <a:latin typeface="Arial"/>
              </a:defRPr>
            </a:pPr>
            <a:r>
              <a:t>• Tổng không khớp baseline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Lab 2 – 10 business questions</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1–3</a:t>
            </a:r>
          </a:p>
          <a:p>
            <a:pPr algn="ctr">
              <a:defRPr sz="1150">
                <a:solidFill>
                  <a:srgbClr val="5F6368"/>
                </a:solidFill>
                <a:latin typeface="Arial"/>
              </a:defRPr>
            </a:pPr>
            <a:r>
              <a:t>Filter + aggregate</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4–6</a:t>
            </a:r>
          </a:p>
          <a:p>
            <a:pPr algn="ctr">
              <a:defRPr sz="1150">
                <a:solidFill>
                  <a:srgbClr val="5F6368"/>
                </a:solidFill>
                <a:latin typeface="Arial"/>
              </a:defRPr>
            </a:pPr>
            <a:r>
              <a:t>JOIN reports</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7–8</a:t>
            </a:r>
          </a:p>
          <a:p>
            <a:pPr algn="ctr">
              <a:defRPr sz="1150">
                <a:solidFill>
                  <a:srgbClr val="5F6368"/>
                </a:solidFill>
                <a:latin typeface="Arial"/>
              </a:defRPr>
            </a:pPr>
            <a:r>
              <a:t>Top &amp; payment</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9</a:t>
            </a:r>
          </a:p>
          <a:p>
            <a:pPr algn="ctr">
              <a:defRPr sz="1150">
                <a:solidFill>
                  <a:srgbClr val="5F6368"/>
                </a:solidFill>
                <a:latin typeface="Arial"/>
              </a:defRPr>
            </a:pPr>
            <a:r>
              <a:t>Channel</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10</a:t>
            </a:r>
          </a:p>
          <a:p>
            <a:pPr algn="ctr">
              <a:defRPr sz="1150">
                <a:solidFill>
                  <a:srgbClr val="5F6368"/>
                </a:solidFill>
                <a:latin typeface="Arial"/>
              </a:defRPr>
            </a:pPr>
            <a:r>
              <a:t>Reconcile</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Mỗi câu phải ghi metric, grain, bảng nguồn và truy vấn kiểm chứng.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cuối Buổi 2</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Nạp seed thành công: 1k customers, 5k orders, &gt;10k items</a:t>
            </a:r>
          </a:p>
          <a:p>
            <a:pPr>
              <a:lnSpc>
                <a:spcPct val="108000"/>
              </a:lnSpc>
              <a:spcAft>
                <a:spcPts val="800"/>
              </a:spcAft>
              <a:defRPr sz="1800">
                <a:solidFill>
                  <a:srgbClr val="262626"/>
                </a:solidFill>
                <a:latin typeface="Arial"/>
              </a:defRPr>
            </a:pPr>
            <a:r>
              <a:t>• Hoàn thành 10 business questions</a:t>
            </a:r>
          </a:p>
          <a:p>
            <a:pPr>
              <a:lnSpc>
                <a:spcPct val="108000"/>
              </a:lnSpc>
              <a:spcAft>
                <a:spcPts val="800"/>
              </a:spcAft>
              <a:defRPr sz="1800">
                <a:solidFill>
                  <a:srgbClr val="262626"/>
                </a:solidFill>
                <a:latin typeface="Arial"/>
              </a:defRPr>
            </a:pPr>
            <a:r>
              <a:t>• Ít nhất 3 truy vấn JOIN nhiều bảng</a:t>
            </a:r>
          </a:p>
          <a:p>
            <a:pPr>
              <a:lnSpc>
                <a:spcPct val="108000"/>
              </a:lnSpc>
              <a:spcAft>
                <a:spcPts val="800"/>
              </a:spcAft>
              <a:defRPr sz="1800">
                <a:solidFill>
                  <a:srgbClr val="262626"/>
                </a:solidFill>
                <a:latin typeface="Arial"/>
              </a:defRPr>
            </a:pPr>
            <a:r>
              <a:t>• Có truy vấn đối soát cho revenue/AOV</a:t>
            </a:r>
          </a:p>
          <a:p>
            <a:pPr>
              <a:lnSpc>
                <a:spcPct val="108000"/>
              </a:lnSpc>
              <a:spcAft>
                <a:spcPts val="800"/>
              </a:spcAft>
              <a:defRPr sz="1800">
                <a:solidFill>
                  <a:srgbClr val="262626"/>
                </a:solidFill>
                <a:latin typeface="Arial"/>
              </a:defRPr>
            </a:pPr>
            <a:r>
              <a:t>• Commit `session-02: business sql analytics`</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