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
  </p:notesMasterIdLst>
  <p:sldIdLst>
    <p:sldId id="256" r:id="rId2"/>
    <p:sldId id="257" r:id="rId3"/>
    <p:sldId id="258" r:id="rId4"/>
    <p:sldId id="261" r:id="rId33"/>
    <p:sldId id="262" r:id="rId34"/>
    <p:sldId id="263" r:id="rId35"/>
    <p:sldId id="264" r:id="rId36"/>
    <p:sldId id="265" r:id="rId37"/>
    <p:sldId id="266" r:id="rId38"/>
    <p:sldId id="267" r:id="rId39"/>
    <p:sldId id="268" r:id="rId40"/>
    <p:sldId id="269" r:id="rId41"/>
    <p:sldId id="270" r:id="rId42"/>
    <p:sldId id="271" r:id="rId43"/>
    <p:sldId id="272" r:id="rId44"/>
    <p:sldId id="273" r:id="rId45"/>
    <p:sldId id="274" r:id="rId46"/>
    <p:sldId id="275" r:id="rId47"/>
    <p:sldId id="276" r:id="rId48"/>
    <p:sldId id="277" r:id="rId49"/>
    <p:sldId id="278" r:id="rId50"/>
    <p:sldId id="279" r:id="rId51"/>
    <p:sldId id="259" r:id="rId5"/>
    <p:sldId id="260" r:id="rId6"/>
  </p:sldIdLst>
  <p:sldSz cx="12192000" cy="6858000"/>
  <p:notesSz cx="6858000" cy="9144000"/>
  <p:embeddedFontLst>
    <p:embeddedFont>
      <p:font typeface="Calibri" panose="020F0502020204030204" pitchFamily="34" charset="0"/>
      <p:regular r:id="rId8"/>
      <p:bold r:id="rId9"/>
      <p:italic r:id="rId10"/>
      <p:boldItalic r:id="rId11"/>
    </p:embeddedFont>
    <p:embeddedFont>
      <p:font typeface="Montserrat" panose="00000500000000000000" pitchFamily="2" charset="0"/>
      <p:regular r:id="rId12"/>
      <p:bold r:id="rId13"/>
      <p:italic r:id="rId14"/>
      <p:boldItalic r:id="rId15"/>
    </p:embeddedFont>
    <p:embeddedFont>
      <p:font typeface="Montserrat Black" panose="00000A00000000000000" pitchFamily="2" charset="0"/>
      <p:bold r:id="rId16"/>
      <p:boldItalic r:id="rId17"/>
    </p:embeddedFont>
    <p:embeddedFont>
      <p:font typeface="Montserrat ExtraBold" panose="00000900000000000000" pitchFamily="2" charset="0"/>
      <p:bold r:id="rId18"/>
      <p:boldItalic r:id="rId19"/>
    </p:embeddedFont>
    <p:embeddedFont>
      <p:font typeface="Montserrat Medium" panose="00000600000000000000" pitchFamily="2" charset="0"/>
      <p:regular r:id="rId20"/>
      <p:bold r:id="rId21"/>
      <p:italic r:id="rId22"/>
      <p:boldItalic r:id="rId23"/>
    </p:embeddedFont>
    <p:embeddedFont>
      <p:font typeface="Trebuchet MS" panose="020B0603020202020204" pitchFamily="3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irXkCGjZF/d1qb7RGT2S1sXUuH6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56"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font" Target="fonts/font1.fntdata"/><Relationship Id="rId9" Type="http://schemas.openxmlformats.org/officeDocument/2006/relationships/font" Target="fonts/font2.fntdata"/><Relationship Id="rId10" Type="http://schemas.openxmlformats.org/officeDocument/2006/relationships/font" Target="fonts/font3.fntdata"/><Relationship Id="rId11" Type="http://schemas.openxmlformats.org/officeDocument/2006/relationships/font" Target="fonts/font4.fntdata"/><Relationship Id="rId12" Type="http://schemas.openxmlformats.org/officeDocument/2006/relationships/font" Target="fonts/font5.fntdata"/><Relationship Id="rId13" Type="http://schemas.openxmlformats.org/officeDocument/2006/relationships/font" Target="fonts/font6.fntdata"/><Relationship Id="rId14" Type="http://schemas.openxmlformats.org/officeDocument/2006/relationships/font" Target="fonts/font7.fntdata"/><Relationship Id="rId15" Type="http://schemas.openxmlformats.org/officeDocument/2006/relationships/font" Target="fonts/font8.fntdata"/><Relationship Id="rId16" Type="http://schemas.openxmlformats.org/officeDocument/2006/relationships/font" Target="fonts/font9.fntdata"/><Relationship Id="rId17" Type="http://schemas.openxmlformats.org/officeDocument/2006/relationships/font" Target="fonts/font10.fntdata"/><Relationship Id="rId18" Type="http://schemas.openxmlformats.org/officeDocument/2006/relationships/font" Target="fonts/font11.fntdata"/><Relationship Id="rId19" Type="http://schemas.openxmlformats.org/officeDocument/2006/relationships/font" Target="fonts/font12.fntdata"/><Relationship Id="rId20" Type="http://schemas.openxmlformats.org/officeDocument/2006/relationships/font" Target="fonts/font13.fntdata"/><Relationship Id="rId21" Type="http://schemas.openxmlformats.org/officeDocument/2006/relationships/font" Target="fonts/font14.fntdata"/><Relationship Id="rId22" Type="http://schemas.openxmlformats.org/officeDocument/2006/relationships/font" Target="fonts/font15.fntdata"/><Relationship Id="rId23" Type="http://schemas.openxmlformats.org/officeDocument/2006/relationships/font" Target="fonts/font16.fntdata"/><Relationship Id="rId24" Type="http://schemas.openxmlformats.org/officeDocument/2006/relationships/font" Target="fonts/font17.fntdata"/><Relationship Id="rId25" Type="http://schemas.openxmlformats.org/officeDocument/2006/relationships/font" Target="fonts/font18.fntdata"/><Relationship Id="rId26" Type="http://schemas.openxmlformats.org/officeDocument/2006/relationships/font" Target="fonts/font19.fntdata"/><Relationship Id="rId27" Type="http://schemas.openxmlformats.org/officeDocument/2006/relationships/font" Target="fonts/font20.fntdata"/><Relationship Id="rId28" Type="http://customschemas.google.com/relationships/presentationmetadata" Target="metadata"/><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6.xml"/><Relationship Id="rId34" Type="http://schemas.openxmlformats.org/officeDocument/2006/relationships/slide" Target="slides/slide7.xml"/><Relationship Id="rId35" Type="http://schemas.openxmlformats.org/officeDocument/2006/relationships/slide" Target="slides/slide8.xml"/><Relationship Id="rId36" Type="http://schemas.openxmlformats.org/officeDocument/2006/relationships/slide" Target="slides/slide9.xml"/><Relationship Id="rId37" Type="http://schemas.openxmlformats.org/officeDocument/2006/relationships/slide" Target="slides/slide10.xml"/><Relationship Id="rId38" Type="http://schemas.openxmlformats.org/officeDocument/2006/relationships/slide" Target="slides/slide11.xml"/><Relationship Id="rId39" Type="http://schemas.openxmlformats.org/officeDocument/2006/relationships/slide" Target="slides/slide12.xml"/><Relationship Id="rId40" Type="http://schemas.openxmlformats.org/officeDocument/2006/relationships/slide" Target="slides/slide13.xml"/><Relationship Id="rId41" Type="http://schemas.openxmlformats.org/officeDocument/2006/relationships/slide" Target="slides/slide14.xml"/><Relationship Id="rId42" Type="http://schemas.openxmlformats.org/officeDocument/2006/relationships/slide" Target="slides/slide15.xml"/><Relationship Id="rId43" Type="http://schemas.openxmlformats.org/officeDocument/2006/relationships/slide" Target="slides/slide16.xml"/><Relationship Id="rId44" Type="http://schemas.openxmlformats.org/officeDocument/2006/relationships/slide" Target="slides/slide17.xml"/><Relationship Id="rId45" Type="http://schemas.openxmlformats.org/officeDocument/2006/relationships/slide" Target="slides/slide18.xml"/><Relationship Id="rId46" Type="http://schemas.openxmlformats.org/officeDocument/2006/relationships/slide" Target="slides/slide19.xml"/><Relationship Id="rId47" Type="http://schemas.openxmlformats.org/officeDocument/2006/relationships/slide" Target="slides/slide20.xml"/><Relationship Id="rId48" Type="http://schemas.openxmlformats.org/officeDocument/2006/relationships/slide" Target="slides/slide21.xml"/><Relationship Id="rId49" Type="http://schemas.openxmlformats.org/officeDocument/2006/relationships/slide" Target="slides/slide22.xml"/><Relationship Id="rId50" Type="http://schemas.openxmlformats.org/officeDocument/2006/relationships/slide" Target="slides/slide23.xml"/><Relationship Id="rId5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00–05 phút | Mở buổi</a:t>
            </a:r>
            <a:endParaRPr lang="vi-VN"/>
          </a:p>
          <a:p>
            <a:pPr marL="0" lvl="0" indent="0" algn="l">
              <a:buNone/>
            </a:pPr>
            <a:r>
              <a:rPr lang="vi-VN" dirty="0"/>
              <a:t>Lời giảng: Buổi 2 giúp chúng ta trả lời các câu hỏi báo cáo cơ bản. Hôm nay bài toán khó hơn: cùng dữ liệu đó nhưng cần ranking, running total, so sánh theo thời gian, customer analytics và cohort. Mục tiêu không phải viết SQL dài hơn, mà là tổ chức logic tốt hơn. Một query nâng cao tốt phải đọc được, kiểm tra được và giữ đúng grain.</a:t>
            </a:r>
            <a:endParaRPr lang="vi-VN"/>
          </a:p>
          <a:p>
            <a:pPr marL="0" lvl="0" indent="0" algn="l">
              <a:buNone/>
            </a:pPr>
            <a:r>
              <a:rPr lang="vi-VN" dirty="0"/>
              <a:t>Tương tác / demo: Hỏi: 'GROUP BY làm giảm số dòng; có cách nào tính tổng/rank nhưng vẫn giữ từng dòng không?' để dẫn vào window.</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11bac9ab7f9_1_6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00–05 phút | Mở buổi</a:t>
            </a:r>
            <a:endParaRPr lang="vi-VN"/>
          </a:p>
          <a:p>
            <a:pPr marL="0" lvl="0" indent="0" algn="l">
              <a:buNone/>
            </a:pPr>
            <a:r>
              <a:rPr lang="vi-VN" dirty="0"/>
              <a:t>Lời giảng: Buổi 2 giúp chúng ta trả lời các câu hỏi báo cáo cơ bản. Hôm nay bài toán khó hơn: cùng dữ liệu đó nhưng cần ranking, running total, so sánh theo thời gian, customer analytics và cohort. Mục tiêu không phải viết SQL dài hơn, mà là tổ chức logic tốt hơn. Một query nâng cao tốt phải đọc được, kiểm tra được và giữ đúng grain.</a:t>
            </a:r>
            <a:endParaRPr lang="vi-VN"/>
          </a:p>
          <a:p>
            <a:pPr marL="0" lvl="0" indent="0" algn="l">
              <a:buNone/>
            </a:pPr>
            <a:r>
              <a:rPr lang="vi-VN" dirty="0"/>
              <a:t>Tương tác / demo: Hỏi: 'GROUP BY làm giảm số dòng; có cách nào tính tổng/rank nhưng vẫn giữ từng dòng không?' để dẫn vào window.</a:t>
            </a:r>
            <a:endParaRPr lang="vi-VN"/>
          </a:p>
        </p:txBody>
      </p:sp>
      <p:sp>
        <p:nvSpPr>
          <p:cNvPr id="182" name="Google Shape;182;g11bac9ab7f9_1_6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1bac9ab7f9_1_8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00–05 phút | Mở buổi</a:t>
            </a:r>
            <a:endParaRPr lang="vi-VN"/>
          </a:p>
          <a:p>
            <a:pPr marL="0" lvl="0" indent="0" algn="l">
              <a:buNone/>
            </a:pPr>
            <a:r>
              <a:rPr lang="vi-VN" dirty="0"/>
              <a:t>Lời giảng: Buổi 2 giúp chúng ta trả lời các câu hỏi báo cáo cơ bản. Hôm nay bài toán khó hơn: cùng dữ liệu đó nhưng cần ranking, running total, so sánh theo thời gian, customer analytics và cohort. Mục tiêu không phải viết SQL dài hơn, mà là tổ chức logic tốt hơn. Một query nâng cao tốt phải đọc được, kiểm tra được và giữ đúng grain.</a:t>
            </a:r>
            <a:endParaRPr lang="vi-VN"/>
          </a:p>
          <a:p>
            <a:pPr marL="0" lvl="0" indent="0" algn="l">
              <a:buNone/>
            </a:pPr>
            <a:r>
              <a:rPr lang="vi-VN" dirty="0"/>
              <a:t>Tương tác / demo: Hỏi: 'GROUP BY làm giảm số dòng; có cách nào tính tổng/rank nhưng vẫn giữ từng dòng không?' để dẫn vào window.</a:t>
            </a:r>
            <a:endParaRPr lang="vi-VN"/>
          </a:p>
        </p:txBody>
      </p:sp>
      <p:sp>
        <p:nvSpPr>
          <p:cNvPr id="189" name="Google Shape;189;g11bac9ab7f9_1_8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11bac9ab7f9_1_10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05–15 phút | Subquery và CTE</a:t>
            </a:r>
            <a:endParaRPr lang="vi-VN"/>
          </a:p>
          <a:p>
            <a:pPr marL="0" lvl="0" indent="0" algn="l">
              <a:buNone/>
            </a:pPr>
            <a:r>
              <a:rPr lang="vi-VN" dirty="0"/>
              <a:t>Lời giảng: Subquery là truy vấn bên trong truy vấn; CTE cho phép đặt tên từng bước. Khi logic có nhiều join và metric, CTE giúp chúng ta chuẩn grain trước, tính metric sau rồi mới select/report. Hãy coi CTE như pipeline nhỏ bên trong SQL: mỗi bước có input/output rõ. CTE không tự động làm query nhanh hơn, nhưng làm logic review và đối soát dễ hơn.</a:t>
            </a:r>
            <a:endParaRPr lang="vi-VN"/>
          </a:p>
          <a:p>
            <a:pPr marL="0" lvl="0" indent="0" algn="l">
              <a:buNone/>
            </a:pPr>
            <a:r>
              <a:rPr lang="vi-VN" dirty="0"/>
              <a:t>Tương tác / demo: Refactor nhanh một query dài thành `completed`, `monthly`, `final`. Hỏi lớp mỗi CTE có grain gì.</a:t>
            </a:r>
            <a:endParaRPr lang="vi-VN"/>
          </a:p>
        </p:txBody>
      </p:sp>
      <p:sp>
        <p:nvSpPr>
          <p:cNvPr id="196" name="Google Shape;196;g11bac9ab7f9_1_10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11bb26f517d_0_1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05–15 phút | Subquery và CTE</a:t>
            </a:r>
            <a:endParaRPr lang="vi-VN"/>
          </a:p>
          <a:p>
            <a:pPr marL="0" lvl="0" indent="0" algn="l">
              <a:buNone/>
            </a:pPr>
            <a:r>
              <a:rPr lang="vi-VN" dirty="0"/>
              <a:t>Lời giảng: Subquery là truy vấn bên trong truy vấn; CTE cho phép đặt tên từng bước. Khi logic có nhiều join và metric, CTE giúp chúng ta chuẩn grain trước, tính metric sau rồi mới select/report. Hãy coi CTE như pipeline nhỏ bên trong SQL: mỗi bước có input/output rõ. CTE không tự động làm query nhanh hơn, nhưng làm logic review và đối soát dễ hơn.</a:t>
            </a:r>
            <a:endParaRPr lang="vi-VN"/>
          </a:p>
          <a:p>
            <a:pPr marL="0" lvl="0" indent="0" algn="l">
              <a:buNone/>
            </a:pPr>
            <a:r>
              <a:rPr lang="vi-VN" dirty="0"/>
              <a:t>Tương tác / demo: Refactor nhanh một query dài thành `completed`, `monthly`, `final`. Hỏi lớp mỗi CTE có grain gì.</a:t>
            </a:r>
            <a:endParaRPr lang="vi-VN"/>
          </a:p>
        </p:txBody>
      </p:sp>
      <p:sp>
        <p:nvSpPr>
          <p:cNvPr id="203" name="Google Shape;203;g11bb26f517d_0_1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05–15 phút | Subquery và CTE</a:t>
            </a:r>
            <a:endParaRPr lang="vi-VN"/>
          </a:p>
          <a:p>
            <a:pPr marL="0" lvl="0" indent="0" algn="l">
              <a:buNone/>
            </a:pPr>
            <a:r>
              <a:rPr lang="vi-VN" dirty="0"/>
              <a:t>Lời giảng: Subquery là truy vấn bên trong truy vấn; CTE cho phép đặt tên từng bước. Khi logic có nhiều join và metric, CTE giúp chúng ta chuẩn grain trước, tính metric sau rồi mới select/report. Hãy coi CTE như pipeline nhỏ bên trong SQL: mỗi bước có input/output rõ. CTE không tự động làm query nhanh hơn, nhưng làm logic review và đối soát dễ hơn.</a:t>
            </a:r>
            <a:endParaRPr lang="vi-VN"/>
          </a:p>
          <a:p>
            <a:pPr marL="0" lvl="0" indent="0" algn="l">
              <a:buNone/>
            </a:pPr>
            <a:r>
              <a:rPr lang="vi-VN" dirty="0"/>
              <a:t>Tương tác / demo: Refactor nhanh một query dài thành `completed`, `monthly`, `final`. Hỏi lớp mỗi CTE có grain gì.</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15–29 phút | Window Function, ranking, running, LAG/LEAD</a:t>
            </a:r>
            <a:endParaRPr lang="vi-VN"/>
          </a:p>
          <a:p>
            <a:pPr marL="0" lvl="0" indent="0" algn="l">
              <a:buNone/>
            </a:pPr>
            <a:r>
              <a:rPr lang="vi-VN" dirty="0"/>
              <a:t>Lời giảng: Khác biệt cốt lõi: GROUP BY collapse rows, window giữ grain và thêm ngữ cảnh. PARTITION BY tạo nhóm logic nhưng không giảm dòng; ORDER BY xác định thứ tự trong window. ROW_NUMBER, RANK và DENSE_RANK khác nhau ở xử lý tie. Running revenue là cumulative SUM; LAG/LEAD cho phép so sánh kỳ hiện tại với kỳ trước/sau mà không self-join phức tạp.</a:t>
            </a:r>
            <a:endParaRPr lang="vi-VN"/>
          </a:p>
          <a:p>
            <a:pPr marL="0" lvl="0" indent="0" algn="l">
              <a:buNone/>
            </a:pPr>
            <a:r>
              <a:rPr lang="vi-VN" dirty="0"/>
              <a:t>Tương tác / demo: Cho ví dụ tie 100, 90, 90, 80 và yêu cầu lớp nói kết quả RANK/DENSE_RANK. Sau đó demo running revenue.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15–29 phút | Window Function, ranking, running, LAG/LEAD</a:t>
            </a:r>
            <a:endParaRPr lang="vi-VN"/>
          </a:p>
          <a:p>
            <a:pPr marL="0" lvl="0" indent="0" algn="l">
              <a:buNone/>
            </a:pPr>
            <a:r>
              <a:rPr lang="vi-VN" dirty="0"/>
              <a:t>Lời giảng: Khác biệt cốt lõi: GROUP BY collapse rows, window giữ grain và thêm ngữ cảnh. PARTITION BY tạo nhóm logic nhưng không giảm dòng; ORDER BY xác định thứ tự trong window. ROW_NUMBER, RANK và DENSE_RANK khác nhau ở xử lý tie. Running revenue là cumulative SUM; LAG/LEAD cho phép so sánh kỳ hiện tại với kỳ trước/sau mà không self-join phức tạp.</a:t>
            </a:r>
            <a:endParaRPr lang="vi-VN"/>
          </a:p>
          <a:p>
            <a:pPr marL="0" lvl="0" indent="0" algn="l">
              <a:buNone/>
            </a:pPr>
            <a:r>
              <a:rPr lang="vi-VN" dirty="0"/>
              <a:t>Tương tác / demo: Cho ví dụ tie 100, 90, 90, 80 và yêu cầu lớp nói kết quả RANK/DENSE_RANK. Sau đó demo running revenue.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15–29 phút | Window Function, ranking, running, LAG/LEAD</a:t>
            </a:r>
            <a:endParaRPr lang="vi-VN"/>
          </a:p>
          <a:p>
            <a:pPr marL="0" lvl="0" indent="0" algn="l">
              <a:buNone/>
            </a:pPr>
            <a:r>
              <a:rPr lang="vi-VN" dirty="0"/>
              <a:t>Lời giảng: Khác biệt cốt lõi: GROUP BY collapse rows, window giữ grain và thêm ngữ cảnh. PARTITION BY tạo nhóm logic nhưng không giảm dòng; ORDER BY xác định thứ tự trong window. ROW_NUMBER, RANK và DENSE_RANK khác nhau ở xử lý tie. Running revenue là cumulative SUM; LAG/LEAD cho phép so sánh kỳ hiện tại với kỳ trước/sau mà không self-join phức tạp.</a:t>
            </a:r>
            <a:endParaRPr lang="vi-VN"/>
          </a:p>
          <a:p>
            <a:pPr marL="0" lvl="0" indent="0" algn="l">
              <a:buNone/>
            </a:pPr>
            <a:r>
              <a:rPr lang="vi-VN" dirty="0"/>
              <a:t>Tương tác / demo: Cho ví dụ tie 100, 90, 90, 80 và yêu cầu lớp nói kết quả RANK/DENSE_RANK. Sau đó demo running revenue.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15–29 phút | Window Function, ranking, running, LAG/LEAD</a:t>
            </a:r>
            <a:endParaRPr lang="vi-VN"/>
          </a:p>
          <a:p>
            <a:pPr marL="0" lvl="0" indent="0" algn="l">
              <a:buNone/>
            </a:pPr>
            <a:r>
              <a:rPr lang="vi-VN" dirty="0"/>
              <a:t>Lời giảng: Khác biệt cốt lõi: GROUP BY collapse rows, window giữ grain và thêm ngữ cảnh. PARTITION BY tạo nhóm logic nhưng không giảm dòng; ORDER BY xác định thứ tự trong window. ROW_NUMBER, RANK và DENSE_RANK khác nhau ở xử lý tie. Running revenue là cumulative SUM; LAG/LEAD cho phép so sánh kỳ hiện tại với kỳ trước/sau mà không self-join phức tạp.</a:t>
            </a:r>
            <a:endParaRPr lang="vi-VN"/>
          </a:p>
          <a:p>
            <a:pPr marL="0" lvl="0" indent="0" algn="l">
              <a:buNone/>
            </a:pPr>
            <a:r>
              <a:rPr lang="vi-VN" dirty="0"/>
              <a:t>Tương tác / demo: Cho ví dụ tie 100, 90, 90, 80 và yêu cầu lớp nói kết quả RANK/DENSE_RANK. Sau đó demo running revenue.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15–29 phút | Window Function, ranking, running, LAG/LEAD</a:t>
            </a:r>
            <a:endParaRPr lang="vi-VN"/>
          </a:p>
          <a:p>
            <a:pPr marL="0" lvl="0" indent="0" algn="l">
              <a:buNone/>
            </a:pPr>
            <a:r>
              <a:rPr lang="vi-VN" dirty="0"/>
              <a:t>Lời giảng: Khác biệt cốt lõi: GROUP BY collapse rows, window giữ grain và thêm ngữ cảnh. PARTITION BY tạo nhóm logic nhưng không giảm dòng; ORDER BY xác định thứ tự trong window. ROW_NUMBER, RANK và DENSE_RANK khác nhau ở xử lý tie. Running revenue là cumulative SUM; LAG/LEAD cho phép so sánh kỳ hiện tại với kỳ trước/sau mà không self-join phức tạp.</a:t>
            </a:r>
            <a:endParaRPr lang="vi-VN"/>
          </a:p>
          <a:p>
            <a:pPr marL="0" lvl="0" indent="0" algn="l">
              <a:buNone/>
            </a:pPr>
            <a:r>
              <a:rPr lang="vi-VN" dirty="0"/>
              <a:t>Tương tác / demo: Cho ví dụ tie 100, 90, 90, 80 và yêu cầu lớp nói kết quả RANK/DENSE_RANK. Sau đó demo running revenue.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15–29 phút | Window Function, ranking, running, LAG/LEAD</a:t>
            </a:r>
            <a:endParaRPr lang="vi-VN"/>
          </a:p>
          <a:p>
            <a:pPr marL="0" lvl="0" indent="0" algn="l">
              <a:buNone/>
            </a:pPr>
            <a:r>
              <a:rPr lang="vi-VN" dirty="0"/>
              <a:t>Lời giảng: Khác biệt cốt lõi: GROUP BY collapse rows, window giữ grain và thêm ngữ cảnh. PARTITION BY tạo nhóm logic nhưng không giảm dòng; ORDER BY xác định thứ tự trong window. ROW_NUMBER, RANK và DENSE_RANK khác nhau ở xử lý tie. Running revenue là cumulative SUM; LAG/LEAD cho phép so sánh kỳ hiện tại với kỳ trước/sau mà không self-join phức tạp.</a:t>
            </a:r>
            <a:endParaRPr lang="vi-VN"/>
          </a:p>
          <a:p>
            <a:pPr marL="0" lvl="0" indent="0" algn="l">
              <a:buNone/>
            </a:pPr>
            <a:r>
              <a:rPr lang="vi-VN" dirty="0"/>
              <a:t>Tương tác / demo: Cho ví dụ tie 100, 90, 90, 80 và yêu cầu lớp nói kết quả RANK/DENSE_RANK. Sau đó demo running revenue.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29–39 phút | Customer Analytics và RFM-like</a:t>
            </a:r>
            <a:endParaRPr lang="vi-VN"/>
          </a:p>
          <a:p>
            <a:pPr marL="0" lvl="0" indent="0" algn="l">
              <a:buNone/>
            </a:pPr>
            <a:r>
              <a:rPr lang="vi-VN" dirty="0"/>
              <a:t>Lời giảng: Customer analytics cần định nghĩa first purchase, last purchase, frequency, monetary và returning customer. Lưu ý first/last phải dựa trên completed order nếu business định nghĩa mua hàng thành công. RFM-like ở đây là dataset phân tích, chưa phải mô hình marketing hoàn chỉnh. CTE giúp gom customer-level grain và đảm bảo mỗi customer xuất hiện đúng một dòng.</a:t>
            </a:r>
            <a:endParaRPr lang="vi-VN"/>
          </a:p>
          <a:p>
            <a:pPr marL="0" lvl="0" indent="0" algn="l">
              <a:buNone/>
            </a:pPr>
            <a:r>
              <a:rPr lang="vi-VN" dirty="0"/>
              <a:t>Tương tác / demo: Hỏi: 'Nếu customer có order cancelled trước completed order đầu tiên, cohort nên lấy ngày nào?'</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29–39 phút | Customer Analytics và RFM-like</a:t>
            </a:r>
            <a:endParaRPr lang="vi-VN"/>
          </a:p>
          <a:p>
            <a:pPr marL="0" lvl="0" indent="0" algn="l">
              <a:buNone/>
            </a:pPr>
            <a:r>
              <a:rPr lang="vi-VN" dirty="0"/>
              <a:t>Lời giảng: Customer analytics cần định nghĩa first purchase, last purchase, frequency, monetary và returning customer. Lưu ý first/last phải dựa trên completed order nếu business định nghĩa mua hàng thành công. RFM-like ở đây là dataset phân tích, chưa phải mô hình marketing hoàn chỉnh. CTE giúp gom customer-level grain và đảm bảo mỗi customer xuất hiện đúng một dòng.</a:t>
            </a:r>
            <a:endParaRPr lang="vi-VN"/>
          </a:p>
          <a:p>
            <a:pPr marL="0" lvl="0" indent="0" algn="l">
              <a:buNone/>
            </a:pPr>
            <a:r>
              <a:rPr lang="vi-VN" dirty="0"/>
              <a:t>Tương tác / demo: Hỏi: 'Nếu customer có order cancelled trước completed order đầu tiên, cohort nên lấy ngày nào?'</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29–39 phút | Customer Analytics và RFM-like</a:t>
            </a:r>
            <a:endParaRPr lang="vi-VN"/>
          </a:p>
          <a:p>
            <a:pPr marL="0" lvl="0" indent="0" algn="l">
              <a:buNone/>
            </a:pPr>
            <a:r>
              <a:rPr lang="vi-VN" dirty="0"/>
              <a:t>Lời giảng: Customer analytics cần định nghĩa first purchase, last purchase, frequency, monetary và returning customer. Lưu ý first/last phải dựa trên completed order nếu business định nghĩa mua hàng thành công. RFM-like ở đây là dataset phân tích, chưa phải mô hình marketing hoàn chỉnh. CTE giúp gom customer-level grain và đảm bảo mỗi customer xuất hiện đúng một dòng.</a:t>
            </a:r>
            <a:endParaRPr lang="vi-VN"/>
          </a:p>
          <a:p>
            <a:pPr marL="0" lvl="0" indent="0" algn="l">
              <a:buNone/>
            </a:pPr>
            <a:r>
              <a:rPr lang="vi-VN" dirty="0"/>
              <a:t>Tương tác / demo: Hỏi: 'Nếu customer có order cancelled trước completed order đầu tiên, cohort nên lấy ngày nào?'</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39–47 phút | Cohort analysis</a:t>
            </a:r>
            <a:endParaRPr lang="vi-VN"/>
          </a:p>
          <a:p>
            <a:pPr marL="0" lvl="0" indent="0" algn="l">
              <a:buNone/>
            </a:pPr>
            <a:r>
              <a:rPr lang="vi-VN" dirty="0"/>
              <a:t>Lời giảng: Cohort trả lời một câu hỏi khác với RFM: nhóm khách theo thời điểm acquire và xem họ hoạt động lại theo thời gian. Ba bước: tìm cohort_month từ first purchase, tạo activity_month từ các completed order, rồi count distinct customer theo cohort × activity. Ở Foundation, ưu tiên bảng cohort đúng trước khi nghĩ tới heatmap đẹp.</a:t>
            </a:r>
            <a:endParaRPr lang="vi-VN"/>
          </a:p>
          <a:p>
            <a:pPr marL="0" lvl="0" indent="0" algn="l">
              <a:buNone/>
            </a:pPr>
            <a:r>
              <a:rPr lang="vi-VN" dirty="0"/>
              <a:t>Tương tác / demo: Vẽ ma trận cohort 3×3 lên bảng. Nhấn mạnh không double count một customer nhiều order trong cùng tháng.</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39–47 phút | Cohort analysis</a:t>
            </a:r>
            <a:endParaRPr lang="vi-VN"/>
          </a:p>
          <a:p>
            <a:pPr marL="0" lvl="0" indent="0" algn="l">
              <a:buNone/>
            </a:pPr>
            <a:r>
              <a:rPr lang="vi-VN" dirty="0"/>
              <a:t>Lời giảng: Cohort trả lời một câu hỏi khác với RFM: nhóm khách theo thời điểm acquire và xem họ hoạt động lại theo thời gian. Ba bước: tìm cohort_month từ first purchase, tạo activity_month từ các completed order, rồi count distinct customer theo cohort × activity. Ở Foundation, ưu tiên bảng cohort đúng trước khi nghĩ tới heatmap đẹp.</a:t>
            </a:r>
            <a:endParaRPr lang="vi-VN"/>
          </a:p>
          <a:p>
            <a:pPr marL="0" lvl="0" indent="0" algn="l">
              <a:buNone/>
            </a:pPr>
            <a:r>
              <a:rPr lang="vi-VN" dirty="0"/>
              <a:t>Tương tác / demo: Vẽ ma trận cohort 3×3 lên bảng. Nhấn mạnh không double count một customer nhiều order trong cùng tháng.</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47–54 phút | KPI dashboard, best practice và performance</a:t>
            </a:r>
            <a:endParaRPr lang="vi-VN"/>
          </a:p>
          <a:p>
            <a:pPr marL="0" lvl="0" indent="0" algn="l">
              <a:buNone/>
            </a:pPr>
            <a:r>
              <a:rPr lang="vi-VN" dirty="0"/>
              <a:t>Lời giảng: Dataset dashboard cần grain cố định, ví dụ 1 row/day với revenue, orders, active/new customers và payment success. Best practice là CTE có tên, explicit columns, comment metric/grain và validation query riêng. Về performance, ở mức Foundation chỉ cần hiểu index trên key/date thường dùng, đọc được Seq Scan/Index Scan và luôn tối ưu logic grain trước micro-optimization.</a:t>
            </a:r>
            <a:endParaRPr lang="vi-VN"/>
          </a:p>
          <a:p>
            <a:pPr marL="0" lvl="0" indent="0" algn="l">
              <a:buNone/>
            </a:pPr>
            <a:r>
              <a:rPr lang="vi-VN" dirty="0"/>
              <a:t>Tương tác / demo: Nếu còn thời gian, mở EXPLAIN một query đơn giản và chỉ cho lớp nơi đọc scan type; không đi sâu cost model.</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47–54 phút | KPI dashboard, best practice và performance</a:t>
            </a:r>
            <a:endParaRPr lang="vi-VN"/>
          </a:p>
          <a:p>
            <a:pPr marL="0" lvl="0" indent="0" algn="l">
              <a:buNone/>
            </a:pPr>
            <a:r>
              <a:rPr lang="vi-VN" dirty="0"/>
              <a:t>Lời giảng: Dataset dashboard cần grain cố định, ví dụ 1 row/day với revenue, orders, active/new customers và payment success. Best practice là CTE có tên, explicit columns, comment metric/grain và validation query riêng. Về performance, ở mức Foundation chỉ cần hiểu index trên key/date thường dùng, đọc được Seq Scan/Index Scan và luôn tối ưu logic grain trước micro-optimization.</a:t>
            </a:r>
            <a:endParaRPr lang="vi-VN"/>
          </a:p>
          <a:p>
            <a:pPr marL="0" lvl="0" indent="0" algn="l">
              <a:buNone/>
            </a:pPr>
            <a:r>
              <a:rPr lang="vi-VN" dirty="0"/>
              <a:t>Tương tác / demo: Nếu còn thời gian, mở EXPLAIN một query đơn giản và chỉ cho lớp nơi đọc scan type; không đi sâu cost model.</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47–54 phút | KPI dashboard, best practice và performance</a:t>
            </a:r>
            <a:endParaRPr lang="vi-VN"/>
          </a:p>
          <a:p>
            <a:pPr marL="0" lvl="0" indent="0" algn="l">
              <a:buNone/>
            </a:pPr>
            <a:r>
              <a:rPr lang="vi-VN" dirty="0"/>
              <a:t>Lời giảng: Dataset dashboard cần grain cố định, ví dụ 1 row/day với revenue, orders, active/new customers và payment success. Best practice là CTE có tên, explicit columns, comment metric/grain và validation query riêng. Về performance, ở mức Foundation chỉ cần hiểu index trên key/date thường dùng, đọc được Seq Scan/Index Scan và luôn tối ưu logic grain trước micro-optimization.</a:t>
            </a:r>
            <a:endParaRPr lang="vi-VN"/>
          </a:p>
          <a:p>
            <a:pPr marL="0" lvl="0" indent="0" algn="l">
              <a:buNone/>
            </a:pPr>
            <a:r>
              <a:rPr lang="vi-VN" dirty="0"/>
              <a:t>Tương tác / demo: Nếu còn thời gian, mở EXPLAIN một query đơn giản và chỉ cho lớp nơi đọc scan type; không đi sâu cost model.</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54–60 phút | Giao lab</a:t>
            </a:r>
            <a:endParaRPr lang="vi-VN"/>
          </a:p>
          <a:p>
            <a:pPr marL="0" lvl="0" indent="0" algn="l">
              <a:buNone/>
            </a:pPr>
            <a:r>
              <a:rPr lang="vi-VN" dirty="0"/>
              <a:t>Lời giảng: Lab hôm nay gồm năm phần: CTE refactor, window ranking, time analytics, customer dataset và cohort table. Các em có thể làm trong một query pack nhưng phải comment rõ từng phần. Mỗi phần đều cần một checkpoint định lượng, ví dụ running revenue phải tăng đơn điệu và rank phải reset theo category.</a:t>
            </a:r>
            <a:endParaRPr lang="vi-VN"/>
          </a:p>
          <a:p>
            <a:pPr marL="0" lvl="0" indent="0" algn="l">
              <a:buNone/>
            </a:pPr>
            <a:r>
              <a:rPr lang="vi-VN" dirty="0"/>
              <a:t>Tương tác / demo: Phân nhóm 2 người; một người viết query, một người kiểm grain/checkpoint rồi đổi vai.</a:t>
            </a:r>
            <a:endParaRPr lang="vi-VN"/>
          </a:p>
          <a:p>
            <a:pPr marL="0" lvl="0" indent="0" algn="l">
              <a:buNone/>
            </a:pPr>
            <a:r>
              <a:rPr lang="vi-VN" dirty="0"/>
              <a:t>—</a:t>
            </a:r>
            <a:endParaRPr lang="vi-VN"/>
          </a:p>
          <a:p>
            <a:pPr marL="0" lvl="0" indent="0" algn="l">
              <a:buNone/>
            </a:pPr>
            <a:r>
              <a:rPr lang="vi-VN" dirty="0"/>
              <a:t>60–74 phút | Lab 3A – CTE refactor</a:t>
            </a:r>
            <a:endParaRPr lang="vi-VN"/>
          </a:p>
          <a:p>
            <a:pPr marL="0" lvl="0" indent="0" algn="l">
              <a:buNone/>
            </a:pPr>
            <a:r>
              <a:rPr lang="vi-VN" dirty="0"/>
              <a:t>Lời giảng: Chọn một query nhiều bước từ Buổi 2 và refactor bằng CTE. Không thêm logic mới; mục tiêu là làm cấu trúc rõ hơn. Sau đó chạy từng CTE riêng để xác nhận row count/grain trước khi ghép final.</a:t>
            </a:r>
            <a:endParaRPr lang="vi-VN"/>
          </a:p>
          <a:p>
            <a:pPr marL="0" lvl="0" indent="0" algn="l">
              <a:buNone/>
            </a:pPr>
            <a:r>
              <a:rPr lang="vi-VN" dirty="0"/>
              <a:t>Tương tác / demo: GV hỏi 'CTE này một dòng đại diện cho gì?' ở mỗi nhóm.</a:t>
            </a:r>
            <a:endParaRPr lang="vi-VN"/>
          </a:p>
          <a:p>
            <a:pPr marL="0" lvl="0" indent="0" algn="l">
              <a:buNone/>
            </a:pPr>
            <a:r>
              <a:rPr lang="vi-VN" dirty="0"/>
              <a:t>—</a:t>
            </a:r>
            <a:endParaRPr lang="vi-VN"/>
          </a:p>
          <a:p>
            <a:pPr marL="0" lvl="0" indent="0" algn="l">
              <a:buNone/>
            </a:pPr>
            <a:r>
              <a:rPr lang="vi-VN" dirty="0"/>
              <a:t>74–89 phút | Lab 3B – Window ranking + running</a:t>
            </a:r>
            <a:endParaRPr lang="vi-VN"/>
          </a:p>
          <a:p>
            <a:pPr marL="0" lvl="0" indent="0" algn="l">
              <a:buNone/>
            </a:pPr>
            <a:r>
              <a:rPr lang="vi-VN" dirty="0"/>
              <a:t>Lời giảng: Tạo product revenue rồi rank trong từng category. Kiểm tra rank reset khi đổi category. Sau đó tạo daily/monthly KPI và tính running revenue. Nếu running revenue giảm ở một thời điểm thì query hoặc metric đang sai.</a:t>
            </a:r>
            <a:endParaRPr lang="vi-VN"/>
          </a:p>
          <a:p>
            <a:pPr marL="0" lvl="0" indent="0" algn="l">
              <a:buNone/>
            </a:pPr>
            <a:r>
              <a:rPr lang="vi-VN" dirty="0"/>
              <a:t>Tương tác / demo: Yêu cầu một nhóm cố tình thay PARTITION BY để lớp quan sát sai khác.</a:t>
            </a:r>
            <a:endParaRPr lang="vi-VN"/>
          </a:p>
          <a:p>
            <a:pPr marL="0" lvl="0" indent="0" algn="l">
              <a:buNone/>
            </a:pPr>
            <a:r>
              <a:rPr lang="vi-VN" dirty="0"/>
              <a:t>—</a:t>
            </a:r>
            <a:endParaRPr lang="vi-VN"/>
          </a:p>
          <a:p>
            <a:pPr marL="0" lvl="0" indent="0" algn="l">
              <a:buNone/>
            </a:pPr>
            <a:r>
              <a:rPr lang="vi-VN" dirty="0"/>
              <a:t>89–102 phút | Lab 3C – LAG + Customer RFM-like</a:t>
            </a:r>
            <a:endParaRPr lang="vi-VN"/>
          </a:p>
          <a:p>
            <a:pPr marL="0" lvl="0" indent="0" algn="l">
              <a:buNone/>
            </a:pPr>
            <a:r>
              <a:rPr lang="vi-VN" dirty="0"/>
              <a:t>Lời giảng: Dùng LAG để tính delta doanh thu theo tháng. Tiếp theo tạo customer dataset: first/last/frequency/monetary/returning. Đảm bảo grain cuối là 1 row/customer và chỉ dùng completed orders cho metric đã định nghĩa.</a:t>
            </a:r>
            <a:endParaRPr lang="vi-VN"/>
          </a:p>
          <a:p>
            <a:pPr marL="0" lvl="0" indent="0" algn="l">
              <a:buNone/>
            </a:pPr>
            <a:r>
              <a:rPr lang="vi-VN" dirty="0"/>
              <a:t>Tương tác / demo: GV chọn một customer cụ thể để kiểm tay first/last và số order.</a:t>
            </a:r>
            <a:endParaRPr lang="vi-VN"/>
          </a:p>
          <a:p>
            <a:pPr marL="0" lvl="0" indent="0" algn="l">
              <a:buNone/>
            </a:pPr>
            <a:r>
              <a:rPr lang="vi-VN" dirty="0"/>
              <a:t>—</a:t>
            </a:r>
            <a:endParaRPr lang="vi-VN"/>
          </a:p>
          <a:p>
            <a:pPr marL="0" lvl="0" indent="0" algn="l">
              <a:buNone/>
            </a:pPr>
            <a:r>
              <a:rPr lang="vi-VN" dirty="0"/>
              <a:t>102–112 phút | Lab 3D – Cohort</a:t>
            </a:r>
            <a:endParaRPr lang="vi-VN"/>
          </a:p>
          <a:p>
            <a:pPr marL="0" lvl="0" indent="0" algn="l">
              <a:buNone/>
            </a:pPr>
            <a:r>
              <a:rPr lang="vi-VN" dirty="0"/>
              <a:t>Lời giảng: Tạo cohort_month, activity_month, rồi group distinct customer. Kiểm tra một customer có nhiều order trong cùng tháng vẫn chỉ đếm một lần. Nếu mở rộng retention rate, mẫu số là cohort size, không phải active của tháng hiện tại.</a:t>
            </a:r>
            <a:endParaRPr lang="vi-VN"/>
          </a:p>
          <a:p>
            <a:pPr marL="0" lvl="0" indent="0" algn="l">
              <a:buNone/>
            </a:pPr>
            <a:r>
              <a:rPr lang="vi-VN" dirty="0"/>
              <a:t>Tương tác / demo: Cho sinh viên đối soát cohort size với số customer acquired từng tháng.</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112–118 phút | Checkpoint</a:t>
            </a:r>
            <a:endParaRPr lang="vi-VN"/>
          </a:p>
          <a:p>
            <a:pPr marL="0" lvl="0" indent="0" algn="l">
              <a:buNone/>
            </a:pPr>
            <a:r>
              <a:rPr lang="vi-VN" dirty="0"/>
              <a:t>Lời giảng: Kiểm bốn điều: running revenue tăng đơn điệu; product rank reset theo category; customer dataset đủ first/last/frequency/monetary; cohort không double count. Nếu query đúng nhưng khó đọc, vẫn cần refactor trước khi coi là hoàn thành.</a:t>
            </a:r>
            <a:endParaRPr lang="vi-VN"/>
          </a:p>
          <a:p>
            <a:pPr marL="0" lvl="0" indent="0" algn="l">
              <a:buNone/>
            </a:pPr>
            <a:r>
              <a:rPr lang="vi-VN" dirty="0"/>
              <a:t>Tương tác / demo: Mời một nhóm trình bày một validation query thay vì chỉ khoe output đẹp.</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118–120 phút | Chốt buổi</a:t>
            </a:r>
            <a:endParaRPr lang="vi-VN"/>
          </a:p>
          <a:p>
            <a:pPr marL="0" lvl="0" indent="0" algn="l">
              <a:buNone/>
            </a:pPr>
            <a:r>
              <a:rPr lang="vi-VN" dirty="0"/>
              <a:t>Lời giảng: Nhớ bốn ý: CTE chia logic thành bước; window giữ grain và thêm ngữ cảnh; customer/cohort cần định nghĩa thời gian rõ; SQL analytics phải readable và verifiable. Đây là nền để Buổi 4 đưa metric vào Data Mart.</a:t>
            </a:r>
            <a:endParaRPr lang="vi-VN"/>
          </a:p>
          <a:p>
            <a:pPr marL="0" lvl="0" indent="0" algn="l">
              <a:buNone/>
            </a:pPr>
            <a:r>
              <a:rPr lang="vi-VN" dirty="0"/>
              <a:t>Tương tác / demo: Giao assignment và nhắc lưu query pack có comment grain.</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118–120 phút | Chốt buổi</a:t>
            </a:r>
            <a:endParaRPr lang="vi-VN"/>
          </a:p>
          <a:p>
            <a:pPr marL="0" lvl="0" indent="0" algn="l">
              <a:buNone/>
            </a:pPr>
            <a:r>
              <a:rPr lang="vi-VN" dirty="0"/>
              <a:t>Lời giảng: Nhớ bốn ý: CTE chia logic thành bước; window giữ grain và thêm ngữ cảnh; customer/cohort cần định nghĩa thời gian rõ; SQL analytics phải readable và verifiable. Đây là nền để Buổi 4 đưa metric vào Data Mart.</a:t>
            </a:r>
            <a:endParaRPr lang="vi-VN"/>
          </a:p>
          <a:p>
            <a:pPr marL="0" lvl="0" indent="0" algn="l">
              <a:buNone/>
            </a:pPr>
            <a:r>
              <a:rPr lang="vi-VN" dirty="0"/>
              <a:t>Tương tác / demo: Giao assignment và nhắc lưu query pack có comment grain.</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Section Header">
  <p:cSld name="1_Section Header">
    <p:spTree>
      <p:nvGrpSpPr>
        <p:cNvPr id="1" name="Shape 16"/>
        <p:cNvGrpSpPr/>
        <p:nvPr/>
      </p:nvGrpSpPr>
      <p:grpSpPr>
        <a:xfrm>
          <a:off x="0" y="0"/>
          <a:ext cx="0" cy="0"/>
          <a:chOff x="0" y="0"/>
          <a:chExt cx="0" cy="0"/>
        </a:xfrm>
      </p:grpSpPr>
      <p:sp>
        <p:nvSpPr>
          <p:cNvPr id="17" name="Google Shape;17;p32"/>
          <p:cNvSpPr txBox="1">
            <a:spLocks noGrp="1"/>
          </p:cNvSpPr>
          <p:nvPr>
            <p:ph type="title"/>
          </p:nvPr>
        </p:nvSpPr>
        <p:spPr>
          <a:xfrm rot="5400000">
            <a:off x="-1225840" y="1040275"/>
            <a:ext cx="4164099" cy="184542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C00000"/>
              </a:buClr>
              <a:buSzPts val="6000"/>
              <a:buFont typeface="Montserrat Black"/>
              <a:buNone/>
              <a:defRPr sz="6000" b="1">
                <a:solidFill>
                  <a:srgbClr val="C00000"/>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32"/>
          <p:cNvSpPr txBox="1">
            <a:spLocks noGrp="1"/>
          </p:cNvSpPr>
          <p:nvPr>
            <p:ph type="body" idx="1" hasCustomPrompt="1"/>
          </p:nvPr>
        </p:nvSpPr>
        <p:spPr>
          <a:xfrm>
            <a:off x="2394064" y="2759840"/>
            <a:ext cx="1122220"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dirty="0"/>
              <a:t>1</a:t>
            </a:r>
            <a:endParaRPr dirty="0"/>
          </a:p>
        </p:txBody>
      </p:sp>
      <p:sp>
        <p:nvSpPr>
          <p:cNvPr id="20" name="Google Shape;20;p32"/>
          <p:cNvSpPr txBox="1">
            <a:spLocks noGrp="1"/>
          </p:cNvSpPr>
          <p:nvPr>
            <p:ph type="body" idx="2"/>
          </p:nvPr>
        </p:nvSpPr>
        <p:spPr>
          <a:xfrm>
            <a:off x="3516284" y="28884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32"/>
          <p:cNvSpPr txBox="1">
            <a:spLocks noGrp="1"/>
          </p:cNvSpPr>
          <p:nvPr>
            <p:ph type="body" idx="3" hasCustomPrompt="1"/>
          </p:nvPr>
        </p:nvSpPr>
        <p:spPr>
          <a:xfrm>
            <a:off x="2310942" y="4349625"/>
            <a:ext cx="1205342"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dirty="0"/>
              <a:t>2</a:t>
            </a:r>
            <a:endParaRPr dirty="0"/>
          </a:p>
        </p:txBody>
      </p:sp>
      <p:sp>
        <p:nvSpPr>
          <p:cNvPr id="22" name="Google Shape;22;p32"/>
          <p:cNvSpPr txBox="1">
            <a:spLocks noGrp="1"/>
          </p:cNvSpPr>
          <p:nvPr>
            <p:ph type="body" idx="4"/>
          </p:nvPr>
        </p:nvSpPr>
        <p:spPr>
          <a:xfrm>
            <a:off x="3516284"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 name="Google Shape;23;p32"/>
          <p:cNvSpPr txBox="1">
            <a:spLocks noGrp="1"/>
          </p:cNvSpPr>
          <p:nvPr>
            <p:ph type="body" idx="5"/>
          </p:nvPr>
        </p:nvSpPr>
        <p:spPr>
          <a:xfrm>
            <a:off x="7245926" y="2759840"/>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2"/>
          <p:cNvSpPr txBox="1">
            <a:spLocks noGrp="1"/>
          </p:cNvSpPr>
          <p:nvPr>
            <p:ph type="body" idx="6"/>
          </p:nvPr>
        </p:nvSpPr>
        <p:spPr>
          <a:xfrm>
            <a:off x="8448502" y="2888427"/>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32"/>
          <p:cNvSpPr txBox="1">
            <a:spLocks noGrp="1"/>
          </p:cNvSpPr>
          <p:nvPr>
            <p:ph type="body" idx="7"/>
          </p:nvPr>
        </p:nvSpPr>
        <p:spPr>
          <a:xfrm>
            <a:off x="7245926" y="4349625"/>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32"/>
          <p:cNvSpPr txBox="1">
            <a:spLocks noGrp="1"/>
          </p:cNvSpPr>
          <p:nvPr>
            <p:ph type="body" idx="8"/>
          </p:nvPr>
        </p:nvSpPr>
        <p:spPr>
          <a:xfrm>
            <a:off x="8448502"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32"/>
          <p:cNvSpPr txBox="1">
            <a:spLocks noGrp="1"/>
          </p:cNvSpPr>
          <p:nvPr>
            <p:ph type="body" idx="9"/>
          </p:nvPr>
        </p:nvSpPr>
        <p:spPr>
          <a:xfrm>
            <a:off x="3516283" y="3284445"/>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32"/>
          <p:cNvSpPr txBox="1">
            <a:spLocks noGrp="1"/>
          </p:cNvSpPr>
          <p:nvPr>
            <p:ph type="body" idx="13"/>
          </p:nvPr>
        </p:nvSpPr>
        <p:spPr>
          <a:xfrm>
            <a:off x="3516283" y="4874231"/>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32"/>
          <p:cNvSpPr txBox="1">
            <a:spLocks noGrp="1"/>
          </p:cNvSpPr>
          <p:nvPr>
            <p:ph type="body" idx="14"/>
          </p:nvPr>
        </p:nvSpPr>
        <p:spPr>
          <a:xfrm>
            <a:off x="8448501" y="3284444"/>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32"/>
          <p:cNvSpPr txBox="1">
            <a:spLocks noGrp="1"/>
          </p:cNvSpPr>
          <p:nvPr>
            <p:ph type="body" idx="15"/>
          </p:nvPr>
        </p:nvSpPr>
        <p:spPr>
          <a:xfrm>
            <a:off x="8448500" y="48937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BEB9D187-055C-A20F-D630-69C136C329CF}"/>
              </a:ext>
            </a:extLst>
          </p:cNvPr>
          <p:cNvPicPr>
            <a:picLocks noChangeAspect="1"/>
          </p:cNvPicPr>
          <p:nvPr userDrawn="1"/>
        </p:nvPicPr>
        <p:blipFill>
          <a:blip r:embed="rId2"/>
          <a:stretch>
            <a:fillRect/>
          </a:stretch>
        </p:blipFill>
        <p:spPr>
          <a:xfrm>
            <a:off x="9584574" y="474131"/>
            <a:ext cx="2441171" cy="417651"/>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2"/>
        <p:cNvGrpSpPr/>
        <p:nvPr/>
      </p:nvGrpSpPr>
      <p:grpSpPr>
        <a:xfrm>
          <a:off x="0" y="0"/>
          <a:ext cx="0" cy="0"/>
          <a:chOff x="0" y="0"/>
          <a:chExt cx="0" cy="0"/>
        </a:xfrm>
      </p:grpSpPr>
      <p:sp>
        <p:nvSpPr>
          <p:cNvPr id="33" name="Google Shape;33;p38"/>
          <p:cNvSpPr txBox="1">
            <a:spLocks noGrp="1"/>
          </p:cNvSpPr>
          <p:nvPr>
            <p:ph type="body" idx="1"/>
          </p:nvPr>
        </p:nvSpPr>
        <p:spPr>
          <a:xfrm>
            <a:off x="742507" y="1978428"/>
            <a:ext cx="5181600" cy="4019651"/>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4" name="Google Shape;34;p38"/>
          <p:cNvPicPr preferRelativeResize="0"/>
          <p:nvPr/>
        </p:nvPicPr>
        <p:blipFill rotWithShape="1">
          <a:blip r:embed="rId2">
            <a:alphaModFix/>
          </a:blip>
          <a:srcRect/>
          <a:stretch/>
        </p:blipFill>
        <p:spPr>
          <a:xfrm>
            <a:off x="11087100" y="5837237"/>
            <a:ext cx="1104900" cy="1038225"/>
          </a:xfrm>
          <a:prstGeom prst="rect">
            <a:avLst/>
          </a:prstGeom>
          <a:noFill/>
          <a:ln>
            <a:noFill/>
          </a:ln>
        </p:spPr>
      </p:pic>
      <p:pic>
        <p:nvPicPr>
          <p:cNvPr id="35" name="Google Shape;35;p38"/>
          <p:cNvPicPr preferRelativeResize="0"/>
          <p:nvPr/>
        </p:nvPicPr>
        <p:blipFill rotWithShape="1">
          <a:blip r:embed="rId3">
            <a:alphaModFix/>
          </a:blip>
          <a:srcRect/>
          <a:stretch/>
        </p:blipFill>
        <p:spPr>
          <a:xfrm>
            <a:off x="838200" y="0"/>
            <a:ext cx="2860964" cy="315884"/>
          </a:xfrm>
          <a:prstGeom prst="rect">
            <a:avLst/>
          </a:prstGeom>
          <a:noFill/>
          <a:ln>
            <a:noFill/>
          </a:ln>
        </p:spPr>
      </p:pic>
      <p:sp>
        <p:nvSpPr>
          <p:cNvPr id="36" name="Google Shape;36;p38"/>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37" name="Google Shape;37;p38"/>
          <p:cNvSpPr txBox="1">
            <a:spLocks noGrp="1"/>
          </p:cNvSpPr>
          <p:nvPr>
            <p:ph type="body" idx="2"/>
          </p:nvPr>
        </p:nvSpPr>
        <p:spPr>
          <a:xfrm>
            <a:off x="6267893" y="1978428"/>
            <a:ext cx="5181600" cy="4019652"/>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38"/>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40"/>
        <p:cNvGrpSpPr/>
        <p:nvPr/>
      </p:nvGrpSpPr>
      <p:grpSpPr>
        <a:xfrm>
          <a:off x="0" y="0"/>
          <a:ext cx="0" cy="0"/>
          <a:chOff x="0" y="0"/>
          <a:chExt cx="0" cy="0"/>
        </a:xfrm>
      </p:grpSpPr>
      <p:pic>
        <p:nvPicPr>
          <p:cNvPr id="41" name="Google Shape;41;p34"/>
          <p:cNvPicPr preferRelativeResize="0"/>
          <p:nvPr/>
        </p:nvPicPr>
        <p:blipFill rotWithShape="1">
          <a:blip r:embed="rId2">
            <a:alphaModFix/>
          </a:blip>
          <a:srcRect/>
          <a:stretch/>
        </p:blipFill>
        <p:spPr>
          <a:xfrm>
            <a:off x="559185" y="0"/>
            <a:ext cx="2860964" cy="315884"/>
          </a:xfrm>
          <a:prstGeom prst="rect">
            <a:avLst/>
          </a:prstGeom>
          <a:noFill/>
          <a:ln>
            <a:noFill/>
          </a:ln>
        </p:spPr>
      </p:pic>
      <p:sp>
        <p:nvSpPr>
          <p:cNvPr id="42" name="Google Shape;42;p34"/>
          <p:cNvSpPr txBox="1">
            <a:spLocks noGrp="1"/>
          </p:cNvSpPr>
          <p:nvPr>
            <p:ph type="ctrTitle"/>
          </p:nvPr>
        </p:nvSpPr>
        <p:spPr>
          <a:xfrm>
            <a:off x="1697669" y="3351966"/>
            <a:ext cx="7200000" cy="1080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000000"/>
              </a:buClr>
              <a:buSzPts val="4000"/>
              <a:buFont typeface="Montserrat ExtraBold"/>
              <a:buNone/>
              <a:defRPr sz="4000">
                <a:solidFill>
                  <a:srgbClr val="000000"/>
                </a:solidFill>
                <a:latin typeface="Montserrat ExtraBold"/>
                <a:ea typeface="Montserrat ExtraBold"/>
                <a:cs typeface="Montserrat ExtraBold"/>
                <a:sym typeface="Montserrat ExtraBold"/>
              </a:defRPr>
            </a:lvl1pPr>
            <a:lvl2pPr lvl="1" algn="ctr">
              <a:lnSpc>
                <a:spcPct val="100000"/>
              </a:lnSpc>
              <a:spcBef>
                <a:spcPts val="0"/>
              </a:spcBef>
              <a:spcAft>
                <a:spcPts val="0"/>
              </a:spcAft>
              <a:buClr>
                <a:srgbClr val="000000"/>
              </a:buClr>
              <a:buSzPts val="5200"/>
              <a:buNone/>
              <a:defRPr sz="5200">
                <a:solidFill>
                  <a:srgbClr val="000000"/>
                </a:solidFill>
              </a:defRPr>
            </a:lvl2pPr>
            <a:lvl3pPr lvl="2" algn="ctr">
              <a:lnSpc>
                <a:spcPct val="100000"/>
              </a:lnSpc>
              <a:spcBef>
                <a:spcPts val="0"/>
              </a:spcBef>
              <a:spcAft>
                <a:spcPts val="0"/>
              </a:spcAft>
              <a:buClr>
                <a:srgbClr val="000000"/>
              </a:buClr>
              <a:buSzPts val="5200"/>
              <a:buNone/>
              <a:defRPr sz="5200">
                <a:solidFill>
                  <a:srgbClr val="000000"/>
                </a:solidFill>
              </a:defRPr>
            </a:lvl3pPr>
            <a:lvl4pPr lvl="3" algn="ctr">
              <a:lnSpc>
                <a:spcPct val="100000"/>
              </a:lnSpc>
              <a:spcBef>
                <a:spcPts val="0"/>
              </a:spcBef>
              <a:spcAft>
                <a:spcPts val="0"/>
              </a:spcAft>
              <a:buClr>
                <a:srgbClr val="000000"/>
              </a:buClr>
              <a:buSzPts val="5200"/>
              <a:buNone/>
              <a:defRPr sz="5200">
                <a:solidFill>
                  <a:srgbClr val="000000"/>
                </a:solidFill>
              </a:defRPr>
            </a:lvl4pPr>
            <a:lvl5pPr lvl="4" algn="ctr">
              <a:lnSpc>
                <a:spcPct val="100000"/>
              </a:lnSpc>
              <a:spcBef>
                <a:spcPts val="0"/>
              </a:spcBef>
              <a:spcAft>
                <a:spcPts val="0"/>
              </a:spcAft>
              <a:buClr>
                <a:srgbClr val="000000"/>
              </a:buClr>
              <a:buSzPts val="5200"/>
              <a:buNone/>
              <a:defRPr sz="5200">
                <a:solidFill>
                  <a:srgbClr val="000000"/>
                </a:solidFill>
              </a:defRPr>
            </a:lvl5pPr>
            <a:lvl6pPr lvl="5" algn="ctr">
              <a:lnSpc>
                <a:spcPct val="100000"/>
              </a:lnSpc>
              <a:spcBef>
                <a:spcPts val="0"/>
              </a:spcBef>
              <a:spcAft>
                <a:spcPts val="0"/>
              </a:spcAft>
              <a:buClr>
                <a:srgbClr val="000000"/>
              </a:buClr>
              <a:buSzPts val="5200"/>
              <a:buNone/>
              <a:defRPr sz="5200">
                <a:solidFill>
                  <a:srgbClr val="000000"/>
                </a:solidFill>
              </a:defRPr>
            </a:lvl6pPr>
            <a:lvl7pPr lvl="6" algn="ctr">
              <a:lnSpc>
                <a:spcPct val="100000"/>
              </a:lnSpc>
              <a:spcBef>
                <a:spcPts val="0"/>
              </a:spcBef>
              <a:spcAft>
                <a:spcPts val="0"/>
              </a:spcAft>
              <a:buClr>
                <a:srgbClr val="000000"/>
              </a:buClr>
              <a:buSzPts val="5200"/>
              <a:buNone/>
              <a:defRPr sz="5200">
                <a:solidFill>
                  <a:srgbClr val="000000"/>
                </a:solidFill>
              </a:defRPr>
            </a:lvl7pPr>
            <a:lvl8pPr lvl="7" algn="ctr">
              <a:lnSpc>
                <a:spcPct val="100000"/>
              </a:lnSpc>
              <a:spcBef>
                <a:spcPts val="0"/>
              </a:spcBef>
              <a:spcAft>
                <a:spcPts val="0"/>
              </a:spcAft>
              <a:buClr>
                <a:srgbClr val="000000"/>
              </a:buClr>
              <a:buSzPts val="5200"/>
              <a:buNone/>
              <a:defRPr sz="5200">
                <a:solidFill>
                  <a:srgbClr val="000000"/>
                </a:solidFill>
              </a:defRPr>
            </a:lvl8pPr>
            <a:lvl9pPr lvl="8" algn="ctr">
              <a:lnSpc>
                <a:spcPct val="100000"/>
              </a:lnSpc>
              <a:spcBef>
                <a:spcPts val="0"/>
              </a:spcBef>
              <a:spcAft>
                <a:spcPts val="0"/>
              </a:spcAft>
              <a:buClr>
                <a:srgbClr val="000000"/>
              </a:buClr>
              <a:buSzPts val="5200"/>
              <a:buNone/>
              <a:defRPr sz="5200">
                <a:solidFill>
                  <a:srgbClr val="000000"/>
                </a:solidFill>
              </a:defRPr>
            </a:lvl9pPr>
          </a:lstStyle>
          <a:p>
            <a:endParaRPr dirty="0"/>
          </a:p>
        </p:txBody>
      </p:sp>
      <p:sp>
        <p:nvSpPr>
          <p:cNvPr id="43" name="Google Shape;43;p34"/>
          <p:cNvSpPr txBox="1">
            <a:spLocks noGrp="1"/>
          </p:cNvSpPr>
          <p:nvPr>
            <p:ph type="subTitle" idx="1"/>
          </p:nvPr>
        </p:nvSpPr>
        <p:spPr>
          <a:xfrm>
            <a:off x="1697669" y="4071966"/>
            <a:ext cx="5041797" cy="360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AEABAB"/>
              </a:buClr>
              <a:buSzPts val="2800"/>
              <a:buNone/>
              <a:defRPr>
                <a:solidFill>
                  <a:srgbClr val="AEABAB"/>
                </a:solidFill>
                <a:latin typeface="Montserrat Medium"/>
                <a:ea typeface="Montserrat Medium"/>
                <a:cs typeface="Montserrat Medium"/>
                <a:sym typeface="Montserrat Medium"/>
              </a:defRPr>
            </a:lvl1pPr>
            <a:lvl2pPr lvl="1" algn="l">
              <a:lnSpc>
                <a:spcPct val="90000"/>
              </a:lnSpc>
              <a:spcBef>
                <a:spcPts val="1600"/>
              </a:spcBef>
              <a:spcAft>
                <a:spcPts val="0"/>
              </a:spcAft>
              <a:buClr>
                <a:schemeClr val="dk1"/>
              </a:buClr>
              <a:buSzPts val="2400"/>
              <a:buNone/>
              <a:defRPr/>
            </a:lvl2pPr>
            <a:lvl3pPr lvl="2" algn="l">
              <a:lnSpc>
                <a:spcPct val="90000"/>
              </a:lnSpc>
              <a:spcBef>
                <a:spcPts val="1600"/>
              </a:spcBef>
              <a:spcAft>
                <a:spcPts val="0"/>
              </a:spcAft>
              <a:buClr>
                <a:schemeClr val="dk1"/>
              </a:buClr>
              <a:buSzPts val="2000"/>
              <a:buNone/>
              <a:defRPr/>
            </a:lvl3pPr>
            <a:lvl4pPr lvl="3" algn="l">
              <a:lnSpc>
                <a:spcPct val="90000"/>
              </a:lnSpc>
              <a:spcBef>
                <a:spcPts val="1600"/>
              </a:spcBef>
              <a:spcAft>
                <a:spcPts val="0"/>
              </a:spcAft>
              <a:buClr>
                <a:schemeClr val="dk1"/>
              </a:buClr>
              <a:buSzPts val="1800"/>
              <a:buNone/>
              <a:defRPr/>
            </a:lvl4pPr>
            <a:lvl5pPr lvl="4" algn="l">
              <a:lnSpc>
                <a:spcPct val="90000"/>
              </a:lnSpc>
              <a:spcBef>
                <a:spcPts val="1600"/>
              </a:spcBef>
              <a:spcAft>
                <a:spcPts val="0"/>
              </a:spcAft>
              <a:buClr>
                <a:schemeClr val="dk1"/>
              </a:buClr>
              <a:buSzPts val="1800"/>
              <a:buNone/>
              <a:defRPr/>
            </a:lvl5pPr>
            <a:lvl6pPr lvl="5" algn="l">
              <a:lnSpc>
                <a:spcPct val="90000"/>
              </a:lnSpc>
              <a:spcBef>
                <a:spcPts val="1600"/>
              </a:spcBef>
              <a:spcAft>
                <a:spcPts val="0"/>
              </a:spcAft>
              <a:buClr>
                <a:schemeClr val="dk1"/>
              </a:buClr>
              <a:buSzPts val="1800"/>
              <a:buNone/>
              <a:defRPr/>
            </a:lvl6pPr>
            <a:lvl7pPr lvl="6" algn="l">
              <a:lnSpc>
                <a:spcPct val="90000"/>
              </a:lnSpc>
              <a:spcBef>
                <a:spcPts val="1600"/>
              </a:spcBef>
              <a:spcAft>
                <a:spcPts val="0"/>
              </a:spcAft>
              <a:buClr>
                <a:schemeClr val="dk1"/>
              </a:buClr>
              <a:buSzPts val="1800"/>
              <a:buNone/>
              <a:defRPr/>
            </a:lvl7pPr>
            <a:lvl8pPr lvl="7" algn="l">
              <a:lnSpc>
                <a:spcPct val="90000"/>
              </a:lnSpc>
              <a:spcBef>
                <a:spcPts val="1600"/>
              </a:spcBef>
              <a:spcAft>
                <a:spcPts val="0"/>
              </a:spcAft>
              <a:buClr>
                <a:schemeClr val="dk1"/>
              </a:buClr>
              <a:buSzPts val="1800"/>
              <a:buNone/>
              <a:defRPr/>
            </a:lvl8pPr>
            <a:lvl9pPr lvl="8" algn="l">
              <a:lnSpc>
                <a:spcPct val="90000"/>
              </a:lnSpc>
              <a:spcBef>
                <a:spcPts val="1600"/>
              </a:spcBef>
              <a:spcAft>
                <a:spcPts val="1600"/>
              </a:spcAft>
              <a:buClr>
                <a:schemeClr val="dk1"/>
              </a:buClr>
              <a:buSzPts val="1800"/>
              <a:buNone/>
              <a:defRPr/>
            </a:lvl9pPr>
          </a:lstStyle>
          <a:p>
            <a:endParaRPr/>
          </a:p>
        </p:txBody>
      </p:sp>
      <p:pic>
        <p:nvPicPr>
          <p:cNvPr id="44" name="Google Shape;44;p34"/>
          <p:cNvPicPr preferRelativeResize="0"/>
          <p:nvPr/>
        </p:nvPicPr>
        <p:blipFill rotWithShape="1">
          <a:blip r:embed="rId3">
            <a:alphaModFix/>
          </a:blip>
          <a:srcRect/>
          <a:stretch/>
        </p:blipFill>
        <p:spPr>
          <a:xfrm>
            <a:off x="9349810" y="1223962"/>
            <a:ext cx="4438650" cy="4410075"/>
          </a:xfrm>
          <a:prstGeom prst="rect">
            <a:avLst/>
          </a:prstGeom>
          <a:noFill/>
          <a:ln>
            <a:noFill/>
          </a:ln>
        </p:spPr>
      </p:pic>
      <p:sp>
        <p:nvSpPr>
          <p:cNvPr id="45" name="Google Shape;45;p34"/>
          <p:cNvSpPr/>
          <p:nvPr/>
        </p:nvSpPr>
        <p:spPr>
          <a:xfrm rot="5400000">
            <a:off x="-307571" y="2821864"/>
            <a:ext cx="1446414" cy="831272"/>
          </a:xfrm>
          <a:prstGeom prst="triangle">
            <a:avLst>
              <a:gd name="adj" fmla="val 50000"/>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46" name="Google Shape;46;p34"/>
          <p:cNvSpPr txBox="1">
            <a:spLocks noGrp="1"/>
          </p:cNvSpPr>
          <p:nvPr>
            <p:ph type="body" idx="2"/>
          </p:nvPr>
        </p:nvSpPr>
        <p:spPr>
          <a:xfrm>
            <a:off x="1562203" y="1974293"/>
            <a:ext cx="8966216" cy="10800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9600"/>
              <a:buNone/>
              <a:defRPr sz="96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dirty="0"/>
          </a:p>
        </p:txBody>
      </p:sp>
      <p:pic>
        <p:nvPicPr>
          <p:cNvPr id="3" name="Picture 2" descr="A black and red logo&#10;&#10;Description automatically generated">
            <a:extLst>
              <a:ext uri="{FF2B5EF4-FFF2-40B4-BE49-F238E27FC236}">
                <a16:creationId xmlns:a16="http://schemas.microsoft.com/office/drawing/2014/main" id="{BB66C473-4843-563E-A229-3E43A4883405}"/>
              </a:ext>
            </a:extLst>
          </p:cNvPr>
          <p:cNvPicPr>
            <a:picLocks noChangeAspect="1"/>
          </p:cNvPicPr>
          <p:nvPr userDrawn="1"/>
        </p:nvPicPr>
        <p:blipFill>
          <a:blip r:embed="rId4"/>
          <a:stretch>
            <a:fillRect/>
          </a:stretch>
        </p:blipFill>
        <p:spPr>
          <a:xfrm>
            <a:off x="4218567" y="5362823"/>
            <a:ext cx="3170490" cy="542427"/>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48"/>
        <p:cNvGrpSpPr/>
        <p:nvPr/>
      </p:nvGrpSpPr>
      <p:grpSpPr>
        <a:xfrm>
          <a:off x="0" y="0"/>
          <a:ext cx="0" cy="0"/>
          <a:chOff x="0" y="0"/>
          <a:chExt cx="0" cy="0"/>
        </a:xfrm>
      </p:grpSpPr>
      <p:sp>
        <p:nvSpPr>
          <p:cNvPr id="49" name="Google Shape;49;p35"/>
          <p:cNvSpPr txBox="1">
            <a:spLocks noGrp="1"/>
          </p:cNvSpPr>
          <p:nvPr>
            <p:ph type="title"/>
          </p:nvPr>
        </p:nvSpPr>
        <p:spPr>
          <a:xfrm>
            <a:off x="1974966" y="2521987"/>
            <a:ext cx="8076353"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C00000"/>
              </a:buClr>
              <a:buSzPts val="6000"/>
              <a:buFont typeface="Montserrat Black"/>
              <a:buNone/>
              <a:defRPr sz="6000" b="1">
                <a:solidFill>
                  <a:srgbClr val="C00000"/>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50" name="Google Shape;50;p35"/>
          <p:cNvPicPr preferRelativeResize="0"/>
          <p:nvPr/>
        </p:nvPicPr>
        <p:blipFill rotWithShape="1">
          <a:blip r:embed="rId2">
            <a:alphaModFix/>
          </a:blip>
          <a:srcRect/>
          <a:stretch/>
        </p:blipFill>
        <p:spPr>
          <a:xfrm>
            <a:off x="559185" y="0"/>
            <a:ext cx="2860964" cy="315884"/>
          </a:xfrm>
          <a:prstGeom prst="rect">
            <a:avLst/>
          </a:prstGeom>
          <a:noFill/>
          <a:ln>
            <a:noFill/>
          </a:ln>
        </p:spPr>
      </p:pic>
      <p:sp>
        <p:nvSpPr>
          <p:cNvPr id="51" name="Google Shape;51;p35"/>
          <p:cNvSpPr txBox="1">
            <a:spLocks noGrp="1"/>
          </p:cNvSpPr>
          <p:nvPr>
            <p:ph type="body" idx="1"/>
          </p:nvPr>
        </p:nvSpPr>
        <p:spPr>
          <a:xfrm>
            <a:off x="1989667" y="3847550"/>
            <a:ext cx="8076353" cy="1450503"/>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3F3F3F"/>
              </a:buClr>
              <a:buSzPts val="3200"/>
              <a:buNone/>
              <a:defRPr sz="3200">
                <a:solidFill>
                  <a:srgbClr val="3F3F3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dirty="0"/>
          </a:p>
        </p:txBody>
      </p:sp>
      <p:sp>
        <p:nvSpPr>
          <p:cNvPr id="52" name="Google Shape;52;p35"/>
          <p:cNvSpPr/>
          <p:nvPr/>
        </p:nvSpPr>
        <p:spPr>
          <a:xfrm rot="10800000">
            <a:off x="5289935" y="1559948"/>
            <a:ext cx="1446414" cy="831272"/>
          </a:xfrm>
          <a:prstGeom prst="triangle">
            <a:avLst>
              <a:gd name="adj" fmla="val 50000"/>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pic>
        <p:nvPicPr>
          <p:cNvPr id="3" name="Picture 2" descr="A black and red logo&#10;&#10;Description automatically generated">
            <a:extLst>
              <a:ext uri="{FF2B5EF4-FFF2-40B4-BE49-F238E27FC236}">
                <a16:creationId xmlns:a16="http://schemas.microsoft.com/office/drawing/2014/main" id="{F381582B-BF58-488D-444A-9B514DD58CEE}"/>
              </a:ext>
            </a:extLst>
          </p:cNvPr>
          <p:cNvPicPr>
            <a:picLocks noChangeAspect="1"/>
          </p:cNvPicPr>
          <p:nvPr userDrawn="1"/>
        </p:nvPicPr>
        <p:blipFill>
          <a:blip r:embed="rId3"/>
          <a:stretch>
            <a:fillRect/>
          </a:stretch>
        </p:blipFill>
        <p:spPr>
          <a:xfrm>
            <a:off x="4246556" y="5489273"/>
            <a:ext cx="3698887" cy="632829"/>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4"/>
        <p:cNvGrpSpPr/>
        <p:nvPr/>
      </p:nvGrpSpPr>
      <p:grpSpPr>
        <a:xfrm>
          <a:off x="0" y="0"/>
          <a:ext cx="0" cy="0"/>
          <a:chOff x="0" y="0"/>
          <a:chExt cx="0" cy="0"/>
        </a:xfrm>
      </p:grpSpPr>
      <p:pic>
        <p:nvPicPr>
          <p:cNvPr id="55" name="Google Shape;55;p36"/>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56" name="Google Shape;56;p36"/>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57" name="Google Shape;57;p36"/>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58" name="Google Shape;58;p36"/>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5EAD5742-1C6B-F857-A9B1-EEA8C00EED8B}"/>
              </a:ext>
            </a:extLst>
          </p:cNvPr>
          <p:cNvPicPr>
            <a:picLocks noChangeAspect="1"/>
          </p:cNvPicPr>
          <p:nvPr userDrawn="1"/>
        </p:nvPicPr>
        <p:blipFill>
          <a:blip r:embed="rId4"/>
          <a:stretch>
            <a:fillRect/>
          </a:stretch>
        </p:blipFill>
        <p:spPr>
          <a:xfrm>
            <a:off x="9729129" y="509145"/>
            <a:ext cx="2154931" cy="368679"/>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_Content with Caption">
  <p:cSld name="2_Content with Caption">
    <p:spTree>
      <p:nvGrpSpPr>
        <p:cNvPr id="1" name="Shape 60"/>
        <p:cNvGrpSpPr/>
        <p:nvPr/>
      </p:nvGrpSpPr>
      <p:grpSpPr>
        <a:xfrm>
          <a:off x="0" y="0"/>
          <a:ext cx="0" cy="0"/>
          <a:chOff x="0" y="0"/>
          <a:chExt cx="0" cy="0"/>
        </a:xfrm>
      </p:grpSpPr>
      <p:sp>
        <p:nvSpPr>
          <p:cNvPr id="61" name="Google Shape;61;p37"/>
          <p:cNvSpPr txBox="1">
            <a:spLocks noGrp="1"/>
          </p:cNvSpPr>
          <p:nvPr>
            <p:ph type="body" idx="1"/>
          </p:nvPr>
        </p:nvSpPr>
        <p:spPr>
          <a:xfrm>
            <a:off x="3818313" y="3901864"/>
            <a:ext cx="4555374" cy="21696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1200"/>
              <a:buNone/>
              <a:defRPr sz="1200">
                <a:solidFill>
                  <a:srgbClr val="7F7F7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62" name="Google Shape;62;p37"/>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63" name="Google Shape;63;p37"/>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64" name="Google Shape;64;p37"/>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65" name="Google Shape;65;p37"/>
          <p:cNvSpPr txBox="1">
            <a:spLocks noGrp="1"/>
          </p:cNvSpPr>
          <p:nvPr>
            <p:ph type="body" idx="2"/>
          </p:nvPr>
        </p:nvSpPr>
        <p:spPr>
          <a:xfrm>
            <a:off x="803764" y="834017"/>
            <a:ext cx="2978527" cy="203089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3200"/>
              <a:buNone/>
              <a:defRPr sz="32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66" name="Google Shape;66;p37"/>
          <p:cNvPicPr preferRelativeResize="0"/>
          <p:nvPr/>
        </p:nvPicPr>
        <p:blipFill rotWithShape="1">
          <a:blip r:embed="rId2">
            <a:alphaModFix/>
          </a:blip>
          <a:srcRect/>
          <a:stretch/>
        </p:blipFill>
        <p:spPr>
          <a:xfrm rot="10800000" flipH="1">
            <a:off x="838200" y="3858704"/>
            <a:ext cx="2860964" cy="45719"/>
          </a:xfrm>
          <a:prstGeom prst="rect">
            <a:avLst/>
          </a:prstGeom>
          <a:noFill/>
          <a:ln>
            <a:noFill/>
          </a:ln>
        </p:spPr>
      </p:pic>
      <p:pic>
        <p:nvPicPr>
          <p:cNvPr id="3" name="Picture 2" descr="A black and red logo&#10;&#10;Description automatically generated">
            <a:extLst>
              <a:ext uri="{FF2B5EF4-FFF2-40B4-BE49-F238E27FC236}">
                <a16:creationId xmlns:a16="http://schemas.microsoft.com/office/drawing/2014/main" id="{55AA4231-604B-BA65-0355-28FA72F30CD0}"/>
              </a:ext>
            </a:extLst>
          </p:cNvPr>
          <p:cNvPicPr>
            <a:picLocks noChangeAspect="1"/>
          </p:cNvPicPr>
          <p:nvPr userDrawn="1"/>
        </p:nvPicPr>
        <p:blipFill>
          <a:blip r:embed="rId4"/>
          <a:stretch>
            <a:fillRect/>
          </a:stretch>
        </p:blipFill>
        <p:spPr>
          <a:xfrm>
            <a:off x="9716655" y="315885"/>
            <a:ext cx="2152072" cy="36819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Content with Caption">
  <p:cSld name="1_Content with Caption">
    <p:spTree>
      <p:nvGrpSpPr>
        <p:cNvPr id="1" name="Shape 68"/>
        <p:cNvGrpSpPr/>
        <p:nvPr/>
      </p:nvGrpSpPr>
      <p:grpSpPr>
        <a:xfrm>
          <a:off x="0" y="0"/>
          <a:ext cx="0" cy="0"/>
          <a:chOff x="0" y="0"/>
          <a:chExt cx="0" cy="0"/>
        </a:xfrm>
      </p:grpSpPr>
      <p:sp>
        <p:nvSpPr>
          <p:cNvPr id="69" name="Google Shape;69;p39"/>
          <p:cNvSpPr txBox="1">
            <a:spLocks noGrp="1"/>
          </p:cNvSpPr>
          <p:nvPr>
            <p:ph type="body" idx="1"/>
          </p:nvPr>
        </p:nvSpPr>
        <p:spPr>
          <a:xfrm>
            <a:off x="746918" y="3882043"/>
            <a:ext cx="3816769" cy="21696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1600"/>
              <a:buNone/>
              <a:defRPr sz="1600">
                <a:solidFill>
                  <a:srgbClr val="7F7F7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70" name="Google Shape;70;p39"/>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71" name="Google Shape;71;p39"/>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72" name="Google Shape;72;p39"/>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dirty="0">
              <a:solidFill>
                <a:schemeClr val="lt1"/>
              </a:solidFill>
              <a:latin typeface="Montserrat"/>
              <a:ea typeface="Montserrat"/>
              <a:cs typeface="Montserrat"/>
              <a:sym typeface="Montserrat"/>
            </a:endParaRPr>
          </a:p>
        </p:txBody>
      </p:sp>
      <p:sp>
        <p:nvSpPr>
          <p:cNvPr id="73" name="Google Shape;73;p39"/>
          <p:cNvSpPr txBox="1">
            <a:spLocks noGrp="1"/>
          </p:cNvSpPr>
          <p:nvPr>
            <p:ph type="body" idx="2"/>
          </p:nvPr>
        </p:nvSpPr>
        <p:spPr>
          <a:xfrm>
            <a:off x="803764" y="834017"/>
            <a:ext cx="2978527" cy="203089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2800"/>
              <a:buNone/>
              <a:defRPr sz="28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3" name="Picture 2" descr="A black and red logo&#10;&#10;Description automatically generated">
            <a:extLst>
              <a:ext uri="{FF2B5EF4-FFF2-40B4-BE49-F238E27FC236}">
                <a16:creationId xmlns:a16="http://schemas.microsoft.com/office/drawing/2014/main" id="{43495D7B-6889-5FC5-B3E3-6995FEE87B6F}"/>
              </a:ext>
            </a:extLst>
          </p:cNvPr>
          <p:cNvPicPr>
            <a:picLocks noChangeAspect="1"/>
          </p:cNvPicPr>
          <p:nvPr userDrawn="1"/>
        </p:nvPicPr>
        <p:blipFill>
          <a:blip r:embed="rId4"/>
          <a:stretch>
            <a:fillRect/>
          </a:stretch>
        </p:blipFill>
        <p:spPr>
          <a:xfrm>
            <a:off x="9608344" y="315884"/>
            <a:ext cx="2301284" cy="393718"/>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5"/>
        <p:cNvGrpSpPr/>
        <p:nvPr/>
      </p:nvGrpSpPr>
      <p:grpSpPr>
        <a:xfrm>
          <a:off x="0" y="0"/>
          <a:ext cx="0" cy="0"/>
          <a:chOff x="0" y="0"/>
          <a:chExt cx="0" cy="0"/>
        </a:xfrm>
      </p:grpSpPr>
      <p:pic>
        <p:nvPicPr>
          <p:cNvPr id="76" name="Google Shape;76;p40"/>
          <p:cNvPicPr preferRelativeResize="0"/>
          <p:nvPr/>
        </p:nvPicPr>
        <p:blipFill rotWithShape="1">
          <a:blip r:embed="rId2">
            <a:alphaModFix/>
          </a:blip>
          <a:srcRect/>
          <a:stretch/>
        </p:blipFill>
        <p:spPr>
          <a:xfrm>
            <a:off x="0" y="-59085"/>
            <a:ext cx="12534822" cy="6959104"/>
          </a:xfrm>
          <a:prstGeom prst="rect">
            <a:avLst/>
          </a:prstGeom>
          <a:noFill/>
          <a:ln>
            <a:noFill/>
          </a:ln>
        </p:spPr>
      </p:pic>
      <p:sp>
        <p:nvSpPr>
          <p:cNvPr id="77" name="Google Shape;77;p40"/>
          <p:cNvSpPr txBox="1">
            <a:spLocks noGrp="1"/>
          </p:cNvSpPr>
          <p:nvPr>
            <p:ph type="ctrTitle"/>
          </p:nvPr>
        </p:nvSpPr>
        <p:spPr>
          <a:xfrm>
            <a:off x="2594340" y="3145331"/>
            <a:ext cx="7558961" cy="151558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40"/>
          <p:cNvSpPr txBox="1">
            <a:spLocks noGrp="1"/>
          </p:cNvSpPr>
          <p:nvPr>
            <p:ph type="subTitle" idx="1"/>
          </p:nvPr>
        </p:nvSpPr>
        <p:spPr>
          <a:xfrm>
            <a:off x="2594340" y="4372481"/>
            <a:ext cx="7558961" cy="130083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79" name="Google Shape;79;p40"/>
          <p:cNvPicPr preferRelativeResize="0"/>
          <p:nvPr/>
        </p:nvPicPr>
        <p:blipFill rotWithShape="1">
          <a:blip r:embed="rId3">
            <a:alphaModFix/>
          </a:blip>
          <a:srcRect/>
          <a:stretch/>
        </p:blipFill>
        <p:spPr>
          <a:xfrm>
            <a:off x="10394571" y="1362499"/>
            <a:ext cx="4280502" cy="4258551"/>
          </a:xfrm>
          <a:prstGeom prst="rect">
            <a:avLst/>
          </a:prstGeom>
          <a:noFill/>
          <a:ln>
            <a:noFill/>
          </a:ln>
        </p:spPr>
      </p:pic>
      <p:pic>
        <p:nvPicPr>
          <p:cNvPr id="80" name="Google Shape;80;p40"/>
          <p:cNvPicPr preferRelativeResize="0"/>
          <p:nvPr/>
        </p:nvPicPr>
        <p:blipFill rotWithShape="1">
          <a:blip r:embed="rId3">
            <a:alphaModFix/>
          </a:blip>
          <a:srcRect/>
          <a:stretch/>
        </p:blipFill>
        <p:spPr>
          <a:xfrm>
            <a:off x="-2241803" y="1422897"/>
            <a:ext cx="4280502" cy="4258551"/>
          </a:xfrm>
          <a:prstGeom prst="rect">
            <a:avLst/>
          </a:prstGeom>
          <a:noFill/>
          <a:ln>
            <a:noFill/>
          </a:ln>
        </p:spPr>
      </p:pic>
      <p:pic>
        <p:nvPicPr>
          <p:cNvPr id="81" name="Google Shape;81;p40"/>
          <p:cNvPicPr preferRelativeResize="0"/>
          <p:nvPr/>
        </p:nvPicPr>
        <p:blipFill rotWithShape="1">
          <a:blip r:embed="rId4">
            <a:alphaModFix/>
          </a:blip>
          <a:srcRect/>
          <a:stretch/>
        </p:blipFill>
        <p:spPr>
          <a:xfrm>
            <a:off x="5261198" y="4951700"/>
            <a:ext cx="2012426" cy="9816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82"/>
        <p:cNvGrpSpPr/>
        <p:nvPr/>
      </p:nvGrpSpPr>
      <p:grpSpPr>
        <a:xfrm>
          <a:off x="0" y="0"/>
          <a:ext cx="0" cy="0"/>
          <a:chOff x="0" y="0"/>
          <a:chExt cx="0" cy="0"/>
        </a:xfrm>
      </p:grpSpPr>
      <p:pic>
        <p:nvPicPr>
          <p:cNvPr id="83" name="Google Shape;83;p30"/>
          <p:cNvPicPr preferRelativeResize="0"/>
          <p:nvPr/>
        </p:nvPicPr>
        <p:blipFill rotWithShape="1">
          <a:blip r:embed="rId2">
            <a:alphaModFix/>
          </a:blip>
          <a:srcRect/>
          <a:stretch/>
        </p:blipFill>
        <p:spPr>
          <a:xfrm>
            <a:off x="-211667" y="-83672"/>
            <a:ext cx="12640676" cy="7017872"/>
          </a:xfrm>
          <a:prstGeom prst="rect">
            <a:avLst/>
          </a:prstGeom>
          <a:noFill/>
          <a:ln>
            <a:noFill/>
          </a:ln>
        </p:spPr>
      </p:pic>
      <p:sp>
        <p:nvSpPr>
          <p:cNvPr id="84" name="Google Shape;84;p30"/>
          <p:cNvSpPr txBox="1">
            <a:spLocks noGrp="1"/>
          </p:cNvSpPr>
          <p:nvPr>
            <p:ph type="ctrTitle"/>
          </p:nvPr>
        </p:nvSpPr>
        <p:spPr>
          <a:xfrm>
            <a:off x="279991" y="3969209"/>
            <a:ext cx="9144000" cy="146441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0"/>
          <p:cNvSpPr txBox="1">
            <a:spLocks noGrp="1"/>
          </p:cNvSpPr>
          <p:nvPr>
            <p:ph type="subTitle" idx="1"/>
          </p:nvPr>
        </p:nvSpPr>
        <p:spPr>
          <a:xfrm>
            <a:off x="279991" y="5433627"/>
            <a:ext cx="9144000" cy="165576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86" name="Google Shape;86;p30"/>
          <p:cNvPicPr preferRelativeResize="0"/>
          <p:nvPr/>
        </p:nvPicPr>
        <p:blipFill rotWithShape="1">
          <a:blip r:embed="rId3">
            <a:alphaModFix/>
          </a:blip>
          <a:srcRect/>
          <a:stretch/>
        </p:blipFill>
        <p:spPr>
          <a:xfrm>
            <a:off x="9242381" y="-123349"/>
            <a:ext cx="7133810" cy="7097226"/>
          </a:xfrm>
          <a:prstGeom prst="rect">
            <a:avLst/>
          </a:prstGeom>
          <a:noFill/>
          <a:ln>
            <a:noFill/>
          </a:ln>
        </p:spPr>
      </p:pic>
      <p:pic>
        <p:nvPicPr>
          <p:cNvPr id="5" name="Picture 4" descr="A black and white logo with red letters&#10;&#10;Description automatically generated">
            <a:extLst>
              <a:ext uri="{FF2B5EF4-FFF2-40B4-BE49-F238E27FC236}">
                <a16:creationId xmlns:a16="http://schemas.microsoft.com/office/drawing/2014/main" id="{944B7BC4-09AD-B151-E7C8-E7171E587CD9}"/>
              </a:ext>
            </a:extLst>
          </p:cNvPr>
          <p:cNvPicPr>
            <a:picLocks noChangeAspect="1"/>
          </p:cNvPicPr>
          <p:nvPr userDrawn="1"/>
        </p:nvPicPr>
        <p:blipFill>
          <a:blip r:embed="rId4"/>
          <a:stretch>
            <a:fillRect/>
          </a:stretch>
        </p:blipFill>
        <p:spPr>
          <a:xfrm>
            <a:off x="279991" y="620658"/>
            <a:ext cx="4697722" cy="803716"/>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88"/>
        <p:cNvGrpSpPr/>
        <p:nvPr/>
      </p:nvGrpSpPr>
      <p:grpSpPr>
        <a:xfrm>
          <a:off x="0" y="0"/>
          <a:ext cx="0" cy="0"/>
          <a:chOff x="0" y="0"/>
          <a:chExt cx="0" cy="0"/>
        </a:xfrm>
      </p:grpSpPr>
      <p:pic>
        <p:nvPicPr>
          <p:cNvPr id="89" name="Google Shape;89;p41"/>
          <p:cNvPicPr preferRelativeResize="0"/>
          <p:nvPr/>
        </p:nvPicPr>
        <p:blipFill rotWithShape="1">
          <a:blip r:embed="rId2">
            <a:alphaModFix/>
          </a:blip>
          <a:srcRect/>
          <a:stretch/>
        </p:blipFill>
        <p:spPr>
          <a:xfrm>
            <a:off x="11087100" y="5837237"/>
            <a:ext cx="1104900" cy="1038225"/>
          </a:xfrm>
          <a:prstGeom prst="rect">
            <a:avLst/>
          </a:prstGeom>
          <a:noFill/>
          <a:ln>
            <a:noFill/>
          </a:ln>
        </p:spPr>
      </p:pic>
      <p:sp>
        <p:nvSpPr>
          <p:cNvPr id="90" name="Google Shape;90;p41"/>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pic>
        <p:nvPicPr>
          <p:cNvPr id="3" name="Picture 2" descr="A black and red logo&#10;&#10;Description automatically generated">
            <a:extLst>
              <a:ext uri="{FF2B5EF4-FFF2-40B4-BE49-F238E27FC236}">
                <a16:creationId xmlns:a16="http://schemas.microsoft.com/office/drawing/2014/main" id="{23531A56-D9C3-E1AF-F7D3-ADDFD7687D5B}"/>
              </a:ext>
            </a:extLst>
          </p:cNvPr>
          <p:cNvPicPr>
            <a:picLocks noChangeAspect="1"/>
          </p:cNvPicPr>
          <p:nvPr userDrawn="1"/>
        </p:nvPicPr>
        <p:blipFill>
          <a:blip r:embed="rId3"/>
          <a:stretch>
            <a:fillRect/>
          </a:stretch>
        </p:blipFill>
        <p:spPr>
          <a:xfrm>
            <a:off x="9453019" y="219653"/>
            <a:ext cx="2549174" cy="436129"/>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9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93"/>
        <p:cNvGrpSpPr/>
        <p:nvPr/>
      </p:nvGrpSpPr>
      <p:grpSpPr>
        <a:xfrm>
          <a:off x="0" y="0"/>
          <a:ext cx="0" cy="0"/>
          <a:chOff x="0" y="0"/>
          <a:chExt cx="0" cy="0"/>
        </a:xfrm>
      </p:grpSpPr>
      <p:pic>
        <p:nvPicPr>
          <p:cNvPr id="94" name="Google Shape;94;p31"/>
          <p:cNvPicPr preferRelativeResize="0"/>
          <p:nvPr/>
        </p:nvPicPr>
        <p:blipFill rotWithShape="1">
          <a:blip r:embed="rId2">
            <a:alphaModFix/>
          </a:blip>
          <a:srcRect/>
          <a:stretch/>
        </p:blipFill>
        <p:spPr>
          <a:xfrm>
            <a:off x="0" y="-59085"/>
            <a:ext cx="12534822" cy="6959104"/>
          </a:xfrm>
          <a:prstGeom prst="rect">
            <a:avLst/>
          </a:prstGeom>
          <a:noFill/>
          <a:ln>
            <a:noFill/>
          </a:ln>
        </p:spPr>
      </p:pic>
      <p:sp>
        <p:nvSpPr>
          <p:cNvPr id="95" name="Google Shape;95;p31"/>
          <p:cNvSpPr txBox="1">
            <a:spLocks noGrp="1"/>
          </p:cNvSpPr>
          <p:nvPr>
            <p:ph type="ctrTitle"/>
          </p:nvPr>
        </p:nvSpPr>
        <p:spPr>
          <a:xfrm>
            <a:off x="2594340" y="3145331"/>
            <a:ext cx="7558961" cy="151558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31"/>
          <p:cNvSpPr txBox="1">
            <a:spLocks noGrp="1"/>
          </p:cNvSpPr>
          <p:nvPr>
            <p:ph type="subTitle" idx="1"/>
          </p:nvPr>
        </p:nvSpPr>
        <p:spPr>
          <a:xfrm>
            <a:off x="2594340" y="4372481"/>
            <a:ext cx="7558961" cy="130083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97" name="Google Shape;97;p31"/>
          <p:cNvPicPr preferRelativeResize="0"/>
          <p:nvPr/>
        </p:nvPicPr>
        <p:blipFill rotWithShape="1">
          <a:blip r:embed="rId3">
            <a:alphaModFix/>
          </a:blip>
          <a:srcRect/>
          <a:stretch/>
        </p:blipFill>
        <p:spPr>
          <a:xfrm>
            <a:off x="10394571" y="1362499"/>
            <a:ext cx="4280502" cy="4258551"/>
          </a:xfrm>
          <a:prstGeom prst="rect">
            <a:avLst/>
          </a:prstGeom>
          <a:noFill/>
          <a:ln>
            <a:noFill/>
          </a:ln>
        </p:spPr>
      </p:pic>
      <p:pic>
        <p:nvPicPr>
          <p:cNvPr id="98" name="Google Shape;98;p31"/>
          <p:cNvPicPr preferRelativeResize="0"/>
          <p:nvPr/>
        </p:nvPicPr>
        <p:blipFill rotWithShape="1">
          <a:blip r:embed="rId3">
            <a:alphaModFix/>
          </a:blip>
          <a:srcRect/>
          <a:stretch/>
        </p:blipFill>
        <p:spPr>
          <a:xfrm>
            <a:off x="-2241803" y="1422897"/>
            <a:ext cx="4280502" cy="4258551"/>
          </a:xfrm>
          <a:prstGeom prst="rect">
            <a:avLst/>
          </a:prstGeom>
          <a:noFill/>
          <a:ln>
            <a:noFill/>
          </a:ln>
        </p:spPr>
      </p:pic>
      <p:pic>
        <p:nvPicPr>
          <p:cNvPr id="3" name="Picture 2" descr="A black and white logo with red letters&#10;&#10;Description automatically generated">
            <a:extLst>
              <a:ext uri="{FF2B5EF4-FFF2-40B4-BE49-F238E27FC236}">
                <a16:creationId xmlns:a16="http://schemas.microsoft.com/office/drawing/2014/main" id="{D5439C6C-C6E6-A867-5355-0680D1B6AA06}"/>
              </a:ext>
            </a:extLst>
          </p:cNvPr>
          <p:cNvPicPr>
            <a:picLocks noChangeAspect="1"/>
          </p:cNvPicPr>
          <p:nvPr userDrawn="1"/>
        </p:nvPicPr>
        <p:blipFill>
          <a:blip r:embed="rId4"/>
          <a:stretch>
            <a:fillRect/>
          </a:stretch>
        </p:blipFill>
        <p:spPr>
          <a:xfrm>
            <a:off x="3232727" y="1184685"/>
            <a:ext cx="6577019" cy="1125237"/>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00"/>
        <p:cNvGrpSpPr/>
        <p:nvPr/>
      </p:nvGrpSpPr>
      <p:grpSpPr>
        <a:xfrm>
          <a:off x="0" y="0"/>
          <a:ext cx="0" cy="0"/>
          <a:chOff x="0" y="0"/>
          <a:chExt cx="0" cy="0"/>
        </a:xfrm>
      </p:grpSpPr>
      <p:pic>
        <p:nvPicPr>
          <p:cNvPr id="101" name="Google Shape;101;p33"/>
          <p:cNvPicPr preferRelativeResize="0"/>
          <p:nvPr/>
        </p:nvPicPr>
        <p:blipFill rotWithShape="1">
          <a:blip r:embed="rId2">
            <a:alphaModFix/>
          </a:blip>
          <a:srcRect/>
          <a:stretch/>
        </p:blipFill>
        <p:spPr>
          <a:xfrm>
            <a:off x="-160713" y="0"/>
            <a:ext cx="12352713" cy="6858000"/>
          </a:xfrm>
          <a:prstGeom prst="rect">
            <a:avLst/>
          </a:prstGeom>
          <a:noFill/>
          <a:ln>
            <a:noFill/>
          </a:ln>
        </p:spPr>
      </p:pic>
      <p:sp>
        <p:nvSpPr>
          <p:cNvPr id="102" name="Google Shape;102;p33"/>
          <p:cNvSpPr txBox="1">
            <a:spLocks noGrp="1"/>
          </p:cNvSpPr>
          <p:nvPr>
            <p:ph type="title"/>
          </p:nvPr>
        </p:nvSpPr>
        <p:spPr>
          <a:xfrm rot="5400000">
            <a:off x="-1225840" y="973773"/>
            <a:ext cx="4164099" cy="184542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Montserrat Black"/>
              <a:buNone/>
              <a:defRPr sz="6000" b="1">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04" name="Google Shape;104;p33"/>
          <p:cNvSpPr txBox="1">
            <a:spLocks noGrp="1"/>
          </p:cNvSpPr>
          <p:nvPr>
            <p:ph type="body" idx="1"/>
          </p:nvPr>
        </p:nvSpPr>
        <p:spPr>
          <a:xfrm>
            <a:off x="2394064" y="2759840"/>
            <a:ext cx="1122220"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33"/>
          <p:cNvSpPr txBox="1">
            <a:spLocks noGrp="1"/>
          </p:cNvSpPr>
          <p:nvPr>
            <p:ph type="body" idx="2"/>
          </p:nvPr>
        </p:nvSpPr>
        <p:spPr>
          <a:xfrm>
            <a:off x="3516284" y="28884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33"/>
          <p:cNvSpPr txBox="1">
            <a:spLocks noGrp="1"/>
          </p:cNvSpPr>
          <p:nvPr>
            <p:ph type="body" idx="3"/>
          </p:nvPr>
        </p:nvSpPr>
        <p:spPr>
          <a:xfrm>
            <a:off x="2310942" y="4349625"/>
            <a:ext cx="1205342"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33"/>
          <p:cNvSpPr txBox="1">
            <a:spLocks noGrp="1"/>
          </p:cNvSpPr>
          <p:nvPr>
            <p:ph type="body" idx="4"/>
          </p:nvPr>
        </p:nvSpPr>
        <p:spPr>
          <a:xfrm>
            <a:off x="3516284"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8" name="Google Shape;108;p33"/>
          <p:cNvSpPr txBox="1">
            <a:spLocks noGrp="1"/>
          </p:cNvSpPr>
          <p:nvPr>
            <p:ph type="body" idx="5"/>
          </p:nvPr>
        </p:nvSpPr>
        <p:spPr>
          <a:xfrm>
            <a:off x="7245926" y="2759840"/>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9" name="Google Shape;109;p33"/>
          <p:cNvSpPr txBox="1">
            <a:spLocks noGrp="1"/>
          </p:cNvSpPr>
          <p:nvPr>
            <p:ph type="body" idx="6"/>
          </p:nvPr>
        </p:nvSpPr>
        <p:spPr>
          <a:xfrm>
            <a:off x="8448502" y="2888427"/>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0" name="Google Shape;110;p33"/>
          <p:cNvSpPr txBox="1">
            <a:spLocks noGrp="1"/>
          </p:cNvSpPr>
          <p:nvPr>
            <p:ph type="body" idx="7"/>
          </p:nvPr>
        </p:nvSpPr>
        <p:spPr>
          <a:xfrm>
            <a:off x="7245926" y="4349625"/>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33"/>
          <p:cNvSpPr txBox="1">
            <a:spLocks noGrp="1"/>
          </p:cNvSpPr>
          <p:nvPr>
            <p:ph type="body" idx="8"/>
          </p:nvPr>
        </p:nvSpPr>
        <p:spPr>
          <a:xfrm>
            <a:off x="8448502"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33"/>
          <p:cNvSpPr txBox="1">
            <a:spLocks noGrp="1"/>
          </p:cNvSpPr>
          <p:nvPr>
            <p:ph type="body" idx="9"/>
          </p:nvPr>
        </p:nvSpPr>
        <p:spPr>
          <a:xfrm>
            <a:off x="3516283" y="3284445"/>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33"/>
          <p:cNvSpPr txBox="1">
            <a:spLocks noGrp="1"/>
          </p:cNvSpPr>
          <p:nvPr>
            <p:ph type="body" idx="13"/>
          </p:nvPr>
        </p:nvSpPr>
        <p:spPr>
          <a:xfrm>
            <a:off x="3516283" y="4874231"/>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33"/>
          <p:cNvSpPr txBox="1">
            <a:spLocks noGrp="1"/>
          </p:cNvSpPr>
          <p:nvPr>
            <p:ph type="body" idx="14"/>
          </p:nvPr>
        </p:nvSpPr>
        <p:spPr>
          <a:xfrm>
            <a:off x="8448501" y="3284444"/>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33"/>
          <p:cNvSpPr txBox="1">
            <a:spLocks noGrp="1"/>
          </p:cNvSpPr>
          <p:nvPr>
            <p:ph type="body" idx="15"/>
          </p:nvPr>
        </p:nvSpPr>
        <p:spPr>
          <a:xfrm>
            <a:off x="8448500" y="48937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white logo with red letters&#10;&#10;Description automatically generated">
            <a:extLst>
              <a:ext uri="{FF2B5EF4-FFF2-40B4-BE49-F238E27FC236}">
                <a16:creationId xmlns:a16="http://schemas.microsoft.com/office/drawing/2014/main" id="{90038E1B-6286-91BE-4584-B33E73761237}"/>
              </a:ext>
            </a:extLst>
          </p:cNvPr>
          <p:cNvPicPr>
            <a:picLocks noChangeAspect="1"/>
          </p:cNvPicPr>
          <p:nvPr userDrawn="1"/>
        </p:nvPicPr>
        <p:blipFill>
          <a:blip r:embed="rId3"/>
          <a:stretch>
            <a:fillRect/>
          </a:stretch>
        </p:blipFill>
        <p:spPr>
          <a:xfrm>
            <a:off x="8517542" y="261281"/>
            <a:ext cx="3504736" cy="599612"/>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17"/>
        <p:cNvGrpSpPr/>
        <p:nvPr/>
      </p:nvGrpSpPr>
      <p:grpSpPr>
        <a:xfrm>
          <a:off x="0" y="0"/>
          <a:ext cx="0" cy="0"/>
          <a:chOff x="0" y="0"/>
          <a:chExt cx="0" cy="0"/>
        </a:xfrm>
      </p:grpSpPr>
      <p:sp>
        <p:nvSpPr>
          <p:cNvPr id="118" name="Google Shape;118;p45"/>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19" name="Google Shape;119;p45"/>
          <p:cNvPicPr preferRelativeResize="0"/>
          <p:nvPr/>
        </p:nvPicPr>
        <p:blipFill rotWithShape="1">
          <a:blip r:embed="rId2">
            <a:alphaModFix/>
          </a:blip>
          <a:srcRect/>
          <a:stretch/>
        </p:blipFill>
        <p:spPr>
          <a:xfrm>
            <a:off x="11087100" y="5837237"/>
            <a:ext cx="1104900" cy="1038225"/>
          </a:xfrm>
          <a:prstGeom prst="rect">
            <a:avLst/>
          </a:prstGeom>
          <a:noFill/>
          <a:ln>
            <a:noFill/>
          </a:ln>
        </p:spPr>
      </p:pic>
      <p:pic>
        <p:nvPicPr>
          <p:cNvPr id="120" name="Google Shape;120;p45"/>
          <p:cNvPicPr preferRelativeResize="0"/>
          <p:nvPr/>
        </p:nvPicPr>
        <p:blipFill rotWithShape="1">
          <a:blip r:embed="rId3">
            <a:alphaModFix/>
          </a:blip>
          <a:srcRect/>
          <a:stretch/>
        </p:blipFill>
        <p:spPr>
          <a:xfrm>
            <a:off x="838200" y="0"/>
            <a:ext cx="2860964" cy="315884"/>
          </a:xfrm>
          <a:prstGeom prst="rect">
            <a:avLst/>
          </a:prstGeom>
          <a:noFill/>
          <a:ln>
            <a:noFill/>
          </a:ln>
        </p:spPr>
      </p:pic>
      <p:sp>
        <p:nvSpPr>
          <p:cNvPr id="121" name="Google Shape;121;p45"/>
          <p:cNvSpPr txBox="1">
            <a:spLocks noGrp="1"/>
          </p:cNvSpPr>
          <p:nvPr>
            <p:ph type="sldNum" idx="12"/>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22" name="Google Shape;122;p45"/>
          <p:cNvSpPr txBox="1">
            <a:spLocks noGrp="1"/>
          </p:cNvSpPr>
          <p:nvPr>
            <p:ph type="body" idx="1"/>
          </p:nvPr>
        </p:nvSpPr>
        <p:spPr>
          <a:xfrm>
            <a:off x="838200" y="1680599"/>
            <a:ext cx="10641676" cy="5040876"/>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Courier New"/>
              <a:buChar char="o"/>
              <a:defRPr sz="1600"/>
            </a:lvl2pPr>
            <a:lvl3pPr marL="1371600" lvl="2" indent="-330200" algn="l">
              <a:lnSpc>
                <a:spcPct val="90000"/>
              </a:lnSpc>
              <a:spcBef>
                <a:spcPts val="500"/>
              </a:spcBef>
              <a:spcAft>
                <a:spcPts val="0"/>
              </a:spcAft>
              <a:buClr>
                <a:srgbClr val="C00000"/>
              </a:buClr>
              <a:buSzPts val="1600"/>
              <a:buChar char="•"/>
              <a:defRPr sz="1600"/>
            </a:lvl3pPr>
            <a:lvl4pPr marL="1828800" lvl="3" indent="-330200" algn="l">
              <a:lnSpc>
                <a:spcPct val="90000"/>
              </a:lnSpc>
              <a:spcBef>
                <a:spcPts val="500"/>
              </a:spcBef>
              <a:spcAft>
                <a:spcPts val="0"/>
              </a:spcAft>
              <a:buClr>
                <a:srgbClr val="C00000"/>
              </a:buClr>
              <a:buSzPts val="1600"/>
              <a:buChar char="•"/>
              <a:defRPr sz="1600"/>
            </a:lvl4pPr>
            <a:lvl5pPr marL="2286000" lvl="4" indent="-330200" algn="l">
              <a:lnSpc>
                <a:spcPct val="90000"/>
              </a:lnSpc>
              <a:spcBef>
                <a:spcPts val="500"/>
              </a:spcBef>
              <a:spcAft>
                <a:spcPts val="0"/>
              </a:spcAft>
              <a:buClr>
                <a:srgbClr val="C00000"/>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551CDB11-DCEB-AD1C-988C-22C79E587A94}"/>
              </a:ext>
            </a:extLst>
          </p:cNvPr>
          <p:cNvPicPr>
            <a:picLocks noChangeAspect="1"/>
          </p:cNvPicPr>
          <p:nvPr userDrawn="1"/>
        </p:nvPicPr>
        <p:blipFill>
          <a:blip r:embed="rId4"/>
          <a:stretch>
            <a:fillRect/>
          </a:stretch>
        </p:blipFill>
        <p:spPr>
          <a:xfrm>
            <a:off x="9656157" y="308458"/>
            <a:ext cx="2346036" cy="40137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24"/>
        <p:cNvGrpSpPr/>
        <p:nvPr/>
      </p:nvGrpSpPr>
      <p:grpSpPr>
        <a:xfrm>
          <a:off x="0" y="0"/>
          <a:ext cx="0" cy="0"/>
          <a:chOff x="0" y="0"/>
          <a:chExt cx="0" cy="0"/>
        </a:xfrm>
      </p:grpSpPr>
      <p:sp>
        <p:nvSpPr>
          <p:cNvPr id="125" name="Google Shape;125;p46"/>
          <p:cNvSpPr txBox="1">
            <a:spLocks noGrp="1"/>
          </p:cNvSpPr>
          <p:nvPr>
            <p:ph type="body" idx="1"/>
          </p:nvPr>
        </p:nvSpPr>
        <p:spPr>
          <a:xfrm>
            <a:off x="1695999" y="1566639"/>
            <a:ext cx="3175259" cy="82391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6" name="Google Shape;126;p46"/>
          <p:cNvSpPr txBox="1">
            <a:spLocks noGrp="1"/>
          </p:cNvSpPr>
          <p:nvPr>
            <p:ph type="body" idx="2"/>
          </p:nvPr>
        </p:nvSpPr>
        <p:spPr>
          <a:xfrm>
            <a:off x="7176164" y="1566639"/>
            <a:ext cx="3175260" cy="82391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pic>
        <p:nvPicPr>
          <p:cNvPr id="127" name="Google Shape;127;p46"/>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128" name="Google Shape;128;p46"/>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129" name="Google Shape;129;p46"/>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130" name="Google Shape;130;p46"/>
          <p:cNvSpPr/>
          <p:nvPr/>
        </p:nvSpPr>
        <p:spPr>
          <a:xfrm>
            <a:off x="2199884" y="2284225"/>
            <a:ext cx="2307266" cy="53163"/>
          </a:xfrm>
          <a:prstGeom prst="rect">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131" name="Google Shape;131;p46"/>
          <p:cNvSpPr/>
          <p:nvPr/>
        </p:nvSpPr>
        <p:spPr>
          <a:xfrm>
            <a:off x="7610161" y="2337388"/>
            <a:ext cx="2307266" cy="53163"/>
          </a:xfrm>
          <a:prstGeom prst="rect">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132" name="Google Shape;132;p46"/>
          <p:cNvSpPr txBox="1">
            <a:spLocks noGrp="1"/>
          </p:cNvSpPr>
          <p:nvPr>
            <p:ph type="body" idx="3"/>
          </p:nvPr>
        </p:nvSpPr>
        <p:spPr>
          <a:xfrm>
            <a:off x="838200" y="2524124"/>
            <a:ext cx="5063836" cy="3832226"/>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3" name="Google Shape;133;p46"/>
          <p:cNvSpPr txBox="1">
            <a:spLocks noGrp="1"/>
          </p:cNvSpPr>
          <p:nvPr>
            <p:ph type="body" idx="4"/>
          </p:nvPr>
        </p:nvSpPr>
        <p:spPr>
          <a:xfrm>
            <a:off x="6137734" y="2524123"/>
            <a:ext cx="5063836" cy="3832226"/>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4" name="Google Shape;134;p46"/>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F22D559F-F5D7-697E-052B-2498695D66EE}"/>
              </a:ext>
            </a:extLst>
          </p:cNvPr>
          <p:cNvPicPr>
            <a:picLocks noChangeAspect="1"/>
          </p:cNvPicPr>
          <p:nvPr userDrawn="1"/>
        </p:nvPicPr>
        <p:blipFill>
          <a:blip r:embed="rId4"/>
          <a:stretch>
            <a:fillRect/>
          </a:stretch>
        </p:blipFill>
        <p:spPr>
          <a:xfrm>
            <a:off x="9770915" y="291683"/>
            <a:ext cx="2274573" cy="389148"/>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136"/>
        <p:cNvGrpSpPr/>
        <p:nvPr/>
      </p:nvGrpSpPr>
      <p:grpSpPr>
        <a:xfrm>
          <a:off x="0" y="0"/>
          <a:ext cx="0" cy="0"/>
          <a:chOff x="0" y="0"/>
          <a:chExt cx="0" cy="0"/>
        </a:xfrm>
      </p:grpSpPr>
      <p:sp>
        <p:nvSpPr>
          <p:cNvPr id="137" name="Google Shape;137;p47"/>
          <p:cNvSpPr txBox="1">
            <a:spLocks noGrp="1"/>
          </p:cNvSpPr>
          <p:nvPr>
            <p:ph type="body" idx="1"/>
          </p:nvPr>
        </p:nvSpPr>
        <p:spPr>
          <a:xfrm>
            <a:off x="838199" y="3672580"/>
            <a:ext cx="3932237" cy="140505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1600"/>
              <a:buNone/>
              <a:defRPr sz="1600">
                <a:solidFill>
                  <a:srgbClr val="7F7F7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138" name="Google Shape;138;p47"/>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139" name="Google Shape;139;p47"/>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140" name="Google Shape;140;p47"/>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141" name="Google Shape;141;p47"/>
          <p:cNvSpPr txBox="1">
            <a:spLocks noGrp="1"/>
          </p:cNvSpPr>
          <p:nvPr>
            <p:ph type="body" idx="2"/>
          </p:nvPr>
        </p:nvSpPr>
        <p:spPr>
          <a:xfrm>
            <a:off x="803764" y="834017"/>
            <a:ext cx="2978527" cy="203089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2800"/>
              <a:buNone/>
              <a:defRPr sz="28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2" name="Google Shape;142;p47"/>
          <p:cNvSpPr txBox="1">
            <a:spLocks noGrp="1"/>
          </p:cNvSpPr>
          <p:nvPr>
            <p:ph type="body" idx="3"/>
          </p:nvPr>
        </p:nvSpPr>
        <p:spPr>
          <a:xfrm>
            <a:off x="5170488" y="1346200"/>
            <a:ext cx="6375400" cy="4887913"/>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C00000"/>
              </a:buClr>
              <a:buSzPts val="2800"/>
              <a:buChar char="•"/>
              <a:defRPr/>
            </a:lvl1pPr>
            <a:lvl2pPr marL="914400" lvl="1" indent="-381000" algn="l">
              <a:lnSpc>
                <a:spcPct val="90000"/>
              </a:lnSpc>
              <a:spcBef>
                <a:spcPts val="500"/>
              </a:spcBef>
              <a:spcAft>
                <a:spcPts val="0"/>
              </a:spcAft>
              <a:buClr>
                <a:srgbClr val="C00000"/>
              </a:buClr>
              <a:buSzPts val="2400"/>
              <a:buChar char="•"/>
              <a:defRPr/>
            </a:lvl2pPr>
            <a:lvl3pPr marL="1371600" lvl="2" indent="-355600" algn="l">
              <a:lnSpc>
                <a:spcPct val="90000"/>
              </a:lnSpc>
              <a:spcBef>
                <a:spcPts val="500"/>
              </a:spcBef>
              <a:spcAft>
                <a:spcPts val="0"/>
              </a:spcAft>
              <a:buClr>
                <a:srgbClr val="C00000"/>
              </a:buClr>
              <a:buSzPts val="20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rgbClr val="C00000"/>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E83F87B7-2ACC-D5DC-10AF-DFB19E33836A}"/>
              </a:ext>
            </a:extLst>
          </p:cNvPr>
          <p:cNvPicPr>
            <a:picLocks noChangeAspect="1"/>
          </p:cNvPicPr>
          <p:nvPr userDrawn="1"/>
        </p:nvPicPr>
        <p:blipFill>
          <a:blip r:embed="rId4"/>
          <a:stretch>
            <a:fillRect/>
          </a:stretch>
        </p:blipFill>
        <p:spPr>
          <a:xfrm>
            <a:off x="9914696" y="157942"/>
            <a:ext cx="2087497" cy="357142"/>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144"/>
        <p:cNvGrpSpPr/>
        <p:nvPr/>
      </p:nvGrpSpPr>
      <p:grpSpPr>
        <a:xfrm>
          <a:off x="0" y="0"/>
          <a:ext cx="0" cy="0"/>
          <a:chOff x="0" y="0"/>
          <a:chExt cx="0" cy="0"/>
        </a:xfrm>
      </p:grpSpPr>
      <p:sp>
        <p:nvSpPr>
          <p:cNvPr id="145" name="Google Shape;145;p4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Montserrat"/>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48"/>
          <p:cNvSpPr>
            <a:spLocks noGrp="1"/>
          </p:cNvSpPr>
          <p:nvPr>
            <p:ph type="pic" idx="2"/>
          </p:nvPr>
        </p:nvSpPr>
        <p:spPr>
          <a:xfrm>
            <a:off x="5183188" y="987425"/>
            <a:ext cx="6172200" cy="4873625"/>
          </a:xfrm>
          <a:prstGeom prst="rect">
            <a:avLst/>
          </a:prstGeom>
          <a:noFill/>
          <a:ln>
            <a:noFill/>
          </a:ln>
        </p:spPr>
      </p:sp>
      <p:sp>
        <p:nvSpPr>
          <p:cNvPr id="147" name="Google Shape;147;p4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8" name="Google Shape;148;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9" name="Google Shape;149;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50" name="Google Shape;150;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1"/>
        <p:cNvGrpSpPr/>
        <p:nvPr/>
      </p:nvGrpSpPr>
      <p:grpSpPr>
        <a:xfrm>
          <a:off x="0" y="0"/>
          <a:ext cx="0" cy="0"/>
          <a:chOff x="0" y="0"/>
          <a:chExt cx="0" cy="0"/>
        </a:xfrm>
      </p:grpSpPr>
      <p:sp>
        <p:nvSpPr>
          <p:cNvPr id="152" name="Google Shape;152;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4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4" name="Google Shape;154;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5" name="Google Shape;155;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6" name="Google Shape;156;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7"/>
        <p:cNvGrpSpPr/>
        <p:nvPr/>
      </p:nvGrpSpPr>
      <p:grpSpPr>
        <a:xfrm>
          <a:off x="0" y="0"/>
          <a:ext cx="0" cy="0"/>
          <a:chOff x="0" y="0"/>
          <a:chExt cx="0" cy="0"/>
        </a:xfrm>
      </p:grpSpPr>
      <p:sp>
        <p:nvSpPr>
          <p:cNvPr id="158" name="Google Shape;158;p5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5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0" name="Google Shape;160;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1" name="Google Shape;161;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2" name="Google Shape;162;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3"/>
        <p:cNvGrpSpPr/>
        <p:nvPr/>
      </p:nvGrpSpPr>
      <p:grpSpPr>
        <a:xfrm>
          <a:off x="0" y="0"/>
          <a:ext cx="0" cy="0"/>
          <a:chOff x="0" y="0"/>
          <a:chExt cx="0" cy="0"/>
        </a:xfrm>
      </p:grpSpPr>
      <p:cxnSp>
        <p:nvCxnSpPr>
          <p:cNvPr id="164" name="Google Shape;164;g128e061f2de_0_109"/>
          <p:cNvCxnSpPr/>
          <p:nvPr/>
        </p:nvCxnSpPr>
        <p:spPr>
          <a:xfrm>
            <a:off x="575800" y="6322471"/>
            <a:ext cx="11040300" cy="0"/>
          </a:xfrm>
          <a:prstGeom prst="straightConnector1">
            <a:avLst/>
          </a:prstGeom>
          <a:noFill/>
          <a:ln w="9525" cap="flat" cmpd="sng">
            <a:solidFill>
              <a:srgbClr val="C6C5C5"/>
            </a:solidFill>
            <a:prstDash val="dot"/>
            <a:round/>
            <a:headEnd type="none" w="sm" len="sm"/>
            <a:tailEnd type="none" w="sm" len="sm"/>
          </a:ln>
        </p:spPr>
      </p:cxnSp>
      <p:sp>
        <p:nvSpPr>
          <p:cNvPr id="165" name="Google Shape;165;g128e061f2de_0_109"/>
          <p:cNvSpPr txBox="1">
            <a:spLocks noGrp="1"/>
          </p:cNvSpPr>
          <p:nvPr>
            <p:ph type="title"/>
          </p:nvPr>
        </p:nvSpPr>
        <p:spPr>
          <a:xfrm>
            <a:off x="415600" y="284933"/>
            <a:ext cx="11360700" cy="620700"/>
          </a:xfrm>
          <a:prstGeom prst="rect">
            <a:avLst/>
          </a:prstGeom>
          <a:noFill/>
          <a:ln>
            <a:noFill/>
          </a:ln>
        </p:spPr>
        <p:txBody>
          <a:bodyPr spcFirstLastPara="1" wrap="square" lIns="121900" tIns="121900" rIns="121900" bIns="121900" anchor="t" anchorCtr="0">
            <a:noAutofit/>
          </a:bodyPr>
          <a:lstStyle>
            <a:lvl1pPr lvl="0" algn="l" rtl="0">
              <a:lnSpc>
                <a:spcPct val="100000"/>
              </a:lnSpc>
              <a:spcBef>
                <a:spcPts val="0"/>
              </a:spcBef>
              <a:spcAft>
                <a:spcPts val="0"/>
              </a:spcAft>
              <a:buClr>
                <a:srgbClr val="566579"/>
              </a:buClr>
              <a:buSzPts val="3700"/>
              <a:buFont typeface="Trebuchet MS"/>
              <a:buNone/>
              <a:defRPr>
                <a:solidFill>
                  <a:srgbClr val="566579"/>
                </a:solidFill>
                <a:latin typeface="Trebuchet MS"/>
                <a:ea typeface="Trebuchet MS"/>
                <a:cs typeface="Trebuchet MS"/>
                <a:sym typeface="Trebuchet MS"/>
              </a:defRPr>
            </a:lvl1pPr>
            <a:lvl2pPr lvl="1" algn="l" rtl="0">
              <a:lnSpc>
                <a:spcPct val="100000"/>
              </a:lnSpc>
              <a:spcBef>
                <a:spcPts val="0"/>
              </a:spcBef>
              <a:spcAft>
                <a:spcPts val="0"/>
              </a:spcAft>
              <a:buSzPts val="3700"/>
              <a:buNone/>
              <a:defRPr/>
            </a:lvl2pPr>
            <a:lvl3pPr lvl="2" algn="l" rtl="0">
              <a:lnSpc>
                <a:spcPct val="100000"/>
              </a:lnSpc>
              <a:spcBef>
                <a:spcPts val="0"/>
              </a:spcBef>
              <a:spcAft>
                <a:spcPts val="0"/>
              </a:spcAft>
              <a:buSzPts val="3700"/>
              <a:buNone/>
              <a:defRPr/>
            </a:lvl3pPr>
            <a:lvl4pPr lvl="3" algn="l" rtl="0">
              <a:lnSpc>
                <a:spcPct val="100000"/>
              </a:lnSpc>
              <a:spcBef>
                <a:spcPts val="0"/>
              </a:spcBef>
              <a:spcAft>
                <a:spcPts val="0"/>
              </a:spcAft>
              <a:buSzPts val="3700"/>
              <a:buNone/>
              <a:defRPr/>
            </a:lvl4pPr>
            <a:lvl5pPr lvl="4" algn="l" rtl="0">
              <a:lnSpc>
                <a:spcPct val="100000"/>
              </a:lnSpc>
              <a:spcBef>
                <a:spcPts val="0"/>
              </a:spcBef>
              <a:spcAft>
                <a:spcPts val="0"/>
              </a:spcAft>
              <a:buSzPts val="3700"/>
              <a:buNone/>
              <a:defRPr/>
            </a:lvl5pPr>
            <a:lvl6pPr lvl="5" algn="l" rtl="0">
              <a:lnSpc>
                <a:spcPct val="100000"/>
              </a:lnSpc>
              <a:spcBef>
                <a:spcPts val="0"/>
              </a:spcBef>
              <a:spcAft>
                <a:spcPts val="0"/>
              </a:spcAft>
              <a:buSzPts val="3700"/>
              <a:buNone/>
              <a:defRPr/>
            </a:lvl6pPr>
            <a:lvl7pPr lvl="6" algn="l" rtl="0">
              <a:lnSpc>
                <a:spcPct val="100000"/>
              </a:lnSpc>
              <a:spcBef>
                <a:spcPts val="0"/>
              </a:spcBef>
              <a:spcAft>
                <a:spcPts val="0"/>
              </a:spcAft>
              <a:buSzPts val="3700"/>
              <a:buNone/>
              <a:defRPr/>
            </a:lvl7pPr>
            <a:lvl8pPr lvl="7" algn="l" rtl="0">
              <a:lnSpc>
                <a:spcPct val="100000"/>
              </a:lnSpc>
              <a:spcBef>
                <a:spcPts val="0"/>
              </a:spcBef>
              <a:spcAft>
                <a:spcPts val="0"/>
              </a:spcAft>
              <a:buSzPts val="3700"/>
              <a:buNone/>
              <a:defRPr/>
            </a:lvl8pPr>
            <a:lvl9pPr lvl="8" algn="l" rtl="0">
              <a:lnSpc>
                <a:spcPct val="100000"/>
              </a:lnSpc>
              <a:spcBef>
                <a:spcPts val="0"/>
              </a:spcBef>
              <a:spcAft>
                <a:spcPts val="0"/>
              </a:spcAft>
              <a:buSzPts val="3700"/>
              <a:buNone/>
              <a:defRPr/>
            </a:lvl9pPr>
          </a:lstStyle>
          <a:p>
            <a:endParaRPr/>
          </a:p>
        </p:txBody>
      </p:sp>
      <p:cxnSp>
        <p:nvCxnSpPr>
          <p:cNvPr id="166" name="Google Shape;166;g128e061f2de_0_109"/>
          <p:cNvCxnSpPr/>
          <p:nvPr/>
        </p:nvCxnSpPr>
        <p:spPr>
          <a:xfrm>
            <a:off x="575800" y="1002333"/>
            <a:ext cx="11040300" cy="0"/>
          </a:xfrm>
          <a:prstGeom prst="straightConnector1">
            <a:avLst/>
          </a:prstGeom>
          <a:noFill/>
          <a:ln w="9525" cap="flat" cmpd="sng">
            <a:solidFill>
              <a:srgbClr val="C6C5C5"/>
            </a:solidFill>
            <a:prstDash val="dot"/>
            <a:round/>
            <a:headEnd type="none" w="sm" len="sm"/>
            <a:tailEnd type="none" w="sm" len="sm"/>
          </a:ln>
        </p:spPr>
      </p:cxnSp>
      <p:sp>
        <p:nvSpPr>
          <p:cNvPr id="167" name="Google Shape;167;g128e061f2de_0_109">
            <a:hlinkClick r:id="" action="ppaction://hlinkshowjump?jump=previousslide"/>
          </p:cNvPr>
          <p:cNvSpPr/>
          <p:nvPr/>
        </p:nvSpPr>
        <p:spPr>
          <a:xfrm rot="2700000">
            <a:off x="11348840" y="6420393"/>
            <a:ext cx="113279" cy="113279"/>
          </a:xfrm>
          <a:prstGeom prst="rtTriangle">
            <a:avLst/>
          </a:prstGeom>
          <a:solidFill>
            <a:srgbClr val="C6C5C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68" name="Google Shape;168;g128e061f2de_0_109"/>
          <p:cNvSpPr/>
          <p:nvPr/>
        </p:nvSpPr>
        <p:spPr>
          <a:xfrm>
            <a:off x="579075" y="6315167"/>
            <a:ext cx="506400" cy="232800"/>
          </a:xfrm>
          <a:prstGeom prst="rect">
            <a:avLst/>
          </a:prstGeom>
          <a:solidFill>
            <a:srgbClr val="C6C5C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69" name="Google Shape;169;g128e061f2de_0_109">
            <a:hlinkClick r:id="" action="ppaction://hlinkshowjump?jump=nextslide"/>
          </p:cNvPr>
          <p:cNvSpPr/>
          <p:nvPr/>
        </p:nvSpPr>
        <p:spPr>
          <a:xfrm rot="-8100000">
            <a:off x="11508840" y="6420194"/>
            <a:ext cx="113279" cy="113279"/>
          </a:xfrm>
          <a:prstGeom prst="rtTriangle">
            <a:avLst/>
          </a:prstGeom>
          <a:solidFill>
            <a:srgbClr val="C6C5C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70" name="Google Shape;170;g128e061f2de_0_109"/>
          <p:cNvSpPr txBox="1">
            <a:spLocks noGrp="1"/>
          </p:cNvSpPr>
          <p:nvPr>
            <p:ph type="sldNum" idx="12"/>
          </p:nvPr>
        </p:nvSpPr>
        <p:spPr>
          <a:xfrm>
            <a:off x="579067" y="6315167"/>
            <a:ext cx="506400" cy="232800"/>
          </a:xfrm>
          <a:prstGeom prst="rect">
            <a:avLst/>
          </a:prstGeom>
          <a:noFill/>
          <a:ln>
            <a:noFill/>
          </a:ln>
        </p:spPr>
        <p:txBody>
          <a:bodyPr spcFirstLastPara="1" wrap="square" lIns="121900" tIns="121900" rIns="121900" bIns="121900" anchor="ctr" anchorCtr="0">
            <a:noAutofit/>
          </a:bodyPr>
          <a:lstStyle>
            <a:lvl1pPr marL="0" marR="0" lvl="0"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171" name="Google Shape;171;g128e061f2de_0_109"/>
          <p:cNvSpPr txBox="1"/>
          <p:nvPr/>
        </p:nvSpPr>
        <p:spPr>
          <a:xfrm>
            <a:off x="9204248" y="6246912"/>
            <a:ext cx="2043600" cy="2328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dirty="0">
                <a:solidFill>
                  <a:srgbClr val="C6C5C5"/>
                </a:solidFill>
                <a:latin typeface="Arial"/>
                <a:ea typeface="Arial"/>
                <a:cs typeface="Arial"/>
                <a:sym typeface="Arial"/>
              </a:rPr>
              <a:t>www.companyname.com</a:t>
            </a:r>
            <a:endParaRPr sz="1200" b="0" i="0" u="none" strike="noStrike" cap="none" dirty="0">
              <a:solidFill>
                <a:srgbClr val="C6C5C5"/>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Montserrat"/>
              <a:buNone/>
              <a:defRPr sz="4400" b="0"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Montserrat"/>
                <a:ea typeface="Montserrat"/>
                <a:cs typeface="Montserrat"/>
                <a:sym typeface="Montserra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Montserrat"/>
                <a:ea typeface="Montserrat"/>
                <a:cs typeface="Montserrat"/>
                <a:sym typeface="Montserra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endParaRPr dirty="0"/>
          </a:p>
        </p:txBody>
      </p:sp>
      <p:sp>
        <p:nvSpPr>
          <p:cNvPr id="12" name="Google Shape;1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9pPr>
          </a:lstStyle>
          <a:p>
            <a:endParaRPr/>
          </a:p>
        </p:txBody>
      </p:sp>
      <p:sp>
        <p:nvSpPr>
          <p:cNvPr id="13" name="Google Shape;1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9pPr>
          </a:lstStyle>
          <a:p>
            <a:endParaRPr/>
          </a:p>
        </p:txBody>
      </p:sp>
      <p:sp>
        <p:nvSpPr>
          <p:cNvPr id="14" name="Google Shape;1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29"/>
          <p:cNvSpPr txBox="1"/>
          <p:nvPr/>
        </p:nvSpPr>
        <p:spPr>
          <a:xfrm>
            <a:off x="1981200" y="6338813"/>
            <a:ext cx="71229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 2024 By BK Fintech- Rikkei Education - All rights reserved.</a:t>
            </a:r>
            <a:endParaRPr sz="1400" b="0" i="0" u="none" strike="noStrike" cap="none" dirty="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11bb26f517d_0_1"/>
          <p:cNvSpPr txBox="1">
            <a:spLocks noGrp="1"/>
          </p:cNvSpPr>
          <p:nvPr>
            <p:ph type="ctrTitle"/>
          </p:nvPr>
        </p:nvSpPr>
        <p:spPr>
          <a:xfrm>
            <a:off x="1691640" y="2423160"/>
            <a:ext cx="6858000" cy="1234440"/>
          </a:xfrm>
          <a:prstGeom prst="rect">
            <a:avLst/>
          </a:prstGeom>
          <a:noFill/>
          <a:ln>
            <a:noFill/>
          </a:ln>
        </p:spPr>
        <p:txBody>
          <a:bodyPr spcFirstLastPara="1" wrap="square" lIns="0" tIns="0" rIns="0" bIns="0" anchor="t" anchorCtr="0">
            <a:noAutofit/>
          </a:bodyPr>
          <a:lstStyle/>
          <a:p>
            <a:pPr>
              <a:spcAft>
                <a:spcPts val="0"/>
              </a:spcAft>
              <a:defRPr sz="2400" b="0">
                <a:solidFill>
                  <a:srgbClr val="000000"/>
                </a:solidFill>
                <a:latin typeface="Arial"/>
              </a:defRPr>
            </a:pPr>
            <a:r>
              <a:t>SQL nâng cao cho KPI Dashboard và Customer Analytics</a:t>
            </a:r>
          </a:p>
        </p:txBody>
      </p:sp>
      <p:sp>
        <p:nvSpPr>
          <p:cNvPr id="177" name="Google Shape;177;g11bb26f517d_0_1"/>
          <p:cNvSpPr txBox="1">
            <a:spLocks noGrp="1"/>
          </p:cNvSpPr>
          <p:nvPr>
            <p:ph type="subTitle" idx="1"/>
          </p:nvPr>
        </p:nvSpPr>
        <p:spPr>
          <a:xfrm>
            <a:off x="1691640" y="4160520"/>
            <a:ext cx="4389120" cy="292608"/>
          </a:xfrm>
          <a:prstGeom prst="rect">
            <a:avLst/>
          </a:prstGeom>
          <a:noFill/>
          <a:ln>
            <a:noFill/>
          </a:ln>
        </p:spPr>
        <p:txBody>
          <a:bodyPr spcFirstLastPara="1" wrap="square" lIns="0" tIns="0" rIns="0" bIns="0" anchor="t" anchorCtr="0">
            <a:noAutofit/>
          </a:bodyPr>
          <a:lstStyle/>
          <a:p>
            <a:pPr>
              <a:defRPr sz="1350">
                <a:solidFill>
                  <a:srgbClr val="5F6368"/>
                </a:solidFill>
                <a:latin typeface="Arial"/>
              </a:defRPr>
            </a:pPr>
            <a:r>
              <a:t>Phiên bản: 1.0</a:t>
            </a:r>
          </a:p>
        </p:txBody>
      </p:sp>
      <p:sp>
        <p:nvSpPr>
          <p:cNvPr id="178" name="Google Shape;178;g11bb26f517d_0_1"/>
          <p:cNvSpPr txBox="1">
            <a:spLocks noGrp="1"/>
          </p:cNvSpPr>
          <p:nvPr>
            <p:ph type="body" idx="2"/>
          </p:nvPr>
        </p:nvSpPr>
        <p:spPr>
          <a:xfrm>
            <a:off x="1691640" y="1874519"/>
            <a:ext cx="5120640" cy="411480"/>
          </a:xfrm>
          <a:prstGeom prst="rect">
            <a:avLst/>
          </a:prstGeom>
          <a:noFill/>
          <a:ln>
            <a:noFill/>
          </a:ln>
        </p:spPr>
        <p:txBody>
          <a:bodyPr spcFirstLastPara="1" wrap="square" lIns="91425" tIns="45700" rIns="91425" bIns="45700" anchor="t" anchorCtr="0">
            <a:noAutofit/>
          </a:bodyPr>
          <a:lstStyle/>
          <a:p>
            <a:pPr>
              <a:defRPr sz="2300" b="0">
                <a:solidFill>
                  <a:srgbClr val="C5272A"/>
                </a:solidFill>
                <a:latin typeface="Arial"/>
              </a:defRPr>
            </a:pPr>
            <a:r>
              <a:t>BÀI 3:</a:t>
            </a:r>
          </a:p>
        </p:txBody>
      </p:sp>
      <p:sp>
        <p:nvSpPr>
          <p:cNvPr id="179" name="Google Shape;179;g11bb26f517d_0_1"/>
          <p:cNvSpPr txBox="1"/>
          <p:nvPr/>
        </p:nvSpPr>
        <p:spPr>
          <a:xfrm>
            <a:off x="1691640" y="3767328"/>
            <a:ext cx="6492240" cy="329184"/>
          </a:xfrm>
          <a:prstGeom prst="rect">
            <a:avLst/>
          </a:prstGeom>
          <a:noFill/>
          <a:ln>
            <a:noFill/>
          </a:ln>
        </p:spPr>
        <p:txBody>
          <a:bodyPr spcFirstLastPara="1" wrap="square" lIns="0" tIns="0" rIns="0" bIns="0" anchor="t" anchorCtr="0">
            <a:noAutofit/>
          </a:bodyPr>
          <a:lstStyle/>
          <a:p>
            <a:pPr>
              <a:defRPr sz="1350">
                <a:solidFill>
                  <a:srgbClr val="5F6368"/>
                </a:solidFill>
                <a:latin typeface="Arial"/>
              </a:defRPr>
            </a:pPr>
            <a:r>
              <a:t>Module: AI-Native Data Engineering – Data Engineering Foundation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11bac9ab7f9_1_682"/>
          <p:cNvSpPr txBox="1">
            <a:spLocks noGrp="1"/>
          </p:cNvSpPr>
          <p:nvPr>
            <p:ph type="body" idx="1"/>
          </p:nvPr>
        </p:nvSpPr>
        <p:spPr>
          <a:xfrm>
            <a:off x="1651450" y="1261300"/>
            <a:ext cx="9767400" cy="4935600"/>
          </a:xfrm>
          <a:prstGeom prst="rect">
            <a:avLst/>
          </a:prstGeom>
          <a:noFill/>
          <a:ln>
            <a:noFill/>
          </a:ln>
        </p:spPr>
        <p:txBody>
          <a:bodyPr spcFirstLastPara="1" wrap="square" lIns="91425" tIns="45700" rIns="91425" bIns="45700" anchor="t" anchorCtr="0">
            <a:normAutofit/>
          </a:bodyPr>
          <a:lstStyle/>
          <a:p>
            <a:pPr>
              <a:spcAft>
                <a:spcPts val="1200"/>
              </a:spcAft>
              <a:defRPr sz="2200">
                <a:solidFill>
                  <a:srgbClr val="262626"/>
                </a:solidFill>
                <a:latin typeface="Arial"/>
              </a:defRPr>
            </a:pPr>
            <a:r>
              <a:t>1. CTE/subquery</a:t>
            </a:r>
          </a:p>
          <a:p>
            <a:pPr>
              <a:spcAft>
                <a:spcPts val="1200"/>
              </a:spcAft>
              <a:defRPr sz="2200">
                <a:solidFill>
                  <a:srgbClr val="262626"/>
                </a:solidFill>
                <a:latin typeface="Arial"/>
              </a:defRPr>
            </a:pPr>
            <a:r>
              <a:t>2. Window functions</a:t>
            </a:r>
          </a:p>
          <a:p>
            <a:pPr>
              <a:spcAft>
                <a:spcPts val="1200"/>
              </a:spcAft>
              <a:defRPr sz="2200">
                <a:solidFill>
                  <a:srgbClr val="262626"/>
                </a:solidFill>
                <a:latin typeface="Arial"/>
              </a:defRPr>
            </a:pPr>
            <a:r>
              <a:t>3. Customer/Cohort</a:t>
            </a:r>
          </a:p>
          <a:p>
            <a:pPr>
              <a:spcAft>
                <a:spcPts val="1200"/>
              </a:spcAft>
              <a:defRPr sz="2200">
                <a:solidFill>
                  <a:srgbClr val="262626"/>
                </a:solidFill>
                <a:latin typeface="Arial"/>
              </a:defRPr>
            </a:pPr>
            <a:r>
              <a:t>4. Advanced SQL Lab</a:t>
            </a:r>
          </a:p>
        </p:txBody>
      </p:sp>
      <p:sp>
        <p:nvSpPr>
          <p:cNvPr id="185" name="Google Shape;185;g11bac9ab7f9_1_682"/>
          <p:cNvSpPr txBox="1">
            <a:spLocks noGrp="1"/>
          </p:cNvSpPr>
          <p:nvPr>
            <p:ph type="title"/>
          </p:nvPr>
        </p:nvSpPr>
        <p:spPr>
          <a:xfrm rot="5400000">
            <a:off x="-1686375" y="1500953"/>
            <a:ext cx="5085300" cy="1845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C00000"/>
              </a:buClr>
              <a:buSzPts val="6000"/>
              <a:buFont typeface="Montserrat Black"/>
              <a:buNone/>
            </a:pPr>
            <a:r>
              <a:rPr lang="en-US"/>
              <a:t> NỘI DUNG</a:t>
            </a:r>
            <a:endParaRPr/>
          </a:p>
        </p:txBody>
      </p:sp>
      <p:pic>
        <p:nvPicPr>
          <p:cNvPr id="186" name="Google Shape;186;g11bac9ab7f9_1_682"/>
          <p:cNvPicPr preferRelativeResize="0"/>
          <p:nvPr/>
        </p:nvPicPr>
        <p:blipFill rotWithShape="1">
          <a:blip r:embed="rId3">
            <a:alphaModFix/>
          </a:blip>
          <a:srcRect/>
          <a:stretch/>
        </p:blipFill>
        <p:spPr>
          <a:xfrm>
            <a:off x="-1863816" y="5111676"/>
            <a:ext cx="3515280" cy="349264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11bac9ab7f9_1_876"/>
          <p:cNvSpPr txBox="1">
            <a:spLocks noGrp="1"/>
          </p:cNvSpPr>
          <p:nvPr>
            <p:ph type="title"/>
          </p:nvPr>
        </p:nvSpPr>
        <p:spPr>
          <a:xfrm>
            <a:off x="838200" y="509145"/>
            <a:ext cx="8463600" cy="945600"/>
          </a:xfrm>
          <a:prstGeom prst="rect">
            <a:avLst/>
          </a:prstGeom>
          <a:noFill/>
          <a:ln>
            <a:noFill/>
          </a:ln>
        </p:spPr>
        <p:txBody>
          <a:bodyPr spcFirstLastPara="1" wrap="square" lIns="91425" tIns="45700" rIns="91425" bIns="45700" anchor="ctr" anchorCtr="0">
            <a:normAutofit/>
          </a:bodyPr>
          <a:lstStyle/>
          <a:p>
            <a:pPr>
              <a:defRPr sz="2500" b="1">
                <a:solidFill>
                  <a:srgbClr val="C5272A"/>
                </a:solidFill>
                <a:latin typeface="Arial"/>
              </a:defRPr>
            </a:pPr>
            <a:r>
              <a:t>Mục tiêu Buổi 3</a:t>
            </a:r>
          </a:p>
        </p:txBody>
      </p:sp>
      <p:sp>
        <p:nvSpPr>
          <p:cNvPr id="192" name="Google Shape;192;g11bac9ab7f9_1_876"/>
          <p:cNvSpPr txBox="1"/>
          <p:nvPr/>
        </p:nvSpPr>
        <p:spPr>
          <a:xfrm>
            <a:off x="742492" y="1978425"/>
            <a:ext cx="10792200" cy="4019700"/>
          </a:xfrm>
          <a:prstGeom prst="rect">
            <a:avLst/>
          </a:prstGeom>
          <a:noFill/>
          <a:ln>
            <a:noFill/>
          </a:ln>
        </p:spPr>
        <p:txBody>
          <a:bodyPr spcFirstLastPara="1" wrap="square" lIns="91425" tIns="45700" rIns="91425" bIns="45700" anchor="t" anchorCtr="0">
            <a:normAutofit/>
          </a:bodyPr>
          <a:lstStyle/>
          <a:p/>
        </p:txBody>
      </p:sp>
      <p:sp>
        <p:nvSpPr>
          <p:cNvPr id="193" name="Google Shape;193;g11bac9ab7f9_1_876"/>
          <p:cNvSpPr txBox="1"/>
          <p:nvPr/>
        </p:nvSpPr>
        <p:spPr>
          <a:xfrm>
            <a:off x="742500" y="1454750"/>
            <a:ext cx="10671300" cy="461700"/>
          </a:xfrm>
          <a:prstGeom prst="rect">
            <a:avLst/>
          </a:prstGeom>
          <a:noFill/>
          <a:ln>
            <a:noFill/>
          </a:ln>
        </p:spPr>
        <p:txBody>
          <a:bodyPr spcFirstLastPara="1" wrap="square" lIns="91425" tIns="91425" rIns="91425" bIns="91425" anchor="t" anchorCtr="0">
            <a:spAutoFit/>
          </a:bodyPr>
          <a:lstStyle/>
          <a:p/>
        </p:txBody>
      </p:sp>
      <p:sp>
        <p:nvSpPr>
          <p:cNvPr id="194" name="Rounded Rectangle 193"/>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SQL nâng cao</a:t>
            </a:r>
          </a:p>
        </p:txBody>
      </p:sp>
      <p:sp>
        <p:nvSpPr>
          <p:cNvPr id="195" name="Rounded Rectangle 194"/>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Analytics</a:t>
            </a:r>
          </a:p>
        </p:txBody>
      </p:sp>
      <p:sp>
        <p:nvSpPr>
          <p:cNvPr id="196" name="TextBox 195"/>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Subquery / CTE</a:t>
            </a:r>
          </a:p>
          <a:p>
            <a:pPr>
              <a:lnSpc>
                <a:spcPct val="108000"/>
              </a:lnSpc>
              <a:spcAft>
                <a:spcPts val="800"/>
              </a:spcAft>
              <a:defRPr sz="1600">
                <a:solidFill>
                  <a:srgbClr val="262626"/>
                </a:solidFill>
                <a:latin typeface="Arial"/>
              </a:defRPr>
            </a:pPr>
            <a:r>
              <a:t>• Window functions</a:t>
            </a:r>
          </a:p>
          <a:p>
            <a:pPr>
              <a:lnSpc>
                <a:spcPct val="108000"/>
              </a:lnSpc>
              <a:spcAft>
                <a:spcPts val="800"/>
              </a:spcAft>
              <a:defRPr sz="1600">
                <a:solidFill>
                  <a:srgbClr val="262626"/>
                </a:solidFill>
                <a:latin typeface="Arial"/>
              </a:defRPr>
            </a:pPr>
            <a:r>
              <a:t>• Running total / ranking</a:t>
            </a:r>
          </a:p>
          <a:p>
            <a:pPr>
              <a:lnSpc>
                <a:spcPct val="108000"/>
              </a:lnSpc>
              <a:spcAft>
                <a:spcPts val="800"/>
              </a:spcAft>
              <a:defRPr sz="1600">
                <a:solidFill>
                  <a:srgbClr val="262626"/>
                </a:solidFill>
                <a:latin typeface="Arial"/>
              </a:defRPr>
            </a:pPr>
            <a:r>
              <a:t>• Time-based analytics</a:t>
            </a:r>
          </a:p>
        </p:txBody>
      </p:sp>
      <p:sp>
        <p:nvSpPr>
          <p:cNvPr id="197" name="TextBox 196"/>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KPI dashboard dataset</a:t>
            </a:r>
          </a:p>
          <a:p>
            <a:pPr>
              <a:lnSpc>
                <a:spcPct val="108000"/>
              </a:lnSpc>
              <a:spcAft>
                <a:spcPts val="800"/>
              </a:spcAft>
              <a:defRPr sz="1600">
                <a:solidFill>
                  <a:srgbClr val="262626"/>
                </a:solidFill>
                <a:latin typeface="Arial"/>
              </a:defRPr>
            </a:pPr>
            <a:r>
              <a:t>• Customer analytics / RFM-like</a:t>
            </a:r>
          </a:p>
          <a:p>
            <a:pPr>
              <a:lnSpc>
                <a:spcPct val="108000"/>
              </a:lnSpc>
              <a:spcAft>
                <a:spcPts val="800"/>
              </a:spcAft>
              <a:defRPr sz="1600">
                <a:solidFill>
                  <a:srgbClr val="262626"/>
                </a:solidFill>
                <a:latin typeface="Arial"/>
              </a:defRPr>
            </a:pPr>
            <a:r>
              <a:t>• Cohort analysis</a:t>
            </a:r>
          </a:p>
          <a:p>
            <a:pPr>
              <a:lnSpc>
                <a:spcPct val="108000"/>
              </a:lnSpc>
              <a:spcAft>
                <a:spcPts val="800"/>
              </a:spcAft>
              <a:defRPr sz="1600">
                <a:solidFill>
                  <a:srgbClr val="262626"/>
                </a:solidFill>
                <a:latin typeface="Arial"/>
              </a:defRPr>
            </a:pPr>
            <a:r>
              <a:t>• SQL dễ đọc và bảo trì</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11bac9ab7f9_1_1035"/>
          <p:cNvSpPr txBox="1">
            <a:spLocks noGrp="1"/>
          </p:cNvSpPr>
          <p:nvPr>
            <p:ph type="title"/>
          </p:nvPr>
        </p:nvSpPr>
        <p:spPr>
          <a:xfrm rot="5400000">
            <a:off x="-1686375" y="1500953"/>
            <a:ext cx="5085300" cy="1845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C00000"/>
              </a:buClr>
              <a:buSzPts val="6000"/>
              <a:buFont typeface="Montserrat Black"/>
              <a:buNone/>
            </a:pPr>
            <a:r>
              <a:rPr lang="en-US"/>
              <a:t> TỔNG KẾT</a:t>
            </a:r>
            <a:endParaRPr/>
          </a:p>
        </p:txBody>
      </p:sp>
      <p:pic>
        <p:nvPicPr>
          <p:cNvPr id="199" name="Google Shape;199;g11bac9ab7f9_1_1035"/>
          <p:cNvPicPr preferRelativeResize="0"/>
          <p:nvPr/>
        </p:nvPicPr>
        <p:blipFill rotWithShape="1">
          <a:blip r:embed="rId3">
            <a:alphaModFix/>
          </a:blip>
          <a:srcRect/>
          <a:stretch/>
        </p:blipFill>
        <p:spPr>
          <a:xfrm>
            <a:off x="-1863816" y="5111676"/>
            <a:ext cx="3515280" cy="3492645"/>
          </a:xfrm>
          <a:prstGeom prst="rect">
            <a:avLst/>
          </a:prstGeom>
          <a:noFill/>
          <a:ln>
            <a:noFill/>
          </a:ln>
        </p:spPr>
      </p:pic>
      <p:sp>
        <p:nvSpPr>
          <p:cNvPr id="200" name="Google Shape;200;g11bac9ab7f9_1_1035"/>
          <p:cNvSpPr txBox="1">
            <a:spLocks noGrp="1"/>
          </p:cNvSpPr>
          <p:nvPr>
            <p:ph type="body" idx="1"/>
          </p:nvPr>
        </p:nvSpPr>
        <p:spPr>
          <a:xfrm>
            <a:off x="1651450" y="1261300"/>
            <a:ext cx="9767400" cy="4935600"/>
          </a:xfrm>
          <a:prstGeom prst="rect">
            <a:avLst/>
          </a:prstGeom>
          <a:noFill/>
          <a:ln>
            <a:noFill/>
          </a:ln>
        </p:spPr>
        <p:txBody>
          <a:bodyPr spcFirstLastPara="1" wrap="square" lIns="91425" tIns="45700" rIns="91425" bIns="45700" anchor="t" anchorCtr="0">
            <a:normAutofit/>
          </a:bodyPr>
          <a:lstStyle/>
          <a:p>
            <a:pPr>
              <a:spcAft>
                <a:spcPts val="1200"/>
              </a:spcAft>
              <a:defRPr sz="2100">
                <a:solidFill>
                  <a:srgbClr val="262626"/>
                </a:solidFill>
                <a:latin typeface="Arial"/>
              </a:defRPr>
            </a:pPr>
            <a:r>
              <a:t>1. CTE chia logic thành bước</a:t>
            </a:r>
          </a:p>
          <a:p>
            <a:pPr>
              <a:spcAft>
                <a:spcPts val="1200"/>
              </a:spcAft>
              <a:defRPr sz="2100">
                <a:solidFill>
                  <a:srgbClr val="262626"/>
                </a:solidFill>
                <a:latin typeface="Arial"/>
              </a:defRPr>
            </a:pPr>
            <a:r>
              <a:t>2. Window giữ grain và thêm ngữ cảnh</a:t>
            </a:r>
          </a:p>
          <a:p>
            <a:pPr>
              <a:spcAft>
                <a:spcPts val="1200"/>
              </a:spcAft>
              <a:defRPr sz="2100">
                <a:solidFill>
                  <a:srgbClr val="262626"/>
                </a:solidFill>
                <a:latin typeface="Arial"/>
              </a:defRPr>
            </a:pPr>
            <a:r>
              <a:t>3. Customer/Cohort cần định nghĩa thời gian rõ</a:t>
            </a:r>
          </a:p>
          <a:p>
            <a:pPr>
              <a:spcAft>
                <a:spcPts val="1200"/>
              </a:spcAft>
              <a:defRPr sz="2100">
                <a:solidFill>
                  <a:srgbClr val="262626"/>
                </a:solidFill>
                <a:latin typeface="Arial"/>
              </a:defRPr>
            </a:pPr>
            <a:r>
              <a:t>4. SQL analytics phải readable + verifiable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g11bb26f517d_0_162"/>
          <p:cNvSpPr txBox="1">
            <a:spLocks noGrp="1"/>
          </p:cNvSpPr>
          <p:nvPr>
            <p:ph type="ctrTitle"/>
          </p:nvPr>
        </p:nvSpPr>
        <p:spPr>
          <a:xfrm>
            <a:off x="279991" y="3969209"/>
            <a:ext cx="9144000" cy="1464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3600"/>
              <a:buFont typeface="Montserrat Black"/>
              <a:buNone/>
            </a:pPr>
            <a:r>
              <a:rPr lang="en-US" dirty="0"/>
              <a:t>KẾT THÚC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Tại sao cần CTE?</a:t>
            </a:r>
          </a:p>
        </p:txBody>
      </p:sp>
      <p:sp>
        <p:nvSpPr>
          <p:cNvPr id="5" name="Rounded Rectangle 4"/>
          <p:cNvSpPr/>
          <p:nvPr/>
        </p:nvSpPr>
        <p:spPr>
          <a:xfrm>
            <a:off x="777240" y="2240280"/>
            <a:ext cx="2539746"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RAW JOIN</a:t>
            </a:r>
          </a:p>
          <a:p>
            <a:pPr algn="ctr">
              <a:defRPr sz="1150">
                <a:solidFill>
                  <a:srgbClr val="5F6368"/>
                </a:solidFill>
                <a:latin typeface="Arial"/>
              </a:defRPr>
            </a:pPr>
            <a:r>
              <a:t>Nhiều bảng</a:t>
            </a:r>
          </a:p>
        </p:txBody>
      </p:sp>
      <p:sp>
        <p:nvSpPr>
          <p:cNvPr id="6" name="Right Arrow 5"/>
          <p:cNvSpPr/>
          <p:nvPr/>
        </p:nvSpPr>
        <p:spPr>
          <a:xfrm>
            <a:off x="3344418"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81578" y="2240280"/>
            <a:ext cx="2539746"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CTE 1</a:t>
            </a:r>
          </a:p>
          <a:p>
            <a:pPr algn="ctr">
              <a:defRPr sz="1150">
                <a:solidFill>
                  <a:srgbClr val="5F6368"/>
                </a:solidFill>
                <a:latin typeface="Arial"/>
              </a:defRPr>
            </a:pPr>
            <a:r>
              <a:t>Chuẩn grain</a:t>
            </a:r>
          </a:p>
        </p:txBody>
      </p:sp>
      <p:sp>
        <p:nvSpPr>
          <p:cNvPr id="8" name="Right Arrow 7"/>
          <p:cNvSpPr/>
          <p:nvPr/>
        </p:nvSpPr>
        <p:spPr>
          <a:xfrm>
            <a:off x="6048756"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85916" y="2240280"/>
            <a:ext cx="2539746"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CTE 2</a:t>
            </a:r>
          </a:p>
          <a:p>
            <a:pPr algn="ctr">
              <a:defRPr sz="1150">
                <a:solidFill>
                  <a:srgbClr val="5F6368"/>
                </a:solidFill>
                <a:latin typeface="Arial"/>
              </a:defRPr>
            </a:pPr>
            <a:r>
              <a:t>Tính metric</a:t>
            </a:r>
          </a:p>
        </p:txBody>
      </p:sp>
      <p:sp>
        <p:nvSpPr>
          <p:cNvPr id="10" name="Right Arrow 9"/>
          <p:cNvSpPr/>
          <p:nvPr/>
        </p:nvSpPr>
        <p:spPr>
          <a:xfrm>
            <a:off x="875309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890254" y="2240280"/>
            <a:ext cx="2539746" cy="1417320"/>
          </a:xfrm>
          <a:prstGeom prst="roundRect">
            <a:avLst/>
          </a:prstGeom>
          <a:solidFill>
            <a:srgbClr val="F5F6F8"/>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FINAL</a:t>
            </a:r>
          </a:p>
          <a:p>
            <a:pPr algn="ctr">
              <a:defRPr sz="1150">
                <a:solidFill>
                  <a:srgbClr val="5F6368"/>
                </a:solidFill>
                <a:latin typeface="Arial"/>
              </a:defRPr>
            </a:pPr>
            <a:r>
              <a:t>Select/report</a:t>
            </a:r>
          </a:p>
        </p:txBody>
      </p:sp>
      <p:sp>
        <p:nvSpPr>
          <p:cNvPr id="12" name="TextBox 11"/>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Chia logic thành bước có tên giúp review và đối soát từng bước.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Subquery: truy vấn nằm trong truy vấn</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SELECT *</a:t>
            </a:r>
            <a:br/>
            <a:r>
              <a:t>FROM core.orders</a:t>
            </a:r>
            <a:br/>
            <a:r>
              <a:t>WHERE customer_id IN (</a:t>
            </a:r>
            <a:br/>
            <a:r>
              <a:t>  SELECT customer_id</a:t>
            </a:r>
            <a:br/>
            <a:r>
              <a:t>  FROM core.customers</a:t>
            </a:r>
            <a:br/>
            <a:r>
              <a:t>  WHERE customer_segment IN ('Gold','Platinum')</a:t>
            </a:r>
            <a:br/>
            <a: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CTE với WITH</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WITH completed AS (</a:t>
            </a:r>
            <a:br/>
            <a:r>
              <a:t>  SELECT *</a:t>
            </a:r>
            <a:br/>
            <a:r>
              <a:t>  FROM core.orders</a:t>
            </a:r>
            <a:br/>
            <a:r>
              <a:t>  WHERE status='completed'</a:t>
            </a:r>
            <a:br/>
            <a:r>
              <a:t>), monthly AS (</a:t>
            </a:r>
            <a:br/>
            <a:r>
              <a:t>  SELECT date_trunc('month',order_date)::date AS month,</a:t>
            </a:r>
            <a:br/>
            <a:r>
              <a:t>         SUM(order_total) AS revenue</a:t>
            </a:r>
            <a:br/>
            <a:r>
              <a:t>  FROM completed GROUP BY 1</a:t>
            </a:r>
            <a:br/>
            <a:r>
              <a:t>)</a:t>
            </a:r>
            <a:br/>
            <a:r>
              <a:t>SELECT * FROM monthly ORDER BY month;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Window Function: giữ grain, thêm ngữ cảnh</a:t>
            </a:r>
          </a:p>
        </p:txBody>
      </p:sp>
      <p:sp>
        <p:nvSpPr>
          <p:cNvPr id="5" name="Rounded Rectangle 4"/>
          <p:cNvSpPr/>
          <p:nvPr/>
        </p:nvSpPr>
        <p:spPr>
          <a:xfrm>
            <a:off x="822960" y="1417320"/>
            <a:ext cx="5202936" cy="438912"/>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GROUP BY</a:t>
            </a:r>
          </a:p>
        </p:txBody>
      </p:sp>
      <p:sp>
        <p:nvSpPr>
          <p:cNvPr id="6" name="Rounded Rectangle 5"/>
          <p:cNvSpPr/>
          <p:nvPr/>
        </p:nvSpPr>
        <p:spPr>
          <a:xfrm>
            <a:off x="822960"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Giảm số dòng</a:t>
            </a:r>
          </a:p>
        </p:txBody>
      </p:sp>
      <p:sp>
        <p:nvSpPr>
          <p:cNvPr id="7" name="Rounded Rectangle 6"/>
          <p:cNvSpPr/>
          <p:nvPr/>
        </p:nvSpPr>
        <p:spPr>
          <a:xfrm>
            <a:off x="822960"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1 row / group</a:t>
            </a:r>
          </a:p>
        </p:txBody>
      </p:sp>
      <p:sp>
        <p:nvSpPr>
          <p:cNvPr id="8" name="Rounded Rectangle 7"/>
          <p:cNvSpPr/>
          <p:nvPr/>
        </p:nvSpPr>
        <p:spPr>
          <a:xfrm>
            <a:off x="822960"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SUM(x)</a:t>
            </a:r>
          </a:p>
        </p:txBody>
      </p:sp>
      <p:sp>
        <p:nvSpPr>
          <p:cNvPr id="9" name="Rounded Rectangle 8"/>
          <p:cNvSpPr/>
          <p:nvPr/>
        </p:nvSpPr>
        <p:spPr>
          <a:xfrm>
            <a:off x="822960"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Dùng cho summary</a:t>
            </a:r>
          </a:p>
        </p:txBody>
      </p:sp>
      <p:sp>
        <p:nvSpPr>
          <p:cNvPr id="10" name="Rounded Rectangle 9"/>
          <p:cNvSpPr/>
          <p:nvPr/>
        </p:nvSpPr>
        <p:spPr>
          <a:xfrm>
            <a:off x="6135624" y="1417320"/>
            <a:ext cx="5202936" cy="438912"/>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WINDOW</a:t>
            </a:r>
          </a:p>
        </p:txBody>
      </p:sp>
      <p:sp>
        <p:nvSpPr>
          <p:cNvPr id="11" name="Rounded Rectangle 10"/>
          <p:cNvSpPr/>
          <p:nvPr/>
        </p:nvSpPr>
        <p:spPr>
          <a:xfrm>
            <a:off x="6135624"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Giữ số dòng</a:t>
            </a:r>
          </a:p>
        </p:txBody>
      </p:sp>
      <p:sp>
        <p:nvSpPr>
          <p:cNvPr id="12" name="Rounded Rectangle 11"/>
          <p:cNvSpPr/>
          <p:nvPr/>
        </p:nvSpPr>
        <p:spPr>
          <a:xfrm>
            <a:off x="6135624"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1 row / input grain</a:t>
            </a:r>
          </a:p>
        </p:txBody>
      </p:sp>
      <p:sp>
        <p:nvSpPr>
          <p:cNvPr id="13" name="Rounded Rectangle 12"/>
          <p:cNvSpPr/>
          <p:nvPr/>
        </p:nvSpPr>
        <p:spPr>
          <a:xfrm>
            <a:off x="6135624"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SUM(x) OVER(...)</a:t>
            </a:r>
          </a:p>
        </p:txBody>
      </p:sp>
      <p:sp>
        <p:nvSpPr>
          <p:cNvPr id="14" name="Rounded Rectangle 13"/>
          <p:cNvSpPr/>
          <p:nvPr/>
        </p:nvSpPr>
        <p:spPr>
          <a:xfrm>
            <a:off x="6135624"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Dùng rank/running/compare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PARTITION BY và ORDER BY</a:t>
            </a:r>
          </a:p>
        </p:txBody>
      </p:sp>
      <p:sp>
        <p:nvSpPr>
          <p:cNvPr id="5" name="Rounded Rectangle 4"/>
          <p:cNvSpPr/>
          <p:nvPr/>
        </p:nvSpPr>
        <p:spPr>
          <a:xfrm>
            <a:off x="777240" y="2240280"/>
            <a:ext cx="3441192"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PARTITION</a:t>
            </a:r>
          </a:p>
          <a:p>
            <a:pPr algn="ctr">
              <a:defRPr sz="1150">
                <a:solidFill>
                  <a:srgbClr val="5F6368"/>
                </a:solidFill>
                <a:latin typeface="Arial"/>
              </a:defRPr>
            </a:pPr>
            <a:r>
              <a:t>Theo category</a:t>
            </a:r>
          </a:p>
        </p:txBody>
      </p:sp>
      <p:sp>
        <p:nvSpPr>
          <p:cNvPr id="6" name="Right Arrow 5"/>
          <p:cNvSpPr/>
          <p:nvPr/>
        </p:nvSpPr>
        <p:spPr>
          <a:xfrm>
            <a:off x="424586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83024" y="2240280"/>
            <a:ext cx="3441192"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ORDER</a:t>
            </a:r>
          </a:p>
          <a:p>
            <a:pPr algn="ctr">
              <a:defRPr sz="1150">
                <a:solidFill>
                  <a:srgbClr val="5F6368"/>
                </a:solidFill>
                <a:latin typeface="Arial"/>
              </a:defRPr>
            </a:pPr>
            <a:r>
              <a:t>Theo revenue DESC</a:t>
            </a:r>
          </a:p>
        </p:txBody>
      </p:sp>
      <p:sp>
        <p:nvSpPr>
          <p:cNvPr id="8" name="Right Arrow 7"/>
          <p:cNvSpPr/>
          <p:nvPr/>
        </p:nvSpPr>
        <p:spPr>
          <a:xfrm>
            <a:off x="7851648"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988808" y="2240280"/>
            <a:ext cx="3441192"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WINDOW</a:t>
            </a:r>
          </a:p>
          <a:p>
            <a:pPr algn="ctr">
              <a:defRPr sz="1150">
                <a:solidFill>
                  <a:srgbClr val="5F6368"/>
                </a:solidFill>
                <a:latin typeface="Arial"/>
              </a:defRPr>
            </a:pPr>
            <a:r>
              <a:t>RANK / SUM / LAG</a:t>
            </a:r>
          </a:p>
        </p:txBody>
      </p:sp>
      <p:sp>
        <p:nvSpPr>
          <p:cNvPr id="10" name="TextBox 9"/>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Partition giống “nhóm logic” nhưng không collapse rows.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ROW_NUMBER, RANK, DENSE_RANK</a:t>
            </a:r>
          </a:p>
        </p:txBody>
      </p:sp>
      <p:sp>
        <p:nvSpPr>
          <p:cNvPr id="5" name="Rounded Rectangle 4"/>
          <p:cNvSpPr/>
          <p:nvPr/>
        </p:nvSpPr>
        <p:spPr>
          <a:xfrm>
            <a:off x="822960" y="1417320"/>
            <a:ext cx="3432048" cy="438912"/>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ROW_NUMBER</a:t>
            </a:r>
          </a:p>
        </p:txBody>
      </p:sp>
      <p:sp>
        <p:nvSpPr>
          <p:cNvPr id="6" name="Rounded Rectangle 5"/>
          <p:cNvSpPr/>
          <p:nvPr/>
        </p:nvSpPr>
        <p:spPr>
          <a:xfrm>
            <a:off x="822960" y="1938528"/>
            <a:ext cx="3432048"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1,2,3,4</a:t>
            </a:r>
          </a:p>
        </p:txBody>
      </p:sp>
      <p:sp>
        <p:nvSpPr>
          <p:cNvPr id="7" name="Rounded Rectangle 6"/>
          <p:cNvSpPr/>
          <p:nvPr/>
        </p:nvSpPr>
        <p:spPr>
          <a:xfrm>
            <a:off x="822960" y="2660904"/>
            <a:ext cx="3432048"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Không tie</a:t>
            </a:r>
          </a:p>
        </p:txBody>
      </p:sp>
      <p:sp>
        <p:nvSpPr>
          <p:cNvPr id="8" name="Rounded Rectangle 7"/>
          <p:cNvSpPr/>
          <p:nvPr/>
        </p:nvSpPr>
        <p:spPr>
          <a:xfrm>
            <a:off x="822960" y="3383280"/>
            <a:ext cx="3432048"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Luôn unique</a:t>
            </a:r>
          </a:p>
        </p:txBody>
      </p:sp>
      <p:sp>
        <p:nvSpPr>
          <p:cNvPr id="9" name="Rounded Rectangle 8"/>
          <p:cNvSpPr/>
          <p:nvPr/>
        </p:nvSpPr>
        <p:spPr>
          <a:xfrm>
            <a:off x="4364736" y="1417320"/>
            <a:ext cx="3432048" cy="438912"/>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RANK</a:t>
            </a:r>
          </a:p>
        </p:txBody>
      </p:sp>
      <p:sp>
        <p:nvSpPr>
          <p:cNvPr id="10" name="Rounded Rectangle 9"/>
          <p:cNvSpPr/>
          <p:nvPr/>
        </p:nvSpPr>
        <p:spPr>
          <a:xfrm>
            <a:off x="4364736" y="1938528"/>
            <a:ext cx="3432048"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1,2,2,4</a:t>
            </a:r>
          </a:p>
        </p:txBody>
      </p:sp>
      <p:sp>
        <p:nvSpPr>
          <p:cNvPr id="11" name="Rounded Rectangle 10"/>
          <p:cNvSpPr/>
          <p:nvPr/>
        </p:nvSpPr>
        <p:spPr>
          <a:xfrm>
            <a:off x="4364736" y="2660904"/>
            <a:ext cx="3432048"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Tie cùng hạng</a:t>
            </a:r>
          </a:p>
        </p:txBody>
      </p:sp>
      <p:sp>
        <p:nvSpPr>
          <p:cNvPr id="12" name="Rounded Rectangle 11"/>
          <p:cNvSpPr/>
          <p:nvPr/>
        </p:nvSpPr>
        <p:spPr>
          <a:xfrm>
            <a:off x="4364736" y="3383280"/>
            <a:ext cx="3432048"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Có gap</a:t>
            </a:r>
          </a:p>
        </p:txBody>
      </p:sp>
      <p:sp>
        <p:nvSpPr>
          <p:cNvPr id="13" name="Rounded Rectangle 12"/>
          <p:cNvSpPr/>
          <p:nvPr/>
        </p:nvSpPr>
        <p:spPr>
          <a:xfrm>
            <a:off x="7906512" y="1417320"/>
            <a:ext cx="3432048" cy="438912"/>
          </a:xfrm>
          <a:prstGeom prst="roundRect">
            <a:avLst/>
          </a:prstGeom>
          <a:solidFill>
            <a:srgbClr val="3C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DENSE_RANK</a:t>
            </a:r>
          </a:p>
        </p:txBody>
      </p:sp>
      <p:sp>
        <p:nvSpPr>
          <p:cNvPr id="14" name="Rounded Rectangle 13"/>
          <p:cNvSpPr/>
          <p:nvPr/>
        </p:nvSpPr>
        <p:spPr>
          <a:xfrm>
            <a:off x="7906512" y="1938528"/>
            <a:ext cx="3432048"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1,2,2,3</a:t>
            </a:r>
          </a:p>
        </p:txBody>
      </p:sp>
      <p:sp>
        <p:nvSpPr>
          <p:cNvPr id="15" name="Rounded Rectangle 14"/>
          <p:cNvSpPr/>
          <p:nvPr/>
        </p:nvSpPr>
        <p:spPr>
          <a:xfrm>
            <a:off x="7906512" y="2660904"/>
            <a:ext cx="3432048"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Tie cùng hạng</a:t>
            </a:r>
          </a:p>
        </p:txBody>
      </p:sp>
      <p:sp>
        <p:nvSpPr>
          <p:cNvPr id="16" name="Rounded Rectangle 15"/>
          <p:cNvSpPr/>
          <p:nvPr/>
        </p:nvSpPr>
        <p:spPr>
          <a:xfrm>
            <a:off x="7906512" y="3383280"/>
            <a:ext cx="3432048"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Không gap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Ranking sản phẩm trong từng category</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SELECT category_name, product_name, revenue,</a:t>
            </a:r>
            <a:br/>
            <a:r>
              <a:t>       DENSE_RANK() OVER (</a:t>
            </a:r>
            <a:br/>
            <a:r>
              <a:t>         PARTITION BY category_name</a:t>
            </a:r>
            <a:br/>
            <a:r>
              <a:t>         ORDER BY revenue DESC</a:t>
            </a:r>
            <a:br/>
            <a:r>
              <a:t>       ) AS category_rank</a:t>
            </a:r>
            <a:br/>
            <a:r>
              <a:t>FROM product_revenue;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Running revenue</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SELECT report_date, total_revenue,</a:t>
            </a:r>
            <a:br/>
            <a:r>
              <a:t>       SUM(total_revenue) OVER (</a:t>
            </a:r>
            <a:br/>
            <a:r>
              <a:t>         ORDER BY report_date</a:t>
            </a:r>
            <a:br/>
            <a:r>
              <a:t>       ) AS running_revenue</a:t>
            </a:r>
            <a:br/>
            <a:r>
              <a:t>FROM daily_kpi</a:t>
            </a:r>
            <a:br/>
            <a:r>
              <a:t>ORDER BY report_date;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LAG/LEAD: so sánh theo thời gian</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SELECT month, revenue,</a:t>
            </a:r>
            <a:br/>
            <a:r>
              <a:t>       LAG(revenue) OVER (ORDER BY month) AS prev_revenue,</a:t>
            </a:r>
            <a:br/>
            <a:r>
              <a:t>       revenue - LAG(revenue) OVER (ORDER BY month) AS delta</a:t>
            </a:r>
            <a:br/>
            <a:r>
              <a:t>FROM monthly_revenue;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First/Last event của khách hàng</a:t>
            </a:r>
          </a:p>
        </p:txBody>
      </p:sp>
      <p:sp>
        <p:nvSpPr>
          <p:cNvPr id="5" name="Rounded Rectangle 4"/>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FIRST</a:t>
            </a:r>
          </a:p>
        </p:txBody>
      </p:sp>
      <p:sp>
        <p:nvSpPr>
          <p:cNvPr id="6" name="Rounded Rectangle 5"/>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LAST</a:t>
            </a:r>
          </a:p>
        </p:txBody>
      </p:sp>
      <p:sp>
        <p:nvSpPr>
          <p:cNvPr id="7" name="TextBox 6"/>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MIN(order_date)</a:t>
            </a:r>
          </a:p>
          <a:p>
            <a:pPr>
              <a:lnSpc>
                <a:spcPct val="108000"/>
              </a:lnSpc>
              <a:spcAft>
                <a:spcPts val="800"/>
              </a:spcAft>
              <a:defRPr sz="1600">
                <a:solidFill>
                  <a:srgbClr val="262626"/>
                </a:solidFill>
                <a:latin typeface="Arial"/>
              </a:defRPr>
            </a:pPr>
            <a:r>
              <a:t>• Ngày mua đầu tiên</a:t>
            </a:r>
          </a:p>
          <a:p>
            <a:pPr>
              <a:lnSpc>
                <a:spcPct val="108000"/>
              </a:lnSpc>
              <a:spcAft>
                <a:spcPts val="800"/>
              </a:spcAft>
              <a:defRPr sz="1600">
                <a:solidFill>
                  <a:srgbClr val="262626"/>
                </a:solidFill>
                <a:latin typeface="Arial"/>
              </a:defRPr>
            </a:pPr>
            <a:r>
              <a:t>• Dùng xác định cohort</a:t>
            </a:r>
          </a:p>
          <a:p>
            <a:pPr>
              <a:lnSpc>
                <a:spcPct val="108000"/>
              </a:lnSpc>
              <a:spcAft>
                <a:spcPts val="800"/>
              </a:spcAft>
              <a:defRPr sz="1600">
                <a:solidFill>
                  <a:srgbClr val="262626"/>
                </a:solidFill>
                <a:latin typeface="Arial"/>
              </a:defRPr>
            </a:pPr>
            <a:r>
              <a:t>• Có thể dùng ROW_NUMBER()</a:t>
            </a:r>
          </a:p>
        </p:txBody>
      </p:sp>
      <p:sp>
        <p:nvSpPr>
          <p:cNvPr id="8" name="TextBox 7"/>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MAX(order_date)</a:t>
            </a:r>
          </a:p>
          <a:p>
            <a:pPr>
              <a:lnSpc>
                <a:spcPct val="108000"/>
              </a:lnSpc>
              <a:spcAft>
                <a:spcPts val="800"/>
              </a:spcAft>
              <a:defRPr sz="1600">
                <a:solidFill>
                  <a:srgbClr val="262626"/>
                </a:solidFill>
                <a:latin typeface="Arial"/>
              </a:defRPr>
            </a:pPr>
            <a:r>
              <a:t>• Ngày mua gần nhất</a:t>
            </a:r>
          </a:p>
          <a:p>
            <a:pPr>
              <a:lnSpc>
                <a:spcPct val="108000"/>
              </a:lnSpc>
              <a:spcAft>
                <a:spcPts val="800"/>
              </a:spcAft>
              <a:defRPr sz="1600">
                <a:solidFill>
                  <a:srgbClr val="262626"/>
                </a:solidFill>
                <a:latin typeface="Arial"/>
              </a:defRPr>
            </a:pPr>
            <a:r>
              <a:t>• Dùng recency</a:t>
            </a:r>
          </a:p>
          <a:p>
            <a:pPr>
              <a:lnSpc>
                <a:spcPct val="108000"/>
              </a:lnSpc>
              <a:spcAft>
                <a:spcPts val="800"/>
              </a:spcAft>
              <a:defRPr sz="1600">
                <a:solidFill>
                  <a:srgbClr val="262626"/>
                </a:solidFill>
                <a:latin typeface="Arial"/>
              </a:defRPr>
            </a:pPr>
            <a:r>
              <a:t>• Theo dõi returning customer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Customer Analytics dataset</a:t>
            </a:r>
          </a:p>
        </p:txBody>
      </p:sp>
      <p:sp>
        <p:nvSpPr>
          <p:cNvPr id="5" name="Rounded Rectangle 4"/>
          <p:cNvSpPr/>
          <p:nvPr/>
        </p:nvSpPr>
        <p:spPr>
          <a:xfrm>
            <a:off x="868680" y="1691640"/>
            <a:ext cx="3337560" cy="1965960"/>
          </a:xfrm>
          <a:prstGeom prst="roundRect">
            <a:avLst/>
          </a:prstGeom>
          <a:solidFill>
            <a:srgbClr val="FFFFFF"/>
          </a:solidFill>
          <a:ln>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FIRST PURCHASE</a:t>
            </a:r>
          </a:p>
          <a:p>
            <a:pPr>
              <a:defRPr sz="1150">
                <a:solidFill>
                  <a:srgbClr val="262626"/>
                </a:solidFill>
                <a:latin typeface="Arial"/>
              </a:defRPr>
            </a:pPr>
            <a:r>
              <a:t>Ngày completed order đầu</a:t>
            </a:r>
          </a:p>
        </p:txBody>
      </p:sp>
      <p:sp>
        <p:nvSpPr>
          <p:cNvPr id="6" name="Rounded Rectangle 5"/>
          <p:cNvSpPr/>
          <p:nvPr/>
        </p:nvSpPr>
        <p:spPr>
          <a:xfrm>
            <a:off x="443484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RECENCY</a:t>
            </a:r>
          </a:p>
          <a:p>
            <a:pPr>
              <a:defRPr sz="1150">
                <a:solidFill>
                  <a:srgbClr val="262626"/>
                </a:solidFill>
                <a:latin typeface="Arial"/>
              </a:defRPr>
            </a:pPr>
            <a:r>
              <a:t>Khoảng từ lần mua gần nhất</a:t>
            </a:r>
          </a:p>
        </p:txBody>
      </p:sp>
      <p:sp>
        <p:nvSpPr>
          <p:cNvPr id="7" name="Rounded Rectangle 6"/>
          <p:cNvSpPr/>
          <p:nvPr/>
        </p:nvSpPr>
        <p:spPr>
          <a:xfrm>
            <a:off x="800100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FREQUENCY</a:t>
            </a:r>
          </a:p>
          <a:p>
            <a:pPr>
              <a:defRPr sz="1150">
                <a:solidFill>
                  <a:srgbClr val="262626"/>
                </a:solidFill>
                <a:latin typeface="Arial"/>
              </a:defRPr>
            </a:pPr>
            <a:r>
              <a:t>Số completed orders</a:t>
            </a:r>
          </a:p>
        </p:txBody>
      </p:sp>
      <p:sp>
        <p:nvSpPr>
          <p:cNvPr id="8" name="Rounded Rectangle 7"/>
          <p:cNvSpPr/>
          <p:nvPr/>
        </p:nvSpPr>
        <p:spPr>
          <a:xfrm>
            <a:off x="86868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MONETARY</a:t>
            </a:r>
          </a:p>
          <a:p>
            <a:pPr>
              <a:defRPr sz="1150">
                <a:solidFill>
                  <a:srgbClr val="262626"/>
                </a:solidFill>
                <a:latin typeface="Arial"/>
              </a:defRPr>
            </a:pPr>
            <a:r>
              <a:t>Tổng completed revenue</a:t>
            </a:r>
          </a:p>
        </p:txBody>
      </p:sp>
      <p:sp>
        <p:nvSpPr>
          <p:cNvPr id="9" name="Rounded Rectangle 8"/>
          <p:cNvSpPr/>
          <p:nvPr/>
        </p:nvSpPr>
        <p:spPr>
          <a:xfrm>
            <a:off x="443484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SEGMENT</a:t>
            </a:r>
          </a:p>
          <a:p>
            <a:pPr>
              <a:defRPr sz="1150">
                <a:solidFill>
                  <a:srgbClr val="262626"/>
                </a:solidFill>
                <a:latin typeface="Arial"/>
              </a:defRPr>
            </a:pPr>
            <a:r>
              <a:t>Standard/Silver/Gold/Platinum</a:t>
            </a:r>
          </a:p>
        </p:txBody>
      </p:sp>
      <p:sp>
        <p:nvSpPr>
          <p:cNvPr id="10" name="Rounded Rectangle 9"/>
          <p:cNvSpPr/>
          <p:nvPr/>
        </p:nvSpPr>
        <p:spPr>
          <a:xfrm>
            <a:off x="800100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RETURNING</a:t>
            </a:r>
          </a:p>
          <a:p>
            <a:pPr>
              <a:defRPr sz="1150">
                <a:solidFill>
                  <a:srgbClr val="262626"/>
                </a:solidFill>
                <a:latin typeface="Arial"/>
              </a:defRPr>
            </a:pPr>
            <a:r>
              <a:t>Có ≥2 completed orders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RFM-like bằng CTE</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WITH customer_orders AS (</a:t>
            </a:r>
            <a:br/>
            <a:r>
              <a:t>  SELECT customer_id,</a:t>
            </a:r>
            <a:br/>
            <a:r>
              <a:t>         MIN(order_date)::date AS first_purchase_date,</a:t>
            </a:r>
            <a:br/>
            <a:r>
              <a:t>         MAX(order_date)::date AS last_purchase_date,</a:t>
            </a:r>
            <a:br/>
            <a:r>
              <a:t>         COUNT(*) FILTER (WHERE status='completed') AS frequency,</a:t>
            </a:r>
            <a:br/>
            <a:r>
              <a:t>         SUM(order_total) FILTER (WHERE status='completed') AS monetary</a:t>
            </a:r>
            <a:br/>
            <a:r>
              <a:t>  FROM core.orders GROUP BY customer_id</a:t>
            </a:r>
            <a:br/>
            <a:r>
              <a:t>)</a:t>
            </a:r>
            <a:br/>
            <a:r>
              <a:t>SELECT * FROM customer_orders;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Cohort analysis là gì?</a:t>
            </a:r>
          </a:p>
        </p:txBody>
      </p:sp>
      <p:sp>
        <p:nvSpPr>
          <p:cNvPr id="5" name="Rounded Rectangle 4"/>
          <p:cNvSpPr/>
          <p:nvPr/>
        </p:nvSpPr>
        <p:spPr>
          <a:xfrm>
            <a:off x="777240" y="2240280"/>
            <a:ext cx="2539746"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ACQUIRE</a:t>
            </a:r>
          </a:p>
          <a:p>
            <a:pPr algn="ctr">
              <a:defRPr sz="1150">
                <a:solidFill>
                  <a:srgbClr val="5F6368"/>
                </a:solidFill>
                <a:latin typeface="Arial"/>
              </a:defRPr>
            </a:pPr>
            <a:r>
              <a:t>Tháng mua đầu tiên</a:t>
            </a:r>
          </a:p>
        </p:txBody>
      </p:sp>
      <p:sp>
        <p:nvSpPr>
          <p:cNvPr id="6" name="Right Arrow 5"/>
          <p:cNvSpPr/>
          <p:nvPr/>
        </p:nvSpPr>
        <p:spPr>
          <a:xfrm>
            <a:off x="3344418"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81578" y="2240280"/>
            <a:ext cx="2539746"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ACTIVITY</a:t>
            </a:r>
          </a:p>
          <a:p>
            <a:pPr algn="ctr">
              <a:defRPr sz="1150">
                <a:solidFill>
                  <a:srgbClr val="5F6368"/>
                </a:solidFill>
                <a:latin typeface="Arial"/>
              </a:defRPr>
            </a:pPr>
            <a:r>
              <a:t>Tháng có order</a:t>
            </a:r>
          </a:p>
        </p:txBody>
      </p:sp>
      <p:sp>
        <p:nvSpPr>
          <p:cNvPr id="8" name="Right Arrow 7"/>
          <p:cNvSpPr/>
          <p:nvPr/>
        </p:nvSpPr>
        <p:spPr>
          <a:xfrm>
            <a:off x="6048756"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85916" y="2240280"/>
            <a:ext cx="2539746"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COHORT TABLE</a:t>
            </a:r>
          </a:p>
          <a:p>
            <a:pPr algn="ctr">
              <a:defRPr sz="1150">
                <a:solidFill>
                  <a:srgbClr val="5F6368"/>
                </a:solidFill>
                <a:latin typeface="Arial"/>
              </a:defRPr>
            </a:pPr>
            <a:r>
              <a:t>cohort × activity</a:t>
            </a:r>
          </a:p>
        </p:txBody>
      </p:sp>
      <p:sp>
        <p:nvSpPr>
          <p:cNvPr id="10" name="Right Arrow 9"/>
          <p:cNvSpPr/>
          <p:nvPr/>
        </p:nvSpPr>
        <p:spPr>
          <a:xfrm>
            <a:off x="875309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890254" y="2240280"/>
            <a:ext cx="2539746" cy="1417320"/>
          </a:xfrm>
          <a:prstGeom prst="roundRect">
            <a:avLst/>
          </a:prstGeom>
          <a:solidFill>
            <a:srgbClr val="F5F6F8"/>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RETENTION</a:t>
            </a:r>
          </a:p>
          <a:p>
            <a:pPr algn="ctr">
              <a:defRPr sz="1150">
                <a:solidFill>
                  <a:srgbClr val="5F6368"/>
                </a:solidFill>
                <a:latin typeface="Arial"/>
              </a:defRPr>
            </a:pPr>
            <a:r>
              <a:t>active / cohort size</a:t>
            </a:r>
          </a:p>
        </p:txBody>
      </p:sp>
      <p:sp>
        <p:nvSpPr>
          <p:cNvPr id="12" name="TextBox 11"/>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Trong Foundation Track, tập trung tạo cohort table đúng trước khi trực quan hóa heatmap.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Cohort query – 3 bước</a:t>
            </a:r>
          </a:p>
        </p:txBody>
      </p:sp>
      <p:sp>
        <p:nvSpPr>
          <p:cNvPr id="5" name="TextBox 4"/>
          <p:cNvSpPr txBox="1"/>
          <p:nvPr/>
        </p:nvSpPr>
        <p:spPr>
          <a:xfrm>
            <a:off x="841248" y="1490472"/>
            <a:ext cx="10515600" cy="4526280"/>
          </a:xfrm>
          <a:prstGeom prst="rect">
            <a:avLst/>
          </a:prstGeom>
          <a:noFill/>
        </p:spPr>
        <p:txBody>
          <a:bodyPr wrap="square" lIns="45720" rIns="45720" tIns="18288">
            <a:spAutoFit/>
          </a:bodyPr>
          <a:lstStyle/>
          <a:p>
            <a:pPr>
              <a:lnSpc>
                <a:spcPct val="108000"/>
              </a:lnSpc>
              <a:spcAft>
                <a:spcPts val="800"/>
              </a:spcAft>
              <a:defRPr sz="1800">
                <a:solidFill>
                  <a:srgbClr val="262626"/>
                </a:solidFill>
                <a:latin typeface="Arial"/>
              </a:defRPr>
            </a:pPr>
            <a:r>
              <a:t>• B1: tìm `cohort_month = MIN(order_date)` theo customer</a:t>
            </a:r>
          </a:p>
          <a:p>
            <a:pPr>
              <a:lnSpc>
                <a:spcPct val="108000"/>
              </a:lnSpc>
              <a:spcAft>
                <a:spcPts val="800"/>
              </a:spcAft>
              <a:defRPr sz="1800">
                <a:solidFill>
                  <a:srgbClr val="262626"/>
                </a:solidFill>
                <a:latin typeface="Arial"/>
              </a:defRPr>
            </a:pPr>
            <a:r>
              <a:t>• B2: tạo activity_month cho từng completed order</a:t>
            </a:r>
          </a:p>
          <a:p>
            <a:pPr>
              <a:lnSpc>
                <a:spcPct val="108000"/>
              </a:lnSpc>
              <a:spcAft>
                <a:spcPts val="800"/>
              </a:spcAft>
              <a:defRPr sz="1800">
                <a:solidFill>
                  <a:srgbClr val="262626"/>
                </a:solidFill>
                <a:latin typeface="Arial"/>
              </a:defRPr>
            </a:pPr>
            <a:r>
              <a:t>• B3: GROUP BY cohort_month, activity_month và COUNT DISTINCT customer</a:t>
            </a:r>
          </a:p>
          <a:p>
            <a:pPr>
              <a:lnSpc>
                <a:spcPct val="108000"/>
              </a:lnSpc>
              <a:spcAft>
                <a:spcPts val="800"/>
              </a:spcAft>
              <a:defRPr sz="1800">
                <a:solidFill>
                  <a:srgbClr val="262626"/>
                </a:solidFill>
                <a:latin typeface="Arial"/>
              </a:defRPr>
            </a:pPr>
            <a:r>
              <a:t>• Mở rộng: month_index và retention rate</a:t>
            </a:r>
          </a:p>
          <a:p>
            <a:pPr>
              <a:lnSpc>
                <a:spcPct val="108000"/>
              </a:lnSpc>
              <a:spcAft>
                <a:spcPts val="800"/>
              </a:spcAft>
              <a:defRPr sz="1800">
                <a:solidFill>
                  <a:srgbClr val="262626"/>
                </a:solidFill>
                <a:latin typeface="Arial"/>
              </a:defRPr>
            </a:pPr>
            <a:r>
              <a:t>• Đối soát cohort size với số customer acquired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KPI Dashboard dataset theo ngày</a:t>
            </a:r>
          </a:p>
        </p:txBody>
      </p:sp>
      <p:sp>
        <p:nvSpPr>
          <p:cNvPr id="5" name="Rounded Rectangle 4"/>
          <p:cNvSpPr/>
          <p:nvPr/>
        </p:nvSpPr>
        <p:spPr>
          <a:xfrm>
            <a:off x="868680" y="182880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REPORT DATE</a:t>
            </a:r>
          </a:p>
          <a:p>
            <a:pPr>
              <a:defRPr sz="2000" b="1">
                <a:solidFill>
                  <a:srgbClr val="C5272A"/>
                </a:solidFill>
                <a:latin typeface="Arial"/>
              </a:defRPr>
            </a:pPr>
            <a:r>
              <a:t>2026-06-30</a:t>
            </a:r>
          </a:p>
          <a:p>
            <a:pPr>
              <a:defRPr sz="1050">
                <a:solidFill>
                  <a:srgbClr val="5F6368"/>
                </a:solidFill>
                <a:latin typeface="Arial"/>
              </a:defRPr>
            </a:pPr>
            <a:r>
              <a:t>grain: 1 row/day</a:t>
            </a:r>
          </a:p>
        </p:txBody>
      </p:sp>
      <p:sp>
        <p:nvSpPr>
          <p:cNvPr id="6" name="Rounded Rectangle 5"/>
          <p:cNvSpPr/>
          <p:nvPr/>
        </p:nvSpPr>
        <p:spPr>
          <a:xfrm>
            <a:off x="4434840" y="182880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TOTAL ORDERS</a:t>
            </a:r>
          </a:p>
          <a:p>
            <a:pPr>
              <a:defRPr sz="2000" b="1">
                <a:solidFill>
                  <a:srgbClr val="C5272A"/>
                </a:solidFill>
                <a:latin typeface="Arial"/>
              </a:defRPr>
            </a:pPr>
            <a:r>
              <a:t>n</a:t>
            </a:r>
          </a:p>
          <a:p>
            <a:pPr>
              <a:defRPr sz="1050">
                <a:solidFill>
                  <a:srgbClr val="5F6368"/>
                </a:solidFill>
                <a:latin typeface="Arial"/>
              </a:defRPr>
            </a:pPr>
            <a:r>
              <a:t>completed</a:t>
            </a:r>
          </a:p>
        </p:txBody>
      </p:sp>
      <p:sp>
        <p:nvSpPr>
          <p:cNvPr id="7" name="Rounded Rectangle 6"/>
          <p:cNvSpPr/>
          <p:nvPr/>
        </p:nvSpPr>
        <p:spPr>
          <a:xfrm>
            <a:off x="8001000" y="182880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TOTAL REVENUE</a:t>
            </a:r>
          </a:p>
          <a:p>
            <a:pPr>
              <a:defRPr sz="2000" b="1">
                <a:solidFill>
                  <a:srgbClr val="C5272A"/>
                </a:solidFill>
                <a:latin typeface="Arial"/>
              </a:defRPr>
            </a:pPr>
            <a:r>
              <a:t>VND</a:t>
            </a:r>
          </a:p>
          <a:p>
            <a:pPr>
              <a:defRPr sz="1050">
                <a:solidFill>
                  <a:srgbClr val="5F6368"/>
                </a:solidFill>
                <a:latin typeface="Arial"/>
              </a:defRPr>
            </a:pPr>
            <a:r>
              <a:t>completed</a:t>
            </a:r>
          </a:p>
        </p:txBody>
      </p:sp>
      <p:sp>
        <p:nvSpPr>
          <p:cNvPr id="8" name="Rounded Rectangle 7"/>
          <p:cNvSpPr/>
          <p:nvPr/>
        </p:nvSpPr>
        <p:spPr>
          <a:xfrm>
            <a:off x="868680" y="324612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ACTIVE CUSTOMERS</a:t>
            </a:r>
          </a:p>
          <a:p>
            <a:pPr>
              <a:defRPr sz="2000" b="1">
                <a:solidFill>
                  <a:srgbClr val="C5272A"/>
                </a:solidFill>
                <a:latin typeface="Arial"/>
              </a:defRPr>
            </a:pPr>
            <a:r>
              <a:t>n</a:t>
            </a:r>
          </a:p>
          <a:p>
            <a:pPr>
              <a:defRPr sz="1050">
                <a:solidFill>
                  <a:srgbClr val="5F6368"/>
                </a:solidFill>
                <a:latin typeface="Arial"/>
              </a:defRPr>
            </a:pPr>
            <a:r>
              <a:t>distinct</a:t>
            </a:r>
          </a:p>
        </p:txBody>
      </p:sp>
      <p:sp>
        <p:nvSpPr>
          <p:cNvPr id="9" name="Rounded Rectangle 8"/>
          <p:cNvSpPr/>
          <p:nvPr/>
        </p:nvSpPr>
        <p:spPr>
          <a:xfrm>
            <a:off x="4434840" y="324612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NEW CUSTOMERS</a:t>
            </a:r>
          </a:p>
          <a:p>
            <a:pPr>
              <a:defRPr sz="2000" b="1">
                <a:solidFill>
                  <a:srgbClr val="C5272A"/>
                </a:solidFill>
                <a:latin typeface="Arial"/>
              </a:defRPr>
            </a:pPr>
            <a:r>
              <a:t>n</a:t>
            </a:r>
          </a:p>
          <a:p>
            <a:pPr>
              <a:defRPr sz="1050">
                <a:solidFill>
                  <a:srgbClr val="5F6368"/>
                </a:solidFill>
                <a:latin typeface="Arial"/>
              </a:defRPr>
            </a:pPr>
            <a:r>
              <a:t>first purchase</a:t>
            </a:r>
          </a:p>
        </p:txBody>
      </p:sp>
      <p:sp>
        <p:nvSpPr>
          <p:cNvPr id="10" name="Rounded Rectangle 9"/>
          <p:cNvSpPr/>
          <p:nvPr/>
        </p:nvSpPr>
        <p:spPr>
          <a:xfrm>
            <a:off x="8001000" y="324612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PAYMENT SUCCESS</a:t>
            </a:r>
          </a:p>
          <a:p>
            <a:pPr>
              <a:defRPr sz="2000" b="1">
                <a:solidFill>
                  <a:srgbClr val="C5272A"/>
                </a:solidFill>
                <a:latin typeface="Arial"/>
              </a:defRPr>
            </a:pPr>
            <a:r>
              <a:t>%</a:t>
            </a:r>
          </a:p>
          <a:p>
            <a:pPr>
              <a:defRPr sz="1050">
                <a:solidFill>
                  <a:srgbClr val="5F6368"/>
                </a:solidFill>
                <a:latin typeface="Arial"/>
              </a:defRPr>
            </a:pPr>
            <a:r>
              <a:t>payments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Best practices viết SQL analytics</a:t>
            </a:r>
          </a:p>
        </p:txBody>
      </p:sp>
      <p:sp>
        <p:nvSpPr>
          <p:cNvPr id="5" name="Rounded Rectangle 4"/>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Nên</a:t>
            </a:r>
          </a:p>
        </p:txBody>
      </p:sp>
      <p:sp>
        <p:nvSpPr>
          <p:cNvPr id="6" name="Rounded Rectangle 5"/>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Tránh</a:t>
            </a:r>
          </a:p>
        </p:txBody>
      </p:sp>
      <p:sp>
        <p:nvSpPr>
          <p:cNvPr id="7" name="TextBox 6"/>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CTE có tên theo ý nghĩa</a:t>
            </a:r>
          </a:p>
          <a:p>
            <a:pPr>
              <a:lnSpc>
                <a:spcPct val="108000"/>
              </a:lnSpc>
              <a:spcAft>
                <a:spcPts val="800"/>
              </a:spcAft>
              <a:defRPr sz="1600">
                <a:solidFill>
                  <a:srgbClr val="262626"/>
                </a:solidFill>
                <a:latin typeface="Arial"/>
              </a:defRPr>
            </a:pPr>
            <a:r>
              <a:t>• Explicit columns</a:t>
            </a:r>
          </a:p>
          <a:p>
            <a:pPr>
              <a:lnSpc>
                <a:spcPct val="108000"/>
              </a:lnSpc>
              <a:spcAft>
                <a:spcPts val="800"/>
              </a:spcAft>
              <a:defRPr sz="1600">
                <a:solidFill>
                  <a:srgbClr val="262626"/>
                </a:solidFill>
                <a:latin typeface="Arial"/>
              </a:defRPr>
            </a:pPr>
            <a:r>
              <a:t>• Comment metric/grain</a:t>
            </a:r>
          </a:p>
          <a:p>
            <a:pPr>
              <a:lnSpc>
                <a:spcPct val="108000"/>
              </a:lnSpc>
              <a:spcAft>
                <a:spcPts val="800"/>
              </a:spcAft>
              <a:defRPr sz="1600">
                <a:solidFill>
                  <a:srgbClr val="262626"/>
                </a:solidFill>
                <a:latin typeface="Arial"/>
              </a:defRPr>
            </a:pPr>
            <a:r>
              <a:t>• Format nhất quán</a:t>
            </a:r>
          </a:p>
          <a:p>
            <a:pPr>
              <a:lnSpc>
                <a:spcPct val="108000"/>
              </a:lnSpc>
              <a:spcAft>
                <a:spcPts val="800"/>
              </a:spcAft>
              <a:defRPr sz="1600">
                <a:solidFill>
                  <a:srgbClr val="262626"/>
                </a:solidFill>
                <a:latin typeface="Arial"/>
              </a:defRPr>
            </a:pPr>
            <a:r>
              <a:t>• Validation query riêng</a:t>
            </a:r>
          </a:p>
        </p:txBody>
      </p:sp>
      <p:sp>
        <p:nvSpPr>
          <p:cNvPr id="8" name="TextBox 7"/>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SELECT * trong report cuối</a:t>
            </a:r>
          </a:p>
          <a:p>
            <a:pPr>
              <a:lnSpc>
                <a:spcPct val="108000"/>
              </a:lnSpc>
              <a:spcAft>
                <a:spcPts val="800"/>
              </a:spcAft>
              <a:defRPr sz="1600">
                <a:solidFill>
                  <a:srgbClr val="262626"/>
                </a:solidFill>
                <a:latin typeface="Arial"/>
              </a:defRPr>
            </a:pPr>
            <a:r>
              <a:t>• CTE quá dài không mục đích</a:t>
            </a:r>
          </a:p>
          <a:p>
            <a:pPr>
              <a:lnSpc>
                <a:spcPct val="108000"/>
              </a:lnSpc>
              <a:spcAft>
                <a:spcPts val="800"/>
              </a:spcAft>
              <a:defRPr sz="1600">
                <a:solidFill>
                  <a:srgbClr val="262626"/>
                </a:solidFill>
                <a:latin typeface="Arial"/>
              </a:defRPr>
            </a:pPr>
            <a:r>
              <a:t>• Mix grain</a:t>
            </a:r>
          </a:p>
          <a:p>
            <a:pPr>
              <a:lnSpc>
                <a:spcPct val="108000"/>
              </a:lnSpc>
              <a:spcAft>
                <a:spcPts val="800"/>
              </a:spcAft>
              <a:defRPr sz="1600">
                <a:solidFill>
                  <a:srgbClr val="262626"/>
                </a:solidFill>
                <a:latin typeface="Arial"/>
              </a:defRPr>
            </a:pPr>
            <a:r>
              <a:t>• Hard-code không giải thích</a:t>
            </a:r>
          </a:p>
          <a:p>
            <a:pPr>
              <a:lnSpc>
                <a:spcPct val="108000"/>
              </a:lnSpc>
              <a:spcAft>
                <a:spcPts val="800"/>
              </a:spcAft>
              <a:defRPr sz="1600">
                <a:solidFill>
                  <a:srgbClr val="262626"/>
                </a:solidFill>
                <a:latin typeface="Arial"/>
              </a:defRPr>
            </a:pPr>
            <a:r>
              <a:t>• Copy query không đối soát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Performance basics ở mức Foundation</a:t>
            </a:r>
          </a:p>
        </p:txBody>
      </p:sp>
      <p:sp>
        <p:nvSpPr>
          <p:cNvPr id="5" name="TextBox 4"/>
          <p:cNvSpPr txBox="1"/>
          <p:nvPr/>
        </p:nvSpPr>
        <p:spPr>
          <a:xfrm>
            <a:off x="841248" y="1490472"/>
            <a:ext cx="10515600" cy="4526280"/>
          </a:xfrm>
          <a:prstGeom prst="rect">
            <a:avLst/>
          </a:prstGeom>
          <a:noFill/>
        </p:spPr>
        <p:txBody>
          <a:bodyPr wrap="square" lIns="45720" rIns="45720" tIns="18288">
            <a:spAutoFit/>
          </a:bodyPr>
          <a:lstStyle/>
          <a:p>
            <a:pPr>
              <a:lnSpc>
                <a:spcPct val="108000"/>
              </a:lnSpc>
              <a:spcAft>
                <a:spcPts val="800"/>
              </a:spcAft>
              <a:defRPr sz="1800">
                <a:solidFill>
                  <a:srgbClr val="262626"/>
                </a:solidFill>
                <a:latin typeface="Arial"/>
              </a:defRPr>
            </a:pPr>
            <a:r>
              <a:t>• Index PK/FK và cột date thường filter/join</a:t>
            </a:r>
          </a:p>
          <a:p>
            <a:pPr>
              <a:lnSpc>
                <a:spcPct val="108000"/>
              </a:lnSpc>
              <a:spcAft>
                <a:spcPts val="800"/>
              </a:spcAft>
              <a:defRPr sz="1800">
                <a:solidFill>
                  <a:srgbClr val="262626"/>
                </a:solidFill>
                <a:latin typeface="Arial"/>
              </a:defRPr>
            </a:pPr>
            <a:r>
              <a:t>• Không index mọi cột – có trade-off write/storage</a:t>
            </a:r>
          </a:p>
          <a:p>
            <a:pPr>
              <a:lnSpc>
                <a:spcPct val="108000"/>
              </a:lnSpc>
              <a:spcAft>
                <a:spcPts val="800"/>
              </a:spcAft>
              <a:defRPr sz="1800">
                <a:solidFill>
                  <a:srgbClr val="262626"/>
                </a:solidFill>
                <a:latin typeface="Arial"/>
              </a:defRPr>
            </a:pPr>
            <a:r>
              <a:t>• Đọc EXPLAIN để biết Seq Scan / Index Scan</a:t>
            </a:r>
          </a:p>
          <a:p>
            <a:pPr>
              <a:lnSpc>
                <a:spcPct val="108000"/>
              </a:lnSpc>
              <a:spcAft>
                <a:spcPts val="800"/>
              </a:spcAft>
              <a:defRPr sz="1800">
                <a:solidFill>
                  <a:srgbClr val="262626"/>
                </a:solidFill>
                <a:latin typeface="Arial"/>
              </a:defRPr>
            </a:pPr>
            <a:r>
              <a:t>• Tối ưu logic grain trước khi tối ưu “micro”</a:t>
            </a:r>
          </a:p>
          <a:p>
            <a:pPr>
              <a:lnSpc>
                <a:spcPct val="108000"/>
              </a:lnSpc>
              <a:spcAft>
                <a:spcPts val="800"/>
              </a:spcAft>
              <a:defRPr sz="1800">
                <a:solidFill>
                  <a:srgbClr val="262626"/>
                </a:solidFill>
                <a:latin typeface="Arial"/>
              </a:defRPr>
            </a:pPr>
            <a:r>
              <a:t>• Dataset lớp học nhỏ; mục tiêu là tư duy đúng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Lab 3 – Advanced SQL Query Pack</a:t>
            </a:r>
          </a:p>
        </p:txBody>
      </p:sp>
      <p:sp>
        <p:nvSpPr>
          <p:cNvPr id="5" name="Rounded Rectangle 4"/>
          <p:cNvSpPr/>
          <p:nvPr/>
        </p:nvSpPr>
        <p:spPr>
          <a:xfrm>
            <a:off x="777240" y="2240280"/>
            <a:ext cx="1998878"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CTE</a:t>
            </a:r>
          </a:p>
          <a:p>
            <a:pPr algn="ctr">
              <a:defRPr sz="1150">
                <a:solidFill>
                  <a:srgbClr val="5F6368"/>
                </a:solidFill>
                <a:latin typeface="Arial"/>
              </a:defRPr>
            </a:pPr>
            <a:r>
              <a:t>refactor</a:t>
            </a:r>
          </a:p>
        </p:txBody>
      </p:sp>
      <p:sp>
        <p:nvSpPr>
          <p:cNvPr id="6" name="Right Arrow 5"/>
          <p:cNvSpPr/>
          <p:nvPr/>
        </p:nvSpPr>
        <p:spPr>
          <a:xfrm>
            <a:off x="2803550"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940710" y="2240280"/>
            <a:ext cx="1998878"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WINDOW</a:t>
            </a:r>
          </a:p>
          <a:p>
            <a:pPr algn="ctr">
              <a:defRPr sz="1150">
                <a:solidFill>
                  <a:srgbClr val="5F6368"/>
                </a:solidFill>
                <a:latin typeface="Arial"/>
              </a:defRPr>
            </a:pPr>
            <a:r>
              <a:t>rank</a:t>
            </a:r>
          </a:p>
        </p:txBody>
      </p:sp>
      <p:sp>
        <p:nvSpPr>
          <p:cNvPr id="8" name="Right Arrow 7"/>
          <p:cNvSpPr/>
          <p:nvPr/>
        </p:nvSpPr>
        <p:spPr>
          <a:xfrm>
            <a:off x="4967020"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04180" y="2240280"/>
            <a:ext cx="1998878"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TIME</a:t>
            </a:r>
          </a:p>
          <a:p>
            <a:pPr algn="ctr">
              <a:defRPr sz="1150">
                <a:solidFill>
                  <a:srgbClr val="5F6368"/>
                </a:solidFill>
                <a:latin typeface="Arial"/>
              </a:defRPr>
            </a:pPr>
            <a:r>
              <a:t>running/LAG</a:t>
            </a:r>
          </a:p>
        </p:txBody>
      </p:sp>
      <p:sp>
        <p:nvSpPr>
          <p:cNvPr id="10" name="Right Arrow 9"/>
          <p:cNvSpPr/>
          <p:nvPr/>
        </p:nvSpPr>
        <p:spPr>
          <a:xfrm>
            <a:off x="7130491"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267651" y="2240280"/>
            <a:ext cx="1998878"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CUSTOMER</a:t>
            </a:r>
          </a:p>
          <a:p>
            <a:pPr algn="ctr">
              <a:defRPr sz="1150">
                <a:solidFill>
                  <a:srgbClr val="5F6368"/>
                </a:solidFill>
                <a:latin typeface="Arial"/>
              </a:defRPr>
            </a:pPr>
            <a:r>
              <a:t>RFM-like</a:t>
            </a:r>
          </a:p>
        </p:txBody>
      </p:sp>
      <p:sp>
        <p:nvSpPr>
          <p:cNvPr id="12" name="Right Arrow 11"/>
          <p:cNvSpPr/>
          <p:nvPr/>
        </p:nvSpPr>
        <p:spPr>
          <a:xfrm>
            <a:off x="9293961"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431121" y="2240280"/>
            <a:ext cx="1998878"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COHORT</a:t>
            </a:r>
          </a:p>
          <a:p>
            <a:pPr algn="ctr">
              <a:defRPr sz="1150">
                <a:solidFill>
                  <a:srgbClr val="5F6368"/>
                </a:solidFill>
                <a:latin typeface="Arial"/>
              </a:defRPr>
            </a:pPr>
            <a:r>
              <a:t>table</a:t>
            </a:r>
          </a:p>
        </p:txBody>
      </p:sp>
      <p:sp>
        <p:nvSpPr>
          <p:cNvPr id="14" name="TextBox 13"/>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Artifact: 5 file SQL hoặc 1 query pack có comment và checkpoint kết quả.</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Checkpoint cuối Buổi 3</a:t>
            </a:r>
          </a:p>
        </p:txBody>
      </p:sp>
      <p:sp>
        <p:nvSpPr>
          <p:cNvPr id="5" name="TextBox 4"/>
          <p:cNvSpPr txBox="1"/>
          <p:nvPr/>
        </p:nvSpPr>
        <p:spPr>
          <a:xfrm>
            <a:off x="841248" y="1490472"/>
            <a:ext cx="10515600" cy="4526280"/>
          </a:xfrm>
          <a:prstGeom prst="rect">
            <a:avLst/>
          </a:prstGeom>
          <a:noFill/>
        </p:spPr>
        <p:txBody>
          <a:bodyPr wrap="square" lIns="45720" rIns="45720" tIns="18288">
            <a:spAutoFit/>
          </a:bodyPr>
          <a:lstStyle/>
          <a:p>
            <a:pPr>
              <a:lnSpc>
                <a:spcPct val="108000"/>
              </a:lnSpc>
              <a:spcAft>
                <a:spcPts val="800"/>
              </a:spcAft>
              <a:defRPr sz="1800">
                <a:solidFill>
                  <a:srgbClr val="262626"/>
                </a:solidFill>
                <a:latin typeface="Arial"/>
              </a:defRPr>
            </a:pPr>
            <a:r>
              <a:t>• Running revenue tăng đơn điệu</a:t>
            </a:r>
          </a:p>
          <a:p>
            <a:pPr>
              <a:lnSpc>
                <a:spcPct val="108000"/>
              </a:lnSpc>
              <a:spcAft>
                <a:spcPts val="800"/>
              </a:spcAft>
              <a:defRPr sz="1800">
                <a:solidFill>
                  <a:srgbClr val="262626"/>
                </a:solidFill>
                <a:latin typeface="Arial"/>
              </a:defRPr>
            </a:pPr>
            <a:r>
              <a:t>• Product rank reset theo category</a:t>
            </a:r>
          </a:p>
          <a:p>
            <a:pPr>
              <a:lnSpc>
                <a:spcPct val="108000"/>
              </a:lnSpc>
              <a:spcAft>
                <a:spcPts val="800"/>
              </a:spcAft>
              <a:defRPr sz="1800">
                <a:solidFill>
                  <a:srgbClr val="262626"/>
                </a:solidFill>
                <a:latin typeface="Arial"/>
              </a:defRPr>
            </a:pPr>
            <a:r>
              <a:t>• Customer dataset có first/last/frequency/monetary</a:t>
            </a:r>
          </a:p>
          <a:p>
            <a:pPr>
              <a:lnSpc>
                <a:spcPct val="108000"/>
              </a:lnSpc>
              <a:spcAft>
                <a:spcPts val="800"/>
              </a:spcAft>
              <a:defRPr sz="1800">
                <a:solidFill>
                  <a:srgbClr val="262626"/>
                </a:solidFill>
                <a:latin typeface="Arial"/>
              </a:defRPr>
            </a:pPr>
            <a:r>
              <a:t>• Cohort table không double count customer trong cùng month</a:t>
            </a:r>
          </a:p>
          <a:p>
            <a:pPr>
              <a:lnSpc>
                <a:spcPct val="108000"/>
              </a:lnSpc>
              <a:spcAft>
                <a:spcPts val="800"/>
              </a:spcAft>
              <a:defRPr sz="1800">
                <a:solidFill>
                  <a:srgbClr val="262626"/>
                </a:solidFill>
                <a:latin typeface="Arial"/>
              </a:defRPr>
            </a:pPr>
            <a:r>
              <a:t>• SQL có comment về grain và validation</a:t>
            </a:r>
          </a:p>
        </p:txBody>
      </p:sp>
    </p:spTree>
  </p:cSld>
  <p:clrMapOvr>
    <a:masterClrMapping/>
  </p:clrMapOvr>
</p:sld>
</file>

<file path=ppt/theme/theme1.xml><?xml version="1.0" encoding="utf-8"?>
<a:theme xmlns:a="http://schemas.openxmlformats.org/drawingml/2006/main" name="Office Theme">
  <a:themeElements>
    <a:clrScheme name="Custom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40</Words>
  <Application>Microsoft Office PowerPoint</Application>
  <PresentationFormat>Widescreen</PresentationFormat>
  <Paragraphs>18</Paragraphs>
  <Slides>5</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vt:i4>
      </vt:variant>
    </vt:vector>
  </HeadingPairs>
  <TitlesOfParts>
    <vt:vector size="14" baseType="lpstr">
      <vt:lpstr>Montserrat</vt:lpstr>
      <vt:lpstr>Trebuchet MS</vt:lpstr>
      <vt:lpstr>Montserrat Medium</vt:lpstr>
      <vt:lpstr>Montserrat Black</vt:lpstr>
      <vt:lpstr>Arial</vt:lpstr>
      <vt:lpstr>Calibri</vt:lpstr>
      <vt:lpstr>Montserrat ExtraBold</vt:lpstr>
      <vt:lpstr>Courier New</vt:lpstr>
      <vt:lpstr>Office Theme</vt:lpstr>
      <vt:lpstr>Tiêu Đề</vt:lpstr>
      <vt:lpstr> NỘI DUNG</vt:lpstr>
      <vt:lpstr>1. Lịch sử ra đời của Web</vt:lpstr>
      <vt:lpstr> TỔNG KẾT</vt:lpstr>
      <vt:lpstr>KẾT THÚC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Tiêu Đề</dc:title>
  <cp:lastModifiedBy>Media Rikkei Academy</cp:lastModifiedBy>
  <cp:revision>4</cp:revision>
  <dcterms:modified xsi:type="dcterms:W3CDTF">2024-01-09T03:56:22Z</dcterms:modified>
</cp:coreProperties>
</file>